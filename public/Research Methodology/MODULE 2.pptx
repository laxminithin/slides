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66"/>
  </p:notesMasterIdLst>
  <p:handoutMasterIdLst>
    <p:handoutMasterId r:id="rId67"/>
  </p:handoutMasterIdLst>
  <p:sldIdLst>
    <p:sldId id="256" r:id="rId5"/>
    <p:sldId id="460" r:id="rId6"/>
    <p:sldId id="461" r:id="rId7"/>
    <p:sldId id="462" r:id="rId8"/>
    <p:sldId id="463" r:id="rId9"/>
    <p:sldId id="464" r:id="rId10"/>
    <p:sldId id="465" r:id="rId11"/>
    <p:sldId id="522" r:id="rId12"/>
    <p:sldId id="467" r:id="rId13"/>
    <p:sldId id="468" r:id="rId14"/>
    <p:sldId id="469" r:id="rId15"/>
    <p:sldId id="470" r:id="rId16"/>
    <p:sldId id="471" r:id="rId17"/>
    <p:sldId id="472" r:id="rId18"/>
    <p:sldId id="473" r:id="rId19"/>
    <p:sldId id="474" r:id="rId20"/>
    <p:sldId id="475" r:id="rId21"/>
    <p:sldId id="476" r:id="rId22"/>
    <p:sldId id="487" r:id="rId23"/>
    <p:sldId id="477" r:id="rId24"/>
    <p:sldId id="478" r:id="rId25"/>
    <p:sldId id="479" r:id="rId26"/>
    <p:sldId id="480" r:id="rId27"/>
    <p:sldId id="484" r:id="rId28"/>
    <p:sldId id="485" r:id="rId29"/>
    <p:sldId id="486" r:id="rId30"/>
    <p:sldId id="523" r:id="rId31"/>
    <p:sldId id="524" r:id="rId32"/>
    <p:sldId id="481" r:id="rId33"/>
    <p:sldId id="482" r:id="rId34"/>
    <p:sldId id="483" r:id="rId35"/>
    <p:sldId id="525" r:id="rId36"/>
    <p:sldId id="489" r:id="rId37"/>
    <p:sldId id="490" r:id="rId38"/>
    <p:sldId id="491" r:id="rId39"/>
    <p:sldId id="492" r:id="rId40"/>
    <p:sldId id="493" r:id="rId41"/>
    <p:sldId id="494" r:id="rId42"/>
    <p:sldId id="495" r:id="rId43"/>
    <p:sldId id="497" r:id="rId44"/>
    <p:sldId id="499" r:id="rId45"/>
    <p:sldId id="500" r:id="rId46"/>
    <p:sldId id="496" r:id="rId47"/>
    <p:sldId id="501" r:id="rId48"/>
    <p:sldId id="502" r:id="rId49"/>
    <p:sldId id="503" r:id="rId50"/>
    <p:sldId id="504" r:id="rId51"/>
    <p:sldId id="505" r:id="rId52"/>
    <p:sldId id="506" r:id="rId53"/>
    <p:sldId id="507" r:id="rId54"/>
    <p:sldId id="508" r:id="rId55"/>
    <p:sldId id="526" r:id="rId56"/>
    <p:sldId id="509" r:id="rId57"/>
    <p:sldId id="510" r:id="rId58"/>
    <p:sldId id="511" r:id="rId59"/>
    <p:sldId id="512" r:id="rId60"/>
    <p:sldId id="513" r:id="rId61"/>
    <p:sldId id="514" r:id="rId62"/>
    <p:sldId id="515" r:id="rId63"/>
    <p:sldId id="516" r:id="rId64"/>
    <p:sldId id="517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460"/>
            <p14:sldId id="461"/>
            <p14:sldId id="462"/>
            <p14:sldId id="463"/>
            <p14:sldId id="464"/>
            <p14:sldId id="465"/>
            <p14:sldId id="522"/>
            <p14:sldId id="467"/>
            <p14:sldId id="468"/>
            <p14:sldId id="469"/>
            <p14:sldId id="470"/>
            <p14:sldId id="471"/>
            <p14:sldId id="472"/>
            <p14:sldId id="473"/>
            <p14:sldId id="474"/>
            <p14:sldId id="475"/>
            <p14:sldId id="476"/>
            <p14:sldId id="487"/>
            <p14:sldId id="477"/>
            <p14:sldId id="478"/>
            <p14:sldId id="479"/>
            <p14:sldId id="480"/>
            <p14:sldId id="484"/>
            <p14:sldId id="485"/>
            <p14:sldId id="486"/>
            <p14:sldId id="523"/>
            <p14:sldId id="524"/>
            <p14:sldId id="481"/>
            <p14:sldId id="482"/>
            <p14:sldId id="483"/>
            <p14:sldId id="525"/>
            <p14:sldId id="489"/>
            <p14:sldId id="490"/>
            <p14:sldId id="491"/>
            <p14:sldId id="492"/>
            <p14:sldId id="493"/>
            <p14:sldId id="494"/>
            <p14:sldId id="495"/>
            <p14:sldId id="497"/>
            <p14:sldId id="499"/>
            <p14:sldId id="500"/>
            <p14:sldId id="496"/>
            <p14:sldId id="501"/>
            <p14:sldId id="502"/>
            <p14:sldId id="503"/>
            <p14:sldId id="504"/>
            <p14:sldId id="505"/>
            <p14:sldId id="506"/>
            <p14:sldId id="507"/>
            <p14:sldId id="508"/>
            <p14:sldId id="526"/>
            <p14:sldId id="509"/>
            <p14:sldId id="510"/>
            <p14:sldId id="511"/>
            <p14:sldId id="512"/>
            <p14:sldId id="513"/>
            <p14:sldId id="514"/>
            <p14:sldId id="515"/>
            <p14:sldId id="516"/>
            <p14:sldId id="5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24" autoAdjust="0"/>
    <p:restoredTop sz="88762" autoAdjust="0"/>
  </p:normalViewPr>
  <p:slideViewPr>
    <p:cSldViewPr snapToGrid="0">
      <p:cViewPr varScale="1">
        <p:scale>
          <a:sx n="59" d="100"/>
          <a:sy n="59" d="100"/>
        </p:scale>
        <p:origin x="114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commentAuthors" Target="commentAuthors.xml"/><Relationship Id="rId7" Type="http://schemas.openxmlformats.org/officeDocument/2006/relationships/slide" Target="slides/slide3.xml"/><Relationship Id="rId71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7/29/2026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7/29/2026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115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02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695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667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463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642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21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849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5533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4060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1620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7633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4232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0569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999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6674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4398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5859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1690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860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953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8715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2659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233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2561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1087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932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519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9569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8049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6737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4878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6113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43379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5420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60267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0324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41286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91719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18437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56272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1716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50460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1484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74505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32906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99105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25215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36339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72891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62531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5815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91356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52389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24062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04380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58594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97689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08777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089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476D18C-03CF-4E9B-95BB-3A73E675E16F}" type="datetime1">
              <a:rPr lang="en-US" smtClean="0"/>
              <a:t>7/29/2026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Dept. of ISE, VVIET MYSORE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956B6E7-A57E-ACB1-F511-1228453CD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388DC6-6C81-41E2-AE93-B34495D081F9}" type="datetime1">
              <a:rPr lang="en-US" smtClean="0"/>
              <a:t>7/29/2026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="" xmlns:a16="http://schemas.microsoft.com/office/drawing/2014/main" id="{75CED211-4FE2-C831-AA1F-F11194B5D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Dept. of ISE, VVIET MYSORE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A88A0FB0-888A-37C2-CA08-0C579E0F9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6173C-0530-465B-9778-46CF6433679C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9" name="Title 8">
            <a:extLst>
              <a:ext uri="{FF2B5EF4-FFF2-40B4-BE49-F238E27FC236}">
                <a16:creationId xmlns="" xmlns:a16="http://schemas.microsoft.com/office/drawing/2014/main" id="{9B80127C-7314-EB48-FABB-3D22F2131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528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850F240-E442-4222-AA9F-0954742D0659}" type="datetime1">
              <a:rPr lang="en-US" smtClean="0"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Dept. of ISE, VVIET MYSORE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3516" y="1490897"/>
            <a:ext cx="10515600" cy="2387600"/>
          </a:xfrm>
        </p:spPr>
        <p:txBody>
          <a:bodyPr anchor="ctr" anchorCtr="0"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  <a:b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Reading, Attributions and Citations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PowerPoint program icon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43901" y="4196451"/>
            <a:ext cx="30262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Prepared By:</a:t>
            </a:r>
          </a:p>
          <a:p>
            <a:r>
              <a:rPr lang="en-US" sz="2400" b="1" dirty="0" smtClean="0"/>
              <a:t>Akash D</a:t>
            </a:r>
          </a:p>
          <a:p>
            <a:r>
              <a:rPr lang="en-US" sz="2400" b="1" dirty="0" smtClean="0"/>
              <a:t>Assistant Professor </a:t>
            </a:r>
          </a:p>
          <a:p>
            <a:r>
              <a:rPr lang="en-US" sz="2400" b="1" dirty="0" smtClean="0"/>
              <a:t>Dept. of ISE</a:t>
            </a:r>
          </a:p>
          <a:p>
            <a:r>
              <a:rPr lang="en-US" sz="2400" b="1" dirty="0" smtClean="0"/>
              <a:t>VVIET, MYSORE</a:t>
            </a:r>
            <a:endParaRPr lang="en-IN" sz="2400" b="1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36174" y="779667"/>
            <a:ext cx="10363200" cy="57150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GB" sz="2400" b="1" dirty="0" smtClean="0">
                <a:latin typeface="Cambria" pitchFamily="18" charset="0"/>
                <a:ea typeface="Cambria" pitchFamily="18" charset="0"/>
                <a:cs typeface="Times New Roman" pitchFamily="18" charset="0"/>
              </a:rPr>
              <a:t>           VIDYA VIKAS INSTITUTE OF ENGINEERING AND TECHNOLOGY</a:t>
            </a:r>
          </a:p>
          <a:p>
            <a:pPr algn="ctr">
              <a:lnSpc>
                <a:spcPct val="150000"/>
              </a:lnSpc>
            </a:pPr>
            <a:r>
              <a:rPr lang="en-GB" sz="2000" b="1" dirty="0">
                <a:latin typeface="Cambria" pitchFamily="18" charset="0"/>
                <a:ea typeface="Cambria" pitchFamily="18" charset="0"/>
              </a:rPr>
              <a:t>DEPARTMENT OF INFORMATION SCIENCE  AND ENGINEERING </a:t>
            </a:r>
            <a:endParaRPr lang="en-US" sz="2000" b="1" dirty="0">
              <a:latin typeface="Cambria" pitchFamily="18" charset="0"/>
              <a:ea typeface="Cambria" pitchFamily="18" charset="0"/>
              <a:cs typeface="Times New Roman" pitchFamily="18" charset="0"/>
            </a:endParaRPr>
          </a:p>
        </p:txBody>
      </p:sp>
      <p:pic>
        <p:nvPicPr>
          <p:cNvPr id="7" name="Picture 6" descr="clg_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516" y="458636"/>
            <a:ext cx="1083834" cy="75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3318" y="1439597"/>
            <a:ext cx="317965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LITERATURE </a:t>
            </a:r>
            <a:r>
              <a:rPr lang="en-US" sz="2400" b="1" dirty="0" smtClean="0"/>
              <a:t>REVIEW</a:t>
            </a:r>
            <a:endParaRPr lang="en-US" sz="2400" b="1" dirty="0"/>
          </a:p>
          <a:p>
            <a:endParaRPr lang="en-IN" sz="2400" dirty="0"/>
          </a:p>
        </p:txBody>
      </p:sp>
      <p:sp>
        <p:nvSpPr>
          <p:cNvPr id="4" name="Rectangle 3"/>
          <p:cNvSpPr/>
          <p:nvPr/>
        </p:nvSpPr>
        <p:spPr>
          <a:xfrm>
            <a:off x="696685" y="1901043"/>
            <a:ext cx="1088027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goal of literature review is to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 the use of content/ideas/approaches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to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correctly identify the problem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known beforehand.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advocate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specific approach adapted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understanding the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access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choice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methods used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the researcher understand clearly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the research to be undertaken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would contribute something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and innovative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of such review can be determined by evaluating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it includes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breadth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depth of the area under study, clarity, rigor, consistency, effective analysis.</a:t>
            </a:r>
          </a:p>
        </p:txBody>
      </p:sp>
    </p:spTree>
    <p:extLst>
      <p:ext uri="{BB962C8B-B14F-4D97-AF65-F5344CB8AC3E}">
        <p14:creationId xmlns:p14="http://schemas.microsoft.com/office/powerpoint/2010/main" val="2083760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5053" y="1170605"/>
            <a:ext cx="4779076" cy="4459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b="1" dirty="0"/>
              <a:t>NEW AND EXISTING KNOWLEDGE 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406" y="1399783"/>
            <a:ext cx="11043561" cy="5109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knowledge in research can only be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interpreted within the context of what is already known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cannot exist without the foundation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existing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knowledge.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new knowledge can have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vastly different interpretations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depending on what the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researcher‘s background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one‘s perception of that new knowledge can change from indifference to excitement (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vice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versa), depending on what else one knows.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knowledge is needed to make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case that there is a problem and that it is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can infer that the knowledge that is sought to be produced does not yet exist by describing what other knowledge already exists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pointing out that this part is missing so that what we have is original. </a:t>
            </a:r>
          </a:p>
        </p:txBody>
      </p:sp>
    </p:spTree>
    <p:extLst>
      <p:ext uri="{BB962C8B-B14F-4D97-AF65-F5344CB8AC3E}">
        <p14:creationId xmlns:p14="http://schemas.microsoft.com/office/powerpoint/2010/main" val="175345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7517" y="1355105"/>
            <a:ext cx="10924672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Often, but not always, the textbooks contain the older established knowledge and the research papers the newer work.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review process must explain how a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item builds on another one.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effective review of literature ensures a firm foundation for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advancing knowledge, facilitates theoretical growth, eliminates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areas that might be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interest, and opens new avenues of possible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good literature survey is typically a two-step process as enumerated below: </a:t>
            </a:r>
            <a:endParaRPr lang="en-US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8638" algn="just">
              <a:lnSpc>
                <a:spcPct val="150000"/>
              </a:lnSpc>
            </a:pP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major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subtopics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relevant to the subject under consideration. </a:t>
            </a:r>
            <a:endParaRPr lang="en-US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8638" algn="just">
              <a:lnSpc>
                <a:spcPct val="150000"/>
              </a:lnSpc>
            </a:pP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 the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relevant source (article/patent/website/data, etc.) in the correct category of the concept/topic/subtopic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02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5642" y="1234246"/>
            <a:ext cx="10972800" cy="5516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SYNTHESIS OF PRIOR ART </a:t>
            </a:r>
            <a:endParaRPr lang="en-US" sz="19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art search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looking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existing knowledge, publications, patents, or products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already available before your invention or idea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collecting the sources, usually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articles,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intended to be used in the literature review, the researcher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ready to break down each article and identify the useful content in 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then synthesize the collection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articles.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researcher should analyze the relevant information ascertained in below table by undertaking the following steps: </a:t>
            </a:r>
          </a:p>
          <a:p>
            <a:pPr marL="53816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hypothesis,</a:t>
            </a:r>
          </a:p>
          <a:p>
            <a:pPr marL="53816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models and the experimental conditions used,</a:t>
            </a:r>
          </a:p>
          <a:p>
            <a:pPr marL="53816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Making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connections,</a:t>
            </a:r>
          </a:p>
          <a:p>
            <a:pPr marL="53816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contrasting the various information, and</a:t>
            </a:r>
          </a:p>
          <a:p>
            <a:pPr marL="53816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the strong points and the loopholes.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84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88" y="976184"/>
            <a:ext cx="11080225" cy="28635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29390" y="4008924"/>
            <a:ext cx="11080223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grid of N topics and M sources is shown above to help crystallize the information in different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of literature survey is to bring out something new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work on through the identification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unsolved issues,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in the existing models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experimental designs, and present a novel idea and recommendations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735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1579" y="1390923"/>
            <a:ext cx="10948737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Relying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refereed articles published in scholarly journals or granted patents can save the researcher a lot of time.</a:t>
            </a:r>
          </a:p>
          <a:p>
            <a:pPr algn="just"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are a few criteria that could help the researcher in the evaluation of the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What are the author‘s credentials and affiliation? Who publishes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information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Based on what one already knows about the topic or from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reading other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sources, does the information seem credible?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the author cite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sources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reference list or bibliography,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the information presented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source at an appropriate comprehension or research level?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965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3921" y="1042912"/>
            <a:ext cx="11093115" cy="113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BIBLIOGRAPHIC DATABASES 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054" y="1502165"/>
            <a:ext cx="10975665" cy="54245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ibliographic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collection of references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(like titles, authors, abstracts, keywords, etc.) of published works such as research papers, books, journals, or articles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algn="just">
              <a:lnSpc>
                <a:spcPct val="150000"/>
              </a:lnSpc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Scopus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index of journals, conference papers.</a:t>
            </a:r>
          </a:p>
          <a:p>
            <a:pPr algn="just">
              <a:lnSpc>
                <a:spcPct val="150000"/>
              </a:lnSpc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of Science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references of research articles from top journals.</a:t>
            </a:r>
          </a:p>
          <a:p>
            <a:pPr algn="just">
              <a:lnSpc>
                <a:spcPct val="150000"/>
              </a:lnSpc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PubMed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database of medical/life sciences research papers.</a:t>
            </a:r>
          </a:p>
          <a:p>
            <a:pPr algn="just">
              <a:lnSpc>
                <a:spcPct val="150000"/>
              </a:lnSpc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en-US" sz="23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Xplore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(Institute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Electrical and Electronics Engineers)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references of engineering and computer science papers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76351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9705" y="1132419"/>
            <a:ext cx="10972800" cy="5868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 OF SCIENCE</a:t>
            </a:r>
            <a:endParaRPr lang="en-IN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 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Science (formerly known as ISI or Thomson Reuters)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IN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databases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well as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tools.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search tool 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scholarly materials requiring institutional license and </a:t>
            </a:r>
            <a:r>
              <a:rPr lang="en-IN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allows the 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search in a particular topic 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interest, which can be made by </a:t>
            </a:r>
            <a:r>
              <a:rPr lang="en-IN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in 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fields that are available in drop down menu such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title, topic, author, address, etc</a:t>
            </a:r>
            <a:r>
              <a:rPr lang="en-IN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also allows sorting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number of citations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(highest to lowest), publication date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clicked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website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paper, authors, the type of journal, volume, issue number and year of publication, abstract 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keywords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809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8010" y="1317561"/>
            <a:ext cx="12250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smtClean="0"/>
              <a:t>Google</a:t>
            </a:r>
            <a:endParaRPr lang="en-IN" sz="2400" b="1" dirty="0"/>
          </a:p>
        </p:txBody>
      </p:sp>
      <p:sp>
        <p:nvSpPr>
          <p:cNvPr id="5" name="Rectangle 4"/>
          <p:cNvSpPr/>
          <p:nvPr/>
        </p:nvSpPr>
        <p:spPr>
          <a:xfrm>
            <a:off x="588010" y="1720840"/>
            <a:ext cx="10988948" cy="5011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is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 place to start one‘s search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one is starting out on a topic. It can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helpful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finding freely available information, such as reports from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governments, organizations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companies, and so on. 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It‘s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―black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box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information. It searches everything on the Internet, with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quality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control—one does not know where results are coming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limited search functionality and refinement options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948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4541" y="1550500"/>
            <a:ext cx="10948737" cy="480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Google Scholar limits one‘s search to scholarly literature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access to journal articles and conference proceedings, as well as other scholarly resources. However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there are limitations: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of the results are not actually scholarly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article may look scholarly at first glance, but is not a good source upon further inspection.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not comprehensive. Some 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publishers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do not make their content available to Google Scholar.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limited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search functionality and refinement options.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94243" y="1138803"/>
            <a:ext cx="23791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/>
              <a:t>Google Scholar</a:t>
            </a:r>
          </a:p>
        </p:txBody>
      </p:sp>
    </p:spTree>
    <p:extLst>
      <p:ext uri="{BB962C8B-B14F-4D97-AF65-F5344CB8AC3E}">
        <p14:creationId xmlns:p14="http://schemas.microsoft.com/office/powerpoint/2010/main" val="3552597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5431" y="1072396"/>
            <a:ext cx="11317705" cy="5932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SEARCH: 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 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scholarly publication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one where in the published outcome is 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authored by researchers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a specific field of skill. Such work cites all source contents used and is generally 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peer reviewed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and validity before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8163" algn="l"/>
              </a:tabLst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Essentially, the 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audience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such works 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fellow experts and students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the field. 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content is typically more complex and advanced than those found in general magazines.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 must consider what type of information is needed, and where it could be found.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all information is available online. Some information is only available in </a:t>
            </a:r>
            <a:r>
              <a:rPr lang="en-US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print,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take time for scholarly and peer-reviewed information to be published.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749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8531" y="1087965"/>
            <a:ext cx="1090061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is an iterative process:</a:t>
            </a:r>
          </a:p>
          <a:p>
            <a:pPr marL="441325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 with different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keywords and operators</a:t>
            </a:r>
          </a:p>
          <a:p>
            <a:pPr marL="441325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 and assess results, use filters </a:t>
            </a:r>
          </a:p>
          <a:p>
            <a:pPr marL="441325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Modify the search as needed</a:t>
            </a:r>
          </a:p>
          <a:p>
            <a:pPr marL="441325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relevant articles are found, look at their citations and references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search is complete, the researcher needs to engage in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critical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reading,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making observation of the salient points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those sources, and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 the findings.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429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0579" y="600283"/>
            <a:ext cx="1100545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1325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detailed comparison and contrast of the findings is also required to be done.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entire process may be needed to be done multiple times</a:t>
            </a:r>
          </a:p>
          <a:p>
            <a:pPr marL="441325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must note that the literature survey is a continuous and cyclical process that may involve the researcher going back and forth till the end of the research project.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Nothing will come of it unless one is an active reader and spends sufficient time to develop one‘s own ideas build on what one has read. 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1325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not as if literature survey ends and then research begins, for new literature keeps appearing, and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one‘s understanding of the problem grows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one finds new connections and related/evolving problems which may need more search.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72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8843" y="1166843"/>
            <a:ext cx="11038114" cy="5009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Reading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Reading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research paper is a critical process.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reader should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be under the assumption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reported results or arguments are correct.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Rather,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being suspicious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asking appropriate questions is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fact a good thing.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the authors attempted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solve the right problem?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there simpler solutions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have not been considered?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limitations (both stated and ignored)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solution and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any missing links?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assumptions that were made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reasonable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there a logical flow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paper or is there a flaw in the reasoning</a:t>
            </a:r>
            <a:r>
              <a:rPr lang="en-IN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837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8457" y="1287255"/>
            <a:ext cx="10760529" cy="4881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Reading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judgemental approach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boldness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make judgments is needed while reading.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important to ascertain whether the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presented in the paper is right data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whether the data was gathered and interpreted in a correct manner.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It's crucial to determine if using a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dataset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 have made the research more convincing and compelling</a:t>
            </a:r>
            <a:r>
              <a:rPr lang="en-IN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relatively easy.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relatively easier to critically read to find the mistakes than to read it so as to find the good ideas in the paper.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Anyone who has been a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reviewer of journal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articles would agree to such a statement.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42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2514" y="1157210"/>
            <a:ext cx="1094014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Creative Reading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Reading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creatively is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requires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positive approach in search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creative reading,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idea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to actively look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other applications, interesting generalizations, or extended work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the authors might have missed?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there plausible modifications that may throw up important practical challenges?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decide if you want to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deeper into your work, consider evaluating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whether there's potential for extended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focus should be on identifying the next aspect that warrants exploration.</a:t>
            </a:r>
          </a:p>
        </p:txBody>
      </p:sp>
    </p:spTree>
    <p:extLst>
      <p:ext uri="{BB962C8B-B14F-4D97-AF65-F5344CB8AC3E}">
        <p14:creationId xmlns:p14="http://schemas.microsoft.com/office/powerpoint/2010/main" val="1870580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9988" y="1186929"/>
            <a:ext cx="42661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/>
              <a:t>Taking Notes While Reading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79988" y="1434198"/>
            <a:ext cx="1091532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 reads to write and writes well only if the reading skills are good.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between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and actually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a paper is the act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taking notes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and shortly after the process of reading.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well-known saying that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better than the best memory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it applies to researchers who need to read and build on that knowledge to write building on the notes taken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researchers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notes on the margins of their copies of papers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even digitally on an article aggregator tool.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Google Scholar,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ResearchGate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Mendeley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Zotero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951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8343" y="1170601"/>
            <a:ext cx="42661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/>
              <a:t>Taking Notes While 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79988" y="1458991"/>
            <a:ext cx="1101329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research paper, there are a lot of things that one might like 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for later use such as definitions, explanations, and concepts.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are questions of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criticisms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these need to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written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 so as to avoid being forgotten later 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efforts pay significantly when one has to go back and reread the same content after a long time</a:t>
            </a:r>
          </a:p>
        </p:txBody>
      </p:sp>
    </p:spTree>
    <p:extLst>
      <p:ext uri="{BB962C8B-B14F-4D97-AF65-F5344CB8AC3E}">
        <p14:creationId xmlns:p14="http://schemas.microsoft.com/office/powerpoint/2010/main" val="3255119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6186" y="1163911"/>
            <a:ext cx="10874828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/>
              <a:t>Taking Notes While Reading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completing a thorough reading, a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technical reading should end with a summary of the paper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sentences describing the contributions.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explain the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merit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paper needs to be looked at from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perspective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respect to existing works in that specific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area.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thorough reading should bring out whether there are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ideas in the paper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if existing ideas were implemented through experiments or in a new application, or if different existing ideas were brought together under a novel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Obviously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type of contribution a paper is actually making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determined better by having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other papers in the area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570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2454" y="1105284"/>
            <a:ext cx="51866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Mathematics and Algorithms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2453" y="1417871"/>
            <a:ext cx="1114247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often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of new advances, for evolution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development of engineering research and practice.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researcher generally cannot avoid mathematical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derivations or proofs as part of research work.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fact, these are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heart of any technical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paper.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one should avoid skimming them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meticulous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reading(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attention to every small detail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proofs or algorithms, after having identified the relevance of the paper, one can develop sound understanding about the problem that the authors have attempted to solve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200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0486" y="1294533"/>
            <a:ext cx="10972800" cy="4457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/>
              <a:t>Reading Mathematics and </a:t>
            </a:r>
            <a:r>
              <a:rPr lang="en-IN" sz="2400" b="1" dirty="0" smtClean="0"/>
              <a:t>Algorithms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However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researchers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skip a technical section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it appears to explain something already known, is too advanced for their current research, 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seems highly specialized and unnecessary for their current project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programming languages like C, C++, or Java, errors are common.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confidence in the paper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algorithm, coding it quickly to check its functionality is a prudent step, as there's a fair chance it may not work as expected.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93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7829" y="1320493"/>
            <a:ext cx="1102178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Reading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Datasheet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fields of engineering will need to read certain types of documents.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and civil engineers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would need to read drawings related to mechanical parts and buildings.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 in the field of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 to read datasheets.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occasions, researchers in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fields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also need to incorporate a certain electronic part in which case careful reading of the datasheet is imperative.</a:t>
            </a:r>
          </a:p>
        </p:txBody>
      </p:sp>
    </p:spTree>
    <p:extLst>
      <p:ext uri="{BB962C8B-B14F-4D97-AF65-F5344CB8AC3E}">
        <p14:creationId xmlns:p14="http://schemas.microsoft.com/office/powerpoint/2010/main" val="4050932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53143" y="1108808"/>
            <a:ext cx="1094014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principles like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skimming(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surface-level reading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datasheet are required to ascertain whether further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careful reading is needed.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Datasheets are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manuals for electronic components,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(hopefully) details what a component does and how one may use it.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Datasheets enable a researcher (or a working professional)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circuit or debug any given circuit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that component.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page of the datasheet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summarizes a part's function and features, basic specifications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usually provides a functional block diagram with the internal functions of the part.</a:t>
            </a:r>
          </a:p>
        </p:txBody>
      </p:sp>
    </p:spTree>
    <p:extLst>
      <p:ext uri="{BB962C8B-B14F-4D97-AF65-F5344CB8AC3E}">
        <p14:creationId xmlns:p14="http://schemas.microsoft.com/office/powerpoint/2010/main" val="1447732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7829" y="1319325"/>
            <a:ext cx="11103428" cy="5565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Datasheets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with accurate dimensions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packages a part is available in.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with a new part, or when deciding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part to use in the research work,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recommended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carefully read that part's datasheet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come up with a bit of shortcut that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potentially save many hours later on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papers or books are not the only contents that a researcher has to master reading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datasheets as an example to state the need to pay attention to the art of reading such documents.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762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8843" y="1190451"/>
            <a:ext cx="11070771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Giving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Wherever Due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writing, by definition,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follow certain rules and conventions.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the most important of these are the rules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conventions about citing, referencing, attributing, and acknowledging the works of others.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means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giving proper credit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wherever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due. Citing is the practice of quoting from, referring to other authors' works and ideas in the text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our work in such a way that the context is clear to the reader.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listing of the full publication details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published work that is cited so as to give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information to the readers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133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9728" y="1369420"/>
            <a:ext cx="11092544" cy="2795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research publications indicates contributions 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work.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acknowledgment, attributions, and citations differ in the manner of their application.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Acknowledgment is arguably more personal, singular, and simply an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 of appreciations and contribution.</a:t>
            </a:r>
          </a:p>
        </p:txBody>
      </p:sp>
    </p:spTree>
    <p:extLst>
      <p:ext uri="{BB962C8B-B14F-4D97-AF65-F5344CB8AC3E}">
        <p14:creationId xmlns:p14="http://schemas.microsoft.com/office/powerpoint/2010/main" val="2694632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4157" y="1302405"/>
            <a:ext cx="10940143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one-line difference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Briefly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mention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the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	  Example 1: Artificial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is transforming industries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Example 2:  Artificial Intelligence is transforming industries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(Smith, 2020).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Full details of the source in the reference list/bibliography.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Giving credit to the original creator of an idea, data, or work.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Thanking or recognizing contributions, support, or help (not always academic sources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118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22511" y="985462"/>
            <a:ext cx="10923814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Citations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Functions and Attributes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Citations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(references) credit others for their work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allowing the readers to trace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source publication if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portion of someone else's work or ideas in papers, patents, or presentations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 used in any new document only by clearly citing the source.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to all forms of written sources in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of texts, images, sounds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to do may be considered plagiarism (copied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 that can be cited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journal papers, conference proceeding, books, theses, newspaper articles, websites, or other online resources and personal communication.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75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4157" y="1302405"/>
            <a:ext cx="1094014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Preferably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citations should be given 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end of a sentence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the end of a paragraph [1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endParaRPr lang="en-I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 needs to cite each source twice: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in-text citation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the text of the article exactly where the paraphrased, and source is quoted or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(ii) a second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in the references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typically at the end of the chapter or a book or at the end of a research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634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6184" y="1126317"/>
            <a:ext cx="11038115" cy="56176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main functions of citation:</a:t>
            </a:r>
          </a:p>
          <a:p>
            <a:pPr algn="just">
              <a:lnSpc>
                <a:spcPct val="150000"/>
              </a:lnSpc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Verification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 have a scope for finding intentional or unintentional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distortion of research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misleading statements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 offers the readers a chance to ascertain if the original source is justified or not, and if that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assertion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properly described in the present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work.</a:t>
            </a:r>
          </a:p>
          <a:p>
            <a:pPr algn="just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Acknowledgment function: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 primarily receive credit for their work through citations. Citations play crucial role in promotion of individual researchers and their continued employment.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reputed organizations and institutes provide research funding based on the reputations of the researchers. Citations help all researchers to enhance their reputation.</a:t>
            </a:r>
          </a:p>
          <a:p>
            <a:pPr algn="just">
              <a:lnSpc>
                <a:spcPct val="150000"/>
              </a:lnSpc>
            </a:pPr>
            <a:endParaRPr lang="en-IN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59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6184" y="1126317"/>
            <a:ext cx="11038115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endParaRPr lang="en-I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Suppose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 Ramesh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publishes a research paper on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in Healthcare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Later,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 other researchers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write their own papers and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cite Dr. Ramesh ’s paper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as a source.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Because his work is cited many times, it shows that her research is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and valuable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he applies for a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promotion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funding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the committee sees that his paper has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 citations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this increases his chances of getting funding or a higher position.</a:t>
            </a:r>
          </a:p>
          <a:p>
            <a:pPr algn="just">
              <a:lnSpc>
                <a:spcPct val="150000"/>
              </a:lnSpc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Documentation function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Citations are also used to document scientific concepts and historical progress of any particular technology over the years.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Citations are the currency that authors would wish to accumulate and the technical community gives them credit for these contributions. When other authors make citations, they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honor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those who initiated the ideas.</a:t>
            </a:r>
          </a:p>
        </p:txBody>
      </p:sp>
    </p:spTree>
    <p:extLst>
      <p:ext uri="{BB962C8B-B14F-4D97-AF65-F5344CB8AC3E}">
        <p14:creationId xmlns:p14="http://schemas.microsoft.com/office/powerpoint/2010/main" val="3932288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6814" y="1124553"/>
            <a:ext cx="10907486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cases when references do not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fulfill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actual goal of citations and acknowledgments, and thus do not benefit the reader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I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them are motioned below: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Spurious citations-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 is not required/ not found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Biased citations-cite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 of their friends or colleagues with no relevance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Self-citations-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done only if work is relevant.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Coercive citations-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 pressuring researchers to include unnecessary references in their work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above discussions, it is clear that the author(s) must maintain a balance between too few and too many citations. At the same time, author(s) must give credit whenever due even if it is their own work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00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78352" y="1241982"/>
            <a:ext cx="1099657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Impact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Title and Keywords on Citations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 rate of any research paper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various factors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and availability of the journal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publication types, research area, and importance of the published research work.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like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of the title, type of the title, and selected keyword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also impact the citation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count.</a:t>
            </a:r>
          </a:p>
        </p:txBody>
      </p:sp>
    </p:spTree>
    <p:extLst>
      <p:ext uri="{BB962C8B-B14F-4D97-AF65-F5344CB8AC3E}">
        <p14:creationId xmlns:p14="http://schemas.microsoft.com/office/powerpoint/2010/main" val="583574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40541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0482" y="1320495"/>
            <a:ext cx="1098913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a research paper is a critical attribute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serving 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indicator of the research area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aiding researchers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literature surveys.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plays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pivotal role in marketing, making papers traceable and accessible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good title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not only be informative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represent the paper effectively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also capture the readers' attention.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some titles may be informative without engaging readers, while others are attractive but lack relevance to the readers' research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791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4157" y="1161356"/>
            <a:ext cx="1103811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impact of a research paper's title goes beyond its initial presentation.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count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citation rates may be influenced by the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title, introducing three key aspects that shape its 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41325" algn="just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types of the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vs. Question vs.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Declarative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1325" algn="just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(ii) length of the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title -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Short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titles often attract more citations than very long ones.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1325" algn="just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(iii) the presence of specific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markers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 of colons, question marks, or terms like “Review” or “Case Study” can affect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visibility.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Striking a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between 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informativeness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attractiveness, and relevance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title is essential for maximizing the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paper's visibility, accessibility, and impact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the academic community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314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02129" y="1344106"/>
            <a:ext cx="10874828" cy="2446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title characteristics and citation rates reveals noteworthy insights.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Stremersch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 [11] examined papers in the 1990-2002 research domain,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finding a positive correlation between title length and citation counts.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Sagi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Yechiam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[12] discovered that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amusing titles receive fewer citations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pleasant titles show no significant relation to citations.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02129" y="3744763"/>
            <a:ext cx="10874827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Jacques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Sebire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[8]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titles from highly and least-cited papers, uncovering a robust association between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titles and increased citation rates.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Jamali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Nikzad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[13] observed that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question- type titles lead to higher downloads but lower citations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declarative titles are downloaded and cited less than descriptive titles, although the difference is not substantial.</a:t>
            </a:r>
          </a:p>
        </p:txBody>
      </p:sp>
    </p:spTree>
    <p:extLst>
      <p:ext uri="{BB962C8B-B14F-4D97-AF65-F5344CB8AC3E}">
        <p14:creationId xmlns:p14="http://schemas.microsoft.com/office/powerpoint/2010/main" val="932621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5042" y="1432308"/>
            <a:ext cx="1092925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general, titles containing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mark, colon, and reference to a specific geographical region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associated with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citation rates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also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result-describing titles usually get citations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method-describing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titles.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Keywords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crucial components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an article, encapsulating essential information relevant to the research area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Utilized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engines, journals, digital libraries, and indexing services,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 categorize the research topic, directing the work to its intended audience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546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07884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9723" y="1095738"/>
            <a:ext cx="11059889" cy="5586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Their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lies in ensuring readers are informed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article's content [15].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Maximizing allowable keywords enhances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article's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discoverability and increases the likelihood of citation.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introducing new, unfamiliar keywords should be minimized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prevent low visibility within the research community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flow happens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co-authors during research collaboration, among other researchers through their paper citation network, and also between institutions, departments,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 fields or topics, and elements of research [17].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 shows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citations, knowledge flow, and elements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researchers, papers, journal publications or conferences, and institutions.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paper A is cited by paper B, then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flows through citation networks across institutions.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73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04" r="28470"/>
          <a:stretch/>
        </p:blipFill>
        <p:spPr>
          <a:xfrm>
            <a:off x="473528" y="1387929"/>
            <a:ext cx="11005458" cy="547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245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53143" y="1450813"/>
            <a:ext cx="10956471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Sooryamoorthy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[18] examined the citation impact of the South African publications among different collaboration types, discipline and sectors,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observed that co-authored publications had more citations than single author paper and there was a positive co- relation between number of authors and the number of citations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[18].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612061"/>
            <a:ext cx="10923814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 shows a relationship between co- authorship and different types of citations.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Three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articles (X, Y, and Z) and five references (X1, X2, X3, Y1, and Y2) of article X and Y, respectively, are considered. A, B, and C are authors of article X, and D, E, F, G, and also A are authors of article Y. Article Z has two authors H and E. References X1, X2, X3, Y1, and Y2 have authors (A, P), (H, R), (D), (Q, B, F), and (R), respectively</a:t>
            </a:r>
          </a:p>
        </p:txBody>
      </p:sp>
    </p:spTree>
    <p:extLst>
      <p:ext uri="{BB962C8B-B14F-4D97-AF65-F5344CB8AC3E}">
        <p14:creationId xmlns:p14="http://schemas.microsoft.com/office/powerpoint/2010/main" val="117461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03" t="7869" r="34444"/>
          <a:stretch/>
        </p:blipFill>
        <p:spPr>
          <a:xfrm>
            <a:off x="3004457" y="1391559"/>
            <a:ext cx="6025243" cy="481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062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0021" y="1720840"/>
            <a:ext cx="1092467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co-authorship citation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network, references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and Y1 are considered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self-citation, reference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X3 is a level-1 co-author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citation because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 of article Y is direct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collaborator of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 A, reference X2 is a level-1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co-author network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author A is collaborator of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 who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collaborated with 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conclude that papers which frequently cite collaborators will also often cite collaborators of collaborators.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certainly impact citation counts</a:t>
            </a:r>
          </a:p>
        </p:txBody>
      </p:sp>
    </p:spTree>
    <p:extLst>
      <p:ext uri="{BB962C8B-B14F-4D97-AF65-F5344CB8AC3E}">
        <p14:creationId xmlns:p14="http://schemas.microsoft.com/office/powerpoint/2010/main" val="110969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3453" y="1228363"/>
            <a:ext cx="10948736" cy="5109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Citing Datasets</a:t>
            </a:r>
          </a:p>
          <a:p>
            <a:pPr algn="just">
              <a:lnSpc>
                <a:spcPct val="150000"/>
              </a:lnSpc>
            </a:pP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nature of engineering research has evolved rapidly and now relies heavily on data to justify claims and provide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evidences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data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citations must fetch proper credit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creator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dataset as citations of other objects like research articles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Ascertaining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ownership of data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a complicated issue especially with large datasets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 of funding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also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it a difficult matter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researcher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obtain necessary permission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using data from a particular source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Citations related to datasets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include enough information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that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reader could find the same dataset again in the future.</a:t>
            </a:r>
          </a:p>
          <a:p>
            <a:pPr algn="just">
              <a:lnSpc>
                <a:spcPct val="15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711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97830" y="1366867"/>
            <a:ext cx="1087654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Data,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Sotavento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(Wind Farm), Corunna, Spain (July 2016): Retrieved from http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://www.sotaventogalicia.com/en/real-time-data/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 (2016). [Personnel survey].Unpublished raw data.</a:t>
            </a:r>
          </a:p>
        </p:txBody>
      </p:sp>
    </p:spTree>
    <p:extLst>
      <p:ext uri="{BB962C8B-B14F-4D97-AF65-F5344CB8AC3E}">
        <p14:creationId xmlns:p14="http://schemas.microsoft.com/office/powerpoint/2010/main" val="3843919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5641" y="1197733"/>
            <a:ext cx="10948737" cy="5011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Styles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Citations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Citation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styles differ primarily in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order, and syntax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information about references, depending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difference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priorities attributed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briefness, readability, dates, authors, and publications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most common styles for citation (as well as other aspects of technical writing) used by engineers are as follows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1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ASCE style (American Society of Civil Engineers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2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 style (Institute of Electrical and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Engineers)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3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ASME style (The Association of Mechanical Engineers)</a:t>
            </a:r>
          </a:p>
        </p:txBody>
      </p:sp>
    </p:spTree>
    <p:extLst>
      <p:ext uri="{BB962C8B-B14F-4D97-AF65-F5344CB8AC3E}">
        <p14:creationId xmlns:p14="http://schemas.microsoft.com/office/powerpoint/2010/main" val="105761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9390" y="162982"/>
            <a:ext cx="109728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ASCE style (American Society of Civil Engineers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Reference list: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part is to be placed in the bibliography or references at the end of the article or report. A template with example for the same is given below: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1" t="39463" r="11756" b="21666"/>
          <a:stretch/>
        </p:blipFill>
        <p:spPr>
          <a:xfrm>
            <a:off x="1208314" y="1243960"/>
            <a:ext cx="9356271" cy="567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351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7308" y="1234789"/>
            <a:ext cx="11161292" cy="113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In-text citation for journals or books: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part is to be placed right after the reference to the source of the citation assignment: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65" b="36235"/>
          <a:stretch/>
        </p:blipFill>
        <p:spPr>
          <a:xfrm>
            <a:off x="1110342" y="2368754"/>
            <a:ext cx="10091057" cy="432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850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5642" y="1246008"/>
            <a:ext cx="10924674" cy="3214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IEEE style (Institute of Electrical and Electronics Engineers</a:t>
            </a:r>
            <a:r>
              <a:rPr lang="en-IN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 is standard for all IEEE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journals and magazines, and is frequently used for papers 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articles in the fields of electrical engineering and computer science</a:t>
            </a:r>
            <a:r>
              <a:rPr lang="en-IN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lEEE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style requires endnotes and that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be cited numerically in the text</a:t>
            </a:r>
            <a:r>
              <a:rPr lang="en-IN" sz="2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Those 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submitting to an IEEE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should see guidelines for the specific journal or magazine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may also refer to the complete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lEEE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editorial style manual.</a:t>
            </a:r>
          </a:p>
        </p:txBody>
      </p:sp>
    </p:spTree>
    <p:extLst>
      <p:ext uri="{BB962C8B-B14F-4D97-AF65-F5344CB8AC3E}">
        <p14:creationId xmlns:p14="http://schemas.microsoft.com/office/powerpoint/2010/main" val="373991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5642" y="1360443"/>
            <a:ext cx="1092467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examples of IEEE styles of citations for different types of sources are enumerated below: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Chapter in an edited book</a:t>
            </a:r>
          </a:p>
          <a:p>
            <a:pPr algn="just">
              <a:lnSpc>
                <a:spcPct val="150000"/>
              </a:lnSpc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[1] A. </a:t>
            </a:r>
            <a:r>
              <a:rPr lang="en-I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Rezi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M. </a:t>
            </a:r>
            <a:r>
              <a:rPr lang="en-I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Allam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"Techniques in array processing by means of transformations in Control and Dynamic Systems”, Vol. 69,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Multidimensional Systems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C. T. </a:t>
            </a:r>
            <a:r>
              <a:rPr lang="en-I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Leondes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Ed. San Diego: Academic Press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1995, pp. 133-180.</a:t>
            </a:r>
          </a:p>
          <a:p>
            <a:pPr algn="just">
              <a:lnSpc>
                <a:spcPct val="150000"/>
              </a:lnSpc>
            </a:pP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more details: http://www.ieee.org/documents/style manual.pdf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37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3452" y="1312316"/>
            <a:ext cx="1111717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ASME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Author, AA., Author B.B, and Author, C.C, Year, "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Technical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Report”,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Agency Name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Report Number</a:t>
            </a:r>
          </a:p>
          <a:p>
            <a:pPr algn="just">
              <a:lnSpc>
                <a:spcPct val="150000"/>
              </a:lnSpc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Shareef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U.,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Navya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 M.,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Anand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S., and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Dinesh 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2017 "Synthesis and characterization of silver nanoparticles from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Penicillium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." Materials Today: Proceedings 4, no.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11923-11932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https://www.asme.org/shop/proceedings/conference-publications/references</a:t>
            </a:r>
          </a:p>
        </p:txBody>
      </p:sp>
    </p:spTree>
    <p:extLst>
      <p:ext uri="{BB962C8B-B14F-4D97-AF65-F5344CB8AC3E}">
        <p14:creationId xmlns:p14="http://schemas.microsoft.com/office/powerpoint/2010/main" val="3586172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9705" y="1294130"/>
            <a:ext cx="11044990" cy="4457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Acknowledgments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Attributions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acknowledgment section serves as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to express gratitude for contributions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individuals, organizations, or funding bodies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current work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guidelines are lacking,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included at the end of the text or as a footnote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is common in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recognizing those responsible, in various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capacities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completion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publishable research outcomes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1355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9705" y="1294130"/>
            <a:ext cx="1104499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Acknowledgments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relationships among people, agencies, institutions, and research, allowing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gratitude for those who may not be included as authors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have contributed to the work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Acknowledgments can be classified into six categories: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moral, financial, editorial, institutional, technical, and conceptual support.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Acknowledgments and attributions are also very important in the publications of journal or conference papers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526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1105" y="1085851"/>
            <a:ext cx="1133546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credit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wherever it is due is very important and even if the contribution is minor, it should not be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neglected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 triangle theory shows a relationship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between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citations,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acknowledgment and authorship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engineering research, acknowledgments are meant for participating technicians, students, funding agency, grant number, institution, or anyone who provide scientific inputs, shared unpublished results, provided equipment, or participated in discussions.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988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1579" y="1125639"/>
            <a:ext cx="1092467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15.1. What Should Be Acknowledged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Every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 should know that what should/should not be acknowledged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acknowledge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funding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organization, oral discussion or support, laboratory, and computer work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Remove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Quataions</a:t>
            </a:r>
            <a:endParaRPr lang="en-I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Scientific or technical guidance: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 must acknowledge those providing scientific or technical guidance, participating in discussions, or sharing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information. The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extends to assistants, students, or technicians who contributed experimentally and theoretically to the research work.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949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1579" y="1266046"/>
            <a:ext cx="1102092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(ii)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Funding/Grants: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researcher received grant from a funding agency and if those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funds were used in the work reported in the publication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such support should always be acknowledged by providing full details of the funding program and grant number in the acknowledgment section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example of acknowledgment of grant received is as follows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Acknowledgments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 research work was funded in part by the Extra Mural Research Funding 2014-17 (Individual Centric) of the Department of Science and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Tech-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nolgy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(DST), Govt. of India.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34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9390" y="1288250"/>
            <a:ext cx="1094873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(iii)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Acknowledging that results have been presented elsewhere: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acknowledging that results have been presented elsewhere,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journal if presented as an abstract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presentations in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meetings(conferences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or symposia, include relevant details such as the event's name, year, location, and date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concise acknowledgment of the previous presentation of the results.</a:t>
            </a:r>
          </a:p>
        </p:txBody>
      </p:sp>
    </p:spTree>
    <p:extLst>
      <p:ext uri="{BB962C8B-B14F-4D97-AF65-F5344CB8AC3E}">
        <p14:creationId xmlns:p14="http://schemas.microsoft.com/office/powerpoint/2010/main" val="1439807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07883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73767" y="1246005"/>
            <a:ext cx="1094873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15.2. Acknowledgments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Books / Dissertations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Thesis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dissertation acknowledgments, placed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table of contents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are more extensive than those in journal papers or conference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articles.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researchers to express gratitude to all contributors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be given to the order and brief expression,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avoiding emotional language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acknowledgments include supervisors, peers, academic staff, technical support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colleagues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institutions, family, and friends.</a:t>
            </a:r>
          </a:p>
        </p:txBody>
      </p:sp>
    </p:spTree>
    <p:extLst>
      <p:ext uri="{BB962C8B-B14F-4D97-AF65-F5344CB8AC3E}">
        <p14:creationId xmlns:p14="http://schemas.microsoft.com/office/powerpoint/2010/main" val="2268584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5325" y="1125134"/>
            <a:ext cx="11117179" cy="46020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Acknowledgement 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Thesis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wish to express my sincere appreciation to my supervisor </a:t>
            </a:r>
            <a:r>
              <a:rPr lang="en-I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Prof.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Syed </a:t>
            </a:r>
            <a:r>
              <a:rPr lang="en-I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Akheel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Ahmed for the useful comments, remarks and encouragement throughout this thesis work.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Furthermore, I wish to express my thanks to </a:t>
            </a:r>
            <a:r>
              <a:rPr lang="en-I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Prasad P., for supervising and </a:t>
            </a:r>
            <a:r>
              <a:rPr lang="en-I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Syed </a:t>
            </a:r>
            <a:r>
              <a:rPr lang="en-I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Noeman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Taqui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introducing me to the topic and for the support along the way.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Also, I like to thank my friends in the </a:t>
            </a:r>
            <a:r>
              <a:rPr lang="en-I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Syed Usman </a:t>
            </a:r>
            <a:r>
              <a:rPr lang="en-I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Taqui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I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Bhavana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Alke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who have shared their precious time during many technical discussions and Lab assistant Kiran.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 would like to thank my family members who have supported me throughout this journey in many different ways.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07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7516" y="1287706"/>
            <a:ext cx="10972800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 Dedication or Acknowledgments</a:t>
            </a: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Dedication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almost never used in a journal paper, an article in a conference proceedings, or a patent, and it is used exclusively in larger documents like books, thesis, or dissertations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acknowledgments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reserved for those who helped out with the book in some way or another (editing, moral support,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dedication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to whomever the author would like it to be dedicated to, whether it is the author's mother, the best friend, the pet dog, or Almighty God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yes, it is possible to dedicate something to someone while also mentioning them in the acknowledgments.</a:t>
            </a:r>
          </a:p>
        </p:txBody>
      </p:sp>
    </p:spTree>
    <p:extLst>
      <p:ext uri="{BB962C8B-B14F-4D97-AF65-F5344CB8AC3E}">
        <p14:creationId xmlns:p14="http://schemas.microsoft.com/office/powerpoint/2010/main" val="1244151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08E2EDF-A84E-6469-C02C-45F628C0FC88}"/>
              </a:ext>
            </a:extLst>
          </p:cNvPr>
          <p:cNvSpPr txBox="1"/>
          <p:nvPr/>
        </p:nvSpPr>
        <p:spPr>
          <a:xfrm>
            <a:off x="2514601" y="173198"/>
            <a:ext cx="73525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Technical Reading</a:t>
            </a:r>
            <a:endParaRPr lang="en-IN" sz="3000" b="1" i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ISE, VVIET MYSORE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7516" y="1275948"/>
            <a:ext cx="1104498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one may dedicate a book to one's spouse, but acknowledge them for being the moral support and putting up with when one got very stressed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acknowledgments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technical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books can be sometimes as brief as the ones in journal articles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acknowledgment section of a technical report may be a paragraph that is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than a journal paper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shorter than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dissertations.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Generally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length of the acknowledgment may have some correlation with the length of the document.</a:t>
            </a:r>
          </a:p>
        </p:txBody>
      </p:sp>
    </p:spTree>
    <p:extLst>
      <p:ext uri="{BB962C8B-B14F-4D97-AF65-F5344CB8AC3E}">
        <p14:creationId xmlns:p14="http://schemas.microsoft.com/office/powerpoint/2010/main" val="3364064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A3EE4EA-81C0-48D0-BEBD-A2EFD6B38B42}">
  <ds:schemaRefs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16c05727-aa75-4e4a-9b5f-8a80a1165891"/>
    <ds:schemaRef ds:uri="http://schemas.microsoft.com/sharepoint/v3"/>
    <ds:schemaRef ds:uri="http://schemas.microsoft.com/office/infopath/2007/PartnerControls"/>
    <ds:schemaRef ds:uri="http://purl.org/dc/terms/"/>
    <ds:schemaRef ds:uri="230e9df3-be65-4c73-a93b-d1236ebd677e"/>
    <ds:schemaRef ds:uri="http://purl.org/dc/dcmitype/"/>
    <ds:schemaRef ds:uri="71af3243-3dd4-4a8d-8c0d-dd76da1f02a5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{F1A5AC0F-1BC2-4D44-8787-7D702E007E71}tf10001108_win32</Template>
  <TotalTime>16151</TotalTime>
  <Words>6289</Words>
  <Application>Microsoft Office PowerPoint</Application>
  <PresentationFormat>Widescreen</PresentationFormat>
  <Paragraphs>459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8" baseType="lpstr">
      <vt:lpstr>Arial</vt:lpstr>
      <vt:lpstr>Calibri</vt:lpstr>
      <vt:lpstr>Cambria</vt:lpstr>
      <vt:lpstr>Segoe UI</vt:lpstr>
      <vt:lpstr>Segoe UI Light</vt:lpstr>
      <vt:lpstr>Times New Roman</vt:lpstr>
      <vt:lpstr>Custom</vt:lpstr>
      <vt:lpstr>MODULE 2 Literature Review and Technical Reading, Attributions and Citations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 Django Admin</dc:title>
  <dc:creator>Isaac Abraham</dc:creator>
  <cp:keywords/>
  <cp:lastModifiedBy>acer</cp:lastModifiedBy>
  <cp:revision>659</cp:revision>
  <dcterms:created xsi:type="dcterms:W3CDTF">2024-04-13T11:45:02Z</dcterms:created>
  <dcterms:modified xsi:type="dcterms:W3CDTF">2026-07-29T08:41:43Z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