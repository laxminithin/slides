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8 contact hours and 16 teaching units, and that all of it exists to answer one question: How do I describe a shape of text precisely enough for a program to find it, and then get that text safely into and out of a file?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"How do I describe a shape of text precisely enough for a program to find it, and then get…" to look like?
Animation instructions: Module title block fades in first, then the textbook panel slides in from the right, then the five arc beats appear left to right one at a time.
Transition style: Fade
[Sources] VTU BEC305 Python Programming syllabus, 2025 scheme, Module 3: Pattern Matching with Regular Expressions and File Handling, 8 hours, TB1 (Sweigart 1e) Ch. 7 Pattern Matching with Regular Expressions, Ch. 8 Reading and Writing Files, pp. 147-192. TB1: Al Sweigart, Automate the Boring Stuff with Python, No Starch Press, 1st ed., 2015.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BEC305 Python Programming syllabus, 2025 scheme, Module 3: Pattern Matching with Regular Expressions and File Handling, 8 hours, TB1 (Sweigart 1e) Ch. 7 Pattern Matching with Regular Expressions, Ch. 8 Reading and Writing Files, pp. 147-192. TB1: Al Sweigart, Automate the Boring Stuff with Python, No Starch Press, 1st ed., 2015.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BEC305 Python Programming syllabus, 2025 scheme, Module 3: Pattern Matching with Regular Expressions and File Handling, 8 hours, TB1 (Sweigart 1e) Ch. 7 Pattern Matching with Regular Expressions, Ch. 8 Reading and Writing Files, pp. 147-192. TB1: Al Sweigart, Automate the Boring Stuff with Python, No Starch Press, 1st ed., 2015.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BEC305 Python Programming syllabus, 2025 scheme, Module 3: Pattern Matching with Regular Expressions and File Handling, 8 hours, TB1 (Sweigart 1e) Ch. 7 Pattern Matching with Regular Expressions, Ch. 8 Reading and Writing Files, pp. 147-192. TB1: Al Sweigart, Automate the Boring Stuff with Python, No Starch Press, 1st ed., 2015.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Before reaching for a regular expression it is worth writing the matcher by hand once, because that is what makes the cost visible. Then add the part they are examined on - Hand-written matching encodes the specification in control flow, so every format change is a code change.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"manual matching" constrain here, and what would break if it did not hold?
Animation instructions: the character cells appear, then the twelve check arrows fire in sequence turning green, then the target changes and the nine failing conditions flash red with the badge landing, then the green regex box slides up last.
Transition style: Fade
[Sources] VTU BEC305 Python Programming syllabus, 2025 scheme, Module 3: Pattern Matching with Regular Expressions and File Handling. TB1 as listed by the syllabus: Al Sweigart, Automate the Boring Stuff with Python, No Starch Press, 1st ed., 2015; Ch. 7, pp. 148-150.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down the exact shape the text must have - and check everyone has written it before moving on. At the cost panel, translate it: The runtime is fine; the maintenance cost is what makes this approach wrong.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7, pp. 148-150.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Test isPhoneNumber('415-555-4242') and isPhoneNumber('Moshi moshi'). Work at the pace of the slowest note-taker and land hard on the result: Both answers are correct, but recognising a second format would require a second near-identical function rather than a second pat…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7, pp. 148-150.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re module turns a pattern string into a Regex object with re.compile(), and that object then searches text with search(), which returns a Match object… Then add the part they are examined on - search() returns None on failure, so test the Match object before calling group() on it.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"re module" constrain here, and what would break if it did not hold?
Animation instructions: box 1 appears with the r circling, the compile arrow draws into box 2, the search arrow reaches the diamond, the upper path lights green and group() pulls the match out of the text strip, then the lower path lights grey and the red badge lands.
Transition style: Fade
[Sources] VTU BEC305 Python Programming syllabus, 2025 scheme, Module 3: Pattern Matching with Regular Expressions and File Handling. TB1 as listed by the syllabus: Al Sweigart, Automate the Boring Stuff with Python, No Starch Press, 1st ed., 2015; Ch. 7, pp. 150-152.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import re at the top of the file - and check everyone has written it before moving on. At the cost panel, translate it: Compiling once outside a loop avoids re-parsing the pattern on every iteration.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7, pp. 150-152.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Search 'My number is 415-555-4242.' for a phone number. Work at the pace of the slowest note-taker and land hard on the result: The matched text is returned in one call, and the same Regex object can be reused against any number of strings without recompili…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7, pp. 150-152.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Parentheses in a pattern create a group, which both bundles part of the pattern for a quantifier and captures the text that part matched. Then add the part they are examined on - Parentheses both group and capture; group(0) is the whole match and capture numbering starts at 1.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"group" constrain here, and what would break if it did not hold?
Animation instructions: the pattern draws with its two brackets colouring in, the matched text shades to match, then the three group call-outs appear in order, then the groups() tuple box, then the escaping example.
Transition style: Fade
[Sources] VTU BEC305 Python Programming syllabus, 2025 scheme, Module 3: Pattern Matching with Regular Expressions and File Handling. TB1 as listed by the syllabus: Al Sweigart, Automate the Boring Stuff with Python, No Starch Press, 1st ed., 2015; Ch. 7, pp. 152-153.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Wrap the part of the pattern whose text you want to keep in parentheses - and check everyone has written it before moving on. At the cost panel, translate it: Capturing costs a little memory; a non-capturing group (?:...) avoids it when only the bundling is wanted.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7, pp. 152-153.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Split 415-555-4242 into area code and local number. Work at the pace of the slowest note-taker and land hard on the result: One pattern yields both the whole match and its two named parts, with no string slicing and no index arithmetic.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7, pp. 152-153.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pipe character means alternation: Batman|Tina Fey matches whichever of the two appears first in the text. Then add the part they are examined on - Alternation tries left to right and stops at the first success, so put the longest alternative first.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"pipe" constrain here, and what would break if it did not hold?
Animation instructions: the prefix and three branches draw, the token walks and tries each branch in turn with the failing one greying and the succeeding one lighting, group(1) appears, then the red panel slides up and its truncation badge lands.
Transition style: Fade
[Sources] VTU BEC305 Python Programming syllabus, 2025 scheme, Module 3: Pattern Matching with Regular Expressions and File Handling. TB1 as listed by the syllabus: Al Sweigart, Automate the Boring Stuff with Python, No Starch Press, 1st ed., 2015; Ch. 7, pp. 153-154.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List every alternative the pattern must accept - and check everyone has written it before moving on. At the cost panel, translate it: Ordering the most likely alternative first is a genuine speed win on large texts.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7, pp. 153-154.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Apply r'Bat(man|mobile|copter)' to 'Batmobile lost a wheel', then apply r'(Bat|Batman)' to 'Batman'. Work at the pace of the slowest note-taker and land hard on the result: The first pattern behaves as intended; the second silently truncates, and reordering it to (Batman|Bat) fixes it.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7, pp. 153-154.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question mark following a group or character makes it optional, matching zero or one occurrence. Then add the part they are examined on - An absent optional group makes group(n) None, not an empty string — test before using it.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"optional group" constrain here, and what would break if it did not hold?
Animation instructions: the track and bypass draw, the first token takes the bypass and its grey None box appears, the second token goes through the segment and its green box appears, then the red TypeError card drops in, then the escaping row types in.
Transition style: Fade
[Sources] VTU BEC305 Python Programming syllabus, 2025 scheme, Module 3: Pattern Matching with Regular Expressions and File Handling. TB1 as listed by the syllabus: Al Sweigart, Automate the Boring Stuff with Python, No Starch Press, 1st ed., 2015; Ch. 7, pp. 154-155.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the part of the pattern that may or may not be present - and check everyone has written it before moving on. At the cost panel, translate it: Several adjacent optional groups can make the engine try exponentially many combinations; keep them few.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7, pp. 154-155.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Apply r'Bat(wo)?man' to 'The Adventures of Batman' and to 'The Adventures of Batwoman'. Work at the pace of the slowest note-taker and land hard on the result: One pattern accepts both spellings, but any use of group(1) must first check whether it is None.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7, pp. 154-155.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star matches zero or more of the preceding item and the plus matches one or more, which differ only in whether absence is acceptable. Then add the part they are examined on - Star accepts nothing at all as a valid match; plus insists on at least one — choose by whether absence is legal.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"star quantifier" constrain here, and what would break if it did not hold?
Animation instructions: row 1 tests each input in turn with its count badge landing, then row 2 does the same with the red no-match flagging, then the greediness strip animates the greedy match swallowing the whole string and the lazy match stopping early.
Transition style: Fade
[Sources] VTU BEC305 Python Programming syllabus, 2025 scheme, Module 3: Pattern Matching with Regular Expressions and File Handling. TB1 as listed by the syllabus: Al Sweigart, Automate the Boring Stuff with Python, No Starch Press, 1st ed., 2015; Ch. 7, pp. 155-156.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Decide whether zero occurrences is a valid match - and check everyone has written it before moving on. At the cost panel, translate it: Nested quantifiers over overlapping character sets are the classic cause of catastrophic backtracking.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7, pp. 155-156.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Apply r'Bat(wo)*man' and r'Bat(wo)+man' to 'Batman' and 'Batwowowoman'. Work at the pace of the slowest note-taker and land hard on the result: The two quantifiers differ only on 'Batman', which is precisely the input that distinguishes 'optional' from 'required'.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7, pp. 155-156.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Curly brackets specify an exact count or a range: (Ha){3} matches exactly three repetitions and (Ha){3,5} matches three, four or five. Then add the part they are examined on - Greedy and lazy quantifiers agree on single-occurrence input and disagree on everything else — test with two.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"{n}" constrain here, and what would break if it did not hold?
Animation instructions: the text strip appears, the greedy span extends left to right in one sweep to the far end and shades red, then the lazy span extends only to the first &gt; and shades green, then the reference card rows appear one at a time.
Transition style: Fade
[Sources] VTU BEC305 Python Programming syllabus, 2025 scheme, Module 3: Pattern Matching with Regular Expressions and File Handling. TB1 as listed by the syllabus: Al Sweigart, Automate the Boring Stuff with Python, No Starch Press, 1st ed., 2015; Ch. 7, pp. 156-157.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Decide whether the repetition count is fixed, bounded or open - and check everyone has written it before moving on. At the cost panel, translate it: A precise character class usually beats a lazy dot-star for both speed and correctness.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7, pp. 156-157.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Apply r'&lt;.*&gt;' and r'&lt;.*?&gt;' to '&lt;to serve&gt;&lt;man&gt; for dinner'. Work at the pace of the slowest note-taker and land hard on the result: The greedy version silently swallows both tags; on a single-tag input both patterns would have looked identical.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7, pp. 156-157.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Where search() returns a Match object for the first occurrence, findall() returns every non-overlapping occurrence at once, and it returns plain data rath… Then add the part they are examined on - Adding a group to a findall pattern changes its return type from list of strings to list of tuples.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"findall()" constrain here, and what would break if it did not hold?
Animation instructions: the text strip appears, path A runs and its flat list fills, path B runs and its tuple list fills with the amber tag, then the shared consumer box lights green from A and red from B, then the non-capturing variant appears and restores the green tick.
Transition style: Fade
[Sources] VTU BEC305 Python Programming syllabus, 2025 scheme, Module 3: Pattern Matching with Regular Expressions and File Handling. TB1 as listed by the syllabus: Al Sweigart, Automate the Boring Stuff with Python, No Starch Press, 1st ed., 2015; Ch. 7, pp. 157-158.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Use search() for the first match and findall() for all of them - and check everyone has written it before moving on. At the cost panel, translate it: findall builds the whole list in memory; finditer yields matches lazily when the text is large.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7, pp. 157-158.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Apply a phone pattern with and without groups to text containing 415-555-9999 and 212-555-0000. Work at the pace of the slowest note-taker and land hard on the result: Both forms find the same two numbers, but the second returns tuples, so every downstream line that treated the items as strings 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7, pp. 157-158.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Shorthand character classes cover the common cases: \d is any digit, \w any word character meaning letters, digits and underscore, and \s any whitespace. Then add the part they are examined on - Inside square brackets most metacharacters become literal, which is why a class is often simpler than escaping.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"\d \w \s" constrain here, and what would break if it did not hold?
Animation instructions: the three shorthand sets draw in turn with their characters filling in, their negated twins flip in beside them, then the custom-class builder rows appear one at a time, then the footnote row types in.
Transition style: Fade
[Sources] VTU BEC305 Python Programming syllabus, 2025 scheme, Module 3: Pattern Matching with Regular Expressions and File Handling. TB1 as listed by the syllabus: Al Sweigart, Automate the Boring Stuff with Python, No Starch Press, 1st ed., 2015; Ch. 7, pp. 158-159.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Use a shorthand class when one fits exactly - and check everyone has written it before moving on. At the cost panel, translate it: A character class is faster than an alternation of single characters and should be preferred.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7, pp. 158-159.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Count vowels and non-vowels in 'RoboCop eats baby food.' Work at the pace of the slowest note-taker and land hard on the result: The custom class and its negation partition the text exactly, and the quantified form shows how a class composes with the earlier…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7, pp. 158-159.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caret at the start of a pattern anchors it to the beginning of the text and a dollar sign at the end anchors it to the end, so using both requires the e… Then add the part they are examined on - Without ^ and $ you are searching, not validating — a match anywhere is enough.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 anchor" constrain here, and what would break if it did not hold?
Animation instructions: row 1 draws and its middle match brackets in with the green tick, row 2 draws with the two anchors snapping to the string edges and the red cross landing, then the matching-input row appears beneath, then the dot side card fades in.
Transition style: Fade
[Sources] VTU BEC305 Python Programming syllabus, 2025 scheme, Module 3: Pattern Matching with Regular Expressions and File Handling. TB1 as listed by the syllabus: Al Sweigart, Automate the Boring Stuff with Python, No Starch Press, 1st ed., 2015; Ch. 7, pp. 159-162.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Decide whether you are validating a whole string or finding text inside one - and check everyone has written it before moving on. At the cost panel, translate it: Anchoring is both a correctness and a performance measure.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7, pp. 159-162.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Validate that a string is all digits, testing '12345' and 'abc 12345 xyz'. Work at the pace of the slowest note-taker and land hard on the result: Only the anchored pattern rejects the contaminated input; the unanchored one accepts anything containing a run of digits anywhere.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7, pp. 159-162.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Three flags adjust how a pattern is interpreted: IGNORECASE makes matching case-blind, DOTALL lets the dot match newlines, and VERBOSE allows whitespace a… Then add the part they are examined on - VERBOSE is what makes a long pattern reviewable; a regex nobody can read is a regex nobody can fix.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"re.IGNORECASE" constrain here, and what would break if it did not hold?
Animation instructions: the three toggles flip on one at a time with their examples resolving, then the sub() input appears with both matches highlighting, then the two curved group arrows sweep into the output which assembles left to right.
Transition style: Fade
[Sources] VTU BEC305 Python Programming syllabus, 2025 scheme, Module 3: Pattern Matching with Regular Expressions and File Handling. TB1 as listed by the syllabus: Al Sweigart, Automate the Boring Stuff with Python, No Starch Press, 1st ed., 2015; Ch. 7, pp. 162-165.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Add re.IGNORECASE when case should not matter - and check everyone has written it before moving on. At the cost panel, translate it: sub() builds a new string, so substituting inside a loop over a large text repeats that allocation.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7, pp. 162-165.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Redact agent names in 'Agent Alice told Agent Bob' keeping only the initial. Work at the pace of the slowest note-taker and land hard on the result: Both names are redacted in one call while their initials are preserved, and the original string is unchanged because sub returns…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7, pp. 162-165.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path locates a file, and it is either absolute — starting from the root or a drive letter — or relative, interpreted against the current working directo… Then add the part they are examined on - Build every path with os.path.join; concatenating separators is the bug that appears only on the other operating system.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"path separator" constrain here, and what would break if it did not hold?
Animation instructions: the tree draws root to leaf, the absolute path spells out beneath, the cwd marker drops and the dotted relative route draws, then the single join line emits its two platform-specific outputs side by side, then the red concatenation box appears.
Transition style: Fade
[Sources] VTU BEC305 Python Programming syllabus, 2025 scheme, Module 3: Pattern Matching with Regular Expressions and File Handling. TB1 as listed by the syllabus: Al Sweigart, Automate the Boring Stuff with Python, No Starch Press, 1st ed., 2015; Ch. 8, pp. 173-177.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Decide whether the path should be absolute or relative - and check everyone has written it before moving on. At the cost panel, translate it: os.path.join is pure string work; it does not check that the path exists.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8, pp. 173-177.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Build a path to spam.txt inside usr/bin and report the current working directory. Work at the pace of the slowest note-taker and land hard on the result: One join call produces the correct path on every platform, whereas the concatenated version is correct only on the machine it was…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8, pp. 173-177.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os.path supplies the questions you must ask before touching a file. Then add the part they are examined on - Ask exists, isfile or isdir before opening — a checked path turns a traceback into a usable message.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"os.path.exists()" constrain here, and what would break if it did not hold?
Animation instructions: the path draws and the dirname and basename brackets extend beneath it, then the four instruments light one at a time with their readings, then the folder emits its listing and the three sizes accumulate into the total box.
Transition style: Fade
[Sources] VTU BEC305 Python Programming syllabus, 2025 scheme, Module 3: Pattern Matching with Regular Expressions and File Handling. TB1 as listed by the syllabus: Al Sweigart, Automate the Boring Stuff with Python, No Starch Press, 1st ed., 2015; Ch. 8, pp. 177-180.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Build the path with os.path.join - and check everyone has written it before moving on. At the cost panel, translate it: Each of these is a filesystem call, so calling them in a tight loop over thousands of files is noticeably slow.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8, pp. 177-180.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Total the size of every file in a folder. Work at the pace of the slowest note-taker and land hard on the result: A correct total, because the isfile filter prevented getsize being called on a subdirectory, which would have reported the direct…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8, pp. 177-180.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Working with a file has three steps: open it to obtain a File object, read or write through that object, and close it to flush buffered data to disk. Then add the part they are examined on - Opening a file in 'w' mode empties it immediately — use 'a' whenever existing content must survive.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"open()" constrain here, and what would break if it did not hold?
Animation instructions: the three mode panels animate in turn with the w panel's emptying highlighted, then the manual code form runs and the bolt strikes leaving the red badge, then the with version runs and the bolt strikes but the green close still fires.
Transition style: Fade
[Sources] VTU BEC305 Python Programming syllabus, 2025 scheme, Module 3: Pattern Matching with Regular Expressions and File Handling. TB1 as listed by the syllabus: Al Sweigart, Automate the Boring Stuff with Python, No Starch Press, 1st ed., 2015; Ch. 8, pp. 180-184.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the mode: r to read, w to overwrite, a to append - and check everyone has written it before moving on. At the cost panel, translate it: Iterating the File object line by line keeps memory constant for large files.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8, pp. 180-184.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Write two lines to bacon.txt, then append a third, then read it back. Work at the pace of the slowest note-taker and land hard on the result: The file holds both lines; had the second open used 'w' instead of 'a', the first line would have been destroyed with no warning.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8, pp. 180-184.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shelve saves Python values to a binary file and reads them back as the same types, so a list comes back a list rather than a string that must be parsed. Then add the part they are examined on - shelve gives you a dictionary that outlives the program, at the cost of a file no human can read.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"shelve" constrain here, and what would break if it did not hold?
Animation instructions: run 1 draws with its list, the store arrow animates down into the file, the gap label flashes, then run 2 draws and the restore arrow animates up with the list type badge landing, then the amber text-file comparison fades in.
Transition style: Fade
[Sources] VTU BEC305 Python Programming syllabus, 2025 scheme, Module 3: Pattern Matching with Regular Expressions and File Handling. TB1 as listed by the syllabus: Al Sweigart, Automate the Boring Stuff with Python, No Starch Press, 1st ed., 2015; Ch. 8, pp. 184-185.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import shelve - and check everyone has written it before moving on. At the cost panel, translate it: shelve pickles the values, so any type that cannot be pickled cannot be stored.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8, pp. 184-185.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Store a list of cat names, end the program, then read it back in a new run. Work at the pace of the slowest note-taker and land hard on the result: The list survives the program ending and returns as a list, so no parsing code is needed on the way back in.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8, pp. 184-185.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pformat() returns the pretty-printed text of a structure as a string, and because that text is valid Python source it can be written to a .py file and imp… Then add the part they are examined on - pformat persists to readable, editable Python source; shelve persists to an opaque binary — choose by who reads it.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"pprint.pformat()" constrain here, and what would break if it did not hold?
Animation instructions: the diamond appears, the Yes branch draws stage by stage with the readable text filling the file icon, then the No branch draws with the grey opaque file, then the two annotation tags slide in.
Transition style: Fade
[Sources] VTU BEC305 Python Programming syllabus, 2025 scheme, Module 3: Pattern Matching with Regular Expressions and File Handling. TB1 as listed by the syllabus: Al Sweigart, Automate the Boring Stuff with Python, No Starch Press, 1st ed., 2015; Ch. 8, pp. 185-192.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Build the structure in memory - and check everyone has written it before moving on. At the cost panel, translate it: Importing executes the file, so this format is unsuitable for data arriving from an untrusted source.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BEC305 Python Programming syllabus, 2025 scheme, Module 3: Pattern Matching with Regular Expressions and File Handling. TB1 as listed by the syllabus: Al Sweigart, Automate the Boring Stuff with Python, No Starch Press, 1st ed., 2015; Ch. 8, pp. 185-192.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Save a list of cat dictionaries to myCats.py and import it back. Work at the pace of the slowest note-taker and land hard on the result: The data round-trips exactly and the intermediate file can be opened and corrected by hand, which is the whole reason to prefer i…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BEC305 Python Programming syllabus, 2025 scheme, Module 3: Pattern Matching with Regular Expressions and File Handling. TB1 as listed by the syllabus: Al Sweigart, Automate the Boring Stuff with Python, No Starch Press, 1st ed., 2015; Ch. 8, pp. 185-192.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3: Pattern Matching with Regular Expressions and File Handling, 8 hours, TB1 (Sweigart 1e) Ch. 7 Pattern Matching with Regular Expressions, Ch. 8 Reading and Writing Files, pp. 147-192.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3: Pattern Matching with Regular Expressions and File Handling, 8 hours, TB1 (Sweigart 1e) Ch. 7 Pattern Matching with Regular Expressions, Ch. 8 Reading and Writing Files, pp. 147-192.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BEC305 Python Programming syllabus, 2025 scheme, Module 3: Pattern Matching with Regular Expressions and File Handling, 8 hours, TB1 (Sweigart 1e) Ch. 7 Pattern Matching with Regular Expressions, Ch. 8 Reading and Writing Files, pp. 147-192. TB1: Al Sweigart, Automate the Boring Stuff with Python, No Starch Press, 1st ed., 2015.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BEC305 Python Programming syllabus, 2025 scheme, Module 3: Pattern Matching with Regular Expressions and File Handling, 8 hours, TB1 (Sweigart 1e) Ch. 7 Pattern Matching with Regular Expressions, Ch. 8 Reading and Writing Files, pp. 147-192. TB1: Al Sweigart, Automate the Boring Stuff with Python, No Starch Press, 1st ed., 2015. Assessment counts: 20 MCQs, 13 descriptive questions, 13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Python Programming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3 asks: How do I describe a shape of text precisely enough for a program to find it, and then get that text safely…</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3</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Pattern Matching with Regular Expressions and File Handling</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8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Automate the Boring Stuff with Python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 Sweigart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 Starch Press, 1st edition, 2015</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TB1 (Sweigart 1e) Ch. 7 Pattern Matching with Regular Expressions, Ch. 8 Reading and Writing Files, pp. 147-192</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Basics &amp; Flow Control   •   Lists, Dicts &amp; Strings   •   Regex &amp; Files   •   Classes &amp; Objects   •   Web Services &amp; SQL</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Hand-written matching does not scale   →   A pattern describes a shape   →   Quantifiers control repetition   →   Paths locate the data   →   Files persist beyond the run</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3 · BEC305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How do I describe a shape of text precisely enough for a program to find it, and then get that text safely into and out of a file?</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Hand-written matching does not scale</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pattern describes a shape</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Quantifiers control repetition</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Paths locate the data</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Files persist beyond the run</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Built from TB1 Chapters 7-8, which the syllabus names for this module. Chapter 7 is taught by first writing the phone-number matcher by hand so the cost of not having regular expressions is felt before the notation is introduced. The recurring theme in Chapter 8 is that a path is data too: os.path.join is preferred over string concatenation throughout, because the alternative breaks the moment the script moves between operating systems. shelve and pprint.pformat are presented as the two ways of persisting a Python structure without inventing a file format.</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CO3</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+ 13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Finding patterns of text without regular expressions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148-150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CO3 / L3</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Creating and matching Regex objects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150-152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CO3 / L3</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Grouping with parentheses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152-153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CO3 / L3</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Matching multiple groups with the pipe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153-154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CO3 / L4</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Optional matching with the question mark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154-155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CO3 / L3</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Matching zero or more with the star, one or more with the plus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155-156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CO3 / L3</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Specific repetitions with curly brackets, and greedy versus nongreedy matching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156-157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CO3 / L4</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findall() method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157-158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CO3 / L4</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Character classes and making your own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158-159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CO3 / L3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caret, the dollar sign and the wildcard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159-162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CO3 / L4</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Case-insensitive matching, sub() and managing complex regexes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7, pp. 162-165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CO3 / L4</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Files and file paths: absolute, relative and the working directory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8, pp. 173-177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CO3 / L3</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os.path module: sizes, listings and validity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8, pp. 177-180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CO3 / L3</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file reading and writing process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8, pp. 180-184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CO3 / L4</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Saving variables with the shelve module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8, pp. 184-185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CO3 / L4</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Saving variables with pprint.pformat()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8, pp. 185-192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CO3 / L5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Finding patterns of text without regular expressions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Finding patterns of text without regu…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Before reaching for a regular expression it is worth writing the matcher by hand once, because that is what makes the cost visible. A function that recognises the pattern 415-555-4242 must check the length, check that characters 0 to 2 are digits, check that character 3 is a hyphen, and so on — around a dozen explicit tests for one fixed shape. The code works, but it encodes the specification in control flow rather than in data, so every change to the format means rewriting the logic rather than editing a string. That brittleness, not verbosity, is the real argument for regular expressions.</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manual matching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isdecimal()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brittleness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specification drift</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Hand-written matching encodes the specification in control flow, so every format change is a code change.</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phone number 415-555-4242 drawn as twelve character cells, with index numbers beneath. Twelve check arrows point at the cells from a column of conditions on the far left, labelled 'len == 12', 'isdecim…</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148-150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manual-matcher-brittleness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Finding patterns of text without regular expressions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Finding patterns of text without regu…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down the exact shape the text must have</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the overall length first</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each fixed character at its position</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each variable character against a predicate such as isdecimal</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Return False on the first failure</a:t>
            </a:r>
            <a:endParaRPr lang="en-US" sz="1100" dirty="0"/>
          </a:p>
        </p:txBody>
      </p:sp>
      <p:sp>
        <p:nvSpPr>
          <p:cNvPr id="19" name="shape-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Count how many lines change when the specification changes by one character</a:t>
            </a:r>
            <a:endParaRPr lang="en-US" sz="1100" dirty="0"/>
          </a:p>
        </p:txBody>
      </p:sp>
      <p:sp>
        <p:nvSpPr>
          <p:cNvPr id="21" name="shape-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when the length check fails immediately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for n characters in the pattern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O(n*m) when scanning a message of length m for a pattern of length n</a:t>
            </a:r>
            <a:endParaRPr lang="en-US" sz="1100" dirty="0"/>
          </a:p>
        </p:txBody>
      </p:sp>
      <p:sp>
        <p:nvSpPr>
          <p:cNvPr id="23" name="shape-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runtime is fine; the maintenance cost is what makes this approach wrong.</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148-150   |   CO3  |  Bloom L3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Finding patterns of text without regular expressions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Finding patterns of text without regu…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Test isPhoneNumber('415-555-4242') and isPhoneNumber('Moshi moshi').</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first string has length 12, so the length check passes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Characters 0 to 2 are all decimal, character 3 is a hyphen, and so on, so all twelve checks pass and the function returns True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'Moshi moshi' has length 11, so the length check fails at once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function returns False without examining a single character</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Both answers are correct, but recognising a second format would require a second near-identical function rather than a second pattern string.</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def isPhoneNumber(text):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if len(text) != 12: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return False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for i in range(0, 3):</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if not text[i].isdecimal():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return False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if text[3] !=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return False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 ... eight more checks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return True</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copy the hand-written matcher and adapt it for each new format, accumulating four near-identical functions. The duplication is the signal that the pattern belongs in data, not in branches.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148-150   |   CO3  |  Bloom L3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Creating and matching Regex objects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Creating and matching Regex objects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re module turns a pattern string into a Regex object with re.compile(), and that object then searches text with search(), which returns a Match object on success and None on failure. The Match object carries the matched text, retrieved with group(), plus its position in the original string. Patterns should always be written as raw strings, because a regex uses backslashes heavily and Python would otherwise consume them as escape characters before the regex engine ever sees them. Because search() returns None rather than raising when nothing matches, the result must be tested before group() is called — calling group() on None is the most common first error.</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 module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raw string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compile()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search()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Match object</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search() returns None on failure, so test the Match object before calling group() on it.</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left-to-right pipeline of four boxes. Box 1 'pattern string' holds r'\\d\\d\\d-\\d\\d\\d-\\d\\d\\d\\d' with the r prefix circled and a note 'raw: backslashes reach the engine'. An arrow labelled re.compile()…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150-152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regex-object-pipeline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Creating and matching Regex objects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Creating and matching Regex objects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import re at the top of the file</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pattern as a raw string</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Compile it once with re.compile() and reuse the object</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search() on the text to be examined</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Test the result against None before using it</a:t>
            </a:r>
            <a:endParaRPr lang="en-US" sz="1100" dirty="0"/>
          </a:p>
        </p:txBody>
      </p:sp>
      <p:sp>
        <p:nvSpPr>
          <p:cNvPr id="19" name="shape-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group() to retrieve the matched text</a:t>
            </a:r>
            <a:endParaRPr lang="en-US" sz="1100" dirty="0"/>
          </a:p>
        </p:txBody>
      </p:sp>
      <p:sp>
        <p:nvSpPr>
          <p:cNvPr id="21" name="shape-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when the first position matches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over a text of length n for a simple pattern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catastrophic backtracking is possible for nested quantifiers</a:t>
            </a:r>
            <a:endParaRPr lang="en-US" sz="1100" dirty="0"/>
          </a:p>
        </p:txBody>
      </p:sp>
      <p:sp>
        <p:nvSpPr>
          <p:cNvPr id="23" name="shape-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Compiling once outside a loop avoids re-parsing the pattern on every iteration.</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150-152   |   CO3  |  Bloom L3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Creating and matching Regex objects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Creating and matching Regex objects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Search 'My number is 415-555-4242.' for a phone number.</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phoneRegex = re.compile(r'\\d\\d\\d-\\d\\d\\d-\\d\\d\\d\\d') builds the Regex object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 = phoneRegex.search(text) scans from the left and finds the first match</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mo.group() returns '415-555-4242'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Searching a text with no phone number returns None, and mo.group() would then raise AttributeError</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matched text is returned in one call, and the same Regex object can be reused against any number of strings without recompiling.</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import re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phoneRegex = re.compile(r'\d\d\d-\d\d\d-\d\d\d\d')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mo = phoneRegex.search('My number is 415-555-4242.')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if mo:</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print(mo.group())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415-555-4242</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call mo.group() without checking whether mo is None and get AttributeError: 'NoneType' object has no attribute 'group'. search() signals failure by returning None, so the result must always be tested first.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150-152   |   CO3  |  Bloom L3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Grouping with parentheses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Grouping with parentheses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Parentheses in a pattern create a group, which both bundles part of the pattern for a quantifier and captures the text that part matched. Groups are numbered from 1 in the order their opening parentheses appear, and group(0) — the default — is always the entire match. groups() returns every captured group at once as a tuple, which pairs neatly with multiple assignment. When a literal parenthesis is wanted in the text rather than a group in the pattern, it must be escaped with a backslash, which is the first place the raw-string habit pays for itself.</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group</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capture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group(0)</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groups()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escaping parentheses</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Parentheses both group and capture; group(0) is the whole match and capture numbering starts at 1.</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pattern string r'(\\d\\d\\d)-(\\d\\d\\d-\\d\\d\\d\\d)' drawn across the top with two coloured brackets, blue over the first group and green over the second. Beneath it, the matched text 415-555-4242 with the…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152-153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group-numbering-diagram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Grouping with parentheses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Grouping with parentheses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Wrap the part of the pattern whose text you want to keep in parentheses</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Count opening parentheses left to right to know each group number</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group(n) for one group and groups() for all of them</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Unpack groups() with multiple assignment</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Escape a literal parenthesis with a backslash</a:t>
            </a:r>
            <a:endParaRPr lang="en-US" sz="1100" dirty="0"/>
          </a:p>
        </p:txBody>
      </p:sp>
      <p:sp>
        <p:nvSpPr>
          <p:cNvPr id="19" name="shape-1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Remember group(0) and group() both mean the whole match</a:t>
            </a:r>
            <a:endParaRPr lang="en-US" sz="1100" dirty="0"/>
          </a:p>
        </p:txBody>
      </p:sp>
      <p:sp>
        <p:nvSpPr>
          <p:cNvPr id="21" name="shape-1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retrieve a captured group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grouping adds negligible cost to the match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many groups add bookkeeping but not asymptotic cost</a:t>
            </a:r>
            <a:endParaRPr lang="en-US" sz="1100" dirty="0"/>
          </a:p>
        </p:txBody>
      </p:sp>
      <p:sp>
        <p:nvSpPr>
          <p:cNvPr id="23" name="shape-1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Capturing costs a little memory; a non-capturing group (?:...) avoids it when only the bundling is wanted.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152-153   |   CO3  |  Bloom L3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Grouping with parentheses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Grouping with parentheses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Split 415-555-4242 into area code and local number.</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phoneRegex = re.compile(r'(\\d\\d\\d)-(\\d\\d\\d-\\d\\d\\d\\d)')</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mo.group(1) is '415', the first parenthesised part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mo.group(2) is '555-4242'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mo.groups() is ('415', '555-4242'), which unpacks as area, local = mo.groups()</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One pattern yields both the whole match and its two named parts, with no string slicing and no index arithmetic.</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phoneRegex = re.compile(r'(\d\d\d)-(\d\d\d-\d\d\d\d)')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mo = phoneRegex.search('My number is 415-555-4242.')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mo.group(1), mo.group(2)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('415', '555-4242')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area, local = mo.groups()</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expect group(1) to be the whole match because they count from zero elsewhere in Python. group(0) is the whole match and capturing groups start at 1, which is the one place in the language where counting begins at one.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152-153   |   CO3  |  Bloom L3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Matching multiple groups with the pipe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Matching multiple groups with the pipe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pipe character means alternation: Batman|Tina Fey matches whichever of the two appears first in the text. Combined with parentheses it factors a shared prefix, so Bat(man|mobile|copter) matches any of the three without repeating Bat, and group(1) then reports which alternative was taken. Alternation is ordered — the engine tries the alternatives left to right and stops at the first that succeeds at the current position — so listing a shorter alternative before a longer one that starts the same way causes the longer one never to be matched in full. Ordering alternatives from longest to shortest is the standard defence.</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pipe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alternation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first match wins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prefix ordering</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Alternation tries left to right and stops at the first success, so put the longest alternative first.</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Upper half: the pattern r'Bat(man|mobile|copter)' shown with the shared prefix 'Bat' in grey and three coloured branches fanning out from a junction point. A text strip below reads 'Batmobile lost a wheel'; th…</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153-154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alternation-order-matters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Matching multiple groups with the pipe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Matching multiple groups with the pipe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every alternative the pattern must accept</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Factor any shared prefix outside the parentheses</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Order the alternatives from longest to shortest where one is a prefix of another</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group(1) to discover which alternative matched</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Escape a literal pipe character when the text may contain one</a:t>
            </a:r>
            <a:endParaRPr lang="en-US" sz="1100" dirty="0"/>
          </a:p>
        </p:txBody>
      </p:sp>
      <p:sp>
        <p:nvSpPr>
          <p:cNvPr id="19" name="shape-15-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when the first alternative matches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proportional to the number of alternatives tried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O(k) alternatives tried at each position, so O(n*k) over a text of length n</a:t>
            </a:r>
            <a:endParaRPr lang="en-US" sz="1100" dirty="0"/>
          </a:p>
        </p:txBody>
      </p:sp>
      <p:sp>
        <p:nvSpPr>
          <p:cNvPr id="21" name="shape-15-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Ordering the most likely alternative first is a genuine speed win on large texts.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153-154   |   CO3  |  Bloom L4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Matching multiple groups with the pipe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Matching multiple groups with the pipe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r'Bat(man|mobile|copter)' to 'Batmobile lost a wheel', then apply r'(Bat|Batman)' to 'Batman'.</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first pattern matches 'Bat', then tries 'man' which fails, then 'mobile' which succeeds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mo.group() is 'Batmobile' and mo.group(1) is 'mobile'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second pattern tries 'Bat' first, which succeeds immediately</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mo.group() is therefore 'Bat', not 'Batman' — the longer alternative is never reached</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first pattern behaves as intended; the second silently truncates, and reordering it to (Batman|Bat) fixes it.</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re.compile(r'Bat(man|mobile|copter)').search('Batmobile lost a wheel').group()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'Batmobile'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re.compile(r'(Bat|Batman)').search('Batman').group()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'Bat'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re.compile(r'(Batman|Bat)').search('Batman').group()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'Batman'</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list alternatives in the order they thought of them, so a short alternative that prefixes a longer one wins first and the longer match never happens. No error is raised; the match is simply shorter than intended.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153-154   |   CO3  |  Bloom L4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Optional matching with the question mark</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Optional matching with the question 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question mark following a group or character makes it optional, matching zero or one occurrence. Bat(wo)?man therefore matches both Batman and Batwoman with one pattern, and group(1) is None when the optional part was absent — a value that must be tested for rather than passed straight into a string operation. The quantifier applies to exactly the item immediately before it, so a group is needed whenever more than one character is optional. When a literal question mark is required in the text, it must be escaped, since an unescaped one would be read as a quantifier applying to whatever precedes it.</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optional group</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zero or one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question mark quantifier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escaping ?</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 absent optional group makes group(n) None, not an empty string — test before using it.</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pattern r'Bat(wo)?man' drawn as a track with a small bypass loop around the '(wo)' segment, labelled '0 or 1'. Two text strips below show the two accepted inputs: 'Batman' with the token taking the bypass,…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154-155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optional-group-branch</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Optional matching with the question mark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Optional matching with the question 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part of the pattern that may or may not be present</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Wrap it in parentheses if it is more than one character</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Put ? immediately after it</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Retrieve it with group(n) and test the result against None</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Escape a literal question mark with a backslash</a:t>
            </a:r>
            <a:endParaRPr lang="en-US" sz="1100" dirty="0"/>
          </a:p>
        </p:txBody>
      </p:sp>
      <p:sp>
        <p:nvSpPr>
          <p:cNvPr id="19" name="shape-18-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when the optional part is absent and the rest matches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extra branch attempt per optional element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many optional elements multiply the branches the engine explores</a:t>
            </a:r>
            <a:endParaRPr lang="en-US" sz="1100" dirty="0"/>
          </a:p>
        </p:txBody>
      </p:sp>
      <p:sp>
        <p:nvSpPr>
          <p:cNvPr id="21" name="shape-18-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Several adjacent optional groups can make the engine try exponentially many combinations; keep them few.</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154-155   |   CO3  |  Bloom L3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Optional matching with the question mark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Optional matching with the question 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r'Bat(wo)?man' to 'The Adventures of Batman' and to 'The Adventures of Batwoman'.</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'Batman', the optional group is skipped and mo.group() is 'Batman'</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mo.group(1) is None, because nothing was captured</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'Batwoman', mo.group() is 'Batwoman' and mo.group(1) is 'wo'</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Code that does mo.group(1).upper() works for the second and raises AttributeError for the first</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One pattern accepts both spellings, but any use of group(1) must first check whether it is None.</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batRegex = re.compile(r'Bat(wo)?man')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batRegex.search('The Adventures of Batman').group(1)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(None)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batRegex.search('The Adventures of Batwoman').group(1)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'wo'</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treat an unmatched optional group as an empty string and call a string method on it, which raises AttributeError on None. Use a conditional or supply a default before using the value.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154-155   |   CO3  |  Bloom L3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Matching zero or more with the star, one or more with the plus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Matching zero or more with the star,…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star matches zero or more of the preceding item and the plus matches one or more, which differ only in whether absence is acceptable. That single difference is decisive in practice: a pattern using star can match an empty string and therefore succeed on input that contains none of what you were looking for, while a plus requires at least one occurrence. Both are greedy, consuming as much as possible before giving any back, so a star applied to a broad character class will run to the end of the line and then backtrack. Each must follow the exact item it quantifies, so anything longer than one character needs parentheses.</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star quantifier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plus quantifier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zero or more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one or more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empty match</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Star accepts nothing at all as a valid match; plus insists on at least one — choose by whether absence is legal.</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parallel test rows over a shared set of three inputs: 'Batman', 'Batwoman', 'Batwowowoman'. Row 1, pattern r'Bat(wo)*man', shows all three inputs matching, with a count badge 0, 1 and 3 respectively, all g…</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155-156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star-versus-plus-counter</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Matching zero or more with the star, one or more with 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Matching zero or more with the star,…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whether zero occurrences is a valid match</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star when it is and plus when it is not</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Wrap multi-character items in parentheses before quantifying</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Expect greedy behaviour by default</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 after the quantifier for nongreedy matching</a:t>
            </a:r>
            <a:endParaRPr lang="en-US" sz="1100" dirty="0"/>
          </a:p>
        </p:txBody>
      </p:sp>
      <p:sp>
        <p:nvSpPr>
          <p:cNvPr id="19" name="shape-2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Test the pattern against input containing none of the repeated element</a:t>
            </a:r>
            <a:endParaRPr lang="en-US" sz="1100" dirty="0"/>
          </a:p>
        </p:txBody>
      </p:sp>
      <p:sp>
        <p:nvSpPr>
          <p:cNvPr id="21" name="shape-2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for a single greedy pass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with limited backtracking</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exponential for nested quantifiers such as (a+)+</a:t>
            </a:r>
            <a:endParaRPr lang="en-US" sz="1100" dirty="0"/>
          </a:p>
        </p:txBody>
      </p:sp>
      <p:sp>
        <p:nvSpPr>
          <p:cNvPr id="23" name="shape-2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Nested quantifiers over overlapping character sets are the classic cause of catastrophic backtracking.</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155-156   |   CO3  |  Bloom L3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Matching zero or more with the star, one or more with 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Matching zero or more with the star,…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r'Bat(wo)*man' and r'Bat(wo)+man' to 'Batman' and 'Batwowowoman'.</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Star on 'Batman': the group matches zero times, so the whole pattern matches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Star on 'Batwowowoman': the group matches three times and group(1) reports the last one, 'wo'</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Plus on 'Batman': the group needs at least one occurrence, so search returns None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Plus on 'Batwowowoman': matches, exactly as star did</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two quantifiers differ only on 'Batman', which is precisely the input that distinguishes 'optional' from 'required'.</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re.compile(r'Bat(wo)*man').search('Batman').group()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'Batman'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re.compile(r'Bat(wo)+man').search('Batman') is None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True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re.compile(r'Bat(wo)+man').search('Batwowowoman').group()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'Batwowowoman'</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use star where plus is meant, so the pattern also matches text containing none of the repeated part. The search appears to succeed and the extracted data is wrong rather than absent, which is much harder to notice.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155-156   |   CO3  |  Bloom L3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Specific repetitions with curly brackets, and greedy versus nongreedy matching</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Specific repetitions with curly brack…</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Curly brackets specify an exact count or a range: (Ha){3} matches exactly three repetitions and (Ha){3,5} matches three, four or five. Omitting either bound makes it open-ended, so {3,} means at least three and {,5} means at most five. All Python quantifiers are greedy by default, matching the longest string they can, and appending a question mark makes them nongreedy so they match the shortest. The difference is invisible on input containing one occurrence and decisive on input containing several, which is why a pattern must always be tested against text with more than one candidate.</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greedy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nongreedy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lazy quantifier</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Greedy and lazy quantifiers agree on single-occurrence input and disagree on everything else — test with two.</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single text strip reading '&lt;to serve&gt;&lt;man&gt; for dinner'. Above it, a greedy pattern r'&lt;.*&gt;' draws a span bracket stretching from the first &lt; all the way to the last &gt;, shaded red, with the label 'matches &lt;to…</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156-157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greedy-versus-lazy-span</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Specific repetitions with curly brackets, and greedy ve…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Specific repetitions with curly brack…</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whether the repetition count is fixed, bounded or open</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{n} for exactly n and {n,m} for a range</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Leave a bound empty for an open end</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Default to greedy and check the result on multi-occurrence input</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Append ? to the quantifier when the shortest match is wanted</a:t>
            </a:r>
            <a:endParaRPr lang="en-US" sz="1100" dirty="0"/>
          </a:p>
        </p:txBody>
      </p:sp>
      <p:sp>
        <p:nvSpPr>
          <p:cNvPr id="19" name="shape-24-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a narrower character class over a lazy wildcard where possible</a:t>
            </a:r>
            <a:endParaRPr lang="en-US" sz="1100" dirty="0"/>
          </a:p>
        </p:txBody>
      </p:sp>
      <p:sp>
        <p:nvSpPr>
          <p:cNvPr id="21" name="shape-24-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for a bounded quantifier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with backtracking proportional to the range width</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exponential when quantified groups overlap</a:t>
            </a:r>
            <a:endParaRPr lang="en-US" sz="1100" dirty="0"/>
          </a:p>
        </p:txBody>
      </p:sp>
      <p:sp>
        <p:nvSpPr>
          <p:cNvPr id="23" name="shape-24-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precise character class usually beats a lazy dot-star for both speed and correctness.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156-157   |   CO3  |  Bloom L4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Specific repetitions with curly brackets, and greedy ve…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Specific repetitions with curly brack…</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r'&lt;.*&gt;' and r'&lt;.*?&gt;' to '&lt;to serve&gt;&lt;man&gt; for dinner'.</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greedy dot-star consumes to the end of the string, then backtracks to the last &gt;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 therefore matches '&lt;to serve&gt;&lt;man&gt;', spanning both tags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lazy dot-star stops at the first &gt; it can</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 therefore matches '&lt;to serve&gt;' only</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greedy version silently swallows both tags; on a single-tag input both patterns would have looked identical.</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text = '&lt;to serve&gt;&lt;man&gt; for dinner'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re.compile(r'&lt;.*&gt;').search(text).group()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'&lt;to serve&gt;&lt;man&gt;'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re.compile(r'&lt;.*?&gt;').search(text).group()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'&lt;to serve&gt;'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re.compile(r'(Ha){3}').search('HaHaHa').group()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'HaHaHa'</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test a greedy pattern on input containing exactly one occurrence, see it work, and ship it. With two occurrences it spans both. Always test a quantified pattern against text holding at least two candidates.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156-157   |   CO3  |  Bloom L4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findall() method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findall() method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Where search() returns a Match object for the first occurrence, findall() returns every non-overlapping occurrence at once, and it returns plain data rather than Match objects. Its return shape depends on the pattern: with no groups it gives a list of strings, and with one or more groups it gives a list of tuples, one tuple per match with one element per group. That shape change is the whole gotcha — adding a pair of parentheses to a working pattern silently changes the type of everything downstream. When the grouping is wanted only for bundling, a non-capturing group written (?:...) preserves the simple list-of-strings shape.</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findall()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search() versus findall()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list of strings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list of tuples</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Adding a group to a findall pattern changes its return type from list of strings to list of tuples.</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text strip containing two phone numbers. Two parallel paths lead from it. Path A, pattern with no groups, produces a result box holding a flat list of two strings, tagged green 'list of str'. Path B, the sam…</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157-158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findall-return-shape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findall() method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findall() method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search() for the first match and findall() for all of them</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whether the pattern contains capturing groups</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Expect a list of strings with none and a list of tuples with any</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 to group without capturing when the flat shape is wanted</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Iterate the result according to its actual shape</a:t>
            </a:r>
            <a:endParaRPr lang="en-US" sz="1100" dirty="0"/>
          </a:p>
        </p:txBody>
      </p:sp>
      <p:sp>
        <p:nvSpPr>
          <p:cNvPr id="19" name="shape-27-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for one pass over the text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plus O(k) to build a list of k matches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scan with pattern-dependent backtracking</a:t>
            </a:r>
            <a:endParaRPr lang="en-US" sz="1100" dirty="0"/>
          </a:p>
        </p:txBody>
      </p:sp>
      <p:sp>
        <p:nvSpPr>
          <p:cNvPr id="21" name="shape-27-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findall builds the whole list in memory; finditer yields matches lazily when the text is large.</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157-158   |   CO3  |  Bloom L4</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findall() method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findall() method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a phone pattern with and without groups to text containing 415-555-9999 and 212-555-0000.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Without groups, findall returns ['415-555-9999', '212-555-0000']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With the pattern split into two groups, it returns [('415', '555-9999'), ('212', '555-0000')]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Code written for the first shape breaks on the second, because a tuple has no string methods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Changing the groups to (?:...) returns the flat list again</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Both forms find the same two numbers, but the second returns tuples, so every downstream line that treated the items as strings now fails.</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text = 'Cell: 415-555-9999 Work: 212-555-0000'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re.findall(r'\d\d\d-\d\d\d-\d\d\d\d', text)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['415-555-9999', '212-555-0000']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re.findall(r'(\d\d\d)-(\d\d\d-\d\d\d\d)', text)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[('415', '555-9999'), ('212', '555-0000')]</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add parentheses to a findall pattern for readability and every later line breaks, because the list now holds tuples. Use a non-capturing group (?:...) when the parentheses are only for grouping.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157-158   |   CO3  |  Bloom L4</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Character classes and making your own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Character classes and making your own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Shorthand character classes cover the common cases: \d is any digit, \w any word character meaning letters, digits and underscore, and \s any whitespace. Their capitalised forms are the negations, so \D is any non-digit. A custom class is written in square brackets and may list characters, ranges such as a-z, or both, and putting a caret first negates the whole class. Inside a class most metacharacters lose their special meaning, so a dot is just a dot and no escaping is needed — the exceptions being the closing bracket, the backslash, the caret when first and the hyphen when it could be read as a range.</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 \w \s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negated class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square brackets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ranges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literal characters in a class</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Inside square brackets most metacharacters become literal, which is why a class is often simpler than escaping.</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three nested-looking sets drawn as rounded rectangles over a character strip. \\d encloses 0-9 in blue, \\w encloses letters, digits and underscore in green with the digit region overlapping the blue, \\…</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158-159</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character-class-venn</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Character classes and making your own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Character classes and making your own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a shorthand class when one fits exactly</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the capital form for its negation</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a custom class in square brackets</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a hyphen for a contiguous range</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Put a caret first to negate the whole class</a:t>
            </a:r>
            <a:endParaRPr lang="en-US" sz="1100" dirty="0"/>
          </a:p>
        </p:txBody>
      </p:sp>
      <p:sp>
        <p:nvSpPr>
          <p:cNvPr id="19" name="shape-30-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Skip escaping inside a class except for ], \\, a leading ^ and an ambiguous -</a:t>
            </a:r>
            <a:endParaRPr lang="en-US" sz="1100" dirty="0"/>
          </a:p>
        </p:txBody>
      </p:sp>
      <p:sp>
        <p:nvSpPr>
          <p:cNvPr id="21" name="shape-30-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per character tested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over the text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classes do not backtrack by themselves</a:t>
            </a:r>
            <a:endParaRPr lang="en-US" sz="1100" dirty="0"/>
          </a:p>
        </p:txBody>
      </p:sp>
      <p:sp>
        <p:nvSpPr>
          <p:cNvPr id="23" name="shape-30-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character class is faster than an alternation of single characters and should be preferred.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158-159   |   CO3  |  Bloom L3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Character classes and making your own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Character classes and making your own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Count vowels and non-vowels in 'RoboCop eats baby food.'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re.findall(r'[aeiouAEIOU]', text) returns every vowel as a separate string</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list has 11 elements for this text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re.findall(r'[^aeiouAEIOU]', text) returns every other character, including spaces and the full stop</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Adding a quantifier, r'[aeiouAEIOU]{2}', finds only adjacent vowel pairs such as 'oo' and 'ea'</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custom class and its negation partition the text exactly, and the quantified form shows how a class composes with the earlier quantifiers.</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text = 'RoboCop eats baby food.'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re.findall(r'[aeiouAEIOU]', text)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['o', 'o', 'o', 'e', 'a', 'a', 'o', 'o']</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re.findall(r'[^aeiouAEIOU]', text)[:5]</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 'b', 'C', 'p', ' ']</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escape the dot inside square brackets as [\\.] out of habit. Inside a class the dot is already literal, and the unnecessary backslash makes the pattern harder to read without changing its meaning.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158-159   |   CO3  |  Bloom L3</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caret, the dollar sign and the wildcard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caret, the dollar sign and the wi…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caret at the start of a pattern anchors it to the beginning of the text and a dollar sign at the end anchors it to the end, so using both requires the entire string to match rather than merely containing a match. This is the difference between validating an input and searching within it, and forgetting the anchors is why a validator accepts a phone number with rubbish appended. The dot is a wildcard matching any single character except a newline, which is why a pattern intended to span lines needs the DOTALL flag. A caret has a second, unrelated meaning inside square brackets, where it negates the class.</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 anchor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 anchor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dot wildcard</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full match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DOTALL</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Without ^ and $ you are searching, not validating — a match anywhere is enough.</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rows sharing the input string 'abc 12345 xyz'. Row 1, pattern r'\\d+', draws a small match bracket around 12345 in the middle, labelled 'search: match found anywhere', green tick. Row 2, pattern r'^\\d+$',…</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159-162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anchors-validate-versus-search</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caret, the dollar sign and the wildcard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caret, the dollar sign and the wi…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whether you are validating a whole string or finding text inside one</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Anchor with ^ at the start and $ at the end to validate</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Omit both anchors to search</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the dot for any single character except a newline</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Pass re.DOTALL when the dot must also match newlines</a:t>
            </a:r>
            <a:endParaRPr lang="en-US" sz="1100" dirty="0"/>
          </a:p>
        </p:txBody>
      </p:sp>
      <p:sp>
        <p:nvSpPr>
          <p:cNvPr id="19" name="shape-33-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Remember ^ inside square brackets means negation instead</a:t>
            </a:r>
            <a:endParaRPr lang="en-US" sz="1100" dirty="0"/>
          </a:p>
        </p:txBody>
      </p:sp>
      <p:sp>
        <p:nvSpPr>
          <p:cNvPr id="21" name="shape-33-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when an anchor fails at the first position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anchoring often makes matching faster by removing candidate positions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unanchored scan across the whole text</a:t>
            </a:r>
            <a:endParaRPr lang="en-US" sz="1100" dirty="0"/>
          </a:p>
        </p:txBody>
      </p:sp>
      <p:sp>
        <p:nvSpPr>
          <p:cNvPr id="23" name="shape-33-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Anchoring is both a correctness and a performance measure.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159-162   |   CO3  |  Bloom L4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caret, the dollar sign and the wildcard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caret, the dollar sign and the wi…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Validate that a string is all digits, testing '12345' and 'abc 12345 xyz'.</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r'\\d+' matches '12345' inside 'abc 12345 xyz', so an unanchored search wrongly reports success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r'^\\d+$' requires the whole string to be digits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Against '12345' it matches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Against 'abc 12345 xyz' it returns None, which is the correct validation result</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Only the anchored pattern rejects the contaminated input; the unanchored one accepts anything containing a run of digits anywhere.</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re.search(r'\d+', 'abc 12345 xyz').group()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'12345'</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re.search(r'^\d+$', 'abc 12345 xyz') is None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True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re.search(r'^\d+$', '12345').group()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'12345'</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a validator without anchors and it accepts any string containing the pattern anywhere. A username validator of \\w+ happily accepts "hello world!!" because \\w+ matches "hello". Anchor both ends when validating.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159-162   |   CO3  |  Bloom L4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Case-insensitive matching, sub() and managing complex regexes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Case-insensitive matching, sub() and…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Three flags adjust how a pattern is interpreted: IGNORECASE makes matching case-blind, DOTALL lets the dot match newlines, and VERBOSE allows whitespace and comments inside the pattern so a long expression can be laid out and explained. They are combined with the pipe operator when more than one is wanted. The sub() method replaces every match with a replacement string, in which \\1 and \\2 stand for the captured groups, so text can be rewritten while preserving parts of what was matched. Like every string operation, sub() returns a new string and leaves the original untouched.</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re.IGNORECASE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re.DOTALL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re.VERBOSE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sub()</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backreference</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VERBOSE is what makes a long pattern reviewable; a regex nobody can read is a regex nobody can fix.</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Upper half: three flag switches drawn as toggles. IGNORECASE toggled on shows 'RoboCop' and 'ROBOCOP' both matching one pattern. DOTALL toggled on shows a dot spanning a line break in a two-line text block. VE…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162-165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flags-and-substitution</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Case-insensitive matching, sub() and managing complex r…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Case-insensitive matching, sub() and…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re.IGNORECASE when case should not matter</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re.DOTALL when the pattern must span lines</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re.VERBOSE and lay the pattern out with comments once it exceeds a line</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Combine flags with the pipe operator</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sub(replacement, text) to rewrite every match</a:t>
            </a:r>
            <a:endParaRPr lang="en-US" sz="1100" dirty="0"/>
          </a:p>
        </p:txBody>
      </p:sp>
      <p:sp>
        <p:nvSpPr>
          <p:cNvPr id="19" name="shape-3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Refer to captured groups in the replacement with \\1, \\2 and so on</a:t>
            </a:r>
            <a:endParaRPr lang="en-US" sz="1100" dirty="0"/>
          </a:p>
        </p:txBody>
      </p:sp>
      <p:sp>
        <p:nvSpPr>
          <p:cNvPr id="21" name="shape-3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for a single pass substitution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plus the cost of building the new string</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pattern-dependent backtracking dominates</a:t>
            </a:r>
            <a:endParaRPr lang="en-US" sz="1100" dirty="0"/>
          </a:p>
        </p:txBody>
      </p:sp>
      <p:sp>
        <p:nvSpPr>
          <p:cNvPr id="23" name="shape-3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 builds a new string, so substituting inside a loop over a large text repeats that allocation.</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162-165   |   CO3  |  Bloom L4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Case-insensitive matching, sub() and managing complex r…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Case-insensitive matching, sub() and…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Redact agent names in 'Agent Alice told Agent Bob' keeping only the initial.</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agentRegex = re.compile(r'Agent (\\w)\\w*')</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Each match captures the first letter of the name as group 1</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sub(r'\\1****', text) replaces each whole match with that letter plus four asterisks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result is 'A**** told B****'</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Both names are redacted in one call while their initials are preserved, and the original string is unchanged because sub returns a new one.</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agentRegex = re.compile(r'Agent (\w)\w*')</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agentRegex.sub(r'\1****', 'Agent Alice told Agent Bob')</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 told B****'</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re.compile(r'robocop', re.IGNORECASE).search('ROBOCOP').group()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'ROBOCOP'</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a forty-character pattern on one line and cannot review it a week later. Switch to re.VERBOSE and lay it out with comments once a pattern passes about a line; the flag exists precisely for that.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7, pp. 162-165   |   CO3  |  Bloom L4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Files and file paths: absolute, relative and the working directory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Files and file paths: absolute, relat…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path locates a file, and it is either absolute — starting from the root or a drive letter — or relative, interpreted against the current working directory. The separator differs between platforms, a backslash on Windows and a forward slash elsewhere, which is why paths must be assembled with os.path.join() rather than string concatenation: join inserts the right separator for whatever system is running the code. os.getcwd() reports the current working directory and os.chdir() changes it, and a relative path means something different after that change. os.makedirs() creates a whole chain of intermediate folders in one call.</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path separator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absolute path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relative path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current working directory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os.path.join()</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Build every path with os.path.join; concatenating separators is the bug that appears only on the other operating system.</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folder tree drawn from a root, through 'usr' and 'bin' to a file 'spam.txt', with the absolute path spelled beneath it. A marker labelled 'cwd' sits on an intermediate folder, and a relative path from…</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173-177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path-join-portability</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Files and file paths: absolute, relative and the workin…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Files and file paths: absolute, relat…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Decide whether the path should be absolute or relative</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Assemble every path with os.path.join()</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os.getcwd() when a relative path behaves unexpectedly</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os.chdir() sparingly, since it changes the meaning of every later relative path</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Create nested folders with os.makedirs()</a:t>
            </a:r>
            <a:endParaRPr lang="en-US" sz="1100" dirty="0"/>
          </a:p>
        </p:txBody>
      </p:sp>
      <p:sp>
        <p:nvSpPr>
          <p:cNvPr id="19" name="shape-3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Never hardcode a separator character</a:t>
            </a:r>
            <a:endParaRPr lang="en-US" sz="1100" dirty="0"/>
          </a:p>
        </p:txBody>
      </p:sp>
      <p:sp>
        <p:nvSpPr>
          <p:cNvPr id="21" name="shape-3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join a few components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 for k path components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filesystem calls dominate any string cost</a:t>
            </a:r>
            <a:endParaRPr lang="en-US" sz="1100" dirty="0"/>
          </a:p>
        </p:txBody>
      </p:sp>
      <p:sp>
        <p:nvSpPr>
          <p:cNvPr id="23" name="shape-3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os.path.join is pure string work; it does not check that the path exists.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173-177   |   CO3  |  Bloom L3</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Files and file paths: absolute, relative and the workin…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Files and file paths: absolute, relat…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Build a path to spam.txt inside usr/bin and report the current working directory.</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os.path.join('usr', 'bin', 'spam.txt') gives 'usr\\bin\\spam.txt' on Windows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same call gives 'usr/bin/spam.txt' on Linux and macOS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os.getcwd() reports the directory that relative path is measured from</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Concatenating with 'usr' + '\\' + 'bin' hardcodes the Windows separator and fails elsewhere</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One join call produces the correct path on every platform, whereas the concatenated version is correct only on the machine it was written on.</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import os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os.path.join('usr', 'bin', 'spam.txt')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'usr\\bin\\spam.txt'      # on Windows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os.getcwd()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'C:\\Users\\alice'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os.makedirs('data/raw/2026')   # creates every level</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build paths with + and a hardcoded separator, and the script works until it is run on another operating system or a folder name contains a character that needed escaping. os.path.join removes both problems.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173-177   |   CO3  |  Bloom L3</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os.path module: sizes, listings and validity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os.path module: sizes, listings 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os.path supplies the questions you must ask before touching a file. exists() reports whether a path is present at all, while isfile() and isdir() distinguish the two kinds, which matters because opening a directory as a file raises rather than returning empty. getsize() returns a size in bytes and os.listdir() returns the names inside a folder, so summing getsize over a listing totals a folder. basename() and dirname() split a path into its last component and everything before it, and abspath() resolves a relative path against the current working directory. Checking validity before opening turns a crash into a message the user can act on.</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os.path.exists()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isfile()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isdir()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os.path.getsize()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os.listdir()</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Ask exists, isfile or isdir before opening — a checked path turns a traceback into a usable message.</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path string drawn across the top, C:/data/reports/march.csv, with two bracket labels beneath it: dirname covering everything up to the last separator and basename covering march.csv. Below, a row of four ins…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177-180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L3  |  visual id: ospath-inspection-panel</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os.path module: sizes, listings and validity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os.path module: sizes, listings 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Build the path with os.path.join</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os.path.exists() to confirm something is there</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isfile() or isdir() to confirm it is the right kind</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getsize() for a file size and listdir() for folder contents</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basename() and dirname() to split a path</a:t>
            </a:r>
            <a:endParaRPr lang="en-US" sz="1100" dirty="0"/>
          </a:p>
        </p:txBody>
      </p:sp>
      <p:sp>
        <p:nvSpPr>
          <p:cNvPr id="19" name="shape-4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Report a clear message when a check fails, rather than letting open() raise</a:t>
            </a:r>
            <a:endParaRPr lang="en-US" sz="1100" dirty="0"/>
          </a:p>
        </p:txBody>
      </p:sp>
      <p:sp>
        <p:nvSpPr>
          <p:cNvPr id="21" name="shape-4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 single stat call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 for a listing of k entries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O(k) filesystem calls to size a whole folder</a:t>
            </a:r>
            <a:endParaRPr lang="en-US" sz="1100" dirty="0"/>
          </a:p>
        </p:txBody>
      </p:sp>
      <p:sp>
        <p:nvSpPr>
          <p:cNvPr id="23" name="shape-4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Each of these is a filesystem call, so calling them in a tight loop over thousands of files is noticeably slow.</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177-180   |   CO3  |  Bloom L3</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os.path module: sizes, listings and validity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os.path module: sizes, listings a…</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Total the size of every file in a folder.</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os.listdir(folder) returns the names inside it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Each name is joined to the folder with os.path.join to form a usable path</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os.path.isfile() filters out any subdirectories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os.path.getsize() is summed over the remaining paths</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correct total, because the isfile filter prevented getsize being called on a subdirectory, which would have reported the directory entry size rather than its contents.</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total =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for name in os.listdir(folder):</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 = os.path.join(folder, name)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if os.path.isfile(p):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total += os.path.getsize(p)</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os.path.basename('C:/data/march.csv')</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'march.csv'</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call os.listdir and pass the bare names straight to open(), which fails unless the folder happens to be the current working directory. listdir returns names, not paths; join each one to the folder first.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177-180   |   CO3  |  Bloom L3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file reading and writing process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file reading and writing process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Working with a file has three steps: open it to obtain a File object, read or write through that object, and close it to flush buffered data to disk. The mode argument decides what is permitted — r reads, w writes and truncates the file to nothing on opening, and a appends to the end. That truncation is immediate and unrecoverable, which is why w is the single most destructive character in beginner file code. read() returns the whole file as one string and readlines() returns a list of lines with their newline characters intact; the with statement is the preferred form because it closes the file even if an exception is raised partway through.</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open()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read mode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write mode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append mode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close()</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Opening a file in 'w' mode empties it immediately — use 'a' whenever existing content must survive.</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mode panels over a file icon containing three lines of text. Panel r shows an arrow out of the file into a string token, the file unchanged, green. Panel w shows the file icon visibly emptying to blank 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180-184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file-modes-and-with</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file reading and writing process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file reading and writing process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mode: r to read, w to overwrite, a to append</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 with a with statement so closing is automatic</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with read() for the whole file or readlines() for a list of lines</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with write(), which returns the number of characters written</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newline characters yourself; write does not</a:t>
            </a:r>
            <a:endParaRPr lang="en-US" sz="1100" dirty="0"/>
          </a:p>
        </p:txBody>
      </p:sp>
      <p:sp>
        <p:nvSpPr>
          <p:cNvPr id="19" name="shape-4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Never open a file you want to keep in 'w' mode</a:t>
            </a:r>
            <a:endParaRPr lang="en-US" sz="1100" dirty="0"/>
          </a:p>
        </p:txBody>
      </p:sp>
      <p:sp>
        <p:nvSpPr>
          <p:cNvPr id="21" name="shape-4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to open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to read or write n characters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memory as well, since read() holds the whole file at once</a:t>
            </a:r>
            <a:endParaRPr lang="en-US" sz="1100" dirty="0"/>
          </a:p>
        </p:txBody>
      </p:sp>
      <p:sp>
        <p:nvSpPr>
          <p:cNvPr id="23" name="shape-4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Iterating the File object line by line keeps memory constant for large files.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180-184   |   CO3  |  Bloom L4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file reading and writing process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file reading and writing process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two lines to bacon.txt, then append a third, then read it back.</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open('bacon.txt', 'w') empties the file and write() adds 'Hello world!\\n'</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Re-opening in 'w' would empty it again, so 'a' is used to add 'Bacon is not a vegetable.'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open('bacon.txt', 'r') and read() returns the whole content as one string</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string contains both lines, with the newline that was written explicitly</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file holds both lines; had the second open used 'w' instead of 'a', the first line would have been destroyed with no warning.</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with open('bacon.txt', 'w') as f:</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f.write('Hello world!\n')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with open('bacon.txt', 'a') as f:</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f.write('Bacon is not a vegetable.')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with open('bacon.txt') as f:</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print(f.read())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Hello world!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Bacon is not a vegetable.</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reopen a file in 'w' mode inside a loop intending to add to it, and each pass wipes the file so only the final line survives. Append mode 'a' is what adds; 'w' always truncates first.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180-184   |   CO3  |  Bloom L4</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Saving variables with the shelve module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Saving variables with the shelve modu…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shelve saves Python values to a binary file and reads them back as the same types, so a list comes back a list rather than a string that must be parsed. The shelf object behaves like a dictionary: assign to a key to store, read a key to retrieve, and call keys() or values() to enumerate, with the difference that the data survives the program ending. Because the format is binary it is not human-readable and not portable between unrelated tools, which is the trade against pprint.pformat. A shelf must be closed for the writes to be committed, so a with statement is again the safe form.</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shelve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binary persistence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dictionary-like interface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keys()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values()</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shelve gives you a dictionary that outlives the program, at the cost of a file no human can read.</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program-run boxes separated by a vertical gap labelled 'program ends'. Run 1 on the left contains a live list variable, with an arrow labelled shelf['cats'] = catNames crossing down into a binary file icon…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184-185</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L4  |  visual id: shelve-persistence-bridge</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Saving variables with the shelve module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Saving variables with the shelve modu…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import shelve</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 a shelf with shelve.open(filename), preferably in a with statement</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Store values by assigning to a key</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values by reading a key</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Enumerate with list(shelf.keys()) or list(shelf.values())</a:t>
            </a:r>
            <a:endParaRPr lang="en-US" sz="1100" dirty="0"/>
          </a:p>
        </p:txBody>
      </p:sp>
      <p:sp>
        <p:nvSpPr>
          <p:cNvPr id="19" name="shape-4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Close the shelf so the writes are committed</a:t>
            </a:r>
            <a:endParaRPr lang="en-US" sz="1100" dirty="0"/>
          </a:p>
        </p:txBody>
      </p:sp>
      <p:sp>
        <p:nvSpPr>
          <p:cNvPr id="21" name="shape-4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per key access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amortised, like a dictionary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 to enumerate every key</a:t>
            </a:r>
            <a:endParaRPr lang="en-US" sz="1100" dirty="0"/>
          </a:p>
        </p:txBody>
      </p:sp>
      <p:sp>
        <p:nvSpPr>
          <p:cNvPr id="23" name="shape-4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shelve pickles the values, so any type that cannot be pickled cannot be stored.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184-185   |   CO3  |  Bloom L4</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Saving variables with the shelve module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Saving variables with the shelve modu…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Store a list of cat names, end the program, then read it back in a new run.</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shelf = shelve.open('mydata') creates or opens the shelf file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shelf['cats'] = ['Zophie', 'Pooka', 'Simon'] stores the list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shelf.close() commits the write and the program ends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later run opens the same shelf and shelf['cats'] returns the list with its type intact</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list survives the program ending and returns as a list, so no parsing code is needed on the way back in.</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import shelve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with shelve.open('mydata') as shelf:</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shelf['cats'] = ['Zophie', 'Pooka', 'Simon']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with shelve.open('mydata') as shelf:</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print(shelf['cats'])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['Zophie', 'Pooka', 'Simon']</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forget to close the shelf and find the file empty or corrupt on the next run. The writes are buffered until close; use a with statement so it happens even when an exception is raised.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184-185   |   CO3  |  Bloom L4</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Saving variables with pprint.pformat()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Saving variables with pprint.pformat()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pformat() returns the pretty-printed text of a structure as a string, and because that text is valid Python source it can be written to a .py file and imported back later as real data. The result is persistence that a human can open, read and edit in any text editor, which is exactly what shelve does not offer. The limits are that it only works for structures of basic types, that importing executes the file so it must be trusted, and that the file must be on the import path. The choice between the two is therefore about whether the saved data needs to be inspected by a person or merely reloaded by the program.</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pprint.pformat()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executable text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importable module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human-readable persistence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round trip</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pformat persists to readable, editable Python source; shelve persists to an opaque binary — choose by who reads it.</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decision diamond at the top reading 'must a human read or edit the saved data?'. The Yes branch leads to a pformat path: a live dictionary, an arrow labelled pprint.pformat(), a text panel showing indented P…</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185-192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CO3  |  Bloom L5  |  visual id: pformat-versus-shelve-choice</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Saving variables with pprint.pformat()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Saving variables with pprint.pformat()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Build the structure in memory</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Call pprint.pformat(structure) to get its source text</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that text into a .py file with an assignment to a name</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Import the module later to recover the structure</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file is on the import path</a:t>
            </a:r>
            <a:endParaRPr lang="en-US" sz="1100" dirty="0"/>
          </a:p>
        </p:txBody>
      </p:sp>
      <p:sp>
        <p:nvSpPr>
          <p:cNvPr id="19" name="shape-5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Prefer shelve when the data is large, private or contains unusual types</a:t>
            </a:r>
            <a:endParaRPr lang="en-US" sz="1100" dirty="0"/>
          </a:p>
        </p:txBody>
      </p:sp>
      <p:sp>
        <p:nvSpPr>
          <p:cNvPr id="21" name="shape-5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to format n entries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 to format and O(n) to write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O(total nodes) for deeply nested data</a:t>
            </a:r>
            <a:endParaRPr lang="en-US" sz="1100" dirty="0"/>
          </a:p>
        </p:txBody>
      </p:sp>
      <p:sp>
        <p:nvSpPr>
          <p:cNvPr id="23" name="shape-5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Importing executes the file, so this format is unsuitable for data arriving from an untrusted source.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185-192   |   CO3  |  Bloom L5</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Saving variables with pprint.pformat()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Saving variables with pprint.pformat()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Save a list of cat dictionaries to myCats.py and import it back.</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text = pprint.pformat(cats) returns the structure as Python source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file is written as 'cats = ' + text, making it a valid module</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import myCats loads and executes the file</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myCats.cats is the original list of dictionaries, with every type preserved</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data round-trips exactly and the intermediate file can be opened and corrected by hand, which is the whole reason to prefer it over a shelf.</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import pprint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cats = [{'name': 'Zophie', 'desc': 'chubby'}]</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with open('myCats.py', 'w') as f:</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f.write('cats = ' + pprint.pformat(cats) + '\n')</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import myCats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&gt;&gt;&gt; myCats.cats[0]['name']</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'Zophie'</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only the pformat text to the file without the leading assignment, so importing it executes an expression and binds nothing. The file must contain a name to import, such as cats = [...].</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Automate the Boring Stuff with Python, 1st ed., Ch. 8, pp. 185-192   |   CO3  |  Bloom L5</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Hand-written matching encodes the specification in control flow, so every format change is a code change.</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search() returns None on failure, so test the Match object before calling group() on it.</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Parentheses both group and capture; group(0) is the whole match and capture numbering starts at 1.</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Alternation tries left to right and stops at the first success, so put the longest alternative first.</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An absent optional group makes group(n) None, not an empty string — test before using it.</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Star accepts nothing at all as a valid match; plus insists on at least one — choose by whether absence is legal.</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Greedy and lazy quantifiers agree on single-occurrence input and disagree on everything else — test with two.</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Adding a group to a findall pattern changes its return type from list of strings to list of tuples.</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Inside square brackets most metacharacters become literal, which is why a class is often simpler than escaping.</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Without ^ and $ you are searching, not validating — a match anywhere is enough.</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VERBOSE is what makes a long pattern reviewable; a regex nobody can read is a regex nobody can fix.</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Build every path with os.path.join; concatenating separators is the bug that appears only on the other operating system.</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Ask exists, isfile or isdir before opening — a checked path turns a traceback into a usable message.</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Opening a file in 'w' mode empties it immediately — use 'a' whenever existing content must survive.</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shelve gives you a dictionary that outlives the program, at the cost of a file no human can read.</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pformat persists to readable, editable Python source; shelve persists to an opaque binary — choose by who reads it.</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BEC305 | Module 3</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3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quizzes/Module_3_Quiz.pdf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quizzes/Module_3_Quiz.gift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24%, L3-L4 70%, L5-L6 6%</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3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assignments/Module_3_Assignment.pdf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3 — Regular expressions and file handling</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10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&lt;USN&gt;_BEC305_Assignment3.pdf,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Pattern construction and correctness (7); Anchoring, greediness and return shapes (5); File and path handling (5); Persistence choice and justification (3). Attainment: CO3 = 20.</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2026-09-11T19:47:50Z</dcterms:created>
  <dcterms:modified xsi:type="dcterms:W3CDTF">2026-09-11T19:47:50Z</dcterms:modified>
</cp:coreProperties>
</file>