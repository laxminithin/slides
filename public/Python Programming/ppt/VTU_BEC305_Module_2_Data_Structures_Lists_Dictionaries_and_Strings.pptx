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Lst>
  <p:notesMasterIdLst>
    <p:notesMasterId r:id="rId5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notesMaster" Target="notesMasters/notesMaster1.xml"/><Relationship Id="rId59" Type="http://schemas.openxmlformats.org/officeDocument/2006/relationships/presProps" Target="presProps.xml"/><Relationship Id="rId60" Type="http://schemas.openxmlformats.org/officeDocument/2006/relationships/viewProps" Target="viewProps.xml"/><Relationship Id="rId61" Type="http://schemas.openxmlformats.org/officeDocument/2006/relationships/theme" Target="theme/theme1.xml"/><Relationship Id="rId6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Open by putting the whole module on one page. Tell them this is 8 contact hours and 16 teaching units, and that all of it exists to answer one question: Which of the four built-in containers should hold my data, and what does choosing wrongly actually cost me? Name the prescribed textbook out loud and say which chapters they will be living in, so nobody is reading the wrong book by week two.
Pause cue: Pause after reading the driving question aloud, before naming the textbook.
Pointing cue: Point at the module title block, then at the textbook panel, then run a finger along the five-beat arc.
Question to ask students: Ask: before we start, what do you already expect the answer to "Which of the four built-in containers should hold my data, and what does choosing wrongly…" to look like?
Animation instructions: Module title block fades in first, then the textbook panel slides in from the right, then the five arc beats appear left to right one at a time.
Transition style: Fade
[Sources] VTU BEC305 Python Programming syllabus, 2025 scheme, Module 2: Data Structures: Lists, Dictionaries and Strings, 8 hours, TB1 (Sweigart 1e) Ch. 4 Lists, Ch. 5 Dictionaries and Structuring Data, Ch. 6 Manipulating Strings, pp. 79-144. TB1: Al Sweigart, Automate the Boring Stuff with Python, No Starch Press, 1st ed., 2015.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map before the territory. Read the driving question once more, then walk the five beats across the slide and say in one sentence what changes between each beat and the next. Finish on the scope paragraph, because knowing what a module does not cover saves more marks than anything else on this slide.
Pause cue: Pause for four or five seconds after the five beats appear, before moving to scope.
Pointing cue: Point at the driving question panel, then at each numbered beat in turn, then at the scope paragraph.
Question to ask students: Ask: which of these five beats do you expect to find hardest, and why that one?
Animation instructions: The driving question panel fades in, then the five numbered beats appear left to right one at a time, then the scope paragraph fades in beneath them.
Transition style: Fade
[Sources] VTU BEC305 Python Programming syllabus, 2025 scheme, Module 2: Data Structures: Lists, Dictionaries and Strings, 8 hours, TB1 (Sweigart 1e) Ch. 4 Lists, Ch. 5 Dictionaries and Structuring Data, Ch. 6 Manipulating Strings, pp. 79-144. TB1: Al Sweigart, Automate the Boring Stuff with Python, No Starch Press, 1st ed., 2015.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Tell them this is the slide to photograph. Every unit in the module is listed against a real chapter and a real page range, so there is no ambiguity about what to read. Point out the slide-number column and say plainly that if they miss a lecture, those are the slides covering that unit. Say that the page ranges come from the book's own table of contents rather than a guess.
Pause cue: Pause for ten seconds and let them photograph the table before saying anything else.
Pointing cue: Run a finger down the chapter-and-pages column, then across one complete row.
Question to ask students: Ask: pick any row - which chapter would you open first, and what would you expect in the first paragraph?
Animation instructions: Header row appears first, then the unit rows fade in one at a time from the top, then the chapter-and-pages column highlights.
Transition style: Cut
[Sources] VTU BEC305 Python Programming syllabus, 2025 scheme, Module 2: Data Structures: Lists, Dictionaries and Strings, 8 hours, TB1 (Sweigart 1e) Ch. 4 Lists, Ch. 5 Dictionaries and Structuring Data, Ch. 6 Manipulating Strings, pp. 79-144. TB1: Al Sweigart, Automate the Boring Stuff with Python, No Starch Press, 1st ed., 2015. Mapping covers all 16 teaching units.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Tell them this is the slide to photograph. Every unit in the module is listed against a real chapter and a real page range, so there is no ambiguity about what to read. Point out the slide-number column and say plainly that if they miss a lecture, those are the slides covering that unit. Say that the page ranges come from the book's own table of contents rather than a guess.
Pause cue: Pause for ten seconds and let them photograph the table before saying anything else.
Pointing cue: Run a finger down the chapter-and-pages column, then across one complete row.
Question to ask students: Ask: pick any row - which chapter would you open first, and what would you expect in the first paragraph?
Animation instructions: Header row appears first, then the unit rows fade in one at a time from the top, then the chapter-and-pages column highlights.
Transition style: Cut
[Sources] VTU BEC305 Python Programming syllabus, 2025 scheme, Module 2: Data Structures: Lists, Dictionaries and Strings, 8 hours, TB1 (Sweigart 1e) Ch. 4 Lists, Ch. 5 Dictionaries and Structuring Data, Ch. 6 Manipulating Strings, pp. 79-144. TB1: Al Sweigart, Automate the Boring Stuff with Python, No Starch Press, 1st ed., 2015. Mapping covers all 16 teaching units.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idea before the formalism. Say it plainly first: A list is an ordered, mutable sequence written in square brackets, and it may hold values of mixed types including other lists. Then add the part they are examined on - Indexes run 0 to len-1, and Python raises rather than guesses when you step outside that range. Keep the key terms visible; they are the vocabulary every later slide assumes.
Pause cue: Pause once the mechanism paragraph is fully revealed, before the takeaway appears.
Pointing cue: Point at the mechanism panel, then at each key term in turn, then at the takeaway box.
Question to ask students: Ask: in your own words, what does "list" constrain here, and what would break if it did not hold?
Animation instructions: the four cells appear left to right, the blue index numbers count in beneath them, the green pointer drops onto cell 1, then the dashed ghost cell appears and the red arrow strikes it with the IndexError badge landing, then the side note fades in.
Transition style: Fade
[Sources] VTU BEC305 Python Programming syllabus, 2025 scheme, Module 2: Data Structures: Lists, Dictionaries and Strings. TB1 as listed by the syllabus: Al Sweigart, Automate the Boring Stuff with Python, No Starch Press, 1st ed., 2015; Ch. 4, pp. 80-82.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the procedure out loud, one line at a time, and refuse to jump ahead. Start with step one - Write the list in square brackets with commas between elements - and check everyone has written it before moving on. At the cost panel, translate it: Indexing is constant time because a Python list stores an array of references, not a linked chain.
Pause cue: Pause after step three and ask for a show of hands before continuing.
Pointing cue: Point at each numbered step as you read it, then move across to the cost panel on the right.
Question to ask students: Ask: which of these steps would you skip first if you were short of time, and exactly what would that cost you?
Animation instructions: Procedure steps reveal one at a time from the top, then the cost panel fades in on the right, then the interpretation box slides up beneath it.
Transition style: Push
[Sources] VTU BEC305 Python Programming syllabus, 2025 scheme, Module 2: Data Structures: Lists, Dictionaries and Strings. TB1 as listed by the syllabus: Al Sweigart, Automate the Boring Stuff with Python, No Starch Press, 1st ed., 2015; Ch. 4, pp. 80-82.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Do this on the board in real time rather than reading it off the slide. The case is spam = ['cat', 'bat', 'rat', 'elephant']; evaluate spam[0], spam[3] and spam[4]. Work at the pace of the slowest note-taker and land hard on the result: Three valid reads and one exception; len is 4 but the highest legal index is 3, which is the source of nearly every off-by-one bu… Then spend a minute on the mistake box.
Pause cue: Pause before revealing the result and ask the room to predict it.
Pointing cue: Point at the given panel, then at each numbered step, then at the result box, then at the mistake panel.
Question to ask students: Ask: if I changed one number in this case, which step would change first, and would the conclusion survive?
Animation instructions: Given panel appears, then the numbered steps reveal one at a time, then the result box fades in, then the expression panel appears on the right, then the mistake panel outlines in last.
Transition style: Cut
[Sources] VTU BEC305 Python Programming syllabus, 2025 scheme, Module 2: Data Structures: Lists, Dictionaries and Strings. TB1 as listed by the syllabus: Al Sweigart, Automate the Boring Stuff with Python, No Starch Press, 1st ed., 2015; Ch. 4, pp. 80-82.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idea before the formalism. Say it plainly first: A negative index counts backwards from the end, so -1 is the last element and -2 the second to last, which removes the need to compute len-1 by hand. Then add the part they are examined on - An index borrows an element; a slice builds a new list — that difference decides whether your change is visible outside. Keep the key terms visible; they are the vocabulary every later slide assumes.
Pause cue: Pause once the mechanism paragraph is fully revealed, before the takeaway appears.
Pointing cue: Point at the mechanism panel, then at each key term in turn, then at the takeaway box.
Question to ask students: Ask: in your own words, what does "negative index" constrain here, and what would break if it did not hold?
Animation instructions: the cells appear with forward indexes counting in above, then negative indexes count in below, then each slice bracket draws in turn with its hollow exclusion marker flashing, then the two outcome boxes appear with the duplicate row sliding out to show the copy.
Transition style: Fade
[Sources] VTU BEC305 Python Programming syllabus, 2025 scheme, Module 2: Data Structures: Lists, Dictionaries and Strings. TB1 as listed by the syllabus: Al Sweigart, Automate the Boring Stuff with Python, No Starch Press, 1st ed., 2015; Ch. 4, pp. 82-83.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the procedure out loud, one line at a time, and refuse to jump ahead. Start with step one - Use a negative index to reach the end without computing len - and check everyone has written it before moving on. At the cost panel, translate it: A slice copies references, not the objects themselves — which is why it is called shallow.
Pause cue: Pause after step three and ask for a show of hands before continuing.
Pointing cue: Point at each numbered step as you read it, then move across to the cost panel on the right.
Question to ask students: Ask: which of these steps would you skip first if you were short of time, and exactly what would that cost you?
Animation instructions: Procedure steps reveal one at a time from the top, then the cost panel fades in on the right, then the interpretation box slides up beneath it.
Transition style: Push
[Sources] VTU BEC305 Python Programming syllabus, 2025 scheme, Module 2: Data Structures: Lists, Dictionaries and Strings. TB1 as listed by the syllabus: Al Sweigart, Automate the Boring Stuff with Python, No Starch Press, 1st ed., 2015; Ch. 4, pp. 82-83.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Do this on the board in real time rather than reading it off the slide. The case is spam = ['cat', 'bat', 'rat', 'elephant']; evaluate spam[-1], spam[1:3], spam[:2] and spam[2:]. Work at the pace of the slowest note-taker and land hard on the result: spam[:2] and spam[2:] together reconstruct the whole list exactly once, which is the practical payoff of excluding the upper boun… Then spend a minute on the mistake box.
Pause cue: Pause before revealing the result and ask the room to predict it.
Pointing cue: Point at the given panel, then at each numbered step, then at the result box, then at the mistake panel.
Question to ask students: Ask: if I changed one number in this case, which step would change first, and would the conclusion survive?
Animation instructions: Given panel appears, then the numbered steps reveal one at a time, then the result box fades in, then the expression panel appears on the right, then the mistake panel outlines in last.
Transition style: Cut
[Sources] VTU BEC305 Python Programming syllabus, 2025 scheme, Module 2: Data Structures: Lists, Dictionaries and Strings. TB1 as listed by the syllabus: Al Sweigart, Automate the Boring Stuff with Python, No Starch Press, 1st ed., 2015; Ch. 4, pp. 82-83.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idea before the formalism. Say it plainly first: Lists are mutable, so an element can be replaced by assigning to its index, which changes the list in place without creating a new one. Then add the part they are examined on - Assignment by index and del mutate in place; + and * build something new — and only the first kind is visible to other names. Keep the key terms visible; they are the vocabulary every later slide assumes.
Pause cue: Pause once the mechanism paragraph is fully revealed, before the takeaway appears.
Pointing cue: Point at the mechanism panel, then at each key term in turn, then at the takeaway box.
Question to ask students: Ask: in your own words, what does "len()" constrain here, and what would break if it did not hold?
Animation instructions: the left track animates the in-place rewrite with the shared label flashing, then the right track animates the new box appearing beside the unchanged original, then the del row animates the removal and the leftward shift.
Transition style: Fade
[Sources] VTU BEC305 Python Programming syllabus, 2025 scheme, Module 2: Data Structures: Lists, Dictionaries and Strings. TB1 as listed by the syllabus: Al Sweigart, Automate the Boring Stuff with Python, No Starch Press, 1st ed., 2015; Ch. 4, pp. 83-84.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the procedure out loud, one line at a time, and refuse to jump ahead. Start with step one - Use listname[i] = value to replace an element in place - and check everyone has written it before moving on. At the cost panel, translate it: Deleting from the front of a list is linear; if that is the common operation, a different structure is warranted.
Pause cue: Pause after step three and ask for a show of hands before continuing.
Pointing cue: Point at each numbered step as you read it, then move across to the cost panel on the right.
Question to ask students: Ask: which of these steps would you skip first if you were short of time, and exactly what would that cost you?
Animation instructions: Procedure steps reveal one at a time from the top, then the cost panel fades in on the right, then the interpretation box slides up beneath it.
Transition style: Push
[Sources] VTU BEC305 Python Programming syllabus, 2025 scheme, Module 2: Data Structures: Lists, Dictionaries and Strings. TB1 as listed by the syllabus: Al Sweigart, Automate the Boring Stuff with Python, No Starch Press, 1st ed., 2015; Ch. 4, pp. 83-84.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Do this on the board in real time rather than reading it off the slide. The case is spam = ['cat', 'bat', 'rat', 'elephant']; do spam[1] = 'dog', then del spam[2]. Work at the pace of the slowest note-taker and land hard on the result: Three elements remain and the index of 'elephant' has changed — which is exactly why deleting inside a forward loop skips the ele… Then spend a minute on the mistake box.
Pause cue: Pause before revealing the result and ask the room to predict it.
Pointing cue: Point at the given panel, then at each numbered step, then at the result box, then at the mistake panel.
Question to ask students: Ask: if I changed one number in this case, which step would change first, and would the conclusion survive?
Animation instructions: Given panel appears, then the numbered steps reveal one at a time, then the result box fades in, then the expression panel appears on the right, then the mistake panel outlines in last.
Transition style: Cut
[Sources] VTU BEC305 Python Programming syllabus, 2025 scheme, Module 2: Data Structures: Lists, Dictionaries and Strings. TB1 as listed by the syllabus: Al Sweigart, Automate the Boring Stuff with Python, No Starch Press, 1st ed., 2015; Ch. 4, pp. 83-84.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idea before the formalism. Say it plainly first: A for loop iterates over a list directly, binding each element to the loop variable in turn, which is clearer and faster than looping over range(len(x)) a… Then add the part they are examined on - Iterate the list, not its indexes — and if you are testing membership repeatedly, you wanted a set. Keep the key terms visible; they are the vocabulary every later slide assumes.
Pause cue: Pause once the mechanism paragraph is fully revealed, before the takeaway appears.
Pointing cue: Point at the mechanism panel, then at each key term in turn, then at the takeaway box.
Question to ask students: Ask: in your own words, what does "iteration" constrain here, and what would break if it did not hold?
Animation instructions: the list row draws, the amber panel animates its two-hop path, then the green panel animates its single hop, then the membership scan runs cell by cell and stops on the match, then the set comparison icon fades in.
Transition style: Fade
[Sources] VTU BEC305 Python Programming syllabus, 2025 scheme, Module 2: Data Structures: Lists, Dictionaries and Strings. TB1 as listed by the syllabus: Al Sweigart, Automate the Boring Stuff with Python, No Starch Press, 1st ed., 2015; Ch. 4, pp. 84-87.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the procedure out loud, one line at a time, and refuse to jump ahead. Start with step one - Write for element in listname: when you need the values - and check everyone has written it before moving on. At the cost panel, translate it: Converting to a set costs O(n) once and makes every later test O(1); worth it from roughly the second test onward.
Pause cue: Pause after step three and ask for a show of hands before continuing.
Pointing cue: Point at each numbered step as you read it, then move across to the cost panel on the right.
Question to ask students: Ask: which of these steps would you skip first if you were short of time, and exactly what would that cost you?
Animation instructions: Procedure steps reveal one at a time from the top, then the cost panel fades in on the right, then the interpretation box slides up beneath it.
Transition style: Push
[Sources] VTU BEC305 Python Programming syllabus, 2025 scheme, Module 2: Data Structures: Lists, Dictionaries and Strings. TB1 as listed by the syllabus: Al Sweigart, Automate the Boring Stuff with Python, No Starch Press, 1st ed., 2015; Ch. 4, pp. 84-87.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Do this on the board in real time rather than reading it off the slide. The case is supplies = ['pens', 'staplers', 'paper']; check 'pens' in supplies and 'glue' in supplies. Work at the pace of the slowest note-taker and land hard on the result: Both answers are correct either way, but the list version costs a full scan on every miss, which is the case that dominates in re… Then spend a minute on the mistake box.
Pause cue: Pause before revealing the result and ask the room to predict it.
Pointing cue: Point at the given panel, then at each numbered step, then at the result box, then at the mistake panel.
Question to ask students: Ask: if I changed one number in this case, which step would change first, and would the conclusion survive?
Animation instructions: Given panel appears, then the numbered steps reveal one at a time, then the result box fades in, then the expression panel appears on the right, then the mistake panel outlines in last.
Transition style: Cut
[Sources] VTU BEC305 Python Programming syllabus, 2025 scheme, Module 2: Data Structures: Lists, Dictionaries and Strings. TB1 as listed by the syllabus: Al Sweigart, Automate the Boring Stuff with Python, No Starch Press, 1st ed., 2015; Ch. 4, pp. 84-87.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idea before the formalism. Say it plainly first: Multiple assignment unpacks a sequence into several names in one statement, so cat = ['fat', 'grey']; size, colour = cat binds both names at once. Then add the part they are examined on - The right-hand side is fully evaluated before anything is bound, which is what makes a, b = b, a a correct swap. Keep the key terms visible; they are the vocabulary every later slide assumes.
Pause cue: Pause once the mechanism paragraph is fully revealed, before the takeaway appears.
Pointing cue: Point at the mechanism panel, then at each key term in turn, then at the takeaway box.
Question to ask students: Ask: in your own words, what does "tuple unpacking" constrain here, and what would break if it did not hold?
Animation instructions: the two boxes appear, the pair token forms above them, the swap arrows animate down, then the unpack diagram draws its three arrows, then the red mismatch variant appears and its badge lands.
Transition style: Fade
[Sources] VTU BEC305 Python Programming syllabus, 2025 scheme, Module 2: Data Structures: Lists, Dictionaries and Strings. TB1 as listed by the syllabus: Al Sweigart, Automate the Boring Stuff with Python, No Starch Press, 1st ed., 2015; Ch. 4, pp. 87-89.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the procedure out loud, one line at a time, and refuse to jump ahead. Start with step one - Count the elements on the right and provide exactly that many names - and check everyone has written it before moving on. At the cost panel, translate it: For lists, += mutates in place and is visible to every other name pointing at the same list; + is not.
Pause cue: Pause after step three and ask for a show of hands before continuing.
Pointing cue: Point at each numbered step as you read it, then move across to the cost panel on the right.
Question to ask students: Ask: which of these steps would you skip first if you were short of time, and exactly what would that cost you?
Animation instructions: Procedure steps reveal one at a time from the top, then the cost panel fades in on the right, then the interpretation box slides up beneath it.
Transition style: Push
[Sources] VTU BEC305 Python Programming syllabus, 2025 scheme, Module 2: Data Structures: Lists, Dictionaries and Strings. TB1 as listed by the syllabus: Al Sweigart, Automate the Boring Stuff with Python, No Starch Press, 1st ed., 2015; Ch. 4, pp. 87-89.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Do this on the board in real time rather than reading it off the slide. The case is a, b = 1, 2 then a, b = b, a; and spam = [1,2] with spam += [3] versus spam = spam + [3]. Work at the pace of the slowest note-taker and land hard on the result: The swap works because of evaluation order; += and + differ in whether other names observe the change, which matters as soon as a… Then spend a minute on the mistake box.
Pause cue: Pause before revealing the result and ask the room to predict it.
Pointing cue: Point at the given panel, then at each numbered step, then at the result box, then at the mistake panel.
Question to ask students: Ask: if I changed one number in this case, which step would change first, and would the conclusion survive?
Animation instructions: Given panel appears, then the numbered steps reveal one at a time, then the result box fades in, then the expression panel appears on the right, then the mistake panel outlines in last.
Transition style: Cut
[Sources] VTU BEC305 Python Programming syllabus, 2025 scheme, Module 2: Data Structures: Lists, Dictionaries and Strings. TB1 as listed by the syllabus: Al Sweigart, Automate the Boring Stuff with Python, No Starch Press, 1st ed., 2015; Ch. 4, pp. 87-89.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idea before the formalism. Say it plainly first: A method is a function that belongs to a value and is called through it. Then add the part they are examined on - The mutating list methods return None, so never assign their result back to the list. Keep the key terms visible; they are the vocabulary every later slide assumes.
Pause cue: Pause once the mechanism paragraph is fully revealed, before the takeaway appears.
Pointing cue: Point at the mechanism panel, then at each key term in turn, then at the takeaway box.
Question to ask students: Ask: in your own words, what does "method" constrain here, and what would break if it did not hold?
Animation instructions: Panel A animates its search and return, then Panel B's four rows animate in turn each emitting a grey None, then the red error card drops in and the list box collapses to None, then the sort comparison rows type in.
Transition style: Fade
[Sources] VTU BEC305 Python Programming syllabus, 2025 scheme, Module 2: Data Structures: Lists, Dictionaries and Strings. TB1 as listed by the syllabus: Al Sweigart, Automate the Boring Stuff with Python, No Starch Press, 1st ed., 2015; Ch. 4, pp. 89-92.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the procedure out loud, one line at a time, and refuse to jump ahead. Start with step one - Use index(value) to find a position, and guard it against ValueError - and check everyone has written it before moving on. At the cost panel, translate it: append is the cheap way to grow a list; insert at index 0 is O(n) because everything shifts.
Pause cue: Pause after step three and ask for a show of hands before continuing.
Pointing cue: Point at each numbered step as you read it, then move across to the cost panel on the right.
Question to ask students: Ask: which of these steps would you skip first if you were short of time, and exactly what would that cost you?
Animation instructions: Procedure steps reveal one at a time from the top, then the cost panel fades in on the right, then the interpretation box slides up beneath it.
Transition style: Push
[Sources] VTU BEC305 Python Programming syllabus, 2025 scheme, Module 2: Data Structures: Lists, Dictionaries and Strings. TB1 as listed by the syllabus: Al Sweigart, Automate the Boring Stuff with Python, No Starch Press, 1st ed., 2015; Ch. 4, pp. 89-92.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Do this on the board in real time rather than reading it off the slide. The case is spam = ['Alice', 'bob', 'Carol']; call spam.sort() then sort with key=str.lower. Work at the pace of the slowest note-taker and land hard on the result: The default ordering is ASCII, not alphabetical as a human means it; key=str.lower is required for the ordering a reader expects. Then spend a minute on the mistake box.
Pause cue: Pause before revealing the result and ask the room to predict it.
Pointing cue: Point at the given panel, then at each numbered step, then at the result box, then at the mistake panel.
Question to ask students: Ask: if I changed one number in this case, which step would change first, and would the conclusion survive?
Animation instructions: Given panel appears, then the numbered steps reveal one at a time, then the result box fades in, then the expression panel appears on the right, then the mistake panel outlines in last.
Transition style: Cut
[Sources] VTU BEC305 Python Programming syllabus, 2025 scheme, Module 2: Data Structures: Lists, Dictionaries and Strings. TB1 as listed by the syllabus: Al Sweigart, Automate the Boring Stuff with Python, No Starch Press, 1st ed., 2015; Ch. 4, pp. 89-92.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idea before the formalism. Say it plainly first: A mutable value can be changed after creation and an immutable one cannot; lists, dictionaries and sets are mutable, while integers, floats, strings and t… Then add the part they are examined on - Immutability buys hashability, which is why a tuple can be a dictionary key and a list cannot. Keep the key terms visible; they are the vocabulary every later slide assumes.
Pause cue: Pause once the mechanism paragraph is fully revealed, before the takeaway appears.
Pointing cue: Point at the mechanism panel, then at each key term in turn, then at the takeaway box.
Question to ask students: Ask: in your own words, what does "mutable" constrain here, and what would break if it did not hold?
Animation instructions: the divider draws, the left icons appear with their pencils then the red key slot, the right icons appear with their padlocks then the green key slot accepting the tuple, then the comma demonstration animates with the circle landing on the comma.
Transition style: Fade
[Sources] VTU BEC305 Python Programming syllabus, 2025 scheme, Module 2: Data Structures: Lists, Dictionaries and Strings. TB1 as listed by the syllabus: Al Sweigart, Automate the Boring Stuff with Python, No Starch Press, 1st ed., 2015; Ch. 4, pp. 93-97.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the procedure out loud, one line at a time, and refuse to jump ahead. Start with step one - Decide whether the collection will ever need to change - and check everyone has written it before moving on. At the cost panel, translate it: The performance difference is small; the semantic guarantee of immutability is the real reason to choose a tuple.
Pause cue: Pause after step three and ask for a show of hands before continuing.
Pointing cue: Point at each numbered step as you read it, then move across to the cost panel on the right.
Question to ask students: Ask: which of these steps would you skip first if you were short of time, and exactly what would that cost you?
Animation instructions: Procedure steps reveal one at a time from the top, then the cost panel fades in on the right, then the interpretation box slides up beneath it.
Transition style: Push
[Sources] VTU BEC305 Python Programming syllabus, 2025 scheme, Module 2: Data Structures: Lists, Dictionaries and Strings. TB1 as listed by the syllabus: Al Sweigart, Automate the Boring Stuff with Python, No Starch Press, 1st ed., 2015; Ch. 4, pp. 93-97.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Do this on the board in real time rather than reading it off the slide. The case is Try using a list as a dictionary key, then a tuple. Work at the pace of the slowest note-taker and land hard on the result: Only the tuple works as a key, and the one-element case shows the comma rather than the parentheses is what defines a tuple. Then spend a minute on the mistake box.
Pause cue: Pause before revealing the result and ask the room to predict it.
Pointing cue: Point at the given panel, then at each numbered step, then at the result box, then at the mistake panel.
Question to ask students: Ask: if I changed one number in this case, which step would change first, and would the conclusion survive?
Animation instructions: Given panel appears, then the numbered steps reveal one at a time, then the result box fades in, then the expression panel appears on the right, then the mistake panel outlines in last.
Transition style: Cut
[Sources] VTU BEC305 Python Programming syllabus, 2025 scheme, Module 2: Data Structures: Lists, Dictionaries and Strings. TB1 as listed by the syllabus: Al Sweigart, Automate the Boring Stuff with Python, No Starch Press, 1st ed., 2015; Ch. 4, pp. 93-97.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idea before the formalism. Say it plainly first: Assigning a list to a second name copies the reference, not the list, so both names refer to one object and a change through either is visible through bot… Then add the part they are examined on - Assignment aliases, copy() duplicates one level, deepcopy() duplicates all of them — and the bug only appears when the data… Keep the key terms visible; they are the vocabulary every later slide assumes.
Pause cue: Pause once the mechanism paragraph is fully revealed, before the takeaway appears.
Pointing cue: Point at the mechanism panel, then at each key term in turn, then at the takeaway box.
Question to ask students: Ask: in your own words, what does "reference" constrain here, and what would break if it did not hold?
Animation instructions: case 1 draws and the shared change flashes both labels, case 2 draws with the converging arrows and the inner change flashing both, case 3 draws fully separated and the change flashes only one side.
Transition style: Fade
[Sources] VTU BEC305 Python Programming syllabus, 2025 scheme, Module 2: Data Structures: Lists, Dictionaries and Strings. TB1 as listed by the syllabus: Al Sweigart, Automate the Boring Stuff with Python, No Starch Press, 1st ed., 2015; Ch. 4, pp. 97-102.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the procedure out loud, one line at a time, and refuse to jump ahead. Start with step one - Assume assignment shares rather than copies - and check everyone has written it before moving on. At the cost panel, translate it: deepcopy also handles cycles, which is part of why it is markedly slower than a slice copy.
Pause cue: Pause after step three and ask for a show of hands before continuing.
Pointing cue: Point at each numbered step as you read it, then move across to the cost panel on the right.
Question to ask students: Ask: which of these steps would you skip first if you were short of time, and exactly what would that cost you?
Animation instructions: Procedure steps reveal one at a time from the top, then the cost panel fades in on the right, then the interpretation box slides up beneath it.
Transition style: Push
[Sources] VTU BEC305 Python Programming syllabus, 2025 scheme, Module 2: Data Structures: Lists, Dictionaries and Strings. TB1 as listed by the syllabus: Al Sweigart, Automate the Boring Stuff with Python, No Starch Press, 1st ed., 2015; Ch. 4, pp. 97-102.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Do this on the board in real time rather than reading it off the slide. The case is a = [[1, 2], [3, 4]]; make b = copy.copy(a) and c = copy.deepcopy(a), then set b[0][0] = 99. Work at the pace of the slowest note-taker and land hard on the result: a and b both show 99 while c shows 1 — the shallow copy protected the outer list only, which is the distinction the two functions… Then spend a minute on the mistake box.
Pause cue: Pause before revealing the result and ask the room to predict it.
Pointing cue: Point at the given panel, then at each numbered step, then at the result box, then at the mistake panel.
Question to ask students: Ask: if I changed one number in this case, which step would change first, and would the conclusion survive?
Animation instructions: Given panel appears, then the numbered steps reveal one at a time, then the result box fades in, then the expression panel appears on the right, then the mistake panel outlines in last.
Transition style: Cut
[Sources] VTU BEC305 Python Programming syllabus, 2025 scheme, Module 2: Data Structures: Lists, Dictionaries and Strings. TB1 as listed by the syllabus: Al Sweigart, Automate the Boring Stuff with Python, No Starch Press, 1st ed., 2015; Ch. 4, pp. 97-102.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idea before the formalism. Say it plainly first: A dictionary stores key-value pairs and is written in braces, with lookup by key rather than by position. Then add the part they are examined on - Choose a list when position carries meaning and a dictionary when a label does. Keep the key terms visible; they are the vocabulary every later slide assumes.
Pause cue: Pause once the mechanism paragraph is fully revealed, before the takeaway appears.
Pointing cue: Point at the mechanism panel, then at each key term in turn, then at the takeaway box.
Question to ask students: Ask: in your own words, what does "dictionary" constrain here, and what would break if it did not hold?
Animation instructions: the list scan animates cell by cell with the counter climbing, then the dict hash animates its single jump with the counter showing 1, then the suitability strip slides up, then the KeyError badge appears.
Transition style: Fade
[Sources] VTU BEC305 Python Programming syllabus, 2025 scheme, Module 2: Data Structures: Lists, Dictionaries and Strings. TB1 as listed by the syllabus: Al Sweigart, Automate the Boring Stuff with Python, No Starch Press, 1st ed., 2015; Ch. 5, pp. 105-109.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the procedure out loud, one line at a time, and refuse to jump ahead. Start with step one - Ask whether lookups will be by position or by label - and check everyone has written it before moving on. At the cost panel, translate it: Constant-time lookup is the whole reason to accept the loss of positional meaning.
Pause cue: Pause after step three and ask for a show of hands before continuing.
Pointing cue: Point at each numbered step as you read it, then move across to the cost panel on the right.
Question to ask students: Ask: which of these steps would you skip first if you were short of time, and exactly what would that cost you?
Animation instructions: Procedure steps reveal one at a time from the top, then the cost panel fades in on the right, then the interpretation box slides up beneath it.
Transition style: Push
[Sources] VTU BEC305 Python Programming syllabus, 2025 scheme, Module 2: Data Structures: Lists, Dictionaries and Strings. TB1 as listed by the syllabus: Al Sweigart, Automate the Boring Stuff with Python, No Starch Press, 1st ed., 2015; Ch. 5, pp. 105-109.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Do this on the board in real time rather than reading it off the slide. The case is phone = {'alice': '5550100', 'bob': '5550101'}; look up alice, then carol. Work at the pace of the slowest note-taker and land hard on the result: Lookup is one step regardless of how many entries exist, and a repeated key replaces rather than duplicates — two behaviours a li… Then spend a minute on the mistake box.
Pause cue: Pause before revealing the result and ask the room to predict it.
Pointing cue: Point at the given panel, then at each numbered step, then at the result box, then at the mistake panel.
Question to ask students: Ask: if I changed one number in this case, which step would change first, and would the conclusion survive?
Animation instructions: Given panel appears, then the numbered steps reveal one at a time, then the result box fades in, then the expression panel appears on the right, then the mistake panel outlines in last.
Transition style: Cut
[Sources] VTU BEC305 Python Programming syllabus, 2025 scheme, Module 2: Data Structures: Lists, Dictionaries and Strings. TB1 as listed by the syllabus: Al Sweigart, Automate the Boring Stuff with Python, No Starch Press, 1st ed., 2015; Ch. 5, pp. 105-109.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idea before the formalism. Say it plainly first: Reading a missing key with square brackets raises KeyError, so most dictionary code is really about what to do when a key is absent. Then add the part they are examined on - get() reads with a fallback and changes nothing; setdefault() initialises and does change the dictionary. Keep the key terms visible; they are the vocabulary every later slide assumes.
Pause cue: Pause once the mechanism paragraph is fully revealed, before the takeaway appears.
Pointing cue: Point at the mechanism panel, then at each key term in turn, then at the takeaway box.
Question to ask students: Ask: in your own words, what does "get()" constrain here, and what would break if it did not hold?
Animation instructions: row 1 animates both branches with the crossed dashed arrow flashing, then row 2 animates and the dictionary box grows a row, then the two snippet versions appear side by side with the green one settling last.
Transition style: Fade
[Sources] VTU BEC305 Python Programming syllabus, 2025 scheme, Module 2: Data Structures: Lists, Dictionaries and Strings. TB1 as listed by the syllabus: Al Sweigart, Automate the Boring Stuff with Python, No Starch Press, 1st ed., 2015; Ch. 5, pp. 109-111.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the procedure out loud, one line at a time, and refuse to jump ahead. Start with step one - Decide whether a missing key should be read past or created - and check everyone has written it before moving on. At the cost panel, translate it: setdefault does the presence test and the insertion in one hash lookup rather than two.
Pause cue: Pause after step three and ask for a show of hands before continuing.
Pointing cue: Point at each numbered step as you read it, then move across to the cost panel on the right.
Question to ask students: Ask: which of these steps would you skip first if you were short of time, and exactly what would that cost you?
Animation instructions: Procedure steps reveal one at a time from the top, then the cost panel fades in on the right, then the interpretation box slides up beneath it.
Transition style: Push
[Sources] VTU BEC305 Python Programming syllabus, 2025 scheme, Module 2: Data Structures: Lists, Dictionaries and Strings. TB1 as listed by the syllabus: Al Sweigart, Automate the Boring Stuff with Python, No Starch Press, 1st ed., 2015; Ch. 5, pp. 109-111.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Do this on the board in real time rather than reading it off the slide. The case is Count character frequencies in the string 'hello' using setdefault. Work at the pace of the slowest note-taker and land hard on the result: The counter needs no if-statement at all, because setdefault handles the first-sighting case and the repeat case with the same li… Then spend a minute on the mistake box.
Pause cue: Pause before revealing the result and ask the room to predict it.
Pointing cue: Point at the given panel, then at each numbered step, then at the result box, then at the mistake panel.
Question to ask students: Ask: if I changed one number in this case, which step would change first, and would the conclusion survive?
Animation instructions: Given panel appears, then the numbered steps reveal one at a time, then the result box fades in, then the expression panel appears on the right, then the mistake panel outlines in last.
Transition style: Cut
[Sources] VTU BEC305 Python Programming syllabus, 2025 scheme, Module 2: Data Structures: Lists, Dictionaries and Strings. TB1 as listed by the syllabus: Al Sweigart, Automate the Boring Stuff with Python, No Starch Press, 1st ed., 2015; Ch. 5, pp. 109-111.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idea before the formalism. Say it plainly first: A dictionary printed with print() appears on one long line, which becomes unreadable as soon as it nests. Then add the part they are examined on - Model the structure so reading the data aloud describes the real thing; use pprint when that reading needs help. Keep the key terms visible; they are the vocabulary every later slide assumes.
Pause cue: Pause once the mechanism paragraph is fully revealed, before the takeaway appears.
Pointing cue: Point at the mechanism panel, then at each key term in turn, then at the takeaway box.
Question to ask students: Ask: in your own words, what does "pprint.pprint()" constrain here, and what would break if it did not hold?
Animation instructions: the grid draws, candidate A appears with its amber note, candidate B appears and the nine linking arrows sweep from grid to keys, then the print/pprint comparison slides up with the indented version resolving last.
Transition style: Fade
[Sources] VTU BEC305 Python Programming syllabus, 2025 scheme, Module 2: Data Structures: Lists, Dictionaries and Strings. TB1 as listed by the syllabus: Al Sweigart, Automate the Boring Stuff with Python, No Starch Press, 1st ed., 2015; Ch. 5, pp. 111-113.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the procedure out loud, one line at a time, and refuse to jump ahead. Start with step one - Describe the real object in words first - and check everyone has written it before moving on. At the cost panel, translate it: Formatting cost is irrelevant next to the maintenance cost of a structure whose shape does not match the data.
Pause cue: Pause after step three and ask for a show of hands before continuing.
Pointing cue: Point at each numbered step as you read it, then move across to the cost panel on the right.
Question to ask students: Ask: which of these steps would you skip first if you were short of time, and exactly what would that cost you?
Animation instructions: Procedure steps reveal one at a time from the top, then the cost panel fades in on the right, then the interpretation box slides up beneath it.
Transition style: Push
[Sources] VTU BEC305 Python Programming syllabus, 2025 scheme, Module 2: Data Structures: Lists, Dictionaries and Strings. TB1 as listed by the syllabus: Al Sweigart, Automate the Boring Stuff with Python, No Starch Press, 1st ed., 2015; Ch. 5, pp. 111-113.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Do this on the board in real time rather than reading it off the slide. The case is Represent a tic-tac-toe board and print it readably. Work at the pace of the slowest note-taker and land hard on the result: The dictionary version needs no comment to explain a position, and pprint makes the state inspectable during development without… Then spend a minute on the mistake box.
Pause cue: Pause before revealing the result and ask the room to predict it.
Pointing cue: Point at the given panel, then at each numbered step, then at the result box, then at the mistake panel.
Question to ask students: Ask: if I changed one number in this case, which step would change first, and would the conclusion survive?
Animation instructions: Given panel appears, then the numbered steps reveal one at a time, then the result box fades in, then the expression panel appears on the right, then the mistake panel outlines in last.
Transition style: Cut
[Sources] VTU BEC305 Python Programming syllabus, 2025 scheme, Module 2: Data Structures: Lists, Dictionaries and Strings. TB1 as listed by the syllabus: Al Sweigart, Automate the Boring Stuff with Python, No Starch Press, 1st ed., 2015; Ch. 5, pp. 111-113.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idea before the formalism. Say it plainly first: Values in a dictionary may themselves be dictionaries or lists, which is how a single structure represents a whole inventory, a guest list or a set of rec… Then add the part they are examined on - Access chains left to right, and building a nested structure needs setdefault at every level except the last. Keep the key terms visible; they are the vocabulary every later slide assumes.
Pause cue: Pause once the mechanism paragraph is fully revealed, before the takeaway appears.
Pointing cue: Point at the mechanism panel, then at each key term in turn, then at the takeaway box.
Question to ask students: Ask: in your own words, what does "nesting" constrain here, and what would break if it did not hold?
Animation instructions: the tree grows root to leaves, then the highlighted path lights edge by edge with the matching subscript colouring in beneath, then the build snippet runs and the intermediate node materialises, then the red no-setdefault variant flashes its KeyError.
Transition style: Fade
[Sources] VTU BEC305 Python Programming syllabus, 2025 scheme, Module 2: Data Structures: Lists, Dictionaries and Strings. TB1 as listed by the syllabus: Al Sweigart, Automate the Boring Stuff with Python, No Starch Press, 1st ed., 2015; Ch. 5, pp. 113-119.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the procedure out loud, one line at a time, and refuse to jump ahead. Start with step one - Sketch the nesting of the real data before coding it - and check everyone has written it before moving on. At the cost panel, translate it: Chained lookups are cheap; the cost of deep nesting is to the reader, not the interpreter.
Pause cue: Pause after step three and ask for a show of hands before continuing.
Pointing cue: Point at each numbered step as you read it, then move across to the cost panel on the right.
Question to ask students: Ask: which of these steps would you skip first if you were short of time, and exactly what would that cost you?
Animation instructions: Procedure steps reveal one at a time from the top, then the cost panel fades in on the right, then the interpretation box slides up beneath it.
Transition style: Push
[Sources] VTU BEC305 Python Programming syllabus, 2025 scheme, Module 2: Data Structures: Lists, Dictionaries and Strings. TB1 as listed by the syllabus: Al Sweigart, Automate the Boring Stuff with Python, No Starch Press, 1st ed., 2015; Ch. 5, pp. 113-119.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Do this on the board in real time rather than reading it off the slide. The case is Record that Alice brings 5 apples into an empty dictionary guests. Work at the pace of the slowest note-taker and land hard on the result: The intermediate level must exist before the innermost assignment; setdefault creates it if needed and leaves it alone if it is a… Then spend a minute on the mistake box.
Pause cue: Pause before revealing the result and ask the room to predict it.
Pointing cue: Point at the given panel, then at each numbered step, then at the result box, then at the mistake panel.
Question to ask students: Ask: if I changed one number in this case, which step would change first, and would the conclusion survive?
Animation instructions: Given panel appears, then the numbered steps reveal one at a time, then the result box fades in, then the expression panel appears on the right, then the mistake panel outlines in last.
Transition style: Cut
[Sources] VTU BEC305 Python Programming syllabus, 2025 scheme, Module 2: Data Structures: Lists, Dictionaries and Strings. TB1 as listed by the syllabus: Al Sweigart, Automate the Boring Stuff with Python, No Starch Press, 1st ed., 2015; Ch. 5, pp. 113-119.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idea before the formalism. Say it plainly first: A string literal may be written with single or double quotes, which lets one kind of quote appear unescaped inside the other. Then add the part they are examined on - Strings index like lists but are immutable — every string "change" is really a new string. Keep the key terms visible; they are the vocabulary every later slide assumes.
Pause cue: Pause once the mechanism paragraph is fully revealed, before the takeaway appears.
Pointing cue: Point at the mechanism panel, then at each key term in turn, then at the takeaway box.
Question to ask students: Ask: in your own words, what does "string literal" constrain here, and what would break if it did not hold?
Animation instructions: the character row and both index rows appear, the slice bracket draws and emits 'ell', the red assignment arrow strikes the padlock which flashes, then the quoting table fills row by row with the raw-string row highlighting last.
Transition style: Fade
[Sources] VTU BEC305 Python Programming syllabus, 2025 scheme, Module 2: Data Structures: Lists, Dictionaries and Strings. TB1 as listed by the syllabus: Al Sweigart, Automate the Boring Stuff with Python, No Starch Press, 1st ed., 2015; Ch. 6, pp. 123-127.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the procedure out loud, one line at a time, and refuse to jump ahead. Start with step one - Choose the quote style that avoids escaping - and check everyone has written it before moving on. At the cost panel, translate it: Because every change allocates, modifying a string in a loop is the same O(n^2) trap as concatenating one.
Pause cue: Pause after step three and ask for a show of hands before continuing.
Pointing cue: Point at each numbered step as you read it, then move across to the cost panel on the right.
Question to ask students: Ask: which of these steps would you skip first if you were short of time, and exactly what would that cost you?
Animation instructions: Procedure steps reveal one at a time from the top, then the cost panel fades in on the right, then the interpretation box slides up beneath it.
Transition style: Push
[Sources] VTU BEC305 Python Programming syllabus, 2025 scheme, Module 2: Data Structures: Lists, Dictionaries and Strings. TB1 as listed by the syllabus: Al Sweigart, Automate the Boring Stuff with Python, No Starch Press, 1st ed., 2015; Ch. 6, pp. 123-127.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Do this on the board in real time rather than reading it off the slide. The case is s = 'Hello'; evaluate s[1:4], s[-1], and attempt s[0] = 'J'. Work at the pace of the slowest note-taker and land hard on the result: Indexing and slicing behave identically to lists, but assignment is refused; the replacement is built by slicing and concatenatin… Then spend a minute on the mistake box.
Pause cue: Pause before revealing the result and ask the room to predict it.
Pointing cue: Point at the given panel, then at each numbered step, then at the result box, then at the mistake panel.
Question to ask students: Ask: if I changed one number in this case, which step would change first, and would the conclusion survive?
Animation instructions: Given panel appears, then the numbered steps reveal one at a time, then the result box fades in, then the expression panel appears on the right, then the mistake panel outlines in last.
Transition style: Cut
[Sources] VTU BEC305 Python Programming syllabus, 2025 scheme, Module 2: Data Structures: Lists, Dictionaries and Strings. TB1 as listed by the syllabus: Al Sweigart, Automate the Boring Stuff with Python, No Starch Press, 1st ed., 2015; Ch. 6, pp. 123-127.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idea before the formalism. Say it plainly first: upper() and lower() return a new string with the case converted, which makes case-insensitive comparison a matter of lowering both sides before comparing. Then add the part they are examined on - Every isX method returns False for the empty string, so validate length before content. Keep the key terms visible; they are the vocabulary every later slide assumes.
Pause cue: Pause once the mechanism paragraph is fully revealed, before the takeaway appears.
Pointing cue: Point at the mechanism panel, then at each key term in turn, then at the takeaway box.
Question to ask students: Ask: in your own words, what does "upper()" constrain here, and what would break if it did not hold?
Animation instructions: the input token travels through gate 1 which flashes green, then gate 2 which flashes green and passes it into the conversion box; then an empty token is sent and is rejected at gate 1 with the red path lighting; then the reference table fills row by row with the empty-string footer highlighting last.
Transition style: Fade
[Sources] VTU BEC305 Python Programming syllabus, 2025 scheme, Module 2: Data Structures: Lists, Dictionaries and Strings. TB1 as listed by the syllabus: Al Sweigart, Automate the Boring Stuff with Python, No Starch Press, 1st ed., 2015; Ch. 6, pp. 127-131.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the procedure out loud, one line at a time, and refuse to jump ahead. Start with step one - Lower both operands before a case-insensitive comparison - and check everyone has written it before moving on. At the cost panel, translate it: These scans are far cheaper than a regular expression and should be preferred for simple validation.
Pause cue: Pause after step three and ask for a show of hands before continuing.
Pointing cue: Point at each numbered step as you read it, then move across to the cost panel on the right.
Question to ask students: Ask: which of these steps would you skip first if you were short of time, and exactly what would that cost you?
Animation instructions: Procedure steps reveal one at a time from the top, then the cost panel fades in on the right, then the interpretation box slides up beneath it.
Transition style: Push
[Sources] VTU BEC305 Python Programming syllabus, 2025 scheme, Module 2: Data Structures: Lists, Dictionaries and Strings. TB1 as listed by the syllabus: Al Sweigart, Automate the Boring Stuff with Python, No Starch Press, 1st ed., 2015; Ch. 6, pp. 127-131.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Do this on the board in real time rather than reading it off the slide. The case is Validate an age typed by the user, testing '25', 'abc' and ''. Work at the pace of the slowest note-taker and land hard on the result: All three are handled without an exception, and the length guard lets the program give the user the accurate message rather than… Then spend a minute on the mistake box.
Pause cue: Pause before revealing the result and ask the room to predict it.
Pointing cue: Point at the given panel, then at each numbered step, then at the result box, then at the mistake panel.
Question to ask students: Ask: if I changed one number in this case, which step would change first, and would the conclusion survive?
Animation instructions: Given panel appears, then the numbered steps reveal one at a time, then the result box fades in, then the expression panel appears on the right, then the mistake panel outlines in last.
Transition style: Cut
[Sources] VTU BEC305 Python Programming syllabus, 2025 scheme, Module 2: Data Structures: Lists, Dictionaries and Strings. TB1 as listed by the syllabus: Al Sweigart, Automate the Boring Stuff with Python, No Starch Press, 1st ed., 2015; Ch. 6, pp. 127-131.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idea before the formalism. Say it plainly first: startswith() and endswith() test a prefix or suffix and return a bool, which is clearer and cheaper than slicing and comparing. Then add the part they are examined on - join() is called on the separator, not the list — ', '.join(items), never items.join(', '). Keep the key terms visible; they are the vocabulary every later slide assumes.
Pause cue: Pause once the mechanism paragraph is fully revealed, before the takeaway appears.
Pointing cue: Point at the mechanism panel, then at each key term in turn, then at the takeaway box.
Question to ask students: Ask: in your own words, what does "startswith()" constrain here, and what would break if it did not hold?
Animation instructions: the list node appears, the join arrow sweeps right building the string one token at a time with separators inserted, then the split arrow sweeps back reconstructing the list, then the contrast strip appears with the red circles landing last.
Transition style: Fade
[Sources] VTU BEC305 Python Programming syllabus, 2025 scheme, Module 2: Data Structures: Lists, Dictionaries and Strings. TB1 as listed by the syllabus: Al Sweigart, Automate the Boring Stuff with Python, No Starch Press, 1st ed., 2015; Ch. 6, pp. 131-133.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the procedure out loud, one line at a time, and refuse to jump ahead. Start with step one - Use startswith or endswith for prefix and suffix tests - and check everyone has written it before moving on. At the cost panel, translate it: ''.join(parts) is the standard fix for the O(n^2) repeated-concatenation trap from Module 1.
Pause cue: Pause after step three and ask for a show of hands before continuing.
Pointing cue: Point at each numbered step as you read it, then move across to the cost panel on the right.
Question to ask students: Ask: which of these steps would you skip first if you were short of time, and exactly what would that cost you?
Animation instructions: Procedure steps reveal one at a time from the top, then the cost panel fades in on the right, then the interpretation box slides up beneath it.
Transition style: Push
[Sources] VTU BEC305 Python Programming syllabus, 2025 scheme, Module 2: Data Structures: Lists, Dictionaries and Strings. TB1 as listed by the syllabus: Al Sweigart, Automate the Boring Stuff with Python, No Starch Press, 1st ed., 2015; Ch. 6, pp. 131-133.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Do this on the board in real time rather than reading it off the slide. The case is Join ['cats','rats','bats'] with ', ' and split the result back; then split '  a  b  ' two ways. Work at the pace of the slowest note-taker and land hard on the result: The round trip is exact with a consistent separator, but the two split forms differ sharply on padded input, which is the case re… Then spend a minute on the mistake box.
Pause cue: Pause before revealing the result and ask the room to predict it.
Pointing cue: Point at the given panel, then at each numbered step, then at the result box, then at the mistake panel.
Question to ask students: Ask: if I changed one number in this case, which step would change first, and would the conclusion survive?
Animation instructions: Given panel appears, then the numbered steps reveal one at a time, then the result box fades in, then the expression panel appears on the right, then the mistake panel outlines in last.
Transition style: Cut
[Sources] VTU BEC305 Python Programming syllabus, 2025 scheme, Module 2: Data Structures: Lists, Dictionaries and Strings. TB1 as listed by the syllabus: Al Sweigart, Automate the Boring Stuff with Python, No Starch Press, 1st ed., 2015; Ch. 6, pp. 131-133.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idea before the formalism. Say it plainly first: rjust(), ljust() and center() pad a string to a given width with a fill character, which is how plain-text tables are aligned without a formatting library. Then add the part they are examined on - strip('abc') removes any of a, b or c from the ends — it is a character set, not a prefix. Keep the key terms visible; they are the vocabulary every later slide assumes.
Pause cue: Pause once the mechanism paragraph is fully revealed, before the takeaway appears.
Pointing cue: Point at the mechanism panel, then at each key term in turn, then at the takeaway box.
Question to ask students: Ask: in your own words, what does "rjust()" constrain here, and what would break if it did not hold?
Animation instructions: row 1 animates the three padding variants in turn with the fill dots appearing, row 2 animates the plain strip then the character-set strip with the annotation landing, then row 3 draws its two clipboard arrows.
Transition style: Fade
[Sources] VTU BEC305 Python Programming syllabus, 2025 scheme, Module 2: Data Structures: Lists, Dictionaries and Strings. TB1 as listed by the syllabus: Al Sweigart, Automate the Boring Stuff with Python, No Starch Press, 1st ed., 2015; Ch. 6, pp. 133-142.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the procedure out loud, one line at a time, and refuse to jump ahead. Start with step one - Choose a column width and pad with rjust, ljust or center - and check everyone has written it before moving on. At the cost panel, translate it: Padding never truncates: asking for a width smaller than the string returns the string unchanged.
Pause cue: Pause after step three and ask for a show of hands before continuing.
Pointing cue: Point at each numbered step as you read it, then move across to the cost panel on the right.
Question to ask students: Ask: which of these steps would you skip first if you were short of time, and exactly what would that cost you?
Animation instructions: Procedure steps reveal one at a time from the top, then the cost panel fades in on the right, then the interpretation box slides up beneath it.
Transition style: Push
[Sources] VTU BEC305 Python Programming syllabus, 2025 scheme, Module 2: Data Structures: Lists, Dictionaries and Strings. TB1 as listed by the syllabus: Al Sweigart, Automate the Boring Stuff with Python, No Starch Press, 1st ed., 2015; Ch. 6, pp. 133-142.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Do this on the board in real time rather than reading it off the slide. The case is Align a two-column table and strip a padded input, then try strip('ampS'). Work at the pace of the slowest note-taker and land hard on the result: Padding aligns columns without a library, and the last line shows strip taking a character set rather than a prefix, which remove… Then spend a minute on the mistake box.
Pause cue: Pause before revealing the result and ask the room to predict it.
Pointing cue: Point at the given panel, then at each numbered step, then at the result box, then at the mistake panel.
Question to ask students: Ask: if I changed one number in this case, which step would change first, and would the conclusion survive?
Animation instructions: Given panel appears, then the numbered steps reveal one at a time, then the result box fades in, then the expression panel appears on the right, then the mistake panel outlines in last.
Transition style: Cut
[Sources] VTU BEC305 Python Programming syllabus, 2025 scheme, Module 2: Data Structures: Lists, Dictionaries and Strings. TB1 as listed by the syllabus: Al Sweigart, Automate the Boring Stuff with Python, No Starch Press, 1st ed., 2015; Ch. 6, pp. 133-142.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Slow right down here. Read each takeaway aloud and then stop talking for a beat, because these are the sentences that should still be in their heads when they sit the SEE. Tell them explicitly that if they can reconstruct the reasoning behind any one of these lines they understand that unit, and if they can only recite it they do not.
Pause cue: Pause for three seconds after each takeaway before moving to the next.
Pointing cue: Point at each numbered takeaway in turn as you read it.
Question to ask students: Ask: choose the takeaway you trust least and tell me what you would have to check to believe it.
Animation instructions: Takeaway rows reveal one at a time from the top, each row highlighting briefly as it appears.
Transition style: Fade
[Sources] VTU BEC305 Python Programming syllabus, 2025 scheme, Module 2: Data Structures: Lists, Dictionaries and Strings, 8 hours, TB1 (Sweigart 1e) Ch. 4 Lists, Ch. 5 Dictionaries and Structuring Data, Ch. 6 Manipulating Strings, pp. 79-144. TB1: Al Sweigart, Automate the Boring Stuff with Python, No Starch Press, 1st ed., 2015. Revision consolidates all 16 unit takeaways.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Slow right down here. Read each takeaway aloud and then stop talking for a beat, because these are the sentences that should still be in their heads when they sit the SEE. Tell them explicitly that if they can reconstruct the reasoning behind any one of these lines they understand that unit, and if they can only recite it they do not.
Pause cue: Pause for three seconds after each takeaway before moving to the next.
Pointing cue: Point at each numbered takeaway in turn as you read it.
Question to ask students: Ask: choose the takeaway you trust least and tell me what you would have to check to believe it.
Animation instructions: Takeaway rows reveal one at a time from the top, each row highlighting briefly as it appears.
Transition style: Fade
[Sources] VTU BEC305 Python Programming syllabus, 2025 scheme, Module 2: Data Structures: Lists, Dictionaries and Strings, 8 hours, TB1 (Sweigart 1e) Ch. 4 Lists, Ch. 5 Dictionaries and Structuring Data, Ch. 6 Manipulating Strings, pp. 79-144. TB1: Al Sweigart, Automate the Boring Stuff with Python, No Starch Press, 1st ed., 2015. Revision consolidates all 16 unit takeaways.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Slow right down here. Read each takeaway aloud and then stop talking for a beat, because these are the sentences that should still be in their heads when they sit the SEE. Tell them explicitly that if they can reconstruct the reasoning behind any one of these lines they understand that unit, and if they can only recite it they do not.
Pause cue: Pause for three seconds after each takeaway before moving to the next.
Pointing cue: Point at each numbered takeaway in turn as you read it.
Question to ask students: Ask: choose the takeaway you trust least and tell me what you would have to check to believe it.
Animation instructions: Takeaway rows reveal one at a time from the top, each row highlighting briefly as it appears.
Transition style: Fade
[Sources] VTU BEC305 Python Programming syllabus, 2025 scheme, Module 2: Data Structures: Lists, Dictionaries and Strings, 8 hours, TB1 (Sweigart 1e) Ch. 4 Lists, Ch. 5 Dictionaries and Structuring Data, Ch. 6 Manipulating Strings, pp. 79-144. TB1: Al Sweigart, Automate the Boring Stuff with Python, No Starch Press, 1st ed., 2015. Revision consolidates all 16 unit takeaways.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Close by telling them exactly where the assessment lives and what it tests. Name the two files, say the mark split out loud, and read the Bloom spread so they understand that roughly a quarter of the paper is not recall at all. Then read the integrity line word for word, because ambiguity there costs students more than any technical error in this module.
Pause cue: Pause after the Bloom spread and before the integrity statement.
Pointing cue: Point at the quiz panel, then the assignment panel, then the integrity line at the bottom.
Question to ask students: Ask: which course outcome do you feel least ready on, and which unit would you reread tonight to fix it?
Animation instructions: Quiz panel fades in from the left, then the assignment panel from the right, then the pointers strip appears, then the integrity line fades in last.
Transition style: Fade
[Sources] VTU BEC305 Python Programming syllabus, 2025 scheme, Module 2: Data Structures: Lists, Dictionaries and Strings, 8 hours, TB1 (Sweigart 1e) Ch. 4 Lists, Ch. 5 Dictionaries and Structuring Data, Ch. 6 Manipulating Strings, pp. 79-144. TB1: Al Sweigart, Automate the Boring Stuff with Python, No Starch Press, 1st ed., 2015. Assessment counts: 20 MCQs, 13 descriptive questions, 13 assignment items.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Python Programming</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Module 2 asks: Which of the four built-in containers should hold my data, and what does choosing wrongly actually cost me?</a:t>
            </a:r>
            <a:endParaRPr lang="en-US" sz="1100" dirty="0"/>
          </a:p>
        </p:txBody>
      </p:sp>
      <p:sp>
        <p:nvSpPr>
          <p:cNvPr id="4" name="shape-1-2"/>
          <p:cNvSpPr/>
          <p:nvPr/>
        </p:nvSpPr>
        <p:spPr>
          <a:xfrm>
            <a:off x="552450" y="1266825"/>
            <a:ext cx="990600" cy="47625"/>
          </a:xfrm>
          <a:prstGeom prst="rect">
            <a:avLst/>
          </a:prstGeom>
          <a:solidFill>
            <a:srgbClr val="0F6FC6"/>
          </a:solidFill>
          <a:ln/>
        </p:spPr>
      </p:sp>
      <p:sp>
        <p:nvSpPr>
          <p:cNvPr id="5" name="shape-1-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2</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Opening</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01</a:t>
            </a:r>
            <a:endParaRPr lang="en-US" sz="900" dirty="0"/>
          </a:p>
        </p:txBody>
      </p:sp>
      <p:sp>
        <p:nvSpPr>
          <p:cNvPr id="9" name="shape-1-7"/>
          <p:cNvSpPr/>
          <p:nvPr/>
        </p:nvSpPr>
        <p:spPr>
          <a:xfrm>
            <a:off x="742950" y="1600200"/>
            <a:ext cx="5334000" cy="2038350"/>
          </a:xfrm>
          <a:prstGeom prst="rect">
            <a:avLst/>
          </a:prstGeom>
          <a:solidFill>
            <a:srgbClr val="FFFFFF"/>
          </a:solidFill>
          <a:ln w="12700">
            <a:solidFill>
              <a:srgbClr val="D7DEE8"/>
            </a:solidFill>
            <a:prstDash val="solid"/>
          </a:ln>
        </p:spPr>
      </p:sp>
      <p:sp>
        <p:nvSpPr>
          <p:cNvPr id="10" name="text"/>
          <p:cNvSpPr/>
          <p:nvPr/>
        </p:nvSpPr>
        <p:spPr>
          <a:xfrm>
            <a:off x="933450" y="1771650"/>
            <a:ext cx="4953000" cy="17145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MODULE 2</a:t>
            </a:r>
            <a:endParaRPr lang="en-US" sz="1100" dirty="0"/>
          </a:p>
          <a:p>
            <a:pPr algn="l" indent="0" marL="0">
              <a:lnSpc>
                <a:spcPct val="105000"/>
              </a:lnSpc>
              <a:buNone/>
            </a:pPr>
            <a:r>
              <a:rPr lang="en-US" sz="2600" b="1" dirty="0">
                <a:solidFill>
                  <a:srgbClr val="12203A"/>
                </a:solidFill>
                <a:latin typeface="Segoe UI" pitchFamily="34" charset="0"/>
                <a:ea typeface="Segoe UI" pitchFamily="34" charset="-122"/>
                <a:cs typeface="Segoe UI" pitchFamily="34" charset="-120"/>
              </a:rPr>
              <a:t>Data Structures: Lists, Dictionaries and Strings</a:t>
            </a:r>
            <a:endParaRPr lang="en-US" sz="1100" dirty="0"/>
          </a:p>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8 contact hours  |  16 teaching units  |  56 slides</a:t>
            </a:r>
            <a:endParaRPr lang="en-US" sz="1100" dirty="0"/>
          </a:p>
        </p:txBody>
      </p:sp>
      <p:sp>
        <p:nvSpPr>
          <p:cNvPr id="11" name="shape-1-9"/>
          <p:cNvSpPr/>
          <p:nvPr/>
        </p:nvSpPr>
        <p:spPr>
          <a:xfrm>
            <a:off x="6572250" y="1600200"/>
            <a:ext cx="4762500" cy="2038350"/>
          </a:xfrm>
          <a:prstGeom prst="rect">
            <a:avLst/>
          </a:prstGeom>
          <a:solidFill>
            <a:srgbClr val="F1F5FA"/>
          </a:solidFill>
          <a:ln w="12700">
            <a:solidFill>
              <a:srgbClr val="D7DEE8"/>
            </a:solidFill>
            <a:prstDash val="solid"/>
          </a:ln>
        </p:spPr>
      </p:sp>
      <p:sp>
        <p:nvSpPr>
          <p:cNvPr id="12" name="text"/>
          <p:cNvSpPr/>
          <p:nvPr/>
        </p:nvSpPr>
        <p:spPr>
          <a:xfrm>
            <a:off x="6781800" y="1771650"/>
            <a:ext cx="4343400" cy="17145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PRESCRIBED TEXTBOOK</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Automate the Boring Stuff with Python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Al Sweigart</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No Starch Press, 1st edition, 2015</a:t>
            </a:r>
            <a:endParaRPr lang="en-US" sz="1100" dirty="0"/>
          </a:p>
          <a:p>
            <a:pPr algn="l" indent="0" marL="0">
              <a:lnSpc>
                <a:spcPct val="105000"/>
              </a:lnSpc>
              <a:buNone/>
            </a:pPr>
            <a:r>
              <a:rPr lang="en-US" sz="1000" dirty="0">
                <a:solidFill>
                  <a:srgbClr val="5A6478"/>
                </a:solidFill>
                <a:latin typeface="Segoe UI" pitchFamily="34" charset="0"/>
                <a:ea typeface="Segoe UI" pitchFamily="34" charset="-122"/>
                <a:cs typeface="Segoe UI" pitchFamily="34" charset="-120"/>
              </a:rPr>
              <a:t>TB1 (Sweigart 1e) Ch. 4 Lists, Ch. 5 Dictionaries and Structuring Data, Ch. 6 Manipulating Strings, pp. 79-144</a:t>
            </a:r>
            <a:endParaRPr lang="en-US" sz="1100" dirty="0"/>
          </a:p>
        </p:txBody>
      </p:sp>
      <p:sp>
        <p:nvSpPr>
          <p:cNvPr id="13" name="text"/>
          <p:cNvSpPr/>
          <p:nvPr/>
        </p:nvSpPr>
        <p:spPr>
          <a:xfrm>
            <a:off x="742950" y="3810000"/>
            <a:ext cx="10572750" cy="24765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Basics &amp; Flow Control   •   Lists, Dicts &amp; Strings   •   Regex &amp; Files   •   Classes &amp; Objects   •   Web Services &amp; SQL</a:t>
            </a:r>
            <a:endParaRPr lang="en-US" sz="1100" dirty="0"/>
          </a:p>
        </p:txBody>
      </p:sp>
      <p:sp>
        <p:nvSpPr>
          <p:cNvPr id="14" name="text"/>
          <p:cNvSpPr/>
          <p:nvPr/>
        </p:nvSpPr>
        <p:spPr>
          <a:xfrm>
            <a:off x="742950" y="4133850"/>
            <a:ext cx="10572750" cy="533400"/>
          </a:xfrm>
          <a:prstGeom prst="rect">
            <a:avLst/>
          </a:prstGeom>
          <a:noFill/>
          <a:ln/>
        </p:spPr>
        <p:txBody>
          <a:bodyPr wrap="square" lIns="0" tIns="0" rIns="0" bIns="0" rtlCol="0" anchor="t">
            <a:normAutofit/>
          </a:bodyPr>
          <a:lstStyle/>
          <a:p>
            <a:pPr algn="l" indent="0" marL="0">
              <a:lnSpc>
                <a:spcPct val="105000"/>
              </a:lnSpc>
              <a:buNone/>
            </a:pPr>
            <a:r>
              <a:rPr lang="en-US" sz="1300" b="1" dirty="0">
                <a:solidFill>
                  <a:srgbClr val="12203A"/>
                </a:solidFill>
                <a:latin typeface="Segoe UI" pitchFamily="34" charset="0"/>
                <a:ea typeface="Segoe UI" pitchFamily="34" charset="-122"/>
                <a:cs typeface="Segoe UI" pitchFamily="34" charset="-120"/>
              </a:rPr>
              <a:t>Lists order by position   →   Slices copy, indexes borrow   →   Mutability changes the rules   →   Dictionaries key by meaning   →   Strings are immutable sequences</a:t>
            </a:r>
            <a:endParaRPr lang="en-US" sz="1300" dirty="0"/>
          </a:p>
        </p:txBody>
      </p:sp>
      <p:sp>
        <p:nvSpPr>
          <p:cNvPr id="15" name="text"/>
          <p:cNvSpPr/>
          <p:nvPr/>
        </p:nvSpPr>
        <p:spPr>
          <a:xfrm>
            <a:off x="742950" y="4838700"/>
            <a:ext cx="10572750" cy="209550"/>
          </a:xfrm>
          <a:prstGeom prst="rect">
            <a:avLst/>
          </a:prstGeom>
          <a:noFill/>
          <a:ln/>
        </p:spPr>
        <p:txBody>
          <a:bodyPr wrap="square" lIns="0" tIns="0" rIns="0" bIns="0" rtlCol="0" anchor="t">
            <a:normAutofit/>
          </a:bodyPr>
          <a:lstStyle/>
          <a:p>
            <a:pPr algn="l" indent="0" marL="0">
              <a:lnSpc>
                <a:spcPct val="105000"/>
              </a:lnSpc>
              <a:buNone/>
            </a:pPr>
            <a:r>
              <a:rPr lang="en-US" sz="1000" dirty="0">
                <a:solidFill>
                  <a:srgbClr val="5A6478"/>
                </a:solidFill>
                <a:latin typeface="Segoe UI" pitchFamily="34" charset="0"/>
                <a:ea typeface="Segoe UI" pitchFamily="34" charset="-122"/>
                <a:cs typeface="Segoe UI" pitchFamily="34" charset="-120"/>
              </a:rPr>
              <a:t>EC · Semester 3 · BEC305 · generated for Phase 2 conversion</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What this module is actually for</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question, five beats, and the scope it does not cover.</a:t>
            </a:r>
            <a:endParaRPr lang="en-US" sz="1100" dirty="0"/>
          </a:p>
        </p:txBody>
      </p:sp>
      <p:sp>
        <p:nvSpPr>
          <p:cNvPr id="4" name="shape-2-2"/>
          <p:cNvSpPr/>
          <p:nvPr/>
        </p:nvSpPr>
        <p:spPr>
          <a:xfrm>
            <a:off x="552450" y="1266825"/>
            <a:ext cx="990600" cy="47625"/>
          </a:xfrm>
          <a:prstGeom prst="rect">
            <a:avLst/>
          </a:prstGeom>
          <a:solidFill>
            <a:srgbClr val="0F6FC6"/>
          </a:solidFill>
          <a:ln/>
        </p:spPr>
      </p:sp>
      <p:sp>
        <p:nvSpPr>
          <p:cNvPr id="5" name="shape-2-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2</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Overview</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02</a:t>
            </a:r>
            <a:endParaRPr lang="en-US" sz="900" dirty="0"/>
          </a:p>
        </p:txBody>
      </p:sp>
      <p:sp>
        <p:nvSpPr>
          <p:cNvPr id="9" name="shape-2-7"/>
          <p:cNvSpPr/>
          <p:nvPr/>
        </p:nvSpPr>
        <p:spPr>
          <a:xfrm>
            <a:off x="552450" y="1524000"/>
            <a:ext cx="11087100" cy="800100"/>
          </a:xfrm>
          <a:prstGeom prst="rect">
            <a:avLst/>
          </a:prstGeom>
          <a:solidFill>
            <a:srgbClr val="FDF3EC"/>
          </a:solidFill>
          <a:ln w="12700">
            <a:solidFill>
              <a:srgbClr val="D7DEE8"/>
            </a:solidFill>
            <a:prstDash val="solid"/>
          </a:ln>
        </p:spPr>
      </p:sp>
      <p:sp>
        <p:nvSpPr>
          <p:cNvPr id="10" name="text"/>
          <p:cNvSpPr/>
          <p:nvPr/>
        </p:nvSpPr>
        <p:spPr>
          <a:xfrm>
            <a:off x="742950" y="1676400"/>
            <a:ext cx="10668000" cy="5905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DRIVING QUESTION</a:t>
            </a:r>
            <a:endParaRPr lang="en-US" sz="1100" dirty="0"/>
          </a:p>
          <a:p>
            <a:pPr algn="l" indent="0" marL="0">
              <a:lnSpc>
                <a:spcPct val="105000"/>
              </a:lnSpc>
              <a:buNone/>
            </a:pPr>
            <a:r>
              <a:rPr lang="en-US" sz="1300" b="1" dirty="0">
                <a:solidFill>
                  <a:srgbClr val="12203A"/>
                </a:solidFill>
                <a:latin typeface="Segoe UI" pitchFamily="34" charset="0"/>
                <a:ea typeface="Segoe UI" pitchFamily="34" charset="-122"/>
                <a:cs typeface="Segoe UI" pitchFamily="34" charset="-120"/>
              </a:rPr>
              <a:t>Which of the four built-in containers should hold my data, and what does choosing wrongly actually cost me?</a:t>
            </a:r>
            <a:endParaRPr lang="en-US" sz="1100" dirty="0"/>
          </a:p>
        </p:txBody>
      </p:sp>
      <p:sp>
        <p:nvSpPr>
          <p:cNvPr id="11" name="shape-2-9"/>
          <p:cNvSpPr/>
          <p:nvPr/>
        </p:nvSpPr>
        <p:spPr>
          <a:xfrm>
            <a:off x="552450" y="2552700"/>
            <a:ext cx="2076450" cy="1162050"/>
          </a:xfrm>
          <a:prstGeom prst="rect">
            <a:avLst/>
          </a:prstGeom>
          <a:solidFill>
            <a:srgbClr val="F1F5FA"/>
          </a:solidFill>
          <a:ln w="12700">
            <a:solidFill>
              <a:srgbClr val="D7DEE8"/>
            </a:solidFill>
            <a:prstDash val="solid"/>
          </a:ln>
        </p:spPr>
      </p:sp>
      <p:sp>
        <p:nvSpPr>
          <p:cNvPr id="12" name="text"/>
          <p:cNvSpPr/>
          <p:nvPr/>
        </p:nvSpPr>
        <p:spPr>
          <a:xfrm>
            <a:off x="704850" y="2705100"/>
            <a:ext cx="1771650" cy="9144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Lists order by position</a:t>
            </a:r>
            <a:endParaRPr lang="en-US" sz="1100" dirty="0"/>
          </a:p>
        </p:txBody>
      </p:sp>
      <p:sp>
        <p:nvSpPr>
          <p:cNvPr id="13" name="shape-2-11"/>
          <p:cNvSpPr/>
          <p:nvPr/>
        </p:nvSpPr>
        <p:spPr>
          <a:xfrm>
            <a:off x="2781300" y="2552700"/>
            <a:ext cx="2076450" cy="1162050"/>
          </a:xfrm>
          <a:prstGeom prst="rect">
            <a:avLst/>
          </a:prstGeom>
          <a:solidFill>
            <a:srgbClr val="F1F5FA"/>
          </a:solidFill>
          <a:ln w="12700">
            <a:solidFill>
              <a:srgbClr val="D7DEE8"/>
            </a:solidFill>
            <a:prstDash val="solid"/>
          </a:ln>
        </p:spPr>
      </p:sp>
      <p:sp>
        <p:nvSpPr>
          <p:cNvPr id="14" name="text"/>
          <p:cNvSpPr/>
          <p:nvPr/>
        </p:nvSpPr>
        <p:spPr>
          <a:xfrm>
            <a:off x="2933700" y="2705100"/>
            <a:ext cx="1771650" cy="9144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Slices copy, indexes borrow</a:t>
            </a:r>
            <a:endParaRPr lang="en-US" sz="1100" dirty="0"/>
          </a:p>
        </p:txBody>
      </p:sp>
      <p:sp>
        <p:nvSpPr>
          <p:cNvPr id="15" name="shape-2-13"/>
          <p:cNvSpPr/>
          <p:nvPr/>
        </p:nvSpPr>
        <p:spPr>
          <a:xfrm>
            <a:off x="5010150" y="2552700"/>
            <a:ext cx="2076450" cy="1162050"/>
          </a:xfrm>
          <a:prstGeom prst="rect">
            <a:avLst/>
          </a:prstGeom>
          <a:solidFill>
            <a:srgbClr val="F1F5FA"/>
          </a:solidFill>
          <a:ln w="12700">
            <a:solidFill>
              <a:srgbClr val="D7DEE8"/>
            </a:solidFill>
            <a:prstDash val="solid"/>
          </a:ln>
        </p:spPr>
      </p:sp>
      <p:sp>
        <p:nvSpPr>
          <p:cNvPr id="16" name="text"/>
          <p:cNvSpPr/>
          <p:nvPr/>
        </p:nvSpPr>
        <p:spPr>
          <a:xfrm>
            <a:off x="5162550" y="2705100"/>
            <a:ext cx="1771650" cy="9144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Mutability changes the rules</a:t>
            </a:r>
            <a:endParaRPr lang="en-US" sz="1100" dirty="0"/>
          </a:p>
        </p:txBody>
      </p:sp>
      <p:sp>
        <p:nvSpPr>
          <p:cNvPr id="17" name="shape-2-15"/>
          <p:cNvSpPr/>
          <p:nvPr/>
        </p:nvSpPr>
        <p:spPr>
          <a:xfrm>
            <a:off x="7239000" y="2552700"/>
            <a:ext cx="2076450" cy="1162050"/>
          </a:xfrm>
          <a:prstGeom prst="rect">
            <a:avLst/>
          </a:prstGeom>
          <a:solidFill>
            <a:srgbClr val="F1F5FA"/>
          </a:solidFill>
          <a:ln w="12700">
            <a:solidFill>
              <a:srgbClr val="D7DEE8"/>
            </a:solidFill>
            <a:prstDash val="solid"/>
          </a:ln>
        </p:spPr>
      </p:sp>
      <p:sp>
        <p:nvSpPr>
          <p:cNvPr id="18" name="text"/>
          <p:cNvSpPr/>
          <p:nvPr/>
        </p:nvSpPr>
        <p:spPr>
          <a:xfrm>
            <a:off x="7391400" y="2705100"/>
            <a:ext cx="1771650" cy="9144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Dictionaries key by meaning</a:t>
            </a:r>
            <a:endParaRPr lang="en-US" sz="1100" dirty="0"/>
          </a:p>
        </p:txBody>
      </p:sp>
      <p:sp>
        <p:nvSpPr>
          <p:cNvPr id="19" name="shape-2-17"/>
          <p:cNvSpPr/>
          <p:nvPr/>
        </p:nvSpPr>
        <p:spPr>
          <a:xfrm>
            <a:off x="9467850" y="2552700"/>
            <a:ext cx="2076450" cy="1162050"/>
          </a:xfrm>
          <a:prstGeom prst="rect">
            <a:avLst/>
          </a:prstGeom>
          <a:solidFill>
            <a:srgbClr val="F1F5FA"/>
          </a:solidFill>
          <a:ln w="12700">
            <a:solidFill>
              <a:srgbClr val="D7DEE8"/>
            </a:solidFill>
            <a:prstDash val="solid"/>
          </a:ln>
        </p:spPr>
      </p:sp>
      <p:sp>
        <p:nvSpPr>
          <p:cNvPr id="20" name="text"/>
          <p:cNvSpPr/>
          <p:nvPr/>
        </p:nvSpPr>
        <p:spPr>
          <a:xfrm>
            <a:off x="9620250" y="2705100"/>
            <a:ext cx="1771650" cy="9144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Strings are immutable sequences</a:t>
            </a:r>
            <a:endParaRPr lang="en-US" sz="1100" dirty="0"/>
          </a:p>
        </p:txBody>
      </p:sp>
      <p:sp>
        <p:nvSpPr>
          <p:cNvPr id="21" name="text"/>
          <p:cNvSpPr/>
          <p:nvPr/>
        </p:nvSpPr>
        <p:spPr>
          <a:xfrm>
            <a:off x="552450" y="3867150"/>
            <a:ext cx="11087100" cy="12954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SCOPE AND PROVENANCE</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Built from TB1 Chapters 4-6, which the syllabus names for this module. The spine is the mutable-versus-immutable distinction, introduced early and then used to explain every later surprise: why a list passed to a function can be changed by it, why a tuple cannot, why copy.deepcopy exists, and why every string method returns a new string rather than editing in place. Dictionaries are presented as the answer to "look it up by meaning rather than position", with get() and setdefault() as the two methods that remove most KeyError handling.</a:t>
            </a:r>
            <a:endParaRPr lang="en-US" sz="1100" dirty="0"/>
          </a:p>
        </p:txBody>
      </p:sp>
      <p:sp>
        <p:nvSpPr>
          <p:cNvPr id="22" name="text"/>
          <p:cNvSpPr/>
          <p:nvPr/>
        </p:nvSpPr>
        <p:spPr>
          <a:xfrm>
            <a:off x="552450" y="5257800"/>
            <a:ext cx="5715000" cy="209550"/>
          </a:xfrm>
          <a:prstGeom prst="rect">
            <a:avLst/>
          </a:prstGeom>
          <a:noFill/>
          <a:ln/>
        </p:spPr>
        <p:txBody>
          <a:bodyPr wrap="square" lIns="0" tIns="0" rIns="0" bIns="0" rtlCol="0" anchor="t">
            <a:normAutofit/>
          </a:bodyPr>
          <a:lstStyle/>
          <a:p>
            <a:pPr algn="l" indent="0" marL="0">
              <a:lnSpc>
                <a:spcPct val="105000"/>
              </a:lnSpc>
              <a:buNone/>
            </a:pPr>
            <a:r>
              <a:rPr lang="en-US" sz="1000" dirty="0">
                <a:solidFill>
                  <a:srgbClr val="5A6478"/>
                </a:solidFill>
                <a:latin typeface="Segoe UI" pitchFamily="34" charset="0"/>
                <a:ea typeface="Segoe UI" pitchFamily="34" charset="-122"/>
                <a:cs typeface="Segoe UI" pitchFamily="34" charset="-120"/>
              </a:rPr>
              <a:t>Course outcomes exercised: CO2</a:t>
            </a:r>
            <a:endParaRPr lang="en-US" sz="1000" dirty="0"/>
          </a:p>
        </p:txBody>
      </p:sp>
      <p:sp>
        <p:nvSpPr>
          <p:cNvPr id="23" name="text"/>
          <p:cNvSpPr/>
          <p:nvPr/>
        </p:nvSpPr>
        <p:spPr>
          <a:xfrm>
            <a:off x="6286500" y="5257800"/>
            <a:ext cx="5353050" cy="209550"/>
          </a:xfrm>
          <a:prstGeom prst="rect">
            <a:avLst/>
          </a:prstGeom>
          <a:noFill/>
          <a:ln/>
        </p:spPr>
        <p:txBody>
          <a:bodyPr wrap="square" lIns="0" tIns="0" rIns="0" bIns="0" rtlCol="0" anchor="t">
            <a:normAutofit/>
          </a:bodyPr>
          <a:lstStyle/>
          <a:p>
            <a:pPr algn="r" indent="0" marL="0">
              <a:lnSpc>
                <a:spcPct val="105000"/>
              </a:lnSpc>
              <a:buNone/>
            </a:pPr>
            <a:r>
              <a:rPr lang="en-US" sz="1000" dirty="0">
                <a:solidFill>
                  <a:srgbClr val="5A6478"/>
                </a:solidFill>
                <a:latin typeface="Segoe UI" pitchFamily="34" charset="0"/>
                <a:ea typeface="Segoe UI" pitchFamily="34" charset="-122"/>
                <a:cs typeface="Segoe UI" pitchFamily="34" charset="-120"/>
              </a:rPr>
              <a:t>Assessment: 20 MCQs + 13 descriptive questions + 13 assignment items</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Every unit against its chapter and pages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Units 1-9 of 16, with the deck slides that teach each one.</a:t>
            </a:r>
            <a:endParaRPr lang="en-US" sz="1100" dirty="0"/>
          </a:p>
        </p:txBody>
      </p:sp>
      <p:sp>
        <p:nvSpPr>
          <p:cNvPr id="4" name="shape-3-2"/>
          <p:cNvSpPr/>
          <p:nvPr/>
        </p:nvSpPr>
        <p:spPr>
          <a:xfrm>
            <a:off x="552450" y="1266825"/>
            <a:ext cx="990600" cy="47625"/>
          </a:xfrm>
          <a:prstGeom prst="rect">
            <a:avLst/>
          </a:prstGeom>
          <a:solidFill>
            <a:srgbClr val="0F6FC6"/>
          </a:solidFill>
          <a:ln/>
        </p:spPr>
      </p:sp>
      <p:sp>
        <p:nvSpPr>
          <p:cNvPr id="5" name="shape-3-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2</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Syllabus mapping</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03</a:t>
            </a:r>
            <a:endParaRPr lang="en-US" sz="900" dirty="0"/>
          </a:p>
        </p:txBody>
      </p:sp>
      <p:sp>
        <p:nvSpPr>
          <p:cNvPr id="9" name="shape-3-7"/>
          <p:cNvSpPr/>
          <p:nvPr/>
        </p:nvSpPr>
        <p:spPr>
          <a:xfrm>
            <a:off x="552450" y="1543050"/>
            <a:ext cx="11087100" cy="285750"/>
          </a:xfrm>
          <a:prstGeom prst="rect">
            <a:avLst/>
          </a:prstGeom>
          <a:solidFill>
            <a:srgbClr val="F1F5FA"/>
          </a:solidFill>
          <a:ln/>
        </p:spPr>
      </p:sp>
      <p:sp>
        <p:nvSpPr>
          <p:cNvPr id="10" name="text"/>
          <p:cNvSpPr/>
          <p:nvPr/>
        </p:nvSpPr>
        <p:spPr>
          <a:xfrm>
            <a:off x="685800" y="1600200"/>
            <a:ext cx="10858500" cy="2095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Consolas" pitchFamily="34" charset="0"/>
                <a:ea typeface="Consolas" pitchFamily="34" charset="-122"/>
                <a:cs typeface="Consolas" pitchFamily="34" charset="-120"/>
              </a:rPr>
              <a:t>#  —  Teaching unit  —  Book chapter and pages  —  Deck slides  —  CO / Bloom</a:t>
            </a:r>
            <a:endParaRPr lang="en-US" sz="1000" dirty="0"/>
          </a:p>
        </p:txBody>
      </p:sp>
      <p:sp>
        <p:nvSpPr>
          <p:cNvPr id="11" name="text"/>
          <p:cNvSpPr/>
          <p:nvPr/>
        </p:nvSpPr>
        <p:spPr>
          <a:xfrm>
            <a:off x="685800" y="1905000"/>
            <a:ext cx="1085850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01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The list data type and indexing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Ch. 4, pp. 80-82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slides 5, 6, 7  —  CO2 / L2</a:t>
            </a:r>
            <a:endParaRPr lang="en-US" sz="1100" dirty="0"/>
          </a:p>
        </p:txBody>
      </p:sp>
      <p:sp>
        <p:nvSpPr>
          <p:cNvPr id="12" name="shape-3-10"/>
          <p:cNvSpPr/>
          <p:nvPr/>
        </p:nvSpPr>
        <p:spPr>
          <a:xfrm>
            <a:off x="552450" y="2343150"/>
            <a:ext cx="11087100" cy="438150"/>
          </a:xfrm>
          <a:prstGeom prst="rect">
            <a:avLst/>
          </a:prstGeom>
          <a:solidFill>
            <a:srgbClr val="F1F5FA"/>
          </a:solidFill>
          <a:ln/>
        </p:spPr>
      </p:sp>
      <p:sp>
        <p:nvSpPr>
          <p:cNvPr id="13" name="text"/>
          <p:cNvSpPr/>
          <p:nvPr/>
        </p:nvSpPr>
        <p:spPr>
          <a:xfrm>
            <a:off x="685800" y="2381250"/>
            <a:ext cx="1085850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02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Negative indexes and slicing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Ch. 4, pp. 82-83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slides 8, 9, 10  —  CO2 / L3</a:t>
            </a:r>
            <a:endParaRPr lang="en-US" sz="1100" dirty="0"/>
          </a:p>
        </p:txBody>
      </p:sp>
      <p:sp>
        <p:nvSpPr>
          <p:cNvPr id="14" name="text"/>
          <p:cNvSpPr/>
          <p:nvPr/>
        </p:nvSpPr>
        <p:spPr>
          <a:xfrm>
            <a:off x="685800" y="2857500"/>
            <a:ext cx="1085850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03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Changing lists: len(), assignment by index, concatenation and del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Ch. 4, pp. 83-84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slides 11, 12, 13  —  CO2 / L3</a:t>
            </a:r>
            <a:endParaRPr lang="en-US" sz="1100" dirty="0"/>
          </a:p>
        </p:txBody>
      </p:sp>
      <p:sp>
        <p:nvSpPr>
          <p:cNvPr id="15" name="shape-3-13"/>
          <p:cNvSpPr/>
          <p:nvPr/>
        </p:nvSpPr>
        <p:spPr>
          <a:xfrm>
            <a:off x="552450" y="3295650"/>
            <a:ext cx="11087100" cy="438150"/>
          </a:xfrm>
          <a:prstGeom prst="rect">
            <a:avLst/>
          </a:prstGeom>
          <a:solidFill>
            <a:srgbClr val="F1F5FA"/>
          </a:solidFill>
          <a:ln/>
        </p:spPr>
      </p:sp>
      <p:sp>
        <p:nvSpPr>
          <p:cNvPr id="16" name="text"/>
          <p:cNvSpPr/>
          <p:nvPr/>
        </p:nvSpPr>
        <p:spPr>
          <a:xfrm>
            <a:off x="685800" y="3333750"/>
            <a:ext cx="1085850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04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Working with lists: for loops, in and not in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Ch. 4, pp. 84-87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slides 14, 15, 16  —  CO2 / L3</a:t>
            </a:r>
            <a:endParaRPr lang="en-US" sz="1100" dirty="0"/>
          </a:p>
        </p:txBody>
      </p:sp>
      <p:sp>
        <p:nvSpPr>
          <p:cNvPr id="17" name="text"/>
          <p:cNvSpPr/>
          <p:nvPr/>
        </p:nvSpPr>
        <p:spPr>
          <a:xfrm>
            <a:off x="685800" y="3810000"/>
            <a:ext cx="1085850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05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Multiple assignment and augmented assignment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Ch. 4, pp. 87-89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slides 17, 18, 19  —  CO2 / L4</a:t>
            </a:r>
            <a:endParaRPr lang="en-US" sz="1100" dirty="0"/>
          </a:p>
        </p:txBody>
      </p:sp>
      <p:sp>
        <p:nvSpPr>
          <p:cNvPr id="18" name="shape-3-16"/>
          <p:cNvSpPr/>
          <p:nvPr/>
        </p:nvSpPr>
        <p:spPr>
          <a:xfrm>
            <a:off x="552450" y="4248150"/>
            <a:ext cx="11087100" cy="438150"/>
          </a:xfrm>
          <a:prstGeom prst="rect">
            <a:avLst/>
          </a:prstGeom>
          <a:solidFill>
            <a:srgbClr val="F1F5FA"/>
          </a:solidFill>
          <a:ln/>
        </p:spPr>
      </p:sp>
      <p:sp>
        <p:nvSpPr>
          <p:cNvPr id="19" name="text"/>
          <p:cNvSpPr/>
          <p:nvPr/>
        </p:nvSpPr>
        <p:spPr>
          <a:xfrm>
            <a:off x="685800" y="4286250"/>
            <a:ext cx="1085850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06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List methods: index, append, insert, remove and sort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Ch. 4, pp. 89-92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slides 20, 21, 22  —  CO2 / L3</a:t>
            </a:r>
            <a:endParaRPr lang="en-US" sz="1100" dirty="0"/>
          </a:p>
        </p:txBody>
      </p:sp>
      <p:sp>
        <p:nvSpPr>
          <p:cNvPr id="20" name="text"/>
          <p:cNvSpPr/>
          <p:nvPr/>
        </p:nvSpPr>
        <p:spPr>
          <a:xfrm>
            <a:off x="685800" y="4762500"/>
            <a:ext cx="1085850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07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Mutable and immutable types, and the tuple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Ch. 4, pp. 93-97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slides 23, 24, 25  —  CO2 / L3</a:t>
            </a:r>
            <a:endParaRPr lang="en-US" sz="1100" dirty="0"/>
          </a:p>
        </p:txBody>
      </p:sp>
      <p:sp>
        <p:nvSpPr>
          <p:cNvPr id="21" name="shape-3-19"/>
          <p:cNvSpPr/>
          <p:nvPr/>
        </p:nvSpPr>
        <p:spPr>
          <a:xfrm>
            <a:off x="552450" y="5200650"/>
            <a:ext cx="11087100" cy="438150"/>
          </a:xfrm>
          <a:prstGeom prst="rect">
            <a:avLst/>
          </a:prstGeom>
          <a:solidFill>
            <a:srgbClr val="F1F5FA"/>
          </a:solidFill>
          <a:ln/>
        </p:spPr>
      </p:sp>
      <p:sp>
        <p:nvSpPr>
          <p:cNvPr id="22" name="text"/>
          <p:cNvSpPr/>
          <p:nvPr/>
        </p:nvSpPr>
        <p:spPr>
          <a:xfrm>
            <a:off x="685800" y="5238750"/>
            <a:ext cx="1085850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08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References, copy() and deepcopy()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Ch. 4, pp. 97-102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slides 26, 27, 28  —  CO2 / L4</a:t>
            </a:r>
            <a:endParaRPr lang="en-US" sz="1100" dirty="0"/>
          </a:p>
        </p:txBody>
      </p:sp>
      <p:sp>
        <p:nvSpPr>
          <p:cNvPr id="23" name="text"/>
          <p:cNvSpPr/>
          <p:nvPr/>
        </p:nvSpPr>
        <p:spPr>
          <a:xfrm>
            <a:off x="685800" y="5715000"/>
            <a:ext cx="1085850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09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The dictionary data type, and dictionaries versus lists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Ch. 5, pp. 105-109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slides 29, 30, 31  —  CO2 / L3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Syllabus mapping, continued</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Units 10-16 of 16, with the deck slides that teach each one.</a:t>
            </a:r>
            <a:endParaRPr lang="en-US" sz="1100" dirty="0"/>
          </a:p>
        </p:txBody>
      </p:sp>
      <p:sp>
        <p:nvSpPr>
          <p:cNvPr id="4" name="shape-4-2"/>
          <p:cNvSpPr/>
          <p:nvPr/>
        </p:nvSpPr>
        <p:spPr>
          <a:xfrm>
            <a:off x="552450" y="1266825"/>
            <a:ext cx="990600" cy="47625"/>
          </a:xfrm>
          <a:prstGeom prst="rect">
            <a:avLst/>
          </a:prstGeom>
          <a:solidFill>
            <a:srgbClr val="0F6FC6"/>
          </a:solidFill>
          <a:ln/>
        </p:spPr>
      </p:sp>
      <p:sp>
        <p:nvSpPr>
          <p:cNvPr id="5" name="shape-4-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2</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Syllabus mapping</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04</a:t>
            </a:r>
            <a:endParaRPr lang="en-US" sz="900" dirty="0"/>
          </a:p>
        </p:txBody>
      </p:sp>
      <p:sp>
        <p:nvSpPr>
          <p:cNvPr id="9" name="shape-4-7"/>
          <p:cNvSpPr/>
          <p:nvPr/>
        </p:nvSpPr>
        <p:spPr>
          <a:xfrm>
            <a:off x="552450" y="1543050"/>
            <a:ext cx="11087100" cy="285750"/>
          </a:xfrm>
          <a:prstGeom prst="rect">
            <a:avLst/>
          </a:prstGeom>
          <a:solidFill>
            <a:srgbClr val="F1F5FA"/>
          </a:solidFill>
          <a:ln/>
        </p:spPr>
      </p:sp>
      <p:sp>
        <p:nvSpPr>
          <p:cNvPr id="10" name="text"/>
          <p:cNvSpPr/>
          <p:nvPr/>
        </p:nvSpPr>
        <p:spPr>
          <a:xfrm>
            <a:off x="685800" y="1600200"/>
            <a:ext cx="10858500" cy="2095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Consolas" pitchFamily="34" charset="0"/>
                <a:ea typeface="Consolas" pitchFamily="34" charset="-122"/>
                <a:cs typeface="Consolas" pitchFamily="34" charset="-120"/>
              </a:rPr>
              <a:t>#  —  Teaching unit  —  Book chapter and pages  —  Deck slides  —  CO / Bloom</a:t>
            </a:r>
            <a:endParaRPr lang="en-US" sz="1000" dirty="0"/>
          </a:p>
        </p:txBody>
      </p:sp>
      <p:sp>
        <p:nvSpPr>
          <p:cNvPr id="11" name="text"/>
          <p:cNvSpPr/>
          <p:nvPr/>
        </p:nvSpPr>
        <p:spPr>
          <a:xfrm>
            <a:off x="685800" y="1905000"/>
            <a:ext cx="1085850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10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get(), setdefault() and checking for keys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Ch. 5, pp. 109-111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slides 32, 33, 34  —  CO2 / L4</a:t>
            </a:r>
            <a:endParaRPr lang="en-US" sz="1100" dirty="0"/>
          </a:p>
        </p:txBody>
      </p:sp>
      <p:sp>
        <p:nvSpPr>
          <p:cNvPr id="12" name="shape-4-10"/>
          <p:cNvSpPr/>
          <p:nvPr/>
        </p:nvSpPr>
        <p:spPr>
          <a:xfrm>
            <a:off x="552450" y="2343150"/>
            <a:ext cx="11087100" cy="438150"/>
          </a:xfrm>
          <a:prstGeom prst="rect">
            <a:avLst/>
          </a:prstGeom>
          <a:solidFill>
            <a:srgbClr val="F1F5FA"/>
          </a:solidFill>
          <a:ln/>
        </p:spPr>
      </p:sp>
      <p:sp>
        <p:nvSpPr>
          <p:cNvPr id="13" name="text"/>
          <p:cNvSpPr/>
          <p:nvPr/>
        </p:nvSpPr>
        <p:spPr>
          <a:xfrm>
            <a:off x="685800" y="2381250"/>
            <a:ext cx="1085850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Pretty printing and modelling real-world things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Ch. 5, pp. 111-113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slides 35, 36, 37  —  CO2 / L4</a:t>
            </a:r>
            <a:endParaRPr lang="en-US" sz="1100" dirty="0"/>
          </a:p>
        </p:txBody>
      </p:sp>
      <p:sp>
        <p:nvSpPr>
          <p:cNvPr id="14" name="text"/>
          <p:cNvSpPr/>
          <p:nvPr/>
        </p:nvSpPr>
        <p:spPr>
          <a:xfrm>
            <a:off x="685800" y="2857500"/>
            <a:ext cx="1085850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Nested dictionaries and lists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Ch. 5, pp. 113-119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slides 38, 39, 40  —  CO2 / L4</a:t>
            </a:r>
            <a:endParaRPr lang="en-US" sz="1100" dirty="0"/>
          </a:p>
        </p:txBody>
      </p:sp>
      <p:sp>
        <p:nvSpPr>
          <p:cNvPr id="15" name="shape-4-13"/>
          <p:cNvSpPr/>
          <p:nvPr/>
        </p:nvSpPr>
        <p:spPr>
          <a:xfrm>
            <a:off x="552450" y="3295650"/>
            <a:ext cx="11087100" cy="438150"/>
          </a:xfrm>
          <a:prstGeom prst="rect">
            <a:avLst/>
          </a:prstGeom>
          <a:solidFill>
            <a:srgbClr val="F1F5FA"/>
          </a:solidFill>
          <a:ln/>
        </p:spPr>
      </p:sp>
      <p:sp>
        <p:nvSpPr>
          <p:cNvPr id="16" name="text"/>
          <p:cNvSpPr/>
          <p:nvPr/>
        </p:nvSpPr>
        <p:spPr>
          <a:xfrm>
            <a:off x="685800" y="3333750"/>
            <a:ext cx="1085850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Working with strings: literals, indexing and slicing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Ch. 6, pp. 123-127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slides 41, 42, 43  —  CO2 / L3</a:t>
            </a:r>
            <a:endParaRPr lang="en-US" sz="1100" dirty="0"/>
          </a:p>
        </p:txBody>
      </p:sp>
      <p:sp>
        <p:nvSpPr>
          <p:cNvPr id="17" name="text"/>
          <p:cNvSpPr/>
          <p:nvPr/>
        </p:nvSpPr>
        <p:spPr>
          <a:xfrm>
            <a:off x="685800" y="3810000"/>
            <a:ext cx="1085850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Case methods and the isX methods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Ch. 6, pp. 127-131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slides 44, 45, 46  —  CO2 / L3</a:t>
            </a:r>
            <a:endParaRPr lang="en-US" sz="1100" dirty="0"/>
          </a:p>
        </p:txBody>
      </p:sp>
      <p:sp>
        <p:nvSpPr>
          <p:cNvPr id="18" name="shape-4-16"/>
          <p:cNvSpPr/>
          <p:nvPr/>
        </p:nvSpPr>
        <p:spPr>
          <a:xfrm>
            <a:off x="552450" y="4248150"/>
            <a:ext cx="11087100" cy="438150"/>
          </a:xfrm>
          <a:prstGeom prst="rect">
            <a:avLst/>
          </a:prstGeom>
          <a:solidFill>
            <a:srgbClr val="F1F5FA"/>
          </a:solidFill>
          <a:ln/>
        </p:spPr>
      </p:sp>
      <p:sp>
        <p:nvSpPr>
          <p:cNvPr id="19" name="text"/>
          <p:cNvSpPr/>
          <p:nvPr/>
        </p:nvSpPr>
        <p:spPr>
          <a:xfrm>
            <a:off x="685800" y="4286250"/>
            <a:ext cx="1085850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startswith, endswith, join and split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Ch. 6, pp. 131-133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slides 47, 48, 49  —  CO2 / L3</a:t>
            </a:r>
            <a:endParaRPr lang="en-US" sz="1100" dirty="0"/>
          </a:p>
        </p:txBody>
      </p:sp>
      <p:sp>
        <p:nvSpPr>
          <p:cNvPr id="20" name="text"/>
          <p:cNvSpPr/>
          <p:nvPr/>
        </p:nvSpPr>
        <p:spPr>
          <a:xfrm>
            <a:off x="685800" y="4762500"/>
            <a:ext cx="1085850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16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Justifying and stripping text, and the clipboard with pyperclip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Ch. 6, pp. 133-142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slides 50, 51, 52  —  CO2 / L4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The list data type and indexing</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What it is, why it works, and what it costs.</a:t>
            </a:r>
            <a:endParaRPr lang="en-US" sz="1100" dirty="0"/>
          </a:p>
        </p:txBody>
      </p:sp>
      <p:sp>
        <p:nvSpPr>
          <p:cNvPr id="4" name="shape-5-2"/>
          <p:cNvSpPr/>
          <p:nvPr/>
        </p:nvSpPr>
        <p:spPr>
          <a:xfrm>
            <a:off x="552450" y="1266825"/>
            <a:ext cx="990600" cy="47625"/>
          </a:xfrm>
          <a:prstGeom prst="rect">
            <a:avLst/>
          </a:prstGeom>
          <a:solidFill>
            <a:srgbClr val="0F6FC6"/>
          </a:solidFill>
          <a:ln/>
        </p:spPr>
      </p:sp>
      <p:sp>
        <p:nvSpPr>
          <p:cNvPr id="5" name="shape-5-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2</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The list data type and indexing</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05</a:t>
            </a:r>
            <a:endParaRPr lang="en-US" sz="900" dirty="0"/>
          </a:p>
        </p:txBody>
      </p:sp>
      <p:sp>
        <p:nvSpPr>
          <p:cNvPr id="9" name="shape-5-7"/>
          <p:cNvSpPr/>
          <p:nvPr/>
        </p:nvSpPr>
        <p:spPr>
          <a:xfrm>
            <a:off x="552450" y="1543050"/>
            <a:ext cx="7048500" cy="2914650"/>
          </a:xfrm>
          <a:prstGeom prst="rect">
            <a:avLst/>
          </a:prstGeom>
          <a:solidFill>
            <a:srgbClr val="FFFFFF"/>
          </a:solidFill>
          <a:ln w="12700">
            <a:solidFill>
              <a:srgbClr val="D7DEE8"/>
            </a:solidFill>
            <a:prstDash val="solid"/>
          </a:ln>
        </p:spPr>
      </p:sp>
      <p:sp>
        <p:nvSpPr>
          <p:cNvPr id="10" name="text"/>
          <p:cNvSpPr/>
          <p:nvPr/>
        </p:nvSpPr>
        <p:spPr>
          <a:xfrm>
            <a:off x="742950" y="1714500"/>
            <a:ext cx="6667500" cy="25908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THE MECHANISM</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A list is an ordered, mutable sequence written in square brackets, and it may hold values of mixed types including other lists. Elements are reached by index, counting from zero, so the first element of a list of four is at index 0 and the last at index 3. Indexing past the end raises an IndexError rather than returning a default, which is deliberate: a silent default would let an off-by-one error propagate into the data instead of stopping at the line that caused it. The index must be an integer, which is why a computed index from a division needs // rather than /.</a:t>
            </a:r>
            <a:endParaRPr lang="en-US" sz="1100" dirty="0"/>
          </a:p>
        </p:txBody>
      </p:sp>
      <p:sp>
        <p:nvSpPr>
          <p:cNvPr id="11" name="shape-5-9"/>
          <p:cNvSpPr/>
          <p:nvPr/>
        </p:nvSpPr>
        <p:spPr>
          <a:xfrm>
            <a:off x="7810500" y="1543050"/>
            <a:ext cx="3829050" cy="1390650"/>
          </a:xfrm>
          <a:prstGeom prst="rect">
            <a:avLst/>
          </a:prstGeom>
          <a:solidFill>
            <a:srgbClr val="F1F5FA"/>
          </a:solidFill>
          <a:ln/>
        </p:spPr>
      </p:sp>
      <p:sp>
        <p:nvSpPr>
          <p:cNvPr id="12" name="text"/>
          <p:cNvSpPr/>
          <p:nvPr/>
        </p:nvSpPr>
        <p:spPr>
          <a:xfrm>
            <a:off x="8001000" y="1695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KEY TERMS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list</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element</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index</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zero-based</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IndexError</a:t>
            </a:r>
            <a:endParaRPr lang="en-US" sz="1100" dirty="0"/>
          </a:p>
        </p:txBody>
      </p:sp>
      <p:sp>
        <p:nvSpPr>
          <p:cNvPr id="13" name="shape-5-11"/>
          <p:cNvSpPr/>
          <p:nvPr/>
        </p:nvSpPr>
        <p:spPr>
          <a:xfrm>
            <a:off x="7810500" y="3067050"/>
            <a:ext cx="3829050" cy="1390650"/>
          </a:xfrm>
          <a:prstGeom prst="rect">
            <a:avLst/>
          </a:prstGeom>
          <a:solidFill>
            <a:srgbClr val="FDF3EC"/>
          </a:solidFill>
          <a:ln/>
        </p:spPr>
      </p:sp>
      <p:sp>
        <p:nvSpPr>
          <p:cNvPr id="14" name="text"/>
          <p:cNvSpPr/>
          <p:nvPr/>
        </p:nvSpPr>
        <p:spPr>
          <a:xfrm>
            <a:off x="8001000" y="3219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TAKEAWAY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Indexes run 0 to len-1, and Python raises rather than guesses when you step outside that range.</a:t>
            </a:r>
            <a:endParaRPr lang="en-US" sz="1100" dirty="0"/>
          </a:p>
        </p:txBody>
      </p:sp>
      <p:sp>
        <p:nvSpPr>
          <p:cNvPr id="15" name="shape-5-13"/>
          <p:cNvSpPr/>
          <p:nvPr/>
        </p:nvSpPr>
        <p:spPr>
          <a:xfrm>
            <a:off x="552450" y="4629150"/>
            <a:ext cx="11087100" cy="609600"/>
          </a:xfrm>
          <a:prstGeom prst="rect">
            <a:avLst/>
          </a:prstGeom>
          <a:solidFill>
            <a:srgbClr val="F1F5FA"/>
          </a:solidFill>
          <a:ln/>
        </p:spPr>
      </p:sp>
      <p:sp>
        <p:nvSpPr>
          <p:cNvPr id="16" name="text"/>
          <p:cNvSpPr/>
          <p:nvPr/>
        </p:nvSpPr>
        <p:spPr>
          <a:xfrm>
            <a:off x="742950" y="4724400"/>
            <a:ext cx="742950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5A6478"/>
                </a:solidFill>
                <a:latin typeface="Segoe UI" pitchFamily="34" charset="0"/>
                <a:ea typeface="Segoe UI" pitchFamily="34" charset="-122"/>
                <a:cs typeface="Segoe UI" pitchFamily="34" charset="-120"/>
              </a:rPr>
              <a:t>DIAGRAM FOR PHASE 2</a:t>
            </a:r>
            <a:endParaRPr lang="en-US" sz="1100" dirty="0"/>
          </a:p>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A horizontal row of four labelled cells containing 'cat', 'bat', 'rat', 'elephant'. Beneath each cell, a forward index 0, 1, 2, 3 in blue. A pointer labelled spam[1] drops onto the second cell which highlights…</a:t>
            </a:r>
            <a:endParaRPr lang="en-US" sz="1100" dirty="0"/>
          </a:p>
        </p:txBody>
      </p:sp>
      <p:sp>
        <p:nvSpPr>
          <p:cNvPr id="17" name="text"/>
          <p:cNvSpPr/>
          <p:nvPr/>
        </p:nvSpPr>
        <p:spPr>
          <a:xfrm>
            <a:off x="7810500" y="4705350"/>
            <a:ext cx="3657600" cy="2667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Automate the Boring Stuff with Python, 1st ed., Ch. 4, pp. 80-82</a:t>
            </a:r>
            <a:endParaRPr lang="en-US" sz="900" dirty="0"/>
          </a:p>
        </p:txBody>
      </p:sp>
      <p:sp>
        <p:nvSpPr>
          <p:cNvPr id="18" name="text"/>
          <p:cNvSpPr/>
          <p:nvPr/>
        </p:nvSpPr>
        <p:spPr>
          <a:xfrm>
            <a:off x="7810500" y="4972050"/>
            <a:ext cx="3657600" cy="20955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CO2  |  Bloom L2  |  visual id: list-index-ruler</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The list data type and indexing - how it works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The procedure in order, and what each pass costs you.</a:t>
            </a:r>
            <a:endParaRPr lang="en-US" sz="1100" dirty="0"/>
          </a:p>
        </p:txBody>
      </p:sp>
      <p:sp>
        <p:nvSpPr>
          <p:cNvPr id="4" name="shape-6-2"/>
          <p:cNvSpPr/>
          <p:nvPr/>
        </p:nvSpPr>
        <p:spPr>
          <a:xfrm>
            <a:off x="552450" y="1266825"/>
            <a:ext cx="990600" cy="47625"/>
          </a:xfrm>
          <a:prstGeom prst="rect">
            <a:avLst/>
          </a:prstGeom>
          <a:solidFill>
            <a:srgbClr val="0F6FC6"/>
          </a:solidFill>
          <a:ln/>
        </p:spPr>
      </p:sp>
      <p:sp>
        <p:nvSpPr>
          <p:cNvPr id="5" name="shape-6-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2</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The list data type and indexing</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06</a:t>
            </a:r>
            <a:endParaRPr lang="en-US" sz="900" dirty="0"/>
          </a:p>
        </p:txBody>
      </p:sp>
      <p:sp>
        <p:nvSpPr>
          <p:cNvPr id="9" name="shape-6-7"/>
          <p:cNvSpPr/>
          <p:nvPr/>
        </p:nvSpPr>
        <p:spPr>
          <a:xfrm>
            <a:off x="552450" y="1600200"/>
            <a:ext cx="7239000" cy="476250"/>
          </a:xfrm>
          <a:prstGeom prst="rect">
            <a:avLst/>
          </a:prstGeom>
          <a:solidFill>
            <a:srgbClr val="F1F5FA"/>
          </a:solidFill>
          <a:ln w="12700">
            <a:solidFill>
              <a:srgbClr val="D7DEE8"/>
            </a:solidFill>
            <a:prstDash val="solid"/>
          </a:ln>
        </p:spPr>
      </p:sp>
      <p:sp>
        <p:nvSpPr>
          <p:cNvPr id="10" name="text"/>
          <p:cNvSpPr/>
          <p:nvPr/>
        </p:nvSpPr>
        <p:spPr>
          <a:xfrm>
            <a:off x="723900" y="17145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Write the list in square brackets with commas between elements</a:t>
            </a:r>
            <a:endParaRPr lang="en-US" sz="1100" dirty="0"/>
          </a:p>
        </p:txBody>
      </p:sp>
      <p:sp>
        <p:nvSpPr>
          <p:cNvPr id="11" name="shape-6-9"/>
          <p:cNvSpPr/>
          <p:nvPr/>
        </p:nvSpPr>
        <p:spPr>
          <a:xfrm>
            <a:off x="552450" y="2152650"/>
            <a:ext cx="7239000" cy="476250"/>
          </a:xfrm>
          <a:prstGeom prst="rect">
            <a:avLst/>
          </a:prstGeom>
          <a:solidFill>
            <a:srgbClr val="FFFFFF"/>
          </a:solidFill>
          <a:ln w="12700">
            <a:solidFill>
              <a:srgbClr val="D7DEE8"/>
            </a:solidFill>
            <a:prstDash val="solid"/>
          </a:ln>
        </p:spPr>
      </p:sp>
      <p:sp>
        <p:nvSpPr>
          <p:cNvPr id="12" name="text"/>
          <p:cNvSpPr/>
          <p:nvPr/>
        </p:nvSpPr>
        <p:spPr>
          <a:xfrm>
            <a:off x="723900" y="22669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Count positions from 0, not 1</a:t>
            </a:r>
            <a:endParaRPr lang="en-US" sz="1100" dirty="0"/>
          </a:p>
        </p:txBody>
      </p:sp>
      <p:sp>
        <p:nvSpPr>
          <p:cNvPr id="13" name="shape-6-11"/>
          <p:cNvSpPr/>
          <p:nvPr/>
        </p:nvSpPr>
        <p:spPr>
          <a:xfrm>
            <a:off x="552450" y="2705100"/>
            <a:ext cx="7239000" cy="476250"/>
          </a:xfrm>
          <a:prstGeom prst="rect">
            <a:avLst/>
          </a:prstGeom>
          <a:solidFill>
            <a:srgbClr val="F1F5FA"/>
          </a:solidFill>
          <a:ln w="12700">
            <a:solidFill>
              <a:srgbClr val="D7DEE8"/>
            </a:solidFill>
            <a:prstDash val="solid"/>
          </a:ln>
        </p:spPr>
      </p:sp>
      <p:sp>
        <p:nvSpPr>
          <p:cNvPr id="14" name="text"/>
          <p:cNvSpPr/>
          <p:nvPr/>
        </p:nvSpPr>
        <p:spPr>
          <a:xfrm>
            <a:off x="723900" y="28194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Read an element with listname[index]</a:t>
            </a:r>
            <a:endParaRPr lang="en-US" sz="1100" dirty="0"/>
          </a:p>
        </p:txBody>
      </p:sp>
      <p:sp>
        <p:nvSpPr>
          <p:cNvPr id="15" name="shape-6-13"/>
          <p:cNvSpPr/>
          <p:nvPr/>
        </p:nvSpPr>
        <p:spPr>
          <a:xfrm>
            <a:off x="552450" y="3257550"/>
            <a:ext cx="7239000" cy="476250"/>
          </a:xfrm>
          <a:prstGeom prst="rect">
            <a:avLst/>
          </a:prstGeom>
          <a:solidFill>
            <a:srgbClr val="FFFFFF"/>
          </a:solidFill>
          <a:ln w="12700">
            <a:solidFill>
              <a:srgbClr val="D7DEE8"/>
            </a:solidFill>
            <a:prstDash val="solid"/>
          </a:ln>
        </p:spPr>
      </p:sp>
      <p:sp>
        <p:nvSpPr>
          <p:cNvPr id="16" name="text"/>
          <p:cNvSpPr/>
          <p:nvPr/>
        </p:nvSpPr>
        <p:spPr>
          <a:xfrm>
            <a:off x="723900" y="33718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Check len(listname) before using a computed index</a:t>
            </a:r>
            <a:endParaRPr lang="en-US" sz="1100" dirty="0"/>
          </a:p>
        </p:txBody>
      </p:sp>
      <p:sp>
        <p:nvSpPr>
          <p:cNvPr id="17" name="shape-6-15"/>
          <p:cNvSpPr/>
          <p:nvPr/>
        </p:nvSpPr>
        <p:spPr>
          <a:xfrm>
            <a:off x="552450" y="3810000"/>
            <a:ext cx="7239000" cy="476250"/>
          </a:xfrm>
          <a:prstGeom prst="rect">
            <a:avLst/>
          </a:prstGeom>
          <a:solidFill>
            <a:srgbClr val="F1F5FA"/>
          </a:solidFill>
          <a:ln w="12700">
            <a:solidFill>
              <a:srgbClr val="D7DEE8"/>
            </a:solidFill>
            <a:prstDash val="solid"/>
          </a:ln>
        </p:spPr>
      </p:sp>
      <p:sp>
        <p:nvSpPr>
          <p:cNvPr id="18" name="text"/>
          <p:cNvSpPr/>
          <p:nvPr/>
        </p:nvSpPr>
        <p:spPr>
          <a:xfrm>
            <a:off x="723900" y="39243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Use // when the index comes from a division</a:t>
            </a:r>
            <a:endParaRPr lang="en-US" sz="1100" dirty="0"/>
          </a:p>
        </p:txBody>
      </p:sp>
      <p:sp>
        <p:nvSpPr>
          <p:cNvPr id="19" name="shape-6-17"/>
          <p:cNvSpPr/>
          <p:nvPr/>
        </p:nvSpPr>
        <p:spPr>
          <a:xfrm>
            <a:off x="552450" y="4362450"/>
            <a:ext cx="7239000" cy="476250"/>
          </a:xfrm>
          <a:prstGeom prst="rect">
            <a:avLst/>
          </a:prstGeom>
          <a:solidFill>
            <a:srgbClr val="FFFFFF"/>
          </a:solidFill>
          <a:ln w="12700">
            <a:solidFill>
              <a:srgbClr val="D7DEE8"/>
            </a:solidFill>
            <a:prstDash val="solid"/>
          </a:ln>
        </p:spPr>
      </p:sp>
      <p:sp>
        <p:nvSpPr>
          <p:cNvPr id="20" name="text"/>
          <p:cNvSpPr/>
          <p:nvPr/>
        </p:nvSpPr>
        <p:spPr>
          <a:xfrm>
            <a:off x="723900" y="44767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6.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Read an IndexError as "that position does not exist"</a:t>
            </a:r>
            <a:endParaRPr lang="en-US" sz="1100" dirty="0"/>
          </a:p>
        </p:txBody>
      </p:sp>
      <p:sp>
        <p:nvSpPr>
          <p:cNvPr id="21" name="shape-6-19"/>
          <p:cNvSpPr/>
          <p:nvPr/>
        </p:nvSpPr>
        <p:spPr>
          <a:xfrm>
            <a:off x="8020050" y="1543050"/>
            <a:ext cx="3619500" cy="2247900"/>
          </a:xfrm>
          <a:prstGeom prst="rect">
            <a:avLst/>
          </a:prstGeom>
          <a:solidFill>
            <a:srgbClr val="F1F5FA"/>
          </a:solidFill>
          <a:ln/>
        </p:spPr>
      </p:sp>
      <p:sp>
        <p:nvSpPr>
          <p:cNvPr id="22" name="text"/>
          <p:cNvSpPr/>
          <p:nvPr/>
        </p:nvSpPr>
        <p:spPr>
          <a:xfrm>
            <a:off x="8210550" y="1695450"/>
            <a:ext cx="3257550" cy="19621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COST AND BEHAVIOUR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Best: O(1) to read any element by index</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Typical: O(1) indexing regardless of list length</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Worst: O(1); the cost of a wrong index is an exception, not a slow search</a:t>
            </a:r>
            <a:endParaRPr lang="en-US" sz="1100" dirty="0"/>
          </a:p>
        </p:txBody>
      </p:sp>
      <p:sp>
        <p:nvSpPr>
          <p:cNvPr id="23" name="shape-6-21"/>
          <p:cNvSpPr/>
          <p:nvPr/>
        </p:nvSpPr>
        <p:spPr>
          <a:xfrm>
            <a:off x="8020050" y="3943350"/>
            <a:ext cx="3619500" cy="1257300"/>
          </a:xfrm>
          <a:prstGeom prst="rect">
            <a:avLst/>
          </a:prstGeom>
          <a:solidFill>
            <a:srgbClr val="FDF3EC"/>
          </a:solidFill>
          <a:ln/>
        </p:spPr>
      </p:sp>
      <p:sp>
        <p:nvSpPr>
          <p:cNvPr id="24" name="text"/>
          <p:cNvSpPr/>
          <p:nvPr/>
        </p:nvSpPr>
        <p:spPr>
          <a:xfrm>
            <a:off x="8210550" y="4076700"/>
            <a:ext cx="3257550" cy="10096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WHAT THAT MEANS</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Indexing is constant time because a Python list stores an array of references, not a linked chain.</a:t>
            </a:r>
            <a:endParaRPr lang="en-US" sz="1100" dirty="0"/>
          </a:p>
        </p:txBody>
      </p:sp>
      <p:sp>
        <p:nvSpPr>
          <p:cNvPr id="25"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Automate the Boring Stuff with Python, 1st ed., Ch. 4, pp. 80-82   |   CO2  |  Bloom L2</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The list data type and indexing - worked example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concrete case, carried all the way to a stated number.</a:t>
            </a:r>
            <a:endParaRPr lang="en-US" sz="1100" dirty="0"/>
          </a:p>
        </p:txBody>
      </p:sp>
      <p:sp>
        <p:nvSpPr>
          <p:cNvPr id="4" name="shape-7-2"/>
          <p:cNvSpPr/>
          <p:nvPr/>
        </p:nvSpPr>
        <p:spPr>
          <a:xfrm>
            <a:off x="552450" y="1266825"/>
            <a:ext cx="990600" cy="47625"/>
          </a:xfrm>
          <a:prstGeom prst="rect">
            <a:avLst/>
          </a:prstGeom>
          <a:solidFill>
            <a:srgbClr val="0F6FC6"/>
          </a:solidFill>
          <a:ln/>
        </p:spPr>
      </p:sp>
      <p:sp>
        <p:nvSpPr>
          <p:cNvPr id="5" name="shape-7-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2</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The list data type and indexing</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07</a:t>
            </a:r>
            <a:endParaRPr lang="en-US" sz="900" dirty="0"/>
          </a:p>
        </p:txBody>
      </p:sp>
      <p:sp>
        <p:nvSpPr>
          <p:cNvPr id="9" name="shape-7-7"/>
          <p:cNvSpPr/>
          <p:nvPr/>
        </p:nvSpPr>
        <p:spPr>
          <a:xfrm>
            <a:off x="552450" y="1543050"/>
            <a:ext cx="7048500" cy="590550"/>
          </a:xfrm>
          <a:prstGeom prst="rect">
            <a:avLst/>
          </a:prstGeom>
          <a:solidFill>
            <a:srgbClr val="F1F5FA"/>
          </a:solidFill>
          <a:ln/>
        </p:spPr>
      </p:sp>
      <p:sp>
        <p:nvSpPr>
          <p:cNvPr id="10" name="text"/>
          <p:cNvSpPr/>
          <p:nvPr/>
        </p:nvSpPr>
        <p:spPr>
          <a:xfrm>
            <a:off x="723900" y="1657350"/>
            <a:ext cx="6724650" cy="4191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GIVEN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spam = ['cat', 'bat', 'rat', 'elephant']; evaluate spam[0], spam[3] and spam[4].</a:t>
            </a:r>
            <a:endParaRPr lang="en-US" sz="1100" dirty="0"/>
          </a:p>
        </p:txBody>
      </p:sp>
      <p:sp>
        <p:nvSpPr>
          <p:cNvPr id="11" name="text"/>
          <p:cNvSpPr/>
          <p:nvPr/>
        </p:nvSpPr>
        <p:spPr>
          <a:xfrm>
            <a:off x="723900" y="22669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spam[0] is 'cat' — the first element sits at index 0</a:t>
            </a:r>
            <a:endParaRPr lang="en-US" sz="1100" dirty="0"/>
          </a:p>
        </p:txBody>
      </p:sp>
      <p:sp>
        <p:nvSpPr>
          <p:cNvPr id="12" name="text"/>
          <p:cNvSpPr/>
          <p:nvPr/>
        </p:nvSpPr>
        <p:spPr>
          <a:xfrm>
            <a:off x="723900" y="27051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spam[3] is 'elephant' — the last of four elements is at index 3</a:t>
            </a:r>
            <a:endParaRPr lang="en-US" sz="1100" dirty="0"/>
          </a:p>
        </p:txBody>
      </p:sp>
      <p:sp>
        <p:nvSpPr>
          <p:cNvPr id="13" name="text"/>
          <p:cNvSpPr/>
          <p:nvPr/>
        </p:nvSpPr>
        <p:spPr>
          <a:xfrm>
            <a:off x="723900" y="31432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spam[4] raises IndexError: list index out of range</a:t>
            </a:r>
            <a:endParaRPr lang="en-US" sz="1100" dirty="0"/>
          </a:p>
        </p:txBody>
      </p:sp>
      <p:sp>
        <p:nvSpPr>
          <p:cNvPr id="14" name="text"/>
          <p:cNvSpPr/>
          <p:nvPr/>
        </p:nvSpPr>
        <p:spPr>
          <a:xfrm>
            <a:off x="723900" y="35814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len(spam) is 4, so the valid indexes are 0, 1, 2 and 3</a:t>
            </a:r>
            <a:endParaRPr lang="en-US" sz="1100" dirty="0"/>
          </a:p>
        </p:txBody>
      </p:sp>
      <p:sp>
        <p:nvSpPr>
          <p:cNvPr id="15" name="shape-7-13"/>
          <p:cNvSpPr/>
          <p:nvPr/>
        </p:nvSpPr>
        <p:spPr>
          <a:xfrm>
            <a:off x="552450" y="4076700"/>
            <a:ext cx="7048500" cy="628650"/>
          </a:xfrm>
          <a:prstGeom prst="rect">
            <a:avLst/>
          </a:prstGeom>
          <a:solidFill>
            <a:srgbClr val="FDF3EC"/>
          </a:solidFill>
          <a:ln/>
        </p:spPr>
      </p:sp>
      <p:sp>
        <p:nvSpPr>
          <p:cNvPr id="16" name="text"/>
          <p:cNvSpPr/>
          <p:nvPr/>
        </p:nvSpPr>
        <p:spPr>
          <a:xfrm>
            <a:off x="723900" y="4191000"/>
            <a:ext cx="672465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RESULT</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Three valid reads and one exception; len is 4 but the highest legal index is 3, which is the source of nearly every off-by-one bug in the module.</a:t>
            </a:r>
            <a:endParaRPr lang="en-US" sz="1100" dirty="0"/>
          </a:p>
        </p:txBody>
      </p:sp>
      <p:sp>
        <p:nvSpPr>
          <p:cNvPr id="17" name="shape-7-15"/>
          <p:cNvSpPr/>
          <p:nvPr/>
        </p:nvSpPr>
        <p:spPr>
          <a:xfrm>
            <a:off x="7810500" y="1543050"/>
            <a:ext cx="3829050" cy="1771650"/>
          </a:xfrm>
          <a:prstGeom prst="rect">
            <a:avLst/>
          </a:prstGeom>
          <a:solidFill>
            <a:srgbClr val="0E1726"/>
          </a:solidFill>
          <a:ln/>
        </p:spPr>
      </p:sp>
      <p:sp>
        <p:nvSpPr>
          <p:cNvPr id="18" name="text"/>
          <p:cNvSpPr/>
          <p:nvPr/>
        </p:nvSpPr>
        <p:spPr>
          <a:xfrm>
            <a:off x="7981950" y="1695450"/>
            <a:ext cx="3486150" cy="14859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&gt;&gt;&gt; spam = ['cat', 'bat', 'rat', 'elephant']</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&gt;&gt;&gt; spam[0]</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'cat'</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&gt;&gt;&gt; spam[3]</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'elephant'</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&gt;&gt;&gt; spam[4]</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IndexError: list index out of range</a:t>
            </a:r>
            <a:endParaRPr lang="en-US" sz="1000" dirty="0"/>
          </a:p>
        </p:txBody>
      </p:sp>
      <p:sp>
        <p:nvSpPr>
          <p:cNvPr id="19" name="shape-7-17"/>
          <p:cNvSpPr/>
          <p:nvPr/>
        </p:nvSpPr>
        <p:spPr>
          <a:xfrm>
            <a:off x="7810500" y="3467100"/>
            <a:ext cx="3829050" cy="1733550"/>
          </a:xfrm>
          <a:prstGeom prst="rect">
            <a:avLst/>
          </a:prstGeom>
          <a:solidFill>
            <a:srgbClr val="FFFFFF"/>
          </a:solidFill>
          <a:ln w="19050">
            <a:solidFill>
              <a:srgbClr val="C2410C"/>
            </a:solidFill>
            <a:prstDash val="solid"/>
          </a:ln>
        </p:spPr>
      </p:sp>
      <p:sp>
        <p:nvSpPr>
          <p:cNvPr id="20" name="text"/>
          <p:cNvSpPr/>
          <p:nvPr/>
        </p:nvSpPr>
        <p:spPr>
          <a:xfrm>
            <a:off x="7981950" y="3600450"/>
            <a:ext cx="3486150" cy="14668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MISTAKE STUDENTS MAKE</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Students use len(spam) as the last index. len is a count, not a position; the last index is always len - 1, and using len directly raises IndexError on every non-empty list.</a:t>
            </a:r>
            <a:endParaRPr lang="en-US" sz="1100" dirty="0"/>
          </a:p>
        </p:txBody>
      </p:sp>
      <p:sp>
        <p:nvSpPr>
          <p:cNvPr id="21"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Automate the Boring Stuff with Python, 1st ed., Ch. 4, pp. 80-82   |   CO2  |  Bloom L2</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Negative indexes and slicing</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What it is, why it works, and what it costs.</a:t>
            </a:r>
            <a:endParaRPr lang="en-US" sz="1100" dirty="0"/>
          </a:p>
        </p:txBody>
      </p:sp>
      <p:sp>
        <p:nvSpPr>
          <p:cNvPr id="4" name="shape-8-2"/>
          <p:cNvSpPr/>
          <p:nvPr/>
        </p:nvSpPr>
        <p:spPr>
          <a:xfrm>
            <a:off x="552450" y="1266825"/>
            <a:ext cx="990600" cy="47625"/>
          </a:xfrm>
          <a:prstGeom prst="rect">
            <a:avLst/>
          </a:prstGeom>
          <a:solidFill>
            <a:srgbClr val="0F6FC6"/>
          </a:solidFill>
          <a:ln/>
        </p:spPr>
      </p:sp>
      <p:sp>
        <p:nvSpPr>
          <p:cNvPr id="5" name="shape-8-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2</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Negative indexes and slicing</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08</a:t>
            </a:r>
            <a:endParaRPr lang="en-US" sz="900" dirty="0"/>
          </a:p>
        </p:txBody>
      </p:sp>
      <p:sp>
        <p:nvSpPr>
          <p:cNvPr id="9" name="shape-8-7"/>
          <p:cNvSpPr/>
          <p:nvPr/>
        </p:nvSpPr>
        <p:spPr>
          <a:xfrm>
            <a:off x="552450" y="1543050"/>
            <a:ext cx="7048500" cy="2914650"/>
          </a:xfrm>
          <a:prstGeom prst="rect">
            <a:avLst/>
          </a:prstGeom>
          <a:solidFill>
            <a:srgbClr val="FFFFFF"/>
          </a:solidFill>
          <a:ln w="12700">
            <a:solidFill>
              <a:srgbClr val="D7DEE8"/>
            </a:solidFill>
            <a:prstDash val="solid"/>
          </a:ln>
        </p:spPr>
      </p:sp>
      <p:sp>
        <p:nvSpPr>
          <p:cNvPr id="10" name="text"/>
          <p:cNvSpPr/>
          <p:nvPr/>
        </p:nvSpPr>
        <p:spPr>
          <a:xfrm>
            <a:off x="742950" y="1714500"/>
            <a:ext cx="6667500" cy="25908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THE MECHANISM</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A negative index counts backwards from the end, so -1 is the last element and -2 the second to last, which removes the need to compute len-1 by hand. A slice written spam[a:b] returns a new list containing the elements from index a up to but not including b, and either bound may be omitted to mean "from the start" or "to the end". The exclusion of the upper bound is what makes spam[:n] and spam[n:] partition a list with no gap and no overlap. Crucially, a slice produces a new list — a shallow copy — whereas an index returns the element itself, which is why modifying a slice never affects the original but modifying an indexed element can.</a:t>
            </a:r>
            <a:endParaRPr lang="en-US" sz="1100" dirty="0"/>
          </a:p>
        </p:txBody>
      </p:sp>
      <p:sp>
        <p:nvSpPr>
          <p:cNvPr id="11" name="shape-8-9"/>
          <p:cNvSpPr/>
          <p:nvPr/>
        </p:nvSpPr>
        <p:spPr>
          <a:xfrm>
            <a:off x="7810500" y="1543050"/>
            <a:ext cx="3829050" cy="1390650"/>
          </a:xfrm>
          <a:prstGeom prst="rect">
            <a:avLst/>
          </a:prstGeom>
          <a:solidFill>
            <a:srgbClr val="F1F5FA"/>
          </a:solidFill>
          <a:ln/>
        </p:spPr>
      </p:sp>
      <p:sp>
        <p:nvSpPr>
          <p:cNvPr id="12" name="text"/>
          <p:cNvSpPr/>
          <p:nvPr/>
        </p:nvSpPr>
        <p:spPr>
          <a:xfrm>
            <a:off x="8001000" y="1695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KEY TERMS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negative index</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slice</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half-open interval</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shallow copy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omitted bound</a:t>
            </a:r>
            <a:endParaRPr lang="en-US" sz="1100" dirty="0"/>
          </a:p>
        </p:txBody>
      </p:sp>
      <p:sp>
        <p:nvSpPr>
          <p:cNvPr id="13" name="shape-8-11"/>
          <p:cNvSpPr/>
          <p:nvPr/>
        </p:nvSpPr>
        <p:spPr>
          <a:xfrm>
            <a:off x="7810500" y="3067050"/>
            <a:ext cx="3829050" cy="1390650"/>
          </a:xfrm>
          <a:prstGeom prst="rect">
            <a:avLst/>
          </a:prstGeom>
          <a:solidFill>
            <a:srgbClr val="FDF3EC"/>
          </a:solidFill>
          <a:ln/>
        </p:spPr>
      </p:sp>
      <p:sp>
        <p:nvSpPr>
          <p:cNvPr id="14" name="text"/>
          <p:cNvSpPr/>
          <p:nvPr/>
        </p:nvSpPr>
        <p:spPr>
          <a:xfrm>
            <a:off x="8001000" y="3219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TAKEAWAY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An index borrows an element; a slice builds a new list — that difference decides whether your change is visible outside.</a:t>
            </a:r>
            <a:endParaRPr lang="en-US" sz="1100" dirty="0"/>
          </a:p>
        </p:txBody>
      </p:sp>
      <p:sp>
        <p:nvSpPr>
          <p:cNvPr id="15" name="shape-8-13"/>
          <p:cNvSpPr/>
          <p:nvPr/>
        </p:nvSpPr>
        <p:spPr>
          <a:xfrm>
            <a:off x="552450" y="4629150"/>
            <a:ext cx="11087100" cy="609600"/>
          </a:xfrm>
          <a:prstGeom prst="rect">
            <a:avLst/>
          </a:prstGeom>
          <a:solidFill>
            <a:srgbClr val="F1F5FA"/>
          </a:solidFill>
          <a:ln/>
        </p:spPr>
      </p:sp>
      <p:sp>
        <p:nvSpPr>
          <p:cNvPr id="16" name="text"/>
          <p:cNvSpPr/>
          <p:nvPr/>
        </p:nvSpPr>
        <p:spPr>
          <a:xfrm>
            <a:off x="742950" y="4724400"/>
            <a:ext cx="742950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5A6478"/>
                </a:solidFill>
                <a:latin typeface="Segoe UI" pitchFamily="34" charset="0"/>
                <a:ea typeface="Segoe UI" pitchFamily="34" charset="-122"/>
                <a:cs typeface="Segoe UI" pitchFamily="34" charset="-120"/>
              </a:rPr>
              <a:t>DIAGRAM FOR PHASE 2</a:t>
            </a:r>
            <a:endParaRPr lang="en-US" sz="1100" dirty="0"/>
          </a:p>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A row of five cells with forward indexes 0 to 4 above and negative indexes -5 to -1 below, drawn in two colours. Three slice brackets are drawn over the row: spam[1:3] spanning cells 1 and 2 with a hollow mark…</a:t>
            </a:r>
            <a:endParaRPr lang="en-US" sz="1100" dirty="0"/>
          </a:p>
        </p:txBody>
      </p:sp>
      <p:sp>
        <p:nvSpPr>
          <p:cNvPr id="17" name="text"/>
          <p:cNvSpPr/>
          <p:nvPr/>
        </p:nvSpPr>
        <p:spPr>
          <a:xfrm>
            <a:off x="7810500" y="4705350"/>
            <a:ext cx="3657600" cy="2667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Automate the Boring Stuff with Python, 1st ed., Ch. 4, pp. 82-83</a:t>
            </a:r>
            <a:endParaRPr lang="en-US" sz="900" dirty="0"/>
          </a:p>
        </p:txBody>
      </p:sp>
      <p:sp>
        <p:nvSpPr>
          <p:cNvPr id="18" name="text"/>
          <p:cNvSpPr/>
          <p:nvPr/>
        </p:nvSpPr>
        <p:spPr>
          <a:xfrm>
            <a:off x="7810500" y="4972050"/>
            <a:ext cx="3657600" cy="20955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CO2  |  Bloom L3  |  visual id: slice-versus-index</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Negative indexes and slicing - how it works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The procedure in order, and what each pass costs you.</a:t>
            </a:r>
            <a:endParaRPr lang="en-US" sz="1100" dirty="0"/>
          </a:p>
        </p:txBody>
      </p:sp>
      <p:sp>
        <p:nvSpPr>
          <p:cNvPr id="4" name="shape-9-2"/>
          <p:cNvSpPr/>
          <p:nvPr/>
        </p:nvSpPr>
        <p:spPr>
          <a:xfrm>
            <a:off x="552450" y="1266825"/>
            <a:ext cx="990600" cy="47625"/>
          </a:xfrm>
          <a:prstGeom prst="rect">
            <a:avLst/>
          </a:prstGeom>
          <a:solidFill>
            <a:srgbClr val="0F6FC6"/>
          </a:solidFill>
          <a:ln/>
        </p:spPr>
      </p:sp>
      <p:sp>
        <p:nvSpPr>
          <p:cNvPr id="5" name="shape-9-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2</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Negative indexes and slicing</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09</a:t>
            </a:r>
            <a:endParaRPr lang="en-US" sz="900" dirty="0"/>
          </a:p>
        </p:txBody>
      </p:sp>
      <p:sp>
        <p:nvSpPr>
          <p:cNvPr id="9" name="shape-9-7"/>
          <p:cNvSpPr/>
          <p:nvPr/>
        </p:nvSpPr>
        <p:spPr>
          <a:xfrm>
            <a:off x="552450" y="1600200"/>
            <a:ext cx="7239000" cy="476250"/>
          </a:xfrm>
          <a:prstGeom prst="rect">
            <a:avLst/>
          </a:prstGeom>
          <a:solidFill>
            <a:srgbClr val="F1F5FA"/>
          </a:solidFill>
          <a:ln w="12700">
            <a:solidFill>
              <a:srgbClr val="D7DEE8"/>
            </a:solidFill>
            <a:prstDash val="solid"/>
          </a:ln>
        </p:spPr>
      </p:sp>
      <p:sp>
        <p:nvSpPr>
          <p:cNvPr id="10" name="text"/>
          <p:cNvSpPr/>
          <p:nvPr/>
        </p:nvSpPr>
        <p:spPr>
          <a:xfrm>
            <a:off x="723900" y="17145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Use a negative index to reach the end without computing len</a:t>
            </a:r>
            <a:endParaRPr lang="en-US" sz="1100" dirty="0"/>
          </a:p>
        </p:txBody>
      </p:sp>
      <p:sp>
        <p:nvSpPr>
          <p:cNvPr id="11" name="shape-9-9"/>
          <p:cNvSpPr/>
          <p:nvPr/>
        </p:nvSpPr>
        <p:spPr>
          <a:xfrm>
            <a:off x="552450" y="2152650"/>
            <a:ext cx="7239000" cy="476250"/>
          </a:xfrm>
          <a:prstGeom prst="rect">
            <a:avLst/>
          </a:prstGeom>
          <a:solidFill>
            <a:srgbClr val="FFFFFF"/>
          </a:solidFill>
          <a:ln w="12700">
            <a:solidFill>
              <a:srgbClr val="D7DEE8"/>
            </a:solidFill>
            <a:prstDash val="solid"/>
          </a:ln>
        </p:spPr>
      </p:sp>
      <p:sp>
        <p:nvSpPr>
          <p:cNvPr id="12" name="text"/>
          <p:cNvSpPr/>
          <p:nvPr/>
        </p:nvSpPr>
        <p:spPr>
          <a:xfrm>
            <a:off x="723900" y="22669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Write a slice as [start:stop] and remember stop is excluded</a:t>
            </a:r>
            <a:endParaRPr lang="en-US" sz="1100" dirty="0"/>
          </a:p>
        </p:txBody>
      </p:sp>
      <p:sp>
        <p:nvSpPr>
          <p:cNvPr id="13" name="shape-9-11"/>
          <p:cNvSpPr/>
          <p:nvPr/>
        </p:nvSpPr>
        <p:spPr>
          <a:xfrm>
            <a:off x="552450" y="2705100"/>
            <a:ext cx="7239000" cy="476250"/>
          </a:xfrm>
          <a:prstGeom prst="rect">
            <a:avLst/>
          </a:prstGeom>
          <a:solidFill>
            <a:srgbClr val="F1F5FA"/>
          </a:solidFill>
          <a:ln w="12700">
            <a:solidFill>
              <a:srgbClr val="D7DEE8"/>
            </a:solidFill>
            <a:prstDash val="solid"/>
          </a:ln>
        </p:spPr>
      </p:sp>
      <p:sp>
        <p:nvSpPr>
          <p:cNvPr id="14" name="text"/>
          <p:cNvSpPr/>
          <p:nvPr/>
        </p:nvSpPr>
        <p:spPr>
          <a:xfrm>
            <a:off x="723900" y="28194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Omit start for "from the beginning" and stop for "to the end"</a:t>
            </a:r>
            <a:endParaRPr lang="en-US" sz="1100" dirty="0"/>
          </a:p>
        </p:txBody>
      </p:sp>
      <p:sp>
        <p:nvSpPr>
          <p:cNvPr id="15" name="shape-9-13"/>
          <p:cNvSpPr/>
          <p:nvPr/>
        </p:nvSpPr>
        <p:spPr>
          <a:xfrm>
            <a:off x="552450" y="3257550"/>
            <a:ext cx="7239000" cy="476250"/>
          </a:xfrm>
          <a:prstGeom prst="rect">
            <a:avLst/>
          </a:prstGeom>
          <a:solidFill>
            <a:srgbClr val="FFFFFF"/>
          </a:solidFill>
          <a:ln w="12700">
            <a:solidFill>
              <a:srgbClr val="D7DEE8"/>
            </a:solidFill>
            <a:prstDash val="solid"/>
          </a:ln>
        </p:spPr>
      </p:sp>
      <p:sp>
        <p:nvSpPr>
          <p:cNvPr id="16" name="text"/>
          <p:cNvSpPr/>
          <p:nvPr/>
        </p:nvSpPr>
        <p:spPr>
          <a:xfrm>
            <a:off x="723900" y="33718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Use [:] to take a whole shallow copy</a:t>
            </a:r>
            <a:endParaRPr lang="en-US" sz="1100" dirty="0"/>
          </a:p>
        </p:txBody>
      </p:sp>
      <p:sp>
        <p:nvSpPr>
          <p:cNvPr id="17" name="shape-9-15"/>
          <p:cNvSpPr/>
          <p:nvPr/>
        </p:nvSpPr>
        <p:spPr>
          <a:xfrm>
            <a:off x="552450" y="3810000"/>
            <a:ext cx="7239000" cy="476250"/>
          </a:xfrm>
          <a:prstGeom prst="rect">
            <a:avLst/>
          </a:prstGeom>
          <a:solidFill>
            <a:srgbClr val="F1F5FA"/>
          </a:solidFill>
          <a:ln w="12700">
            <a:solidFill>
              <a:srgbClr val="D7DEE8"/>
            </a:solidFill>
            <a:prstDash val="solid"/>
          </a:ln>
        </p:spPr>
      </p:sp>
      <p:sp>
        <p:nvSpPr>
          <p:cNvPr id="18" name="text"/>
          <p:cNvSpPr/>
          <p:nvPr/>
        </p:nvSpPr>
        <p:spPr>
          <a:xfrm>
            <a:off x="723900" y="39243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Remember a slice returns a new list, so assigning it does not alias the original</a:t>
            </a:r>
            <a:endParaRPr lang="en-US" sz="1100" dirty="0"/>
          </a:p>
        </p:txBody>
      </p:sp>
      <p:sp>
        <p:nvSpPr>
          <p:cNvPr id="19" name="shape-9-17"/>
          <p:cNvSpPr/>
          <p:nvPr/>
        </p:nvSpPr>
        <p:spPr>
          <a:xfrm>
            <a:off x="552450" y="4362450"/>
            <a:ext cx="7239000" cy="476250"/>
          </a:xfrm>
          <a:prstGeom prst="rect">
            <a:avLst/>
          </a:prstGeom>
          <a:solidFill>
            <a:srgbClr val="FFFFFF"/>
          </a:solidFill>
          <a:ln w="12700">
            <a:solidFill>
              <a:srgbClr val="D7DEE8"/>
            </a:solidFill>
            <a:prstDash val="solid"/>
          </a:ln>
        </p:spPr>
      </p:sp>
      <p:sp>
        <p:nvSpPr>
          <p:cNvPr id="20" name="text"/>
          <p:cNvSpPr/>
          <p:nvPr/>
        </p:nvSpPr>
        <p:spPr>
          <a:xfrm>
            <a:off x="723900" y="44767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6.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Partition with [:n] and [n:] when a clean split is wanted</a:t>
            </a:r>
            <a:endParaRPr lang="en-US" sz="1100" dirty="0"/>
          </a:p>
        </p:txBody>
      </p:sp>
      <p:sp>
        <p:nvSpPr>
          <p:cNvPr id="21" name="shape-9-19"/>
          <p:cNvSpPr/>
          <p:nvPr/>
        </p:nvSpPr>
        <p:spPr>
          <a:xfrm>
            <a:off x="8020050" y="1543050"/>
            <a:ext cx="3619500" cy="2247900"/>
          </a:xfrm>
          <a:prstGeom prst="rect">
            <a:avLst/>
          </a:prstGeom>
          <a:solidFill>
            <a:srgbClr val="F1F5FA"/>
          </a:solidFill>
          <a:ln/>
        </p:spPr>
      </p:sp>
      <p:sp>
        <p:nvSpPr>
          <p:cNvPr id="22" name="text"/>
          <p:cNvSpPr/>
          <p:nvPr/>
        </p:nvSpPr>
        <p:spPr>
          <a:xfrm>
            <a:off x="8210550" y="1695450"/>
            <a:ext cx="3257550" cy="19621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COST AND BEHAVIOUR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Best: O(1) for a single negative index</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Typical: O(k) to build a slice of k elements</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Worst: O(n) for a full-list slice such as [:]</a:t>
            </a:r>
            <a:endParaRPr lang="en-US" sz="1100" dirty="0"/>
          </a:p>
        </p:txBody>
      </p:sp>
      <p:sp>
        <p:nvSpPr>
          <p:cNvPr id="23" name="shape-9-21"/>
          <p:cNvSpPr/>
          <p:nvPr/>
        </p:nvSpPr>
        <p:spPr>
          <a:xfrm>
            <a:off x="8020050" y="3943350"/>
            <a:ext cx="3619500" cy="1257300"/>
          </a:xfrm>
          <a:prstGeom prst="rect">
            <a:avLst/>
          </a:prstGeom>
          <a:solidFill>
            <a:srgbClr val="FDF3EC"/>
          </a:solidFill>
          <a:ln/>
        </p:spPr>
      </p:sp>
      <p:sp>
        <p:nvSpPr>
          <p:cNvPr id="24" name="text"/>
          <p:cNvSpPr/>
          <p:nvPr/>
        </p:nvSpPr>
        <p:spPr>
          <a:xfrm>
            <a:off x="8210550" y="4076700"/>
            <a:ext cx="3257550" cy="10096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WHAT THAT MEANS</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A slice copies references, not the objects themselves — which is why it is called shallow.</a:t>
            </a:r>
            <a:endParaRPr lang="en-US" sz="1100" dirty="0"/>
          </a:p>
        </p:txBody>
      </p:sp>
      <p:sp>
        <p:nvSpPr>
          <p:cNvPr id="25"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Automate the Boring Stuff with Python, 1st ed., Ch. 4, pp. 82-83   |   CO2  |  Bloom L3</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Negative indexes and slicing - worked example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concrete case, carried all the way to a stated number.</a:t>
            </a:r>
            <a:endParaRPr lang="en-US" sz="1100" dirty="0"/>
          </a:p>
        </p:txBody>
      </p:sp>
      <p:sp>
        <p:nvSpPr>
          <p:cNvPr id="4" name="shape-10-2"/>
          <p:cNvSpPr/>
          <p:nvPr/>
        </p:nvSpPr>
        <p:spPr>
          <a:xfrm>
            <a:off x="552450" y="1266825"/>
            <a:ext cx="990600" cy="47625"/>
          </a:xfrm>
          <a:prstGeom prst="rect">
            <a:avLst/>
          </a:prstGeom>
          <a:solidFill>
            <a:srgbClr val="0F6FC6"/>
          </a:solidFill>
          <a:ln/>
        </p:spPr>
      </p:sp>
      <p:sp>
        <p:nvSpPr>
          <p:cNvPr id="5" name="shape-10-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2</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Negative indexes and slicing</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10</a:t>
            </a:r>
            <a:endParaRPr lang="en-US" sz="900" dirty="0"/>
          </a:p>
        </p:txBody>
      </p:sp>
      <p:sp>
        <p:nvSpPr>
          <p:cNvPr id="9" name="shape-10-7"/>
          <p:cNvSpPr/>
          <p:nvPr/>
        </p:nvSpPr>
        <p:spPr>
          <a:xfrm>
            <a:off x="552450" y="1543050"/>
            <a:ext cx="7048500" cy="590550"/>
          </a:xfrm>
          <a:prstGeom prst="rect">
            <a:avLst/>
          </a:prstGeom>
          <a:solidFill>
            <a:srgbClr val="F1F5FA"/>
          </a:solidFill>
          <a:ln/>
        </p:spPr>
      </p:sp>
      <p:sp>
        <p:nvSpPr>
          <p:cNvPr id="10" name="text"/>
          <p:cNvSpPr/>
          <p:nvPr/>
        </p:nvSpPr>
        <p:spPr>
          <a:xfrm>
            <a:off x="723900" y="1657350"/>
            <a:ext cx="6724650" cy="4191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GIVEN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spam = ['cat', 'bat', 'rat', 'elephant']; evaluate spam[-1], spam[1:3], spam[:2] and spam[2:].</a:t>
            </a:r>
            <a:endParaRPr lang="en-US" sz="1100" dirty="0"/>
          </a:p>
        </p:txBody>
      </p:sp>
      <p:sp>
        <p:nvSpPr>
          <p:cNvPr id="11" name="text"/>
          <p:cNvSpPr/>
          <p:nvPr/>
        </p:nvSpPr>
        <p:spPr>
          <a:xfrm>
            <a:off x="723900" y="22669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spam[-1] is 'elephant' — the last element, with no len arithmetic needed</a:t>
            </a:r>
            <a:endParaRPr lang="en-US" sz="1100" dirty="0"/>
          </a:p>
        </p:txBody>
      </p:sp>
      <p:sp>
        <p:nvSpPr>
          <p:cNvPr id="12" name="text"/>
          <p:cNvSpPr/>
          <p:nvPr/>
        </p:nvSpPr>
        <p:spPr>
          <a:xfrm>
            <a:off x="723900" y="27051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spam[1:3] is ['bat', 'rat'] — index 3 is excluded</a:t>
            </a:r>
            <a:endParaRPr lang="en-US" sz="1100" dirty="0"/>
          </a:p>
        </p:txBody>
      </p:sp>
      <p:sp>
        <p:nvSpPr>
          <p:cNvPr id="13" name="text"/>
          <p:cNvSpPr/>
          <p:nvPr/>
        </p:nvSpPr>
        <p:spPr>
          <a:xfrm>
            <a:off x="723900" y="31432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spam[:2] is ['cat', 'bat'] — from the start up to but not including 2</a:t>
            </a:r>
            <a:endParaRPr lang="en-US" sz="1100" dirty="0"/>
          </a:p>
        </p:txBody>
      </p:sp>
      <p:sp>
        <p:nvSpPr>
          <p:cNvPr id="14" name="text"/>
          <p:cNvSpPr/>
          <p:nvPr/>
        </p:nvSpPr>
        <p:spPr>
          <a:xfrm>
            <a:off x="723900" y="35814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spam[2:] is ['rat', 'elephant'] — from 2 to the end</a:t>
            </a:r>
            <a:endParaRPr lang="en-US" sz="1100" dirty="0"/>
          </a:p>
        </p:txBody>
      </p:sp>
      <p:sp>
        <p:nvSpPr>
          <p:cNvPr id="15" name="shape-10-13"/>
          <p:cNvSpPr/>
          <p:nvPr/>
        </p:nvSpPr>
        <p:spPr>
          <a:xfrm>
            <a:off x="552450" y="4076700"/>
            <a:ext cx="7048500" cy="628650"/>
          </a:xfrm>
          <a:prstGeom prst="rect">
            <a:avLst/>
          </a:prstGeom>
          <a:solidFill>
            <a:srgbClr val="FDF3EC"/>
          </a:solidFill>
          <a:ln/>
        </p:spPr>
      </p:sp>
      <p:sp>
        <p:nvSpPr>
          <p:cNvPr id="16" name="text"/>
          <p:cNvSpPr/>
          <p:nvPr/>
        </p:nvSpPr>
        <p:spPr>
          <a:xfrm>
            <a:off x="723900" y="4191000"/>
            <a:ext cx="672465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RESULT</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spam[:2] and spam[2:] together reconstruct the whole list exactly once, which is the practical payoff of excluding the upper bound.</a:t>
            </a:r>
            <a:endParaRPr lang="en-US" sz="1100" dirty="0"/>
          </a:p>
        </p:txBody>
      </p:sp>
      <p:sp>
        <p:nvSpPr>
          <p:cNvPr id="17" name="shape-10-15"/>
          <p:cNvSpPr/>
          <p:nvPr/>
        </p:nvSpPr>
        <p:spPr>
          <a:xfrm>
            <a:off x="7810500" y="1543050"/>
            <a:ext cx="3829050" cy="1771650"/>
          </a:xfrm>
          <a:prstGeom prst="rect">
            <a:avLst/>
          </a:prstGeom>
          <a:solidFill>
            <a:srgbClr val="0E1726"/>
          </a:solidFill>
          <a:ln/>
        </p:spPr>
      </p:sp>
      <p:sp>
        <p:nvSpPr>
          <p:cNvPr id="18" name="text"/>
          <p:cNvSpPr/>
          <p:nvPr/>
        </p:nvSpPr>
        <p:spPr>
          <a:xfrm>
            <a:off x="7981950" y="1695450"/>
            <a:ext cx="3486150" cy="14859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&gt;&gt;&gt; spam = ['cat', 'bat', 'rat', 'elephant']</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&gt;&gt;&gt; spam[-1]</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'elephant'</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&gt;&gt;&gt; spam[1:3]</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['bat', 'rat']</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&gt;&gt;&gt; spam[:2] + spam[2:] == spam</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True</a:t>
            </a:r>
            <a:endParaRPr lang="en-US" sz="1000" dirty="0"/>
          </a:p>
        </p:txBody>
      </p:sp>
      <p:sp>
        <p:nvSpPr>
          <p:cNvPr id="19" name="shape-10-17"/>
          <p:cNvSpPr/>
          <p:nvPr/>
        </p:nvSpPr>
        <p:spPr>
          <a:xfrm>
            <a:off x="7810500" y="3467100"/>
            <a:ext cx="3829050" cy="1733550"/>
          </a:xfrm>
          <a:prstGeom prst="rect">
            <a:avLst/>
          </a:prstGeom>
          <a:solidFill>
            <a:srgbClr val="FFFFFF"/>
          </a:solidFill>
          <a:ln w="19050">
            <a:solidFill>
              <a:srgbClr val="C2410C"/>
            </a:solidFill>
            <a:prstDash val="solid"/>
          </a:ln>
        </p:spPr>
      </p:sp>
      <p:sp>
        <p:nvSpPr>
          <p:cNvPr id="20" name="text"/>
          <p:cNvSpPr/>
          <p:nvPr/>
        </p:nvSpPr>
        <p:spPr>
          <a:xfrm>
            <a:off x="7981950" y="3600450"/>
            <a:ext cx="3486150" cy="14668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MISTAKE STUDENTS MAKE</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Students expect spam[1:3] to include index 3 and lose the last element of every range they slice. The upper bound is excluded; if you want up to and including index 3, write spam[1:4].</a:t>
            </a:r>
            <a:endParaRPr lang="en-US" sz="1100" dirty="0"/>
          </a:p>
        </p:txBody>
      </p:sp>
      <p:sp>
        <p:nvSpPr>
          <p:cNvPr id="21"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Automate the Boring Stuff with Python, 1st ed., Ch. 4, pp. 82-83   |   CO2  |  Bloom L3</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Changing lists: len(), assignment by index, concatenation and del</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What it is, why it works, and what it costs.</a:t>
            </a:r>
            <a:endParaRPr lang="en-US" sz="1100" dirty="0"/>
          </a:p>
        </p:txBody>
      </p:sp>
      <p:sp>
        <p:nvSpPr>
          <p:cNvPr id="4" name="shape-11-2"/>
          <p:cNvSpPr/>
          <p:nvPr/>
        </p:nvSpPr>
        <p:spPr>
          <a:xfrm>
            <a:off x="552450" y="1266825"/>
            <a:ext cx="990600" cy="47625"/>
          </a:xfrm>
          <a:prstGeom prst="rect">
            <a:avLst/>
          </a:prstGeom>
          <a:solidFill>
            <a:srgbClr val="0F6FC6"/>
          </a:solidFill>
          <a:ln/>
        </p:spPr>
      </p:sp>
      <p:sp>
        <p:nvSpPr>
          <p:cNvPr id="5" name="shape-11-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2</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Changing lists: len(), assignment by…</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11</a:t>
            </a:r>
            <a:endParaRPr lang="en-US" sz="900" dirty="0"/>
          </a:p>
        </p:txBody>
      </p:sp>
      <p:sp>
        <p:nvSpPr>
          <p:cNvPr id="9" name="shape-11-7"/>
          <p:cNvSpPr/>
          <p:nvPr/>
        </p:nvSpPr>
        <p:spPr>
          <a:xfrm>
            <a:off x="552450" y="1543050"/>
            <a:ext cx="7048500" cy="2914650"/>
          </a:xfrm>
          <a:prstGeom prst="rect">
            <a:avLst/>
          </a:prstGeom>
          <a:solidFill>
            <a:srgbClr val="FFFFFF"/>
          </a:solidFill>
          <a:ln w="12700">
            <a:solidFill>
              <a:srgbClr val="D7DEE8"/>
            </a:solidFill>
            <a:prstDash val="solid"/>
          </a:ln>
        </p:spPr>
      </p:sp>
      <p:sp>
        <p:nvSpPr>
          <p:cNvPr id="10" name="text"/>
          <p:cNvSpPr/>
          <p:nvPr/>
        </p:nvSpPr>
        <p:spPr>
          <a:xfrm>
            <a:off x="742950" y="1714500"/>
            <a:ext cx="6667500" cy="25908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THE MECHANISM</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Lists are mutable, so an element can be replaced by assigning to its index, which changes the list in place without creating a new one. The + operator concatenates two lists into a new list and * replicates one, exactly mirroring the string behaviour from Module 1. The del statement removes the element at a given index and shifts every later element down by one, which means deleting inside a loop that is walking the same list silently skips items. len() reports the number of top-level elements only, so a list containing two nested lists has length 2 regardless of how much is inside them.</a:t>
            </a:r>
            <a:endParaRPr lang="en-US" sz="1100" dirty="0"/>
          </a:p>
        </p:txBody>
      </p:sp>
      <p:sp>
        <p:nvSpPr>
          <p:cNvPr id="11" name="shape-11-9"/>
          <p:cNvSpPr/>
          <p:nvPr/>
        </p:nvSpPr>
        <p:spPr>
          <a:xfrm>
            <a:off x="7810500" y="1543050"/>
            <a:ext cx="3829050" cy="1390650"/>
          </a:xfrm>
          <a:prstGeom prst="rect">
            <a:avLst/>
          </a:prstGeom>
          <a:solidFill>
            <a:srgbClr val="F1F5FA"/>
          </a:solidFill>
          <a:ln/>
        </p:spPr>
      </p:sp>
      <p:sp>
        <p:nvSpPr>
          <p:cNvPr id="12" name="text"/>
          <p:cNvSpPr/>
          <p:nvPr/>
        </p:nvSpPr>
        <p:spPr>
          <a:xfrm>
            <a:off x="8001000" y="1695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KEY TERMS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len()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index assignment</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list concatenation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list replication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del statement</a:t>
            </a:r>
            <a:endParaRPr lang="en-US" sz="1100" dirty="0"/>
          </a:p>
        </p:txBody>
      </p:sp>
      <p:sp>
        <p:nvSpPr>
          <p:cNvPr id="13" name="shape-11-11"/>
          <p:cNvSpPr/>
          <p:nvPr/>
        </p:nvSpPr>
        <p:spPr>
          <a:xfrm>
            <a:off x="7810500" y="3067050"/>
            <a:ext cx="3829050" cy="1390650"/>
          </a:xfrm>
          <a:prstGeom prst="rect">
            <a:avLst/>
          </a:prstGeom>
          <a:solidFill>
            <a:srgbClr val="FDF3EC"/>
          </a:solidFill>
          <a:ln/>
        </p:spPr>
      </p:sp>
      <p:sp>
        <p:nvSpPr>
          <p:cNvPr id="14" name="text"/>
          <p:cNvSpPr/>
          <p:nvPr/>
        </p:nvSpPr>
        <p:spPr>
          <a:xfrm>
            <a:off x="8001000" y="3219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TAKEAWAY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Assignment by index and del mutate in place; + and * build something new — and only the first kind is visible to other names.</a:t>
            </a:r>
            <a:endParaRPr lang="en-US" sz="1100" dirty="0"/>
          </a:p>
        </p:txBody>
      </p:sp>
      <p:sp>
        <p:nvSpPr>
          <p:cNvPr id="15" name="shape-11-13"/>
          <p:cNvSpPr/>
          <p:nvPr/>
        </p:nvSpPr>
        <p:spPr>
          <a:xfrm>
            <a:off x="552450" y="4629150"/>
            <a:ext cx="11087100" cy="609600"/>
          </a:xfrm>
          <a:prstGeom prst="rect">
            <a:avLst/>
          </a:prstGeom>
          <a:solidFill>
            <a:srgbClr val="F1F5FA"/>
          </a:solidFill>
          <a:ln/>
        </p:spPr>
      </p:sp>
      <p:sp>
        <p:nvSpPr>
          <p:cNvPr id="16" name="text"/>
          <p:cNvSpPr/>
          <p:nvPr/>
        </p:nvSpPr>
        <p:spPr>
          <a:xfrm>
            <a:off x="742950" y="4724400"/>
            <a:ext cx="742950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5A6478"/>
                </a:solidFill>
                <a:latin typeface="Segoe UI" pitchFamily="34" charset="0"/>
                <a:ea typeface="Segoe UI" pitchFamily="34" charset="-122"/>
                <a:cs typeface="Segoe UI" pitchFamily="34" charset="-120"/>
              </a:rPr>
              <a:t>DIAGRAM FOR PHASE 2</a:t>
            </a:r>
            <a:endParaRPr lang="en-US" sz="1100" dirty="0"/>
          </a:p>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Two side-by-side tracks. Left track 'mutates in place': a list box with three cells, an arrow labelled spam[1] = 'x' rewriting the middle cell, and a second name label 'other' also pointing at the same box wit…</a:t>
            </a:r>
            <a:endParaRPr lang="en-US" sz="1100" dirty="0"/>
          </a:p>
        </p:txBody>
      </p:sp>
      <p:sp>
        <p:nvSpPr>
          <p:cNvPr id="17" name="text"/>
          <p:cNvSpPr/>
          <p:nvPr/>
        </p:nvSpPr>
        <p:spPr>
          <a:xfrm>
            <a:off x="7810500" y="4705350"/>
            <a:ext cx="3657600" cy="2667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Automate the Boring Stuff with Python, 1st ed., Ch. 4, pp. 83-84</a:t>
            </a:r>
            <a:endParaRPr lang="en-US" sz="900" dirty="0"/>
          </a:p>
        </p:txBody>
      </p:sp>
      <p:sp>
        <p:nvSpPr>
          <p:cNvPr id="18" name="text"/>
          <p:cNvSpPr/>
          <p:nvPr/>
        </p:nvSpPr>
        <p:spPr>
          <a:xfrm>
            <a:off x="7810500" y="4972050"/>
            <a:ext cx="3657600" cy="20955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CO2  |  Bloom L3  |  visual id: mutation-versus-new-list</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Changing lists: len(), assignment by index, concatenati… - how it works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The procedure in order, and what each pass costs you.</a:t>
            </a:r>
            <a:endParaRPr lang="en-US" sz="1100" dirty="0"/>
          </a:p>
        </p:txBody>
      </p:sp>
      <p:sp>
        <p:nvSpPr>
          <p:cNvPr id="4" name="shape-12-2"/>
          <p:cNvSpPr/>
          <p:nvPr/>
        </p:nvSpPr>
        <p:spPr>
          <a:xfrm>
            <a:off x="552450" y="1266825"/>
            <a:ext cx="990600" cy="47625"/>
          </a:xfrm>
          <a:prstGeom prst="rect">
            <a:avLst/>
          </a:prstGeom>
          <a:solidFill>
            <a:srgbClr val="0F6FC6"/>
          </a:solidFill>
          <a:ln/>
        </p:spPr>
      </p:sp>
      <p:sp>
        <p:nvSpPr>
          <p:cNvPr id="5" name="shape-12-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2</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Changing lists: len(), assignment by…</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12</a:t>
            </a:r>
            <a:endParaRPr lang="en-US" sz="900" dirty="0"/>
          </a:p>
        </p:txBody>
      </p:sp>
      <p:sp>
        <p:nvSpPr>
          <p:cNvPr id="9" name="shape-12-7"/>
          <p:cNvSpPr/>
          <p:nvPr/>
        </p:nvSpPr>
        <p:spPr>
          <a:xfrm>
            <a:off x="552450" y="1600200"/>
            <a:ext cx="7239000" cy="476250"/>
          </a:xfrm>
          <a:prstGeom prst="rect">
            <a:avLst/>
          </a:prstGeom>
          <a:solidFill>
            <a:srgbClr val="F1F5FA"/>
          </a:solidFill>
          <a:ln w="12700">
            <a:solidFill>
              <a:srgbClr val="D7DEE8"/>
            </a:solidFill>
            <a:prstDash val="solid"/>
          </a:ln>
        </p:spPr>
      </p:sp>
      <p:sp>
        <p:nvSpPr>
          <p:cNvPr id="10" name="text"/>
          <p:cNvSpPr/>
          <p:nvPr/>
        </p:nvSpPr>
        <p:spPr>
          <a:xfrm>
            <a:off x="723900" y="17145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Use listname[i] = value to replace an element in place</a:t>
            </a:r>
            <a:endParaRPr lang="en-US" sz="1100" dirty="0"/>
          </a:p>
        </p:txBody>
      </p:sp>
      <p:sp>
        <p:nvSpPr>
          <p:cNvPr id="11" name="shape-12-9"/>
          <p:cNvSpPr/>
          <p:nvPr/>
        </p:nvSpPr>
        <p:spPr>
          <a:xfrm>
            <a:off x="552450" y="2152650"/>
            <a:ext cx="7239000" cy="476250"/>
          </a:xfrm>
          <a:prstGeom prst="rect">
            <a:avLst/>
          </a:prstGeom>
          <a:solidFill>
            <a:srgbClr val="FFFFFF"/>
          </a:solidFill>
          <a:ln w="12700">
            <a:solidFill>
              <a:srgbClr val="D7DEE8"/>
            </a:solidFill>
            <a:prstDash val="solid"/>
          </a:ln>
        </p:spPr>
      </p:sp>
      <p:sp>
        <p:nvSpPr>
          <p:cNvPr id="12" name="text"/>
          <p:cNvSpPr/>
          <p:nvPr/>
        </p:nvSpPr>
        <p:spPr>
          <a:xfrm>
            <a:off x="723900" y="22669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Use + to join two lists into a new one</a:t>
            </a:r>
            <a:endParaRPr lang="en-US" sz="1100" dirty="0"/>
          </a:p>
        </p:txBody>
      </p:sp>
      <p:sp>
        <p:nvSpPr>
          <p:cNvPr id="13" name="shape-12-11"/>
          <p:cNvSpPr/>
          <p:nvPr/>
        </p:nvSpPr>
        <p:spPr>
          <a:xfrm>
            <a:off x="552450" y="2705100"/>
            <a:ext cx="7239000" cy="476250"/>
          </a:xfrm>
          <a:prstGeom prst="rect">
            <a:avLst/>
          </a:prstGeom>
          <a:solidFill>
            <a:srgbClr val="F1F5FA"/>
          </a:solidFill>
          <a:ln w="12700">
            <a:solidFill>
              <a:srgbClr val="D7DEE8"/>
            </a:solidFill>
            <a:prstDash val="solid"/>
          </a:ln>
        </p:spPr>
      </p:sp>
      <p:sp>
        <p:nvSpPr>
          <p:cNvPr id="14" name="text"/>
          <p:cNvSpPr/>
          <p:nvPr/>
        </p:nvSpPr>
        <p:spPr>
          <a:xfrm>
            <a:off x="723900" y="28194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Use * with an integer to repeat a list</a:t>
            </a:r>
            <a:endParaRPr lang="en-US" sz="1100" dirty="0"/>
          </a:p>
        </p:txBody>
      </p:sp>
      <p:sp>
        <p:nvSpPr>
          <p:cNvPr id="15" name="shape-12-13"/>
          <p:cNvSpPr/>
          <p:nvPr/>
        </p:nvSpPr>
        <p:spPr>
          <a:xfrm>
            <a:off x="552450" y="3257550"/>
            <a:ext cx="7239000" cy="476250"/>
          </a:xfrm>
          <a:prstGeom prst="rect">
            <a:avLst/>
          </a:prstGeom>
          <a:solidFill>
            <a:srgbClr val="FFFFFF"/>
          </a:solidFill>
          <a:ln w="12700">
            <a:solidFill>
              <a:srgbClr val="D7DEE8"/>
            </a:solidFill>
            <a:prstDash val="solid"/>
          </a:ln>
        </p:spPr>
      </p:sp>
      <p:sp>
        <p:nvSpPr>
          <p:cNvPr id="16" name="text"/>
          <p:cNvSpPr/>
          <p:nvPr/>
        </p:nvSpPr>
        <p:spPr>
          <a:xfrm>
            <a:off x="723900" y="33718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Use del listname[i] to remove by position</a:t>
            </a:r>
            <a:endParaRPr lang="en-US" sz="1100" dirty="0"/>
          </a:p>
        </p:txBody>
      </p:sp>
      <p:sp>
        <p:nvSpPr>
          <p:cNvPr id="17" name="shape-12-15"/>
          <p:cNvSpPr/>
          <p:nvPr/>
        </p:nvSpPr>
        <p:spPr>
          <a:xfrm>
            <a:off x="552450" y="3810000"/>
            <a:ext cx="7239000" cy="476250"/>
          </a:xfrm>
          <a:prstGeom prst="rect">
            <a:avLst/>
          </a:prstGeom>
          <a:solidFill>
            <a:srgbClr val="F1F5FA"/>
          </a:solidFill>
          <a:ln w="12700">
            <a:solidFill>
              <a:srgbClr val="D7DEE8"/>
            </a:solidFill>
            <a:prstDash val="solid"/>
          </a:ln>
        </p:spPr>
      </p:sp>
      <p:sp>
        <p:nvSpPr>
          <p:cNvPr id="18" name="text"/>
          <p:cNvSpPr/>
          <p:nvPr/>
        </p:nvSpPr>
        <p:spPr>
          <a:xfrm>
            <a:off x="723900" y="39243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Never delete from a list while iterating forward over it</a:t>
            </a:r>
            <a:endParaRPr lang="en-US" sz="1100" dirty="0"/>
          </a:p>
        </p:txBody>
      </p:sp>
      <p:sp>
        <p:nvSpPr>
          <p:cNvPr id="19" name="shape-12-17"/>
          <p:cNvSpPr/>
          <p:nvPr/>
        </p:nvSpPr>
        <p:spPr>
          <a:xfrm>
            <a:off x="552450" y="4362450"/>
            <a:ext cx="7239000" cy="476250"/>
          </a:xfrm>
          <a:prstGeom prst="rect">
            <a:avLst/>
          </a:prstGeom>
          <a:solidFill>
            <a:srgbClr val="FFFFFF"/>
          </a:solidFill>
          <a:ln w="12700">
            <a:solidFill>
              <a:srgbClr val="D7DEE8"/>
            </a:solidFill>
            <a:prstDash val="solid"/>
          </a:ln>
        </p:spPr>
      </p:sp>
      <p:sp>
        <p:nvSpPr>
          <p:cNvPr id="20" name="text"/>
          <p:cNvSpPr/>
          <p:nvPr/>
        </p:nvSpPr>
        <p:spPr>
          <a:xfrm>
            <a:off x="723900" y="44767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6.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Check len() to confirm the top-level count, not the nested total</a:t>
            </a:r>
            <a:endParaRPr lang="en-US" sz="1100" dirty="0"/>
          </a:p>
        </p:txBody>
      </p:sp>
      <p:sp>
        <p:nvSpPr>
          <p:cNvPr id="21" name="shape-12-19"/>
          <p:cNvSpPr/>
          <p:nvPr/>
        </p:nvSpPr>
        <p:spPr>
          <a:xfrm>
            <a:off x="8020050" y="1543050"/>
            <a:ext cx="3619500" cy="2247900"/>
          </a:xfrm>
          <a:prstGeom prst="rect">
            <a:avLst/>
          </a:prstGeom>
          <a:solidFill>
            <a:srgbClr val="F1F5FA"/>
          </a:solidFill>
          <a:ln/>
        </p:spPr>
      </p:sp>
      <p:sp>
        <p:nvSpPr>
          <p:cNvPr id="22" name="text"/>
          <p:cNvSpPr/>
          <p:nvPr/>
        </p:nvSpPr>
        <p:spPr>
          <a:xfrm>
            <a:off x="8210550" y="1695450"/>
            <a:ext cx="3257550" cy="19621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COST AND BEHAVIOUR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Best: O(1) for index assignment and for deleting the last element</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Typical: O(n) for del at an arbitrary position because later elements shift</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Worst: O(n) for del at index 0, and O(n+m) to concatenate lists of n and m</a:t>
            </a:r>
            <a:endParaRPr lang="en-US" sz="1100" dirty="0"/>
          </a:p>
        </p:txBody>
      </p:sp>
      <p:sp>
        <p:nvSpPr>
          <p:cNvPr id="23" name="shape-12-21"/>
          <p:cNvSpPr/>
          <p:nvPr/>
        </p:nvSpPr>
        <p:spPr>
          <a:xfrm>
            <a:off x="8020050" y="3943350"/>
            <a:ext cx="3619500" cy="1257300"/>
          </a:xfrm>
          <a:prstGeom prst="rect">
            <a:avLst/>
          </a:prstGeom>
          <a:solidFill>
            <a:srgbClr val="FDF3EC"/>
          </a:solidFill>
          <a:ln/>
        </p:spPr>
      </p:sp>
      <p:sp>
        <p:nvSpPr>
          <p:cNvPr id="24" name="text"/>
          <p:cNvSpPr/>
          <p:nvPr/>
        </p:nvSpPr>
        <p:spPr>
          <a:xfrm>
            <a:off x="8210550" y="4076700"/>
            <a:ext cx="3257550" cy="10096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WHAT THAT MEANS</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Deleting from the front of a list is linear; if that is the common operation, a different structure is warranted.</a:t>
            </a:r>
            <a:endParaRPr lang="en-US" sz="1100" dirty="0"/>
          </a:p>
        </p:txBody>
      </p:sp>
      <p:sp>
        <p:nvSpPr>
          <p:cNvPr id="25"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Automate the Boring Stuff with Python, 1st ed., Ch. 4, pp. 83-84   |   CO2  |  Bloom L3</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Changing lists: len(), assignment by index, concatenati… - worked example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concrete case, carried all the way to a stated number.</a:t>
            </a:r>
            <a:endParaRPr lang="en-US" sz="1100" dirty="0"/>
          </a:p>
        </p:txBody>
      </p:sp>
      <p:sp>
        <p:nvSpPr>
          <p:cNvPr id="4" name="shape-13-2"/>
          <p:cNvSpPr/>
          <p:nvPr/>
        </p:nvSpPr>
        <p:spPr>
          <a:xfrm>
            <a:off x="552450" y="1266825"/>
            <a:ext cx="990600" cy="47625"/>
          </a:xfrm>
          <a:prstGeom prst="rect">
            <a:avLst/>
          </a:prstGeom>
          <a:solidFill>
            <a:srgbClr val="0F6FC6"/>
          </a:solidFill>
          <a:ln/>
        </p:spPr>
      </p:sp>
      <p:sp>
        <p:nvSpPr>
          <p:cNvPr id="5" name="shape-13-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2</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Changing lists: len(), assignment by…</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13</a:t>
            </a:r>
            <a:endParaRPr lang="en-US" sz="900" dirty="0"/>
          </a:p>
        </p:txBody>
      </p:sp>
      <p:sp>
        <p:nvSpPr>
          <p:cNvPr id="9" name="shape-13-7"/>
          <p:cNvSpPr/>
          <p:nvPr/>
        </p:nvSpPr>
        <p:spPr>
          <a:xfrm>
            <a:off x="552450" y="1543050"/>
            <a:ext cx="7048500" cy="590550"/>
          </a:xfrm>
          <a:prstGeom prst="rect">
            <a:avLst/>
          </a:prstGeom>
          <a:solidFill>
            <a:srgbClr val="F1F5FA"/>
          </a:solidFill>
          <a:ln/>
        </p:spPr>
      </p:sp>
      <p:sp>
        <p:nvSpPr>
          <p:cNvPr id="10" name="text"/>
          <p:cNvSpPr/>
          <p:nvPr/>
        </p:nvSpPr>
        <p:spPr>
          <a:xfrm>
            <a:off x="723900" y="1657350"/>
            <a:ext cx="6724650" cy="4191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GIVEN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spam = ['cat', 'bat', 'rat', 'elephant']; do spam[1] = 'dog', then del spam[2].</a:t>
            </a:r>
            <a:endParaRPr lang="en-US" sz="1100" dirty="0"/>
          </a:p>
        </p:txBody>
      </p:sp>
      <p:sp>
        <p:nvSpPr>
          <p:cNvPr id="11" name="text"/>
          <p:cNvSpPr/>
          <p:nvPr/>
        </p:nvSpPr>
        <p:spPr>
          <a:xfrm>
            <a:off x="723900" y="22669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spam[1] = 'dog' replaces 'bat' in place, giving ['cat', 'dog', 'rat', 'elephant']</a:t>
            </a:r>
            <a:endParaRPr lang="en-US" sz="1100" dirty="0"/>
          </a:p>
        </p:txBody>
      </p:sp>
      <p:sp>
        <p:nvSpPr>
          <p:cNvPr id="12" name="text"/>
          <p:cNvSpPr/>
          <p:nvPr/>
        </p:nvSpPr>
        <p:spPr>
          <a:xfrm>
            <a:off x="723900" y="27051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del spam[2] removes 'rat'</a:t>
            </a:r>
            <a:endParaRPr lang="en-US" sz="1100" dirty="0"/>
          </a:p>
        </p:txBody>
      </p:sp>
      <p:sp>
        <p:nvSpPr>
          <p:cNvPr id="13" name="text"/>
          <p:cNvSpPr/>
          <p:nvPr/>
        </p:nvSpPr>
        <p:spPr>
          <a:xfrm>
            <a:off x="723900" y="31432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'elephant' shifts down from index 3 to index 2</a:t>
            </a:r>
            <a:endParaRPr lang="en-US" sz="1100" dirty="0"/>
          </a:p>
        </p:txBody>
      </p:sp>
      <p:sp>
        <p:nvSpPr>
          <p:cNvPr id="14" name="text"/>
          <p:cNvSpPr/>
          <p:nvPr/>
        </p:nvSpPr>
        <p:spPr>
          <a:xfrm>
            <a:off x="723900" y="35814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The list is now ['cat', 'dog', 'elephant'] with len 3</a:t>
            </a:r>
            <a:endParaRPr lang="en-US" sz="1100" dirty="0"/>
          </a:p>
        </p:txBody>
      </p:sp>
      <p:sp>
        <p:nvSpPr>
          <p:cNvPr id="15" name="shape-13-13"/>
          <p:cNvSpPr/>
          <p:nvPr/>
        </p:nvSpPr>
        <p:spPr>
          <a:xfrm>
            <a:off x="552450" y="4076700"/>
            <a:ext cx="7048500" cy="628650"/>
          </a:xfrm>
          <a:prstGeom prst="rect">
            <a:avLst/>
          </a:prstGeom>
          <a:solidFill>
            <a:srgbClr val="FDF3EC"/>
          </a:solidFill>
          <a:ln/>
        </p:spPr>
      </p:sp>
      <p:sp>
        <p:nvSpPr>
          <p:cNvPr id="16" name="text"/>
          <p:cNvSpPr/>
          <p:nvPr/>
        </p:nvSpPr>
        <p:spPr>
          <a:xfrm>
            <a:off x="723900" y="4191000"/>
            <a:ext cx="672465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RESULT</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Three elements remain and the index of 'elephant' has changed — which is exactly why deleting inside a forward loop skips the element that moves into the vacated slot.</a:t>
            </a:r>
            <a:endParaRPr lang="en-US" sz="1100" dirty="0"/>
          </a:p>
        </p:txBody>
      </p:sp>
      <p:sp>
        <p:nvSpPr>
          <p:cNvPr id="17" name="shape-13-15"/>
          <p:cNvSpPr/>
          <p:nvPr/>
        </p:nvSpPr>
        <p:spPr>
          <a:xfrm>
            <a:off x="7810500" y="1543050"/>
            <a:ext cx="3829050" cy="1771650"/>
          </a:xfrm>
          <a:prstGeom prst="rect">
            <a:avLst/>
          </a:prstGeom>
          <a:solidFill>
            <a:srgbClr val="0E1726"/>
          </a:solidFill>
          <a:ln/>
        </p:spPr>
      </p:sp>
      <p:sp>
        <p:nvSpPr>
          <p:cNvPr id="18" name="text"/>
          <p:cNvSpPr/>
          <p:nvPr/>
        </p:nvSpPr>
        <p:spPr>
          <a:xfrm>
            <a:off x="7981950" y="1695450"/>
            <a:ext cx="3486150" cy="14859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&gt;&gt;&gt; spam = ['cat', 'bat', 'rat', 'elephant']</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&gt;&gt;&gt; spam[1] = 'dog'</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&gt;&gt;&gt; del spam[2]</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&gt;&gt;&gt; spam</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['cat', 'dog', 'elephant']</a:t>
            </a:r>
            <a:endParaRPr lang="en-US" sz="1000" dirty="0"/>
          </a:p>
        </p:txBody>
      </p:sp>
      <p:sp>
        <p:nvSpPr>
          <p:cNvPr id="19" name="shape-13-17"/>
          <p:cNvSpPr/>
          <p:nvPr/>
        </p:nvSpPr>
        <p:spPr>
          <a:xfrm>
            <a:off x="7810500" y="3467100"/>
            <a:ext cx="3829050" cy="1733550"/>
          </a:xfrm>
          <a:prstGeom prst="rect">
            <a:avLst/>
          </a:prstGeom>
          <a:solidFill>
            <a:srgbClr val="FFFFFF"/>
          </a:solidFill>
          <a:ln w="19050">
            <a:solidFill>
              <a:srgbClr val="C2410C"/>
            </a:solidFill>
            <a:prstDash val="solid"/>
          </a:ln>
        </p:spPr>
      </p:sp>
      <p:sp>
        <p:nvSpPr>
          <p:cNvPr id="20" name="text"/>
          <p:cNvSpPr/>
          <p:nvPr/>
        </p:nvSpPr>
        <p:spPr>
          <a:xfrm>
            <a:off x="7981950" y="3600450"/>
            <a:ext cx="3486150" cy="14668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MISTAKE STUDENTS MAKE</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Students delete items while looping forward over the same list, so every deletion shifts the remaining items left and the loop skips the next one. Iterate over a copy with for x in spam[:], or build a new list with the wanted items instead.</a:t>
            </a:r>
            <a:endParaRPr lang="en-US" sz="1100" dirty="0"/>
          </a:p>
        </p:txBody>
      </p:sp>
      <p:sp>
        <p:nvSpPr>
          <p:cNvPr id="21"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Automate the Boring Stuff with Python, 1st ed., Ch. 4, pp. 83-84   |   CO2  |  Bloom L3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Working with lists: for loops, in and not in</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What it is, why it works, and what it costs.</a:t>
            </a:r>
            <a:endParaRPr lang="en-US" sz="1100" dirty="0"/>
          </a:p>
        </p:txBody>
      </p:sp>
      <p:sp>
        <p:nvSpPr>
          <p:cNvPr id="4" name="shape-14-2"/>
          <p:cNvSpPr/>
          <p:nvPr/>
        </p:nvSpPr>
        <p:spPr>
          <a:xfrm>
            <a:off x="552450" y="1266825"/>
            <a:ext cx="990600" cy="47625"/>
          </a:xfrm>
          <a:prstGeom prst="rect">
            <a:avLst/>
          </a:prstGeom>
          <a:solidFill>
            <a:srgbClr val="0F6FC6"/>
          </a:solidFill>
          <a:ln/>
        </p:spPr>
      </p:sp>
      <p:sp>
        <p:nvSpPr>
          <p:cNvPr id="5" name="shape-14-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2</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Working with lists: for loops, in and…</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14</a:t>
            </a:r>
            <a:endParaRPr lang="en-US" sz="900" dirty="0"/>
          </a:p>
        </p:txBody>
      </p:sp>
      <p:sp>
        <p:nvSpPr>
          <p:cNvPr id="9" name="shape-14-7"/>
          <p:cNvSpPr/>
          <p:nvPr/>
        </p:nvSpPr>
        <p:spPr>
          <a:xfrm>
            <a:off x="552450" y="1543050"/>
            <a:ext cx="7048500" cy="2914650"/>
          </a:xfrm>
          <a:prstGeom prst="rect">
            <a:avLst/>
          </a:prstGeom>
          <a:solidFill>
            <a:srgbClr val="FFFFFF"/>
          </a:solidFill>
          <a:ln w="12700">
            <a:solidFill>
              <a:srgbClr val="D7DEE8"/>
            </a:solidFill>
            <a:prstDash val="solid"/>
          </a:ln>
        </p:spPr>
      </p:sp>
      <p:sp>
        <p:nvSpPr>
          <p:cNvPr id="10" name="text"/>
          <p:cNvSpPr/>
          <p:nvPr/>
        </p:nvSpPr>
        <p:spPr>
          <a:xfrm>
            <a:off x="742950" y="1714500"/>
            <a:ext cx="6667500" cy="25908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THE MECHANISM</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A for loop iterates over a list directly, binding each element to the loop variable in turn, which is clearer and faster than looping over range(len(x)) and indexing. The in and not in operators test membership and return a bool, scanning the list until a match is found. That scan is linear, so a membership test on a large list inside a loop turns an O(n) algorithm into an O(n squared) one — the standard fix is to hold the collection in a set or a dictionary, where membership is constant time. When both the position and the element are needed, enumerate() supplies both without any manual index bookkeeping.</a:t>
            </a:r>
            <a:endParaRPr lang="en-US" sz="1100" dirty="0"/>
          </a:p>
        </p:txBody>
      </p:sp>
      <p:sp>
        <p:nvSpPr>
          <p:cNvPr id="11" name="shape-14-9"/>
          <p:cNvSpPr/>
          <p:nvPr/>
        </p:nvSpPr>
        <p:spPr>
          <a:xfrm>
            <a:off x="7810500" y="1543050"/>
            <a:ext cx="3829050" cy="1390650"/>
          </a:xfrm>
          <a:prstGeom prst="rect">
            <a:avLst/>
          </a:prstGeom>
          <a:solidFill>
            <a:srgbClr val="F1F5FA"/>
          </a:solidFill>
          <a:ln/>
        </p:spPr>
      </p:sp>
      <p:sp>
        <p:nvSpPr>
          <p:cNvPr id="12" name="text"/>
          <p:cNvSpPr/>
          <p:nvPr/>
        </p:nvSpPr>
        <p:spPr>
          <a:xfrm>
            <a:off x="8001000" y="1695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KEY TERMS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iteration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for over a sequence</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in operator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membership test</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enumerate()</a:t>
            </a:r>
            <a:endParaRPr lang="en-US" sz="1100" dirty="0"/>
          </a:p>
        </p:txBody>
      </p:sp>
      <p:sp>
        <p:nvSpPr>
          <p:cNvPr id="13" name="shape-14-11"/>
          <p:cNvSpPr/>
          <p:nvPr/>
        </p:nvSpPr>
        <p:spPr>
          <a:xfrm>
            <a:off x="7810500" y="3067050"/>
            <a:ext cx="3829050" cy="1390650"/>
          </a:xfrm>
          <a:prstGeom prst="rect">
            <a:avLst/>
          </a:prstGeom>
          <a:solidFill>
            <a:srgbClr val="FDF3EC"/>
          </a:solidFill>
          <a:ln/>
        </p:spPr>
      </p:sp>
      <p:sp>
        <p:nvSpPr>
          <p:cNvPr id="14" name="text"/>
          <p:cNvSpPr/>
          <p:nvPr/>
        </p:nvSpPr>
        <p:spPr>
          <a:xfrm>
            <a:off x="8001000" y="3219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TAKEAWAY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Iterate the list, not its indexes — and if you are testing membership repeatedly, you wanted a set.</a:t>
            </a:r>
            <a:endParaRPr lang="en-US" sz="1100" dirty="0"/>
          </a:p>
        </p:txBody>
      </p:sp>
      <p:sp>
        <p:nvSpPr>
          <p:cNvPr id="15" name="shape-14-13"/>
          <p:cNvSpPr/>
          <p:nvPr/>
        </p:nvSpPr>
        <p:spPr>
          <a:xfrm>
            <a:off x="552450" y="4629150"/>
            <a:ext cx="11087100" cy="609600"/>
          </a:xfrm>
          <a:prstGeom prst="rect">
            <a:avLst/>
          </a:prstGeom>
          <a:solidFill>
            <a:srgbClr val="F1F5FA"/>
          </a:solidFill>
          <a:ln/>
        </p:spPr>
      </p:sp>
      <p:sp>
        <p:nvSpPr>
          <p:cNvPr id="16" name="text"/>
          <p:cNvSpPr/>
          <p:nvPr/>
        </p:nvSpPr>
        <p:spPr>
          <a:xfrm>
            <a:off x="742950" y="4724400"/>
            <a:ext cx="742950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5A6478"/>
                </a:solidFill>
                <a:latin typeface="Segoe UI" pitchFamily="34" charset="0"/>
                <a:ea typeface="Segoe UI" pitchFamily="34" charset="-122"/>
                <a:cs typeface="Segoe UI" pitchFamily="34" charset="-120"/>
              </a:rPr>
              <a:t>DIAGRAM FOR PHASE 2</a:t>
            </a:r>
            <a:endParaRPr lang="en-US" sz="1100" dirty="0"/>
          </a:p>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Two code panels side by side over a shared list row of four cells. Left panel, tagged amber, shows for i in range(len(spam)): print(spam[i]) with a two-hop arrow from i to the index row and then into the cell.…</a:t>
            </a:r>
            <a:endParaRPr lang="en-US" sz="1100" dirty="0"/>
          </a:p>
        </p:txBody>
      </p:sp>
      <p:sp>
        <p:nvSpPr>
          <p:cNvPr id="17" name="text"/>
          <p:cNvSpPr/>
          <p:nvPr/>
        </p:nvSpPr>
        <p:spPr>
          <a:xfrm>
            <a:off x="7810500" y="4705350"/>
            <a:ext cx="3657600" cy="2667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Automate the Boring Stuff with Python, 1st ed., Ch. 4, pp. 84-87</a:t>
            </a:r>
            <a:endParaRPr lang="en-US" sz="900" dirty="0"/>
          </a:p>
        </p:txBody>
      </p:sp>
      <p:sp>
        <p:nvSpPr>
          <p:cNvPr id="18" name="text"/>
          <p:cNvSpPr/>
          <p:nvPr/>
        </p:nvSpPr>
        <p:spPr>
          <a:xfrm>
            <a:off x="7810500" y="4972050"/>
            <a:ext cx="3657600" cy="20955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CO2  |  Bloom L3  |  visual id: iterate-items-not-indexes</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Working with lists: for loops, in and not in - how it works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The procedure in order, and what each pass costs you.</a:t>
            </a:r>
            <a:endParaRPr lang="en-US" sz="1100" dirty="0"/>
          </a:p>
        </p:txBody>
      </p:sp>
      <p:sp>
        <p:nvSpPr>
          <p:cNvPr id="4" name="shape-15-2"/>
          <p:cNvSpPr/>
          <p:nvPr/>
        </p:nvSpPr>
        <p:spPr>
          <a:xfrm>
            <a:off x="552450" y="1266825"/>
            <a:ext cx="990600" cy="47625"/>
          </a:xfrm>
          <a:prstGeom prst="rect">
            <a:avLst/>
          </a:prstGeom>
          <a:solidFill>
            <a:srgbClr val="0F6FC6"/>
          </a:solidFill>
          <a:ln/>
        </p:spPr>
      </p:sp>
      <p:sp>
        <p:nvSpPr>
          <p:cNvPr id="5" name="shape-15-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2</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Working with lists: for loops, in and…</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15</a:t>
            </a:r>
            <a:endParaRPr lang="en-US" sz="900" dirty="0"/>
          </a:p>
        </p:txBody>
      </p:sp>
      <p:sp>
        <p:nvSpPr>
          <p:cNvPr id="9" name="shape-15-7"/>
          <p:cNvSpPr/>
          <p:nvPr/>
        </p:nvSpPr>
        <p:spPr>
          <a:xfrm>
            <a:off x="552450" y="1600200"/>
            <a:ext cx="7239000" cy="476250"/>
          </a:xfrm>
          <a:prstGeom prst="rect">
            <a:avLst/>
          </a:prstGeom>
          <a:solidFill>
            <a:srgbClr val="F1F5FA"/>
          </a:solidFill>
          <a:ln w="12700">
            <a:solidFill>
              <a:srgbClr val="D7DEE8"/>
            </a:solidFill>
            <a:prstDash val="solid"/>
          </a:ln>
        </p:spPr>
      </p:sp>
      <p:sp>
        <p:nvSpPr>
          <p:cNvPr id="10" name="text"/>
          <p:cNvSpPr/>
          <p:nvPr/>
        </p:nvSpPr>
        <p:spPr>
          <a:xfrm>
            <a:off x="723900" y="17145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Write for element in listname: when you need the values</a:t>
            </a:r>
            <a:endParaRPr lang="en-US" sz="1100" dirty="0"/>
          </a:p>
        </p:txBody>
      </p:sp>
      <p:sp>
        <p:nvSpPr>
          <p:cNvPr id="11" name="shape-15-9"/>
          <p:cNvSpPr/>
          <p:nvPr/>
        </p:nvSpPr>
        <p:spPr>
          <a:xfrm>
            <a:off x="552450" y="2152650"/>
            <a:ext cx="7239000" cy="476250"/>
          </a:xfrm>
          <a:prstGeom prst="rect">
            <a:avLst/>
          </a:prstGeom>
          <a:solidFill>
            <a:srgbClr val="FFFFFF"/>
          </a:solidFill>
          <a:ln w="12700">
            <a:solidFill>
              <a:srgbClr val="D7DEE8"/>
            </a:solidFill>
            <a:prstDash val="solid"/>
          </a:ln>
        </p:spPr>
      </p:sp>
      <p:sp>
        <p:nvSpPr>
          <p:cNvPr id="12" name="text"/>
          <p:cNvSpPr/>
          <p:nvPr/>
        </p:nvSpPr>
        <p:spPr>
          <a:xfrm>
            <a:off x="723900" y="22669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Use enumerate(listname) when you need index and value together</a:t>
            </a:r>
            <a:endParaRPr lang="en-US" sz="1100" dirty="0"/>
          </a:p>
        </p:txBody>
      </p:sp>
      <p:sp>
        <p:nvSpPr>
          <p:cNvPr id="13" name="shape-15-11"/>
          <p:cNvSpPr/>
          <p:nvPr/>
        </p:nvSpPr>
        <p:spPr>
          <a:xfrm>
            <a:off x="552450" y="2705100"/>
            <a:ext cx="7239000" cy="476250"/>
          </a:xfrm>
          <a:prstGeom prst="rect">
            <a:avLst/>
          </a:prstGeom>
          <a:solidFill>
            <a:srgbClr val="F1F5FA"/>
          </a:solidFill>
          <a:ln w="12700">
            <a:solidFill>
              <a:srgbClr val="D7DEE8"/>
            </a:solidFill>
            <a:prstDash val="solid"/>
          </a:ln>
        </p:spPr>
      </p:sp>
      <p:sp>
        <p:nvSpPr>
          <p:cNvPr id="14" name="text"/>
          <p:cNvSpPr/>
          <p:nvPr/>
        </p:nvSpPr>
        <p:spPr>
          <a:xfrm>
            <a:off x="723900" y="28194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Use in to test membership and read the result as a bool</a:t>
            </a:r>
            <a:endParaRPr lang="en-US" sz="1100" dirty="0"/>
          </a:p>
        </p:txBody>
      </p:sp>
      <p:sp>
        <p:nvSpPr>
          <p:cNvPr id="15" name="shape-15-13"/>
          <p:cNvSpPr/>
          <p:nvPr/>
        </p:nvSpPr>
        <p:spPr>
          <a:xfrm>
            <a:off x="552450" y="3257550"/>
            <a:ext cx="7239000" cy="476250"/>
          </a:xfrm>
          <a:prstGeom prst="rect">
            <a:avLst/>
          </a:prstGeom>
          <a:solidFill>
            <a:srgbClr val="FFFFFF"/>
          </a:solidFill>
          <a:ln w="12700">
            <a:solidFill>
              <a:srgbClr val="D7DEE8"/>
            </a:solidFill>
            <a:prstDash val="solid"/>
          </a:ln>
        </p:spPr>
      </p:sp>
      <p:sp>
        <p:nvSpPr>
          <p:cNvPr id="16" name="text"/>
          <p:cNvSpPr/>
          <p:nvPr/>
        </p:nvSpPr>
        <p:spPr>
          <a:xfrm>
            <a:off x="723900" y="33718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Avoid repeated in tests against a large list inside a loop</a:t>
            </a:r>
            <a:endParaRPr lang="en-US" sz="1100" dirty="0"/>
          </a:p>
        </p:txBody>
      </p:sp>
      <p:sp>
        <p:nvSpPr>
          <p:cNvPr id="17" name="shape-15-15"/>
          <p:cNvSpPr/>
          <p:nvPr/>
        </p:nvSpPr>
        <p:spPr>
          <a:xfrm>
            <a:off x="552450" y="3810000"/>
            <a:ext cx="7239000" cy="476250"/>
          </a:xfrm>
          <a:prstGeom prst="rect">
            <a:avLst/>
          </a:prstGeom>
          <a:solidFill>
            <a:srgbClr val="F1F5FA"/>
          </a:solidFill>
          <a:ln w="12700">
            <a:solidFill>
              <a:srgbClr val="D7DEE8"/>
            </a:solidFill>
            <a:prstDash val="solid"/>
          </a:ln>
        </p:spPr>
      </p:sp>
      <p:sp>
        <p:nvSpPr>
          <p:cNvPr id="18" name="text"/>
          <p:cNvSpPr/>
          <p:nvPr/>
        </p:nvSpPr>
        <p:spPr>
          <a:xfrm>
            <a:off x="723900" y="39243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Convert to a set first when membership is tested many times</a:t>
            </a:r>
            <a:endParaRPr lang="en-US" sz="1100" dirty="0"/>
          </a:p>
        </p:txBody>
      </p:sp>
      <p:sp>
        <p:nvSpPr>
          <p:cNvPr id="19" name="shape-15-17"/>
          <p:cNvSpPr/>
          <p:nvPr/>
        </p:nvSpPr>
        <p:spPr>
          <a:xfrm>
            <a:off x="552450" y="4362450"/>
            <a:ext cx="7239000" cy="476250"/>
          </a:xfrm>
          <a:prstGeom prst="rect">
            <a:avLst/>
          </a:prstGeom>
          <a:solidFill>
            <a:srgbClr val="FFFFFF"/>
          </a:solidFill>
          <a:ln w="12700">
            <a:solidFill>
              <a:srgbClr val="D7DEE8"/>
            </a:solidFill>
            <a:prstDash val="solid"/>
          </a:ln>
        </p:spPr>
      </p:sp>
      <p:sp>
        <p:nvSpPr>
          <p:cNvPr id="20" name="text"/>
          <p:cNvSpPr/>
          <p:nvPr/>
        </p:nvSpPr>
        <p:spPr>
          <a:xfrm>
            <a:off x="723900" y="44767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6.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Never modify the list you are iterating over</a:t>
            </a:r>
            <a:endParaRPr lang="en-US" sz="1100" dirty="0"/>
          </a:p>
        </p:txBody>
      </p:sp>
      <p:sp>
        <p:nvSpPr>
          <p:cNvPr id="21" name="shape-15-19"/>
          <p:cNvSpPr/>
          <p:nvPr/>
        </p:nvSpPr>
        <p:spPr>
          <a:xfrm>
            <a:off x="8020050" y="1543050"/>
            <a:ext cx="3619500" cy="2247900"/>
          </a:xfrm>
          <a:prstGeom prst="rect">
            <a:avLst/>
          </a:prstGeom>
          <a:solidFill>
            <a:srgbClr val="F1F5FA"/>
          </a:solidFill>
          <a:ln/>
        </p:spPr>
      </p:sp>
      <p:sp>
        <p:nvSpPr>
          <p:cNvPr id="22" name="text"/>
          <p:cNvSpPr/>
          <p:nvPr/>
        </p:nvSpPr>
        <p:spPr>
          <a:xfrm>
            <a:off x="8210550" y="1695450"/>
            <a:ext cx="3257550" cy="19621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COST AND BEHAVIOUR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Best: O(1) when the element sought is first</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Typical: O(n/2) comparisons for a membership test</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Worst: O(n) for a miss, and O(n*m) for m membership tests inside a loop</a:t>
            </a:r>
            <a:endParaRPr lang="en-US" sz="1100" dirty="0"/>
          </a:p>
        </p:txBody>
      </p:sp>
      <p:sp>
        <p:nvSpPr>
          <p:cNvPr id="23" name="shape-15-21"/>
          <p:cNvSpPr/>
          <p:nvPr/>
        </p:nvSpPr>
        <p:spPr>
          <a:xfrm>
            <a:off x="8020050" y="3943350"/>
            <a:ext cx="3619500" cy="1257300"/>
          </a:xfrm>
          <a:prstGeom prst="rect">
            <a:avLst/>
          </a:prstGeom>
          <a:solidFill>
            <a:srgbClr val="FDF3EC"/>
          </a:solidFill>
          <a:ln/>
        </p:spPr>
      </p:sp>
      <p:sp>
        <p:nvSpPr>
          <p:cNvPr id="24" name="text"/>
          <p:cNvSpPr/>
          <p:nvPr/>
        </p:nvSpPr>
        <p:spPr>
          <a:xfrm>
            <a:off x="8210550" y="4076700"/>
            <a:ext cx="3257550" cy="10096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WHAT THAT MEANS</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Converting to a set costs O(n) once and makes every later test O(1); worth it from roughly the second test onward.</a:t>
            </a:r>
            <a:endParaRPr lang="en-US" sz="1100" dirty="0"/>
          </a:p>
        </p:txBody>
      </p:sp>
      <p:sp>
        <p:nvSpPr>
          <p:cNvPr id="25"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Automate the Boring Stuff with Python, 1st ed., Ch. 4, pp. 84-87   |   CO2  |  Bloom L3</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Working with lists: for loops, in and not in - worked example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concrete case, carried all the way to a stated number.</a:t>
            </a:r>
            <a:endParaRPr lang="en-US" sz="1100" dirty="0"/>
          </a:p>
        </p:txBody>
      </p:sp>
      <p:sp>
        <p:nvSpPr>
          <p:cNvPr id="4" name="shape-16-2"/>
          <p:cNvSpPr/>
          <p:nvPr/>
        </p:nvSpPr>
        <p:spPr>
          <a:xfrm>
            <a:off x="552450" y="1266825"/>
            <a:ext cx="990600" cy="47625"/>
          </a:xfrm>
          <a:prstGeom prst="rect">
            <a:avLst/>
          </a:prstGeom>
          <a:solidFill>
            <a:srgbClr val="0F6FC6"/>
          </a:solidFill>
          <a:ln/>
        </p:spPr>
      </p:sp>
      <p:sp>
        <p:nvSpPr>
          <p:cNvPr id="5" name="shape-16-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2</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Working with lists: for loops, in and…</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16</a:t>
            </a:r>
            <a:endParaRPr lang="en-US" sz="900" dirty="0"/>
          </a:p>
        </p:txBody>
      </p:sp>
      <p:sp>
        <p:nvSpPr>
          <p:cNvPr id="9" name="shape-16-7"/>
          <p:cNvSpPr/>
          <p:nvPr/>
        </p:nvSpPr>
        <p:spPr>
          <a:xfrm>
            <a:off x="552450" y="1543050"/>
            <a:ext cx="7048500" cy="590550"/>
          </a:xfrm>
          <a:prstGeom prst="rect">
            <a:avLst/>
          </a:prstGeom>
          <a:solidFill>
            <a:srgbClr val="F1F5FA"/>
          </a:solidFill>
          <a:ln/>
        </p:spPr>
      </p:sp>
      <p:sp>
        <p:nvSpPr>
          <p:cNvPr id="10" name="text"/>
          <p:cNvSpPr/>
          <p:nvPr/>
        </p:nvSpPr>
        <p:spPr>
          <a:xfrm>
            <a:off x="723900" y="1657350"/>
            <a:ext cx="6724650" cy="4191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GIVEN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supplies = ['pens', 'staplers', 'paper']; check 'pens' in supplies and 'glue' in supplies.</a:t>
            </a:r>
            <a:endParaRPr lang="en-US" sz="1100" dirty="0"/>
          </a:p>
        </p:txBody>
      </p:sp>
      <p:sp>
        <p:nvSpPr>
          <p:cNvPr id="11" name="text"/>
          <p:cNvSpPr/>
          <p:nvPr/>
        </p:nvSpPr>
        <p:spPr>
          <a:xfrm>
            <a:off x="723900" y="22669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'pens' in supplies compares against 'pens' first and returns True immediately</a:t>
            </a:r>
            <a:endParaRPr lang="en-US" sz="1100" dirty="0"/>
          </a:p>
        </p:txBody>
      </p:sp>
      <p:sp>
        <p:nvSpPr>
          <p:cNvPr id="12" name="text"/>
          <p:cNvSpPr/>
          <p:nvPr/>
        </p:nvSpPr>
        <p:spPr>
          <a:xfrm>
            <a:off x="723900" y="27051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'glue' in supplies compares against all three and returns False</a:t>
            </a:r>
            <a:endParaRPr lang="en-US" sz="1100" dirty="0"/>
          </a:p>
        </p:txBody>
      </p:sp>
      <p:sp>
        <p:nvSpPr>
          <p:cNvPr id="13" name="text"/>
          <p:cNvSpPr/>
          <p:nvPr/>
        </p:nvSpPr>
        <p:spPr>
          <a:xfrm>
            <a:off x="723900" y="31432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The True case cost one comparison; the False case cost three</a:t>
            </a:r>
            <a:endParaRPr lang="en-US" sz="1100" dirty="0"/>
          </a:p>
        </p:txBody>
      </p:sp>
      <p:sp>
        <p:nvSpPr>
          <p:cNvPr id="14" name="text"/>
          <p:cNvSpPr/>
          <p:nvPr/>
        </p:nvSpPr>
        <p:spPr>
          <a:xfrm>
            <a:off x="723900" y="35814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Converting to a set first, {'pens','staplers','paper'}, makes both tests one hash lookup</a:t>
            </a:r>
            <a:endParaRPr lang="en-US" sz="1100" dirty="0"/>
          </a:p>
        </p:txBody>
      </p:sp>
      <p:sp>
        <p:nvSpPr>
          <p:cNvPr id="15" name="shape-16-13"/>
          <p:cNvSpPr/>
          <p:nvPr/>
        </p:nvSpPr>
        <p:spPr>
          <a:xfrm>
            <a:off x="552450" y="4076700"/>
            <a:ext cx="7048500" cy="628650"/>
          </a:xfrm>
          <a:prstGeom prst="rect">
            <a:avLst/>
          </a:prstGeom>
          <a:solidFill>
            <a:srgbClr val="FDF3EC"/>
          </a:solidFill>
          <a:ln/>
        </p:spPr>
      </p:sp>
      <p:sp>
        <p:nvSpPr>
          <p:cNvPr id="16" name="text"/>
          <p:cNvSpPr/>
          <p:nvPr/>
        </p:nvSpPr>
        <p:spPr>
          <a:xfrm>
            <a:off x="723900" y="4191000"/>
            <a:ext cx="672465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RESULT</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Both answers are correct either way, but the list version costs a full scan on every miss, which is the case that dominates in real data.</a:t>
            </a:r>
            <a:endParaRPr lang="en-US" sz="1100" dirty="0"/>
          </a:p>
        </p:txBody>
      </p:sp>
      <p:sp>
        <p:nvSpPr>
          <p:cNvPr id="17" name="shape-16-15"/>
          <p:cNvSpPr/>
          <p:nvPr/>
        </p:nvSpPr>
        <p:spPr>
          <a:xfrm>
            <a:off x="7810500" y="1543050"/>
            <a:ext cx="3829050" cy="1771650"/>
          </a:xfrm>
          <a:prstGeom prst="rect">
            <a:avLst/>
          </a:prstGeom>
          <a:solidFill>
            <a:srgbClr val="0E1726"/>
          </a:solidFill>
          <a:ln/>
        </p:spPr>
      </p:sp>
      <p:sp>
        <p:nvSpPr>
          <p:cNvPr id="18" name="text"/>
          <p:cNvSpPr/>
          <p:nvPr/>
        </p:nvSpPr>
        <p:spPr>
          <a:xfrm>
            <a:off x="7981950" y="1695450"/>
            <a:ext cx="3486150" cy="14859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&gt;&gt;&gt; supplies = ['pens', 'staplers', 'paper']</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&gt;&gt;&gt; 'pens' in supplies</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True</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&gt;&gt;&gt; for item in supplies:</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     print(item)</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&gt;&gt;&gt; for i, item in enumerate(supplies):</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     print(i, item)</a:t>
            </a:r>
            <a:endParaRPr lang="en-US" sz="1000" dirty="0"/>
          </a:p>
        </p:txBody>
      </p:sp>
      <p:sp>
        <p:nvSpPr>
          <p:cNvPr id="19" name="shape-16-17"/>
          <p:cNvSpPr/>
          <p:nvPr/>
        </p:nvSpPr>
        <p:spPr>
          <a:xfrm>
            <a:off x="7810500" y="3467100"/>
            <a:ext cx="3829050" cy="1733550"/>
          </a:xfrm>
          <a:prstGeom prst="rect">
            <a:avLst/>
          </a:prstGeom>
          <a:solidFill>
            <a:srgbClr val="FFFFFF"/>
          </a:solidFill>
          <a:ln w="19050">
            <a:solidFill>
              <a:srgbClr val="C2410C"/>
            </a:solidFill>
            <a:prstDash val="solid"/>
          </a:ln>
        </p:spPr>
      </p:sp>
      <p:sp>
        <p:nvSpPr>
          <p:cNvPr id="20" name="text"/>
          <p:cNvSpPr/>
          <p:nvPr/>
        </p:nvSpPr>
        <p:spPr>
          <a:xfrm>
            <a:off x="7981950" y="3600450"/>
            <a:ext cx="3486150" cy="14668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MISTAKE STUDENTS MAKE</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Students write for i in range(len(spam)) out of habit from C-family languages and then only ever use spam[i]. That is slower, noisier and more error-prone; iterate the list directly and reach for enumerate() only when the index is genuinely needed.</a:t>
            </a:r>
            <a:endParaRPr lang="en-US" sz="1100" dirty="0"/>
          </a:p>
        </p:txBody>
      </p:sp>
      <p:sp>
        <p:nvSpPr>
          <p:cNvPr id="21"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Automate the Boring Stuff with Python, 1st ed., Ch. 4, pp. 84-87   |   CO2  |  Bloom L3</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Multiple assignment and augmented assignment</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What it is, why it works, and what it costs.</a:t>
            </a:r>
            <a:endParaRPr lang="en-US" sz="1100" dirty="0"/>
          </a:p>
        </p:txBody>
      </p:sp>
      <p:sp>
        <p:nvSpPr>
          <p:cNvPr id="4" name="shape-17-2"/>
          <p:cNvSpPr/>
          <p:nvPr/>
        </p:nvSpPr>
        <p:spPr>
          <a:xfrm>
            <a:off x="552450" y="1266825"/>
            <a:ext cx="990600" cy="47625"/>
          </a:xfrm>
          <a:prstGeom prst="rect">
            <a:avLst/>
          </a:prstGeom>
          <a:solidFill>
            <a:srgbClr val="0F6FC6"/>
          </a:solidFill>
          <a:ln/>
        </p:spPr>
      </p:sp>
      <p:sp>
        <p:nvSpPr>
          <p:cNvPr id="5" name="shape-17-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2</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Multiple assignment and augmented ass…</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17</a:t>
            </a:r>
            <a:endParaRPr lang="en-US" sz="900" dirty="0"/>
          </a:p>
        </p:txBody>
      </p:sp>
      <p:sp>
        <p:nvSpPr>
          <p:cNvPr id="9" name="shape-17-7"/>
          <p:cNvSpPr/>
          <p:nvPr/>
        </p:nvSpPr>
        <p:spPr>
          <a:xfrm>
            <a:off x="552450" y="1543050"/>
            <a:ext cx="7048500" cy="2914650"/>
          </a:xfrm>
          <a:prstGeom prst="rect">
            <a:avLst/>
          </a:prstGeom>
          <a:solidFill>
            <a:srgbClr val="FFFFFF"/>
          </a:solidFill>
          <a:ln w="12700">
            <a:solidFill>
              <a:srgbClr val="D7DEE8"/>
            </a:solidFill>
            <a:prstDash val="solid"/>
          </a:ln>
        </p:spPr>
      </p:sp>
      <p:sp>
        <p:nvSpPr>
          <p:cNvPr id="10" name="text"/>
          <p:cNvSpPr/>
          <p:nvPr/>
        </p:nvSpPr>
        <p:spPr>
          <a:xfrm>
            <a:off x="742950" y="1714500"/>
            <a:ext cx="6667500" cy="25908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THE MECHANISM</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Multiple assignment unpacks a sequence into several names in one statement, so cat = ['fat', 'grey']; size, colour = cat binds both names at once. The number of names on the left must exactly match the number of elements on the right, or Python raises a ValueError naming the mismatch — a deliberate refusal to silently drop or invent data. Because the entire right-hand side is evaluated before any binding happens, a, b = b, a swaps two values with no temporary variable. Augmented assignment operators such as += and *= combine an operation with a rebinding, and for a list += extends in place while a plain + rebinds to a new list.</a:t>
            </a:r>
            <a:endParaRPr lang="en-US" sz="1100" dirty="0"/>
          </a:p>
        </p:txBody>
      </p:sp>
      <p:sp>
        <p:nvSpPr>
          <p:cNvPr id="11" name="shape-17-9"/>
          <p:cNvSpPr/>
          <p:nvPr/>
        </p:nvSpPr>
        <p:spPr>
          <a:xfrm>
            <a:off x="7810500" y="1543050"/>
            <a:ext cx="3829050" cy="1390650"/>
          </a:xfrm>
          <a:prstGeom prst="rect">
            <a:avLst/>
          </a:prstGeom>
          <a:solidFill>
            <a:srgbClr val="F1F5FA"/>
          </a:solidFill>
          <a:ln/>
        </p:spPr>
      </p:sp>
      <p:sp>
        <p:nvSpPr>
          <p:cNvPr id="12" name="text"/>
          <p:cNvSpPr/>
          <p:nvPr/>
        </p:nvSpPr>
        <p:spPr>
          <a:xfrm>
            <a:off x="8001000" y="1695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KEY TERMS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tuple unpacking</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multiple assignment</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augmented assignment</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swap idiom</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length mismatch</a:t>
            </a:r>
            <a:endParaRPr lang="en-US" sz="1100" dirty="0"/>
          </a:p>
        </p:txBody>
      </p:sp>
      <p:sp>
        <p:nvSpPr>
          <p:cNvPr id="13" name="shape-17-11"/>
          <p:cNvSpPr/>
          <p:nvPr/>
        </p:nvSpPr>
        <p:spPr>
          <a:xfrm>
            <a:off x="7810500" y="3067050"/>
            <a:ext cx="3829050" cy="1390650"/>
          </a:xfrm>
          <a:prstGeom prst="rect">
            <a:avLst/>
          </a:prstGeom>
          <a:solidFill>
            <a:srgbClr val="FDF3EC"/>
          </a:solidFill>
          <a:ln/>
        </p:spPr>
      </p:sp>
      <p:sp>
        <p:nvSpPr>
          <p:cNvPr id="14" name="text"/>
          <p:cNvSpPr/>
          <p:nvPr/>
        </p:nvSpPr>
        <p:spPr>
          <a:xfrm>
            <a:off x="8001000" y="3219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TAKEAWAY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The right-hand side is fully evaluated before anything is bound, which is what makes a, b = b, a a correct swap.</a:t>
            </a:r>
            <a:endParaRPr lang="en-US" sz="1100" dirty="0"/>
          </a:p>
        </p:txBody>
      </p:sp>
      <p:sp>
        <p:nvSpPr>
          <p:cNvPr id="15" name="shape-17-13"/>
          <p:cNvSpPr/>
          <p:nvPr/>
        </p:nvSpPr>
        <p:spPr>
          <a:xfrm>
            <a:off x="552450" y="4629150"/>
            <a:ext cx="11087100" cy="609600"/>
          </a:xfrm>
          <a:prstGeom prst="rect">
            <a:avLst/>
          </a:prstGeom>
          <a:solidFill>
            <a:srgbClr val="F1F5FA"/>
          </a:solidFill>
          <a:ln/>
        </p:spPr>
      </p:sp>
      <p:sp>
        <p:nvSpPr>
          <p:cNvPr id="16" name="text"/>
          <p:cNvSpPr/>
          <p:nvPr/>
        </p:nvSpPr>
        <p:spPr>
          <a:xfrm>
            <a:off x="742950" y="4724400"/>
            <a:ext cx="742950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5A6478"/>
                </a:solidFill>
                <a:latin typeface="Segoe UI" pitchFamily="34" charset="0"/>
                <a:ea typeface="Segoe UI" pitchFamily="34" charset="-122"/>
                <a:cs typeface="Segoe UI" pitchFamily="34" charset="-120"/>
              </a:rPr>
              <a:t>DIAGRAM FOR PHASE 2</a:t>
            </a:r>
            <a:endParaRPr lang="en-US" sz="1100" dirty="0"/>
          </a:p>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Upper half: a two-stage swap animation. Stage 1 shows a = 1 and b = 2 as two labelled boxes, with the expression b, a evaluating into a temporary pair token (2, 1) drawn above them. Stage 2 shows the pair toke…</a:t>
            </a:r>
            <a:endParaRPr lang="en-US" sz="1100" dirty="0"/>
          </a:p>
        </p:txBody>
      </p:sp>
      <p:sp>
        <p:nvSpPr>
          <p:cNvPr id="17" name="text"/>
          <p:cNvSpPr/>
          <p:nvPr/>
        </p:nvSpPr>
        <p:spPr>
          <a:xfrm>
            <a:off x="7810500" y="4705350"/>
            <a:ext cx="3657600" cy="2667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Automate the Boring Stuff with Python, 1st ed., Ch. 4, pp. 87-89</a:t>
            </a:r>
            <a:endParaRPr lang="en-US" sz="900" dirty="0"/>
          </a:p>
        </p:txBody>
      </p:sp>
      <p:sp>
        <p:nvSpPr>
          <p:cNvPr id="18" name="text"/>
          <p:cNvSpPr/>
          <p:nvPr/>
        </p:nvSpPr>
        <p:spPr>
          <a:xfrm>
            <a:off x="7810500" y="4972050"/>
            <a:ext cx="3657600" cy="20955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CO2  |  Bloom L4  |  visual id: swap-and-unpack</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Multiple assignment and augmented assignment - how it works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The procedure in order, and what each pass costs you.</a:t>
            </a:r>
            <a:endParaRPr lang="en-US" sz="1100" dirty="0"/>
          </a:p>
        </p:txBody>
      </p:sp>
      <p:sp>
        <p:nvSpPr>
          <p:cNvPr id="4" name="shape-18-2"/>
          <p:cNvSpPr/>
          <p:nvPr/>
        </p:nvSpPr>
        <p:spPr>
          <a:xfrm>
            <a:off x="552450" y="1266825"/>
            <a:ext cx="990600" cy="47625"/>
          </a:xfrm>
          <a:prstGeom prst="rect">
            <a:avLst/>
          </a:prstGeom>
          <a:solidFill>
            <a:srgbClr val="0F6FC6"/>
          </a:solidFill>
          <a:ln/>
        </p:spPr>
      </p:sp>
      <p:sp>
        <p:nvSpPr>
          <p:cNvPr id="5" name="shape-18-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2</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Multiple assignment and augmented ass…</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18</a:t>
            </a:r>
            <a:endParaRPr lang="en-US" sz="900" dirty="0"/>
          </a:p>
        </p:txBody>
      </p:sp>
      <p:sp>
        <p:nvSpPr>
          <p:cNvPr id="9" name="shape-18-7"/>
          <p:cNvSpPr/>
          <p:nvPr/>
        </p:nvSpPr>
        <p:spPr>
          <a:xfrm>
            <a:off x="552450" y="1600200"/>
            <a:ext cx="7239000" cy="476250"/>
          </a:xfrm>
          <a:prstGeom prst="rect">
            <a:avLst/>
          </a:prstGeom>
          <a:solidFill>
            <a:srgbClr val="F1F5FA"/>
          </a:solidFill>
          <a:ln w="12700">
            <a:solidFill>
              <a:srgbClr val="D7DEE8"/>
            </a:solidFill>
            <a:prstDash val="solid"/>
          </a:ln>
        </p:spPr>
      </p:sp>
      <p:sp>
        <p:nvSpPr>
          <p:cNvPr id="10" name="text"/>
          <p:cNvSpPr/>
          <p:nvPr/>
        </p:nvSpPr>
        <p:spPr>
          <a:xfrm>
            <a:off x="723900" y="17145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Count the elements on the right and provide exactly that many names</a:t>
            </a:r>
            <a:endParaRPr lang="en-US" sz="1100" dirty="0"/>
          </a:p>
        </p:txBody>
      </p:sp>
      <p:sp>
        <p:nvSpPr>
          <p:cNvPr id="11" name="shape-18-9"/>
          <p:cNvSpPr/>
          <p:nvPr/>
        </p:nvSpPr>
        <p:spPr>
          <a:xfrm>
            <a:off x="552450" y="2152650"/>
            <a:ext cx="7239000" cy="476250"/>
          </a:xfrm>
          <a:prstGeom prst="rect">
            <a:avLst/>
          </a:prstGeom>
          <a:solidFill>
            <a:srgbClr val="FFFFFF"/>
          </a:solidFill>
          <a:ln w="12700">
            <a:solidFill>
              <a:srgbClr val="D7DEE8"/>
            </a:solidFill>
            <a:prstDash val="solid"/>
          </a:ln>
        </p:spPr>
      </p:sp>
      <p:sp>
        <p:nvSpPr>
          <p:cNvPr id="12" name="text"/>
          <p:cNvSpPr/>
          <p:nvPr/>
        </p:nvSpPr>
        <p:spPr>
          <a:xfrm>
            <a:off x="723900" y="22669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Write names, comma separated, on the left of a single =</a:t>
            </a:r>
            <a:endParaRPr lang="en-US" sz="1100" dirty="0"/>
          </a:p>
        </p:txBody>
      </p:sp>
      <p:sp>
        <p:nvSpPr>
          <p:cNvPr id="13" name="shape-18-11"/>
          <p:cNvSpPr/>
          <p:nvPr/>
        </p:nvSpPr>
        <p:spPr>
          <a:xfrm>
            <a:off x="552450" y="2705100"/>
            <a:ext cx="7239000" cy="476250"/>
          </a:xfrm>
          <a:prstGeom prst="rect">
            <a:avLst/>
          </a:prstGeom>
          <a:solidFill>
            <a:srgbClr val="F1F5FA"/>
          </a:solidFill>
          <a:ln w="12700">
            <a:solidFill>
              <a:srgbClr val="D7DEE8"/>
            </a:solidFill>
            <a:prstDash val="solid"/>
          </a:ln>
        </p:spPr>
      </p:sp>
      <p:sp>
        <p:nvSpPr>
          <p:cNvPr id="14" name="text"/>
          <p:cNvSpPr/>
          <p:nvPr/>
        </p:nvSpPr>
        <p:spPr>
          <a:xfrm>
            <a:off x="723900" y="28194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Use a, b = b, a to swap without a temporary</a:t>
            </a:r>
            <a:endParaRPr lang="en-US" sz="1100" dirty="0"/>
          </a:p>
        </p:txBody>
      </p:sp>
      <p:sp>
        <p:nvSpPr>
          <p:cNvPr id="15" name="shape-18-13"/>
          <p:cNvSpPr/>
          <p:nvPr/>
        </p:nvSpPr>
        <p:spPr>
          <a:xfrm>
            <a:off x="552450" y="3257550"/>
            <a:ext cx="7239000" cy="476250"/>
          </a:xfrm>
          <a:prstGeom prst="rect">
            <a:avLst/>
          </a:prstGeom>
          <a:solidFill>
            <a:srgbClr val="FFFFFF"/>
          </a:solidFill>
          <a:ln w="12700">
            <a:solidFill>
              <a:srgbClr val="D7DEE8"/>
            </a:solidFill>
            <a:prstDash val="solid"/>
          </a:ln>
        </p:spPr>
      </p:sp>
      <p:sp>
        <p:nvSpPr>
          <p:cNvPr id="16" name="text"/>
          <p:cNvSpPr/>
          <p:nvPr/>
        </p:nvSpPr>
        <p:spPr>
          <a:xfrm>
            <a:off x="723900" y="33718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Use += to extend a list in place</a:t>
            </a:r>
            <a:endParaRPr lang="en-US" sz="1100" dirty="0"/>
          </a:p>
        </p:txBody>
      </p:sp>
      <p:sp>
        <p:nvSpPr>
          <p:cNvPr id="17" name="shape-18-15"/>
          <p:cNvSpPr/>
          <p:nvPr/>
        </p:nvSpPr>
        <p:spPr>
          <a:xfrm>
            <a:off x="552450" y="3810000"/>
            <a:ext cx="7239000" cy="476250"/>
          </a:xfrm>
          <a:prstGeom prst="rect">
            <a:avLst/>
          </a:prstGeom>
          <a:solidFill>
            <a:srgbClr val="F1F5FA"/>
          </a:solidFill>
          <a:ln w="12700">
            <a:solidFill>
              <a:srgbClr val="D7DEE8"/>
            </a:solidFill>
            <a:prstDash val="solid"/>
          </a:ln>
        </p:spPr>
      </p:sp>
      <p:sp>
        <p:nvSpPr>
          <p:cNvPr id="18" name="text"/>
          <p:cNvSpPr/>
          <p:nvPr/>
        </p:nvSpPr>
        <p:spPr>
          <a:xfrm>
            <a:off x="723900" y="39243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Use a plain + when a new list is wanted instead</a:t>
            </a:r>
            <a:endParaRPr lang="en-US" sz="1100" dirty="0"/>
          </a:p>
        </p:txBody>
      </p:sp>
      <p:sp>
        <p:nvSpPr>
          <p:cNvPr id="19" name="shape-18-17"/>
          <p:cNvSpPr/>
          <p:nvPr/>
        </p:nvSpPr>
        <p:spPr>
          <a:xfrm>
            <a:off x="552450" y="4362450"/>
            <a:ext cx="7239000" cy="476250"/>
          </a:xfrm>
          <a:prstGeom prst="rect">
            <a:avLst/>
          </a:prstGeom>
          <a:solidFill>
            <a:srgbClr val="FFFFFF"/>
          </a:solidFill>
          <a:ln w="12700">
            <a:solidFill>
              <a:srgbClr val="D7DEE8"/>
            </a:solidFill>
            <a:prstDash val="solid"/>
          </a:ln>
        </p:spPr>
      </p:sp>
      <p:sp>
        <p:nvSpPr>
          <p:cNvPr id="20" name="text"/>
          <p:cNvSpPr/>
          <p:nvPr/>
        </p:nvSpPr>
        <p:spPr>
          <a:xfrm>
            <a:off x="723900" y="44767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6.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Read a ValueError about unpacking as a count mismatch</a:t>
            </a:r>
            <a:endParaRPr lang="en-US" sz="1100" dirty="0"/>
          </a:p>
        </p:txBody>
      </p:sp>
      <p:sp>
        <p:nvSpPr>
          <p:cNvPr id="21" name="shape-18-19"/>
          <p:cNvSpPr/>
          <p:nvPr/>
        </p:nvSpPr>
        <p:spPr>
          <a:xfrm>
            <a:off x="8020050" y="1543050"/>
            <a:ext cx="3619500" cy="2247900"/>
          </a:xfrm>
          <a:prstGeom prst="rect">
            <a:avLst/>
          </a:prstGeom>
          <a:solidFill>
            <a:srgbClr val="F1F5FA"/>
          </a:solidFill>
          <a:ln/>
        </p:spPr>
      </p:sp>
      <p:sp>
        <p:nvSpPr>
          <p:cNvPr id="22" name="text"/>
          <p:cNvSpPr/>
          <p:nvPr/>
        </p:nvSpPr>
        <p:spPr>
          <a:xfrm>
            <a:off x="8210550" y="1695450"/>
            <a:ext cx="3257550" cy="19621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COST AND BEHAVIOUR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Best: O(1) for a two-name unpack</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Typical: O(k) for k names</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Worst: O(n) for += extending by n elements</a:t>
            </a:r>
            <a:endParaRPr lang="en-US" sz="1100" dirty="0"/>
          </a:p>
        </p:txBody>
      </p:sp>
      <p:sp>
        <p:nvSpPr>
          <p:cNvPr id="23" name="shape-18-21"/>
          <p:cNvSpPr/>
          <p:nvPr/>
        </p:nvSpPr>
        <p:spPr>
          <a:xfrm>
            <a:off x="8020050" y="3943350"/>
            <a:ext cx="3619500" cy="1257300"/>
          </a:xfrm>
          <a:prstGeom prst="rect">
            <a:avLst/>
          </a:prstGeom>
          <a:solidFill>
            <a:srgbClr val="FDF3EC"/>
          </a:solidFill>
          <a:ln/>
        </p:spPr>
      </p:sp>
      <p:sp>
        <p:nvSpPr>
          <p:cNvPr id="24" name="text"/>
          <p:cNvSpPr/>
          <p:nvPr/>
        </p:nvSpPr>
        <p:spPr>
          <a:xfrm>
            <a:off x="8210550" y="4076700"/>
            <a:ext cx="3257550" cy="10096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WHAT THAT MEANS</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For lists, += mutates in place and is visible to every other name pointing at the same list; + is not.</a:t>
            </a:r>
            <a:endParaRPr lang="en-US" sz="1100" dirty="0"/>
          </a:p>
        </p:txBody>
      </p:sp>
      <p:sp>
        <p:nvSpPr>
          <p:cNvPr id="25"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Automate the Boring Stuff with Python, 1st ed., Ch. 4, pp. 87-89   |   CO2  |  Bloom L4</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Multiple assignment and augmented assignment - worked example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concrete case, carried all the way to a stated number.</a:t>
            </a:r>
            <a:endParaRPr lang="en-US" sz="1100" dirty="0"/>
          </a:p>
        </p:txBody>
      </p:sp>
      <p:sp>
        <p:nvSpPr>
          <p:cNvPr id="4" name="shape-19-2"/>
          <p:cNvSpPr/>
          <p:nvPr/>
        </p:nvSpPr>
        <p:spPr>
          <a:xfrm>
            <a:off x="552450" y="1266825"/>
            <a:ext cx="990600" cy="47625"/>
          </a:xfrm>
          <a:prstGeom prst="rect">
            <a:avLst/>
          </a:prstGeom>
          <a:solidFill>
            <a:srgbClr val="0F6FC6"/>
          </a:solidFill>
          <a:ln/>
        </p:spPr>
      </p:sp>
      <p:sp>
        <p:nvSpPr>
          <p:cNvPr id="5" name="shape-19-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2</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Multiple assignment and augmented ass…</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19</a:t>
            </a:r>
            <a:endParaRPr lang="en-US" sz="900" dirty="0"/>
          </a:p>
        </p:txBody>
      </p:sp>
      <p:sp>
        <p:nvSpPr>
          <p:cNvPr id="9" name="shape-19-7"/>
          <p:cNvSpPr/>
          <p:nvPr/>
        </p:nvSpPr>
        <p:spPr>
          <a:xfrm>
            <a:off x="552450" y="1543050"/>
            <a:ext cx="7048500" cy="590550"/>
          </a:xfrm>
          <a:prstGeom prst="rect">
            <a:avLst/>
          </a:prstGeom>
          <a:solidFill>
            <a:srgbClr val="F1F5FA"/>
          </a:solidFill>
          <a:ln/>
        </p:spPr>
      </p:sp>
      <p:sp>
        <p:nvSpPr>
          <p:cNvPr id="10" name="text"/>
          <p:cNvSpPr/>
          <p:nvPr/>
        </p:nvSpPr>
        <p:spPr>
          <a:xfrm>
            <a:off x="723900" y="1657350"/>
            <a:ext cx="6724650" cy="4191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GIVEN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 b = 1, 2 then a, b = b, a; and spam = [1,2] with spam += [3] versus spam = spam + [3].</a:t>
            </a:r>
            <a:endParaRPr lang="en-US" sz="1100" dirty="0"/>
          </a:p>
        </p:txBody>
      </p:sp>
      <p:sp>
        <p:nvSpPr>
          <p:cNvPr id="11" name="text"/>
          <p:cNvSpPr/>
          <p:nvPr/>
        </p:nvSpPr>
        <p:spPr>
          <a:xfrm>
            <a:off x="723900" y="22669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 b = b, a first evaluates the right side to the pair (2, 1)</a:t>
            </a:r>
            <a:endParaRPr lang="en-US" sz="1100" dirty="0"/>
          </a:p>
        </p:txBody>
      </p:sp>
      <p:sp>
        <p:nvSpPr>
          <p:cNvPr id="12" name="text"/>
          <p:cNvSpPr/>
          <p:nvPr/>
        </p:nvSpPr>
        <p:spPr>
          <a:xfrm>
            <a:off x="723900" y="27051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It then binds a to 2 and b to 1, so the swap is correct with no temporary</a:t>
            </a:r>
            <a:endParaRPr lang="en-US" sz="1100" dirty="0"/>
          </a:p>
        </p:txBody>
      </p:sp>
      <p:sp>
        <p:nvSpPr>
          <p:cNvPr id="13" name="text"/>
          <p:cNvSpPr/>
          <p:nvPr/>
        </p:nvSpPr>
        <p:spPr>
          <a:xfrm>
            <a:off x="723900" y="31432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spam += [3] extends the existing list in place; another name pointing at spam sees [1,2,3]</a:t>
            </a:r>
            <a:endParaRPr lang="en-US" sz="1100" dirty="0"/>
          </a:p>
        </p:txBody>
      </p:sp>
      <p:sp>
        <p:nvSpPr>
          <p:cNvPr id="14" name="text"/>
          <p:cNvSpPr/>
          <p:nvPr/>
        </p:nvSpPr>
        <p:spPr>
          <a:xfrm>
            <a:off x="723900" y="35814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spam = spam + [3] builds a new list and rebinds spam; the other name still sees [1,2]</a:t>
            </a:r>
            <a:endParaRPr lang="en-US" sz="1100" dirty="0"/>
          </a:p>
        </p:txBody>
      </p:sp>
      <p:sp>
        <p:nvSpPr>
          <p:cNvPr id="15" name="shape-19-13"/>
          <p:cNvSpPr/>
          <p:nvPr/>
        </p:nvSpPr>
        <p:spPr>
          <a:xfrm>
            <a:off x="552450" y="4076700"/>
            <a:ext cx="7048500" cy="628650"/>
          </a:xfrm>
          <a:prstGeom prst="rect">
            <a:avLst/>
          </a:prstGeom>
          <a:solidFill>
            <a:srgbClr val="FDF3EC"/>
          </a:solidFill>
          <a:ln/>
        </p:spPr>
      </p:sp>
      <p:sp>
        <p:nvSpPr>
          <p:cNvPr id="16" name="text"/>
          <p:cNvSpPr/>
          <p:nvPr/>
        </p:nvSpPr>
        <p:spPr>
          <a:xfrm>
            <a:off x="723900" y="4191000"/>
            <a:ext cx="672465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RESULT</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The swap works because of evaluation order; += and + differ in whether other names observe the change, which matters as soon as a list is shared.</a:t>
            </a:r>
            <a:endParaRPr lang="en-US" sz="1100" dirty="0"/>
          </a:p>
        </p:txBody>
      </p:sp>
      <p:sp>
        <p:nvSpPr>
          <p:cNvPr id="17" name="shape-19-15"/>
          <p:cNvSpPr/>
          <p:nvPr/>
        </p:nvSpPr>
        <p:spPr>
          <a:xfrm>
            <a:off x="7810500" y="1543050"/>
            <a:ext cx="3829050" cy="1771650"/>
          </a:xfrm>
          <a:prstGeom prst="rect">
            <a:avLst/>
          </a:prstGeom>
          <a:solidFill>
            <a:srgbClr val="0E1726"/>
          </a:solidFill>
          <a:ln/>
        </p:spPr>
      </p:sp>
      <p:sp>
        <p:nvSpPr>
          <p:cNvPr id="18" name="text"/>
          <p:cNvSpPr/>
          <p:nvPr/>
        </p:nvSpPr>
        <p:spPr>
          <a:xfrm>
            <a:off x="7981950" y="1695450"/>
            <a:ext cx="3486150" cy="14859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&gt;&gt;&gt; a, b = 1, 2</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&gt;&gt;&gt; a, b = b, a</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&gt;&gt;&gt; a, b</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(2, 1)</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&gt;&gt;&gt; spam = [1, 2]; other = spam</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&gt;&gt;&gt; spam += [3]</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&gt;&gt;&gt; other</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[1, 2, 3]</a:t>
            </a:r>
            <a:endParaRPr lang="en-US" sz="1000" dirty="0"/>
          </a:p>
        </p:txBody>
      </p:sp>
      <p:sp>
        <p:nvSpPr>
          <p:cNvPr id="19" name="shape-19-17"/>
          <p:cNvSpPr/>
          <p:nvPr/>
        </p:nvSpPr>
        <p:spPr>
          <a:xfrm>
            <a:off x="7810500" y="3467100"/>
            <a:ext cx="3829050" cy="1733550"/>
          </a:xfrm>
          <a:prstGeom prst="rect">
            <a:avLst/>
          </a:prstGeom>
          <a:solidFill>
            <a:srgbClr val="FFFFFF"/>
          </a:solidFill>
          <a:ln w="19050">
            <a:solidFill>
              <a:srgbClr val="C2410C"/>
            </a:solidFill>
            <a:prstDash val="solid"/>
          </a:ln>
        </p:spPr>
      </p:sp>
      <p:sp>
        <p:nvSpPr>
          <p:cNvPr id="20" name="text"/>
          <p:cNvSpPr/>
          <p:nvPr/>
        </p:nvSpPr>
        <p:spPr>
          <a:xfrm>
            <a:off x="7981950" y="3600450"/>
            <a:ext cx="3486150" cy="14668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MISTAKE STUDENTS MAKE</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Students assume += on a list behaves like + and is therefore safe on a shared list. It mutates in place, so every other name referring to that list sees the extra elements — a bug that only appears once the list is passed to a function.</a:t>
            </a:r>
            <a:endParaRPr lang="en-US" sz="1100" dirty="0"/>
          </a:p>
        </p:txBody>
      </p:sp>
      <p:sp>
        <p:nvSpPr>
          <p:cNvPr id="21"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Automate the Boring Stuff with Python, 1st ed., Ch. 4, pp. 87-89   |   CO2  |  Bloom L4</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List methods: index, append, insert, remove and sort</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What it is, why it works, and what it costs.</a:t>
            </a:r>
            <a:endParaRPr lang="en-US" sz="1100" dirty="0"/>
          </a:p>
        </p:txBody>
      </p:sp>
      <p:sp>
        <p:nvSpPr>
          <p:cNvPr id="4" name="shape-20-2"/>
          <p:cNvSpPr/>
          <p:nvPr/>
        </p:nvSpPr>
        <p:spPr>
          <a:xfrm>
            <a:off x="552450" y="1266825"/>
            <a:ext cx="990600" cy="47625"/>
          </a:xfrm>
          <a:prstGeom prst="rect">
            <a:avLst/>
          </a:prstGeom>
          <a:solidFill>
            <a:srgbClr val="0F6FC6"/>
          </a:solidFill>
          <a:ln/>
        </p:spPr>
      </p:sp>
      <p:sp>
        <p:nvSpPr>
          <p:cNvPr id="5" name="shape-20-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2</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List methods: index, append, insert,…</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20</a:t>
            </a:r>
            <a:endParaRPr lang="en-US" sz="900" dirty="0"/>
          </a:p>
        </p:txBody>
      </p:sp>
      <p:sp>
        <p:nvSpPr>
          <p:cNvPr id="9" name="shape-20-7"/>
          <p:cNvSpPr/>
          <p:nvPr/>
        </p:nvSpPr>
        <p:spPr>
          <a:xfrm>
            <a:off x="552450" y="1543050"/>
            <a:ext cx="7048500" cy="2914650"/>
          </a:xfrm>
          <a:prstGeom prst="rect">
            <a:avLst/>
          </a:prstGeom>
          <a:solidFill>
            <a:srgbClr val="FFFFFF"/>
          </a:solidFill>
          <a:ln w="12700">
            <a:solidFill>
              <a:srgbClr val="D7DEE8"/>
            </a:solidFill>
            <a:prstDash val="solid"/>
          </a:ln>
        </p:spPr>
      </p:sp>
      <p:sp>
        <p:nvSpPr>
          <p:cNvPr id="10" name="text"/>
          <p:cNvSpPr/>
          <p:nvPr/>
        </p:nvSpPr>
        <p:spPr>
          <a:xfrm>
            <a:off x="742950" y="1714500"/>
            <a:ext cx="6667500" cy="25908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THE MECHANISM</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A method is a function that belongs to a value and is called through it. The list methods split cleanly into two groups: index() searches and returns a position, raising ValueError if the value is absent, while append(), insert(), remove() and sort() all mutate the list in place and return None. That None return is the source of the single most common list bug — writing spam = spam.sort() replaces the list with None. sort() orders in place using ASCII ordering for strings, which puts every capital letter before every lowercase one, so a case-insensitive ordering requires the key=str.lower argument.</a:t>
            </a:r>
            <a:endParaRPr lang="en-US" sz="1100" dirty="0"/>
          </a:p>
        </p:txBody>
      </p:sp>
      <p:sp>
        <p:nvSpPr>
          <p:cNvPr id="11" name="shape-20-9"/>
          <p:cNvSpPr/>
          <p:nvPr/>
        </p:nvSpPr>
        <p:spPr>
          <a:xfrm>
            <a:off x="7810500" y="1543050"/>
            <a:ext cx="3829050" cy="1390650"/>
          </a:xfrm>
          <a:prstGeom prst="rect">
            <a:avLst/>
          </a:prstGeom>
          <a:solidFill>
            <a:srgbClr val="F1F5FA"/>
          </a:solidFill>
          <a:ln/>
        </p:spPr>
      </p:sp>
      <p:sp>
        <p:nvSpPr>
          <p:cNvPr id="12" name="text"/>
          <p:cNvSpPr/>
          <p:nvPr/>
        </p:nvSpPr>
        <p:spPr>
          <a:xfrm>
            <a:off x="8001000" y="1695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KEY TERMS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method</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append()</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insert()</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remove()</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sort()</a:t>
            </a:r>
            <a:endParaRPr lang="en-US" sz="1100" dirty="0"/>
          </a:p>
        </p:txBody>
      </p:sp>
      <p:sp>
        <p:nvSpPr>
          <p:cNvPr id="13" name="shape-20-11"/>
          <p:cNvSpPr/>
          <p:nvPr/>
        </p:nvSpPr>
        <p:spPr>
          <a:xfrm>
            <a:off x="7810500" y="3067050"/>
            <a:ext cx="3829050" cy="1390650"/>
          </a:xfrm>
          <a:prstGeom prst="rect">
            <a:avLst/>
          </a:prstGeom>
          <a:solidFill>
            <a:srgbClr val="FDF3EC"/>
          </a:solidFill>
          <a:ln/>
        </p:spPr>
      </p:sp>
      <p:sp>
        <p:nvSpPr>
          <p:cNvPr id="14" name="text"/>
          <p:cNvSpPr/>
          <p:nvPr/>
        </p:nvSpPr>
        <p:spPr>
          <a:xfrm>
            <a:off x="8001000" y="3219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TAKEAWAY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The mutating list methods return None, so never assign their result back to the list.</a:t>
            </a:r>
            <a:endParaRPr lang="en-US" sz="1100" dirty="0"/>
          </a:p>
        </p:txBody>
      </p:sp>
      <p:sp>
        <p:nvSpPr>
          <p:cNvPr id="15" name="shape-20-13"/>
          <p:cNvSpPr/>
          <p:nvPr/>
        </p:nvSpPr>
        <p:spPr>
          <a:xfrm>
            <a:off x="552450" y="4629150"/>
            <a:ext cx="11087100" cy="609600"/>
          </a:xfrm>
          <a:prstGeom prst="rect">
            <a:avLst/>
          </a:prstGeom>
          <a:solidFill>
            <a:srgbClr val="F1F5FA"/>
          </a:solidFill>
          <a:ln/>
        </p:spPr>
      </p:sp>
      <p:sp>
        <p:nvSpPr>
          <p:cNvPr id="16" name="text"/>
          <p:cNvSpPr/>
          <p:nvPr/>
        </p:nvSpPr>
        <p:spPr>
          <a:xfrm>
            <a:off x="742950" y="4724400"/>
            <a:ext cx="742950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5A6478"/>
                </a:solidFill>
                <a:latin typeface="Segoe UI" pitchFamily="34" charset="0"/>
                <a:ea typeface="Segoe UI" pitchFamily="34" charset="-122"/>
                <a:cs typeface="Segoe UI" pitchFamily="34" charset="-120"/>
              </a:rPr>
              <a:t>DIAGRAM FOR PHASE 2</a:t>
            </a:r>
            <a:endParaRPr lang="en-US" sz="1100" dirty="0"/>
          </a:p>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Two grouped panels. Panel A 'search, returns a value': index() shown with a list, a search token, and a green return arrow carrying the integer 2 back to the caller. Panel B 'mutate, return None': four rows fo…</a:t>
            </a:r>
            <a:endParaRPr lang="en-US" sz="1100" dirty="0"/>
          </a:p>
        </p:txBody>
      </p:sp>
      <p:sp>
        <p:nvSpPr>
          <p:cNvPr id="17" name="text"/>
          <p:cNvSpPr/>
          <p:nvPr/>
        </p:nvSpPr>
        <p:spPr>
          <a:xfrm>
            <a:off x="7810500" y="4705350"/>
            <a:ext cx="3657600" cy="2667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Automate the Boring Stuff with Python, 1st ed., Ch. 4, pp. 89-92</a:t>
            </a:r>
            <a:endParaRPr lang="en-US" sz="900" dirty="0"/>
          </a:p>
        </p:txBody>
      </p:sp>
      <p:sp>
        <p:nvSpPr>
          <p:cNvPr id="18" name="text"/>
          <p:cNvSpPr/>
          <p:nvPr/>
        </p:nvSpPr>
        <p:spPr>
          <a:xfrm>
            <a:off x="7810500" y="4972050"/>
            <a:ext cx="3657600" cy="20955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CO2  |  Bloom L3  |  visual id: methods-return-none</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List methods: index, append, insert, remove and sort - how it works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The procedure in order, and what each pass costs you.</a:t>
            </a:r>
            <a:endParaRPr lang="en-US" sz="1100" dirty="0"/>
          </a:p>
        </p:txBody>
      </p:sp>
      <p:sp>
        <p:nvSpPr>
          <p:cNvPr id="4" name="shape-21-2"/>
          <p:cNvSpPr/>
          <p:nvPr/>
        </p:nvSpPr>
        <p:spPr>
          <a:xfrm>
            <a:off x="552450" y="1266825"/>
            <a:ext cx="990600" cy="47625"/>
          </a:xfrm>
          <a:prstGeom prst="rect">
            <a:avLst/>
          </a:prstGeom>
          <a:solidFill>
            <a:srgbClr val="0F6FC6"/>
          </a:solidFill>
          <a:ln/>
        </p:spPr>
      </p:sp>
      <p:sp>
        <p:nvSpPr>
          <p:cNvPr id="5" name="shape-21-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2</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List methods: index, append, insert,…</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21</a:t>
            </a:r>
            <a:endParaRPr lang="en-US" sz="900" dirty="0"/>
          </a:p>
        </p:txBody>
      </p:sp>
      <p:sp>
        <p:nvSpPr>
          <p:cNvPr id="9" name="shape-21-7"/>
          <p:cNvSpPr/>
          <p:nvPr/>
        </p:nvSpPr>
        <p:spPr>
          <a:xfrm>
            <a:off x="552450" y="1600200"/>
            <a:ext cx="7239000" cy="476250"/>
          </a:xfrm>
          <a:prstGeom prst="rect">
            <a:avLst/>
          </a:prstGeom>
          <a:solidFill>
            <a:srgbClr val="F1F5FA"/>
          </a:solidFill>
          <a:ln w="12700">
            <a:solidFill>
              <a:srgbClr val="D7DEE8"/>
            </a:solidFill>
            <a:prstDash val="solid"/>
          </a:ln>
        </p:spPr>
      </p:sp>
      <p:sp>
        <p:nvSpPr>
          <p:cNvPr id="10" name="text"/>
          <p:cNvSpPr/>
          <p:nvPr/>
        </p:nvSpPr>
        <p:spPr>
          <a:xfrm>
            <a:off x="723900" y="17145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Use index(value) to find a position, and guard it against ValueError</a:t>
            </a:r>
            <a:endParaRPr lang="en-US" sz="1100" dirty="0"/>
          </a:p>
        </p:txBody>
      </p:sp>
      <p:sp>
        <p:nvSpPr>
          <p:cNvPr id="11" name="shape-21-9"/>
          <p:cNvSpPr/>
          <p:nvPr/>
        </p:nvSpPr>
        <p:spPr>
          <a:xfrm>
            <a:off x="552450" y="2152650"/>
            <a:ext cx="7239000" cy="476250"/>
          </a:xfrm>
          <a:prstGeom prst="rect">
            <a:avLst/>
          </a:prstGeom>
          <a:solidFill>
            <a:srgbClr val="FFFFFF"/>
          </a:solidFill>
          <a:ln w="12700">
            <a:solidFill>
              <a:srgbClr val="D7DEE8"/>
            </a:solidFill>
            <a:prstDash val="solid"/>
          </a:ln>
        </p:spPr>
      </p:sp>
      <p:sp>
        <p:nvSpPr>
          <p:cNvPr id="12" name="text"/>
          <p:cNvSpPr/>
          <p:nvPr/>
        </p:nvSpPr>
        <p:spPr>
          <a:xfrm>
            <a:off x="723900" y="22669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Use append(value) to add to the end</a:t>
            </a:r>
            <a:endParaRPr lang="en-US" sz="1100" dirty="0"/>
          </a:p>
        </p:txBody>
      </p:sp>
      <p:sp>
        <p:nvSpPr>
          <p:cNvPr id="13" name="shape-21-11"/>
          <p:cNvSpPr/>
          <p:nvPr/>
        </p:nvSpPr>
        <p:spPr>
          <a:xfrm>
            <a:off x="552450" y="2705100"/>
            <a:ext cx="7239000" cy="476250"/>
          </a:xfrm>
          <a:prstGeom prst="rect">
            <a:avLst/>
          </a:prstGeom>
          <a:solidFill>
            <a:srgbClr val="F1F5FA"/>
          </a:solidFill>
          <a:ln w="12700">
            <a:solidFill>
              <a:srgbClr val="D7DEE8"/>
            </a:solidFill>
            <a:prstDash val="solid"/>
          </a:ln>
        </p:spPr>
      </p:sp>
      <p:sp>
        <p:nvSpPr>
          <p:cNvPr id="14" name="text"/>
          <p:cNvSpPr/>
          <p:nvPr/>
        </p:nvSpPr>
        <p:spPr>
          <a:xfrm>
            <a:off x="723900" y="28194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Use insert(i, value) to add at a position</a:t>
            </a:r>
            <a:endParaRPr lang="en-US" sz="1100" dirty="0"/>
          </a:p>
        </p:txBody>
      </p:sp>
      <p:sp>
        <p:nvSpPr>
          <p:cNvPr id="15" name="shape-21-13"/>
          <p:cNvSpPr/>
          <p:nvPr/>
        </p:nvSpPr>
        <p:spPr>
          <a:xfrm>
            <a:off x="552450" y="3257550"/>
            <a:ext cx="7239000" cy="476250"/>
          </a:xfrm>
          <a:prstGeom prst="rect">
            <a:avLst/>
          </a:prstGeom>
          <a:solidFill>
            <a:srgbClr val="FFFFFF"/>
          </a:solidFill>
          <a:ln w="12700">
            <a:solidFill>
              <a:srgbClr val="D7DEE8"/>
            </a:solidFill>
            <a:prstDash val="solid"/>
          </a:ln>
        </p:spPr>
      </p:sp>
      <p:sp>
        <p:nvSpPr>
          <p:cNvPr id="16" name="text"/>
          <p:cNvSpPr/>
          <p:nvPr/>
        </p:nvSpPr>
        <p:spPr>
          <a:xfrm>
            <a:off x="723900" y="33718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Use remove(value) to delete by value, or del by position</a:t>
            </a:r>
            <a:endParaRPr lang="en-US" sz="1100" dirty="0"/>
          </a:p>
        </p:txBody>
      </p:sp>
      <p:sp>
        <p:nvSpPr>
          <p:cNvPr id="17" name="shape-21-15"/>
          <p:cNvSpPr/>
          <p:nvPr/>
        </p:nvSpPr>
        <p:spPr>
          <a:xfrm>
            <a:off x="552450" y="3810000"/>
            <a:ext cx="7239000" cy="476250"/>
          </a:xfrm>
          <a:prstGeom prst="rect">
            <a:avLst/>
          </a:prstGeom>
          <a:solidFill>
            <a:srgbClr val="F1F5FA"/>
          </a:solidFill>
          <a:ln w="12700">
            <a:solidFill>
              <a:srgbClr val="D7DEE8"/>
            </a:solidFill>
            <a:prstDash val="solid"/>
          </a:ln>
        </p:spPr>
      </p:sp>
      <p:sp>
        <p:nvSpPr>
          <p:cNvPr id="18" name="text"/>
          <p:cNvSpPr/>
          <p:nvPr/>
        </p:nvSpPr>
        <p:spPr>
          <a:xfrm>
            <a:off x="723900" y="39243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Call sort() as a statement, never as the right side of an assignment</a:t>
            </a:r>
            <a:endParaRPr lang="en-US" sz="1100" dirty="0"/>
          </a:p>
        </p:txBody>
      </p:sp>
      <p:sp>
        <p:nvSpPr>
          <p:cNvPr id="19" name="shape-21-17"/>
          <p:cNvSpPr/>
          <p:nvPr/>
        </p:nvSpPr>
        <p:spPr>
          <a:xfrm>
            <a:off x="552450" y="4362450"/>
            <a:ext cx="7239000" cy="476250"/>
          </a:xfrm>
          <a:prstGeom prst="rect">
            <a:avLst/>
          </a:prstGeom>
          <a:solidFill>
            <a:srgbClr val="FFFFFF"/>
          </a:solidFill>
          <a:ln w="12700">
            <a:solidFill>
              <a:srgbClr val="D7DEE8"/>
            </a:solidFill>
            <a:prstDash val="solid"/>
          </a:ln>
        </p:spPr>
      </p:sp>
      <p:sp>
        <p:nvSpPr>
          <p:cNvPr id="20" name="text"/>
          <p:cNvSpPr/>
          <p:nvPr/>
        </p:nvSpPr>
        <p:spPr>
          <a:xfrm>
            <a:off x="723900" y="44767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6.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Pass key=str.lower to sort strings case-insensitively</a:t>
            </a:r>
            <a:endParaRPr lang="en-US" sz="1100" dirty="0"/>
          </a:p>
        </p:txBody>
      </p:sp>
      <p:sp>
        <p:nvSpPr>
          <p:cNvPr id="21" name="shape-21-19"/>
          <p:cNvSpPr/>
          <p:nvPr/>
        </p:nvSpPr>
        <p:spPr>
          <a:xfrm>
            <a:off x="8020050" y="1543050"/>
            <a:ext cx="3619500" cy="2247900"/>
          </a:xfrm>
          <a:prstGeom prst="rect">
            <a:avLst/>
          </a:prstGeom>
          <a:solidFill>
            <a:srgbClr val="F1F5FA"/>
          </a:solidFill>
          <a:ln/>
        </p:spPr>
      </p:sp>
      <p:sp>
        <p:nvSpPr>
          <p:cNvPr id="22" name="text"/>
          <p:cNvSpPr/>
          <p:nvPr/>
        </p:nvSpPr>
        <p:spPr>
          <a:xfrm>
            <a:off x="8210550" y="1695450"/>
            <a:ext cx="3257550" cy="19621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COST AND BEHAVIOUR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Best: O(1) amortised for append</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Typical: O(n) for index, insert and remove</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Worst: O(n log n) for sort</a:t>
            </a:r>
            <a:endParaRPr lang="en-US" sz="1100" dirty="0"/>
          </a:p>
        </p:txBody>
      </p:sp>
      <p:sp>
        <p:nvSpPr>
          <p:cNvPr id="23" name="shape-21-21"/>
          <p:cNvSpPr/>
          <p:nvPr/>
        </p:nvSpPr>
        <p:spPr>
          <a:xfrm>
            <a:off x="8020050" y="3943350"/>
            <a:ext cx="3619500" cy="1257300"/>
          </a:xfrm>
          <a:prstGeom prst="rect">
            <a:avLst/>
          </a:prstGeom>
          <a:solidFill>
            <a:srgbClr val="FDF3EC"/>
          </a:solidFill>
          <a:ln/>
        </p:spPr>
      </p:sp>
      <p:sp>
        <p:nvSpPr>
          <p:cNvPr id="24" name="text"/>
          <p:cNvSpPr/>
          <p:nvPr/>
        </p:nvSpPr>
        <p:spPr>
          <a:xfrm>
            <a:off x="8210550" y="4076700"/>
            <a:ext cx="3257550" cy="10096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WHAT THAT MEANS</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append is the cheap way to grow a list; insert at index 0 is O(n) because everything shifts.</a:t>
            </a:r>
            <a:endParaRPr lang="en-US" sz="1100" dirty="0"/>
          </a:p>
        </p:txBody>
      </p:sp>
      <p:sp>
        <p:nvSpPr>
          <p:cNvPr id="25"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Automate the Boring Stuff with Python, 1st ed., Ch. 4, pp. 89-92   |   CO2  |  Bloom L3</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List methods: index, append, insert, remove and sort - worked example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concrete case, carried all the way to a stated number.</a:t>
            </a:r>
            <a:endParaRPr lang="en-US" sz="1100" dirty="0"/>
          </a:p>
        </p:txBody>
      </p:sp>
      <p:sp>
        <p:nvSpPr>
          <p:cNvPr id="4" name="shape-22-2"/>
          <p:cNvSpPr/>
          <p:nvPr/>
        </p:nvSpPr>
        <p:spPr>
          <a:xfrm>
            <a:off x="552450" y="1266825"/>
            <a:ext cx="990600" cy="47625"/>
          </a:xfrm>
          <a:prstGeom prst="rect">
            <a:avLst/>
          </a:prstGeom>
          <a:solidFill>
            <a:srgbClr val="0F6FC6"/>
          </a:solidFill>
          <a:ln/>
        </p:spPr>
      </p:sp>
      <p:sp>
        <p:nvSpPr>
          <p:cNvPr id="5" name="shape-22-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2</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List methods: index, append, insert,…</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22</a:t>
            </a:r>
            <a:endParaRPr lang="en-US" sz="900" dirty="0"/>
          </a:p>
        </p:txBody>
      </p:sp>
      <p:sp>
        <p:nvSpPr>
          <p:cNvPr id="9" name="shape-22-7"/>
          <p:cNvSpPr/>
          <p:nvPr/>
        </p:nvSpPr>
        <p:spPr>
          <a:xfrm>
            <a:off x="552450" y="1543050"/>
            <a:ext cx="7048500" cy="590550"/>
          </a:xfrm>
          <a:prstGeom prst="rect">
            <a:avLst/>
          </a:prstGeom>
          <a:solidFill>
            <a:srgbClr val="F1F5FA"/>
          </a:solidFill>
          <a:ln/>
        </p:spPr>
      </p:sp>
      <p:sp>
        <p:nvSpPr>
          <p:cNvPr id="10" name="text"/>
          <p:cNvSpPr/>
          <p:nvPr/>
        </p:nvSpPr>
        <p:spPr>
          <a:xfrm>
            <a:off x="723900" y="1657350"/>
            <a:ext cx="6724650" cy="4191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GIVEN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spam = ['Alice', 'bob', 'Carol']; call spam.sort() then sort with key=str.lower.</a:t>
            </a:r>
            <a:endParaRPr lang="en-US" sz="1100" dirty="0"/>
          </a:p>
        </p:txBody>
      </p:sp>
      <p:sp>
        <p:nvSpPr>
          <p:cNvPr id="11" name="text"/>
          <p:cNvSpPr/>
          <p:nvPr/>
        </p:nvSpPr>
        <p:spPr>
          <a:xfrm>
            <a:off x="723900" y="22669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spam.sort() orders by character code, giving ['Alice', 'Carol', 'bob']</a:t>
            </a:r>
            <a:endParaRPr lang="en-US" sz="1100" dirty="0"/>
          </a:p>
        </p:txBody>
      </p:sp>
      <p:sp>
        <p:nvSpPr>
          <p:cNvPr id="12" name="text"/>
          <p:cNvSpPr/>
          <p:nvPr/>
        </p:nvSpPr>
        <p:spPr>
          <a:xfrm>
            <a:off x="723900" y="27051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Capitals sort before lowercase because 'C' is 67 and 'b' is 98</a:t>
            </a:r>
            <a:endParaRPr lang="en-US" sz="1100" dirty="0"/>
          </a:p>
        </p:txBody>
      </p:sp>
      <p:sp>
        <p:nvSpPr>
          <p:cNvPr id="13" name="text"/>
          <p:cNvSpPr/>
          <p:nvPr/>
        </p:nvSpPr>
        <p:spPr>
          <a:xfrm>
            <a:off x="723900" y="31432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spam.sort(key=str.lower) compares lowercased forms, giving ['Alice', 'bob', 'Carol']</a:t>
            </a:r>
            <a:endParaRPr lang="en-US" sz="1100" dirty="0"/>
          </a:p>
        </p:txBody>
      </p:sp>
      <p:sp>
        <p:nvSpPr>
          <p:cNvPr id="14" name="text"/>
          <p:cNvSpPr/>
          <p:nvPr/>
        </p:nvSpPr>
        <p:spPr>
          <a:xfrm>
            <a:off x="723900" y="35814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Both calls return None; the list itself was reordered in place</a:t>
            </a:r>
            <a:endParaRPr lang="en-US" sz="1100" dirty="0"/>
          </a:p>
        </p:txBody>
      </p:sp>
      <p:sp>
        <p:nvSpPr>
          <p:cNvPr id="15" name="shape-22-13"/>
          <p:cNvSpPr/>
          <p:nvPr/>
        </p:nvSpPr>
        <p:spPr>
          <a:xfrm>
            <a:off x="552450" y="4076700"/>
            <a:ext cx="7048500" cy="628650"/>
          </a:xfrm>
          <a:prstGeom prst="rect">
            <a:avLst/>
          </a:prstGeom>
          <a:solidFill>
            <a:srgbClr val="FDF3EC"/>
          </a:solidFill>
          <a:ln/>
        </p:spPr>
      </p:sp>
      <p:sp>
        <p:nvSpPr>
          <p:cNvPr id="16" name="text"/>
          <p:cNvSpPr/>
          <p:nvPr/>
        </p:nvSpPr>
        <p:spPr>
          <a:xfrm>
            <a:off x="723900" y="4191000"/>
            <a:ext cx="672465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RESULT</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The default ordering is ASCII, not alphabetical as a human means it; key=str.lower is required for the ordering a reader expects.</a:t>
            </a:r>
            <a:endParaRPr lang="en-US" sz="1100" dirty="0"/>
          </a:p>
        </p:txBody>
      </p:sp>
      <p:sp>
        <p:nvSpPr>
          <p:cNvPr id="17" name="shape-22-15"/>
          <p:cNvSpPr/>
          <p:nvPr/>
        </p:nvSpPr>
        <p:spPr>
          <a:xfrm>
            <a:off x="7810500" y="1543050"/>
            <a:ext cx="3829050" cy="1771650"/>
          </a:xfrm>
          <a:prstGeom prst="rect">
            <a:avLst/>
          </a:prstGeom>
          <a:solidFill>
            <a:srgbClr val="0E1726"/>
          </a:solidFill>
          <a:ln/>
        </p:spPr>
      </p:sp>
      <p:sp>
        <p:nvSpPr>
          <p:cNvPr id="18" name="text"/>
          <p:cNvSpPr/>
          <p:nvPr/>
        </p:nvSpPr>
        <p:spPr>
          <a:xfrm>
            <a:off x="7981950" y="1695450"/>
            <a:ext cx="3486150" cy="14859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&gt;&gt;&gt; spam = ['Alice', 'bob', 'Carol']</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&gt;&gt;&gt; spam.sort()</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&gt;&gt;&gt; spam</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['Alice', 'Carol', 'bob']</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&gt;&gt;&gt; spam.sort(key=str.lower)</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&gt;&gt;&gt; spam</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['Alice', 'bob', 'Carol']</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&gt;&gt;&gt; spam = spam.sort()   # BUG: spam is now None</a:t>
            </a:r>
            <a:endParaRPr lang="en-US" sz="1000" dirty="0"/>
          </a:p>
        </p:txBody>
      </p:sp>
      <p:sp>
        <p:nvSpPr>
          <p:cNvPr id="19" name="shape-22-17"/>
          <p:cNvSpPr/>
          <p:nvPr/>
        </p:nvSpPr>
        <p:spPr>
          <a:xfrm>
            <a:off x="7810500" y="3467100"/>
            <a:ext cx="3829050" cy="1733550"/>
          </a:xfrm>
          <a:prstGeom prst="rect">
            <a:avLst/>
          </a:prstGeom>
          <a:solidFill>
            <a:srgbClr val="FFFFFF"/>
          </a:solidFill>
          <a:ln w="19050">
            <a:solidFill>
              <a:srgbClr val="C2410C"/>
            </a:solidFill>
            <a:prstDash val="solid"/>
          </a:ln>
        </p:spPr>
      </p:sp>
      <p:sp>
        <p:nvSpPr>
          <p:cNvPr id="20" name="text"/>
          <p:cNvSpPr/>
          <p:nvPr/>
        </p:nvSpPr>
        <p:spPr>
          <a:xfrm>
            <a:off x="7981950" y="3600450"/>
            <a:ext cx="3486150" cy="14668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MISTAKE STUDENTS MAKE</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Students write spam = spam.sort() by analogy with sorted(). sort() mutates and returns None, so the list is thrown away; either call spam.sort() as a statement or use spam = sorted(spam).</a:t>
            </a:r>
            <a:endParaRPr lang="en-US" sz="1100" dirty="0"/>
          </a:p>
        </p:txBody>
      </p:sp>
      <p:sp>
        <p:nvSpPr>
          <p:cNvPr id="21"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Automate the Boring Stuff with Python, 1st ed., Ch. 4, pp. 89-92   |   CO2  |  Bloom L3</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Mutable and immutable types, and the tuple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What it is, why it works, and what it costs.</a:t>
            </a:r>
            <a:endParaRPr lang="en-US" sz="1100" dirty="0"/>
          </a:p>
        </p:txBody>
      </p:sp>
      <p:sp>
        <p:nvSpPr>
          <p:cNvPr id="4" name="shape-23-2"/>
          <p:cNvSpPr/>
          <p:nvPr/>
        </p:nvSpPr>
        <p:spPr>
          <a:xfrm>
            <a:off x="552450" y="1266825"/>
            <a:ext cx="990600" cy="47625"/>
          </a:xfrm>
          <a:prstGeom prst="rect">
            <a:avLst/>
          </a:prstGeom>
          <a:solidFill>
            <a:srgbClr val="0F6FC6"/>
          </a:solidFill>
          <a:ln/>
        </p:spPr>
      </p:sp>
      <p:sp>
        <p:nvSpPr>
          <p:cNvPr id="5" name="shape-23-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2</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Mutable and immutable types, and the…</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23</a:t>
            </a:r>
            <a:endParaRPr lang="en-US" sz="900" dirty="0"/>
          </a:p>
        </p:txBody>
      </p:sp>
      <p:sp>
        <p:nvSpPr>
          <p:cNvPr id="9" name="shape-23-7"/>
          <p:cNvSpPr/>
          <p:nvPr/>
        </p:nvSpPr>
        <p:spPr>
          <a:xfrm>
            <a:off x="552450" y="1543050"/>
            <a:ext cx="7048500" cy="2914650"/>
          </a:xfrm>
          <a:prstGeom prst="rect">
            <a:avLst/>
          </a:prstGeom>
          <a:solidFill>
            <a:srgbClr val="FFFFFF"/>
          </a:solidFill>
          <a:ln w="12700">
            <a:solidFill>
              <a:srgbClr val="D7DEE8"/>
            </a:solidFill>
            <a:prstDash val="solid"/>
          </a:ln>
        </p:spPr>
      </p:sp>
      <p:sp>
        <p:nvSpPr>
          <p:cNvPr id="10" name="text"/>
          <p:cNvSpPr/>
          <p:nvPr/>
        </p:nvSpPr>
        <p:spPr>
          <a:xfrm>
            <a:off x="742950" y="1714500"/>
            <a:ext cx="6667500" cy="25908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THE MECHANISM</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A mutable value can be changed after creation and an immutable one cannot; lists, dictionaries and sets are mutable, while integers, floats, strings and tuples are immutable. A tuple is written with parentheses and behaves like a read-only list, which makes it the right choice for a fixed record such as a coordinate pair. A one-element tuple needs a trailing comma — (42,) is a tuple and (42) is just the integer in brackets — because the comma, not the parentheses, is what makes a tuple. Immutability is not merely a restriction: it makes a value hashable, which is what allows a tuple to be used as a dictionary key where a list cannot.</a:t>
            </a:r>
            <a:endParaRPr lang="en-US" sz="1100" dirty="0"/>
          </a:p>
        </p:txBody>
      </p:sp>
      <p:sp>
        <p:nvSpPr>
          <p:cNvPr id="11" name="shape-23-9"/>
          <p:cNvSpPr/>
          <p:nvPr/>
        </p:nvSpPr>
        <p:spPr>
          <a:xfrm>
            <a:off x="7810500" y="1543050"/>
            <a:ext cx="3829050" cy="1390650"/>
          </a:xfrm>
          <a:prstGeom prst="rect">
            <a:avLst/>
          </a:prstGeom>
          <a:solidFill>
            <a:srgbClr val="F1F5FA"/>
          </a:solidFill>
          <a:ln/>
        </p:spPr>
      </p:sp>
      <p:sp>
        <p:nvSpPr>
          <p:cNvPr id="12" name="text"/>
          <p:cNvSpPr/>
          <p:nvPr/>
        </p:nvSpPr>
        <p:spPr>
          <a:xfrm>
            <a:off x="8001000" y="1695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KEY TERMS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mutable</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immutable</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tuple</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trailing comma</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hashable</a:t>
            </a:r>
            <a:endParaRPr lang="en-US" sz="1100" dirty="0"/>
          </a:p>
        </p:txBody>
      </p:sp>
      <p:sp>
        <p:nvSpPr>
          <p:cNvPr id="13" name="shape-23-11"/>
          <p:cNvSpPr/>
          <p:nvPr/>
        </p:nvSpPr>
        <p:spPr>
          <a:xfrm>
            <a:off x="7810500" y="3067050"/>
            <a:ext cx="3829050" cy="1390650"/>
          </a:xfrm>
          <a:prstGeom prst="rect">
            <a:avLst/>
          </a:prstGeom>
          <a:solidFill>
            <a:srgbClr val="FDF3EC"/>
          </a:solidFill>
          <a:ln/>
        </p:spPr>
      </p:sp>
      <p:sp>
        <p:nvSpPr>
          <p:cNvPr id="14" name="text"/>
          <p:cNvSpPr/>
          <p:nvPr/>
        </p:nvSpPr>
        <p:spPr>
          <a:xfrm>
            <a:off x="8001000" y="3219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TAKEAWAY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Immutability buys hashability, which is why a tuple can be a dictionary key and a list cannot.</a:t>
            </a:r>
            <a:endParaRPr lang="en-US" sz="1100" dirty="0"/>
          </a:p>
        </p:txBody>
      </p:sp>
      <p:sp>
        <p:nvSpPr>
          <p:cNvPr id="15" name="shape-23-13"/>
          <p:cNvSpPr/>
          <p:nvPr/>
        </p:nvSpPr>
        <p:spPr>
          <a:xfrm>
            <a:off x="552450" y="4629150"/>
            <a:ext cx="11087100" cy="609600"/>
          </a:xfrm>
          <a:prstGeom prst="rect">
            <a:avLst/>
          </a:prstGeom>
          <a:solidFill>
            <a:srgbClr val="F1F5FA"/>
          </a:solidFill>
          <a:ln/>
        </p:spPr>
      </p:sp>
      <p:sp>
        <p:nvSpPr>
          <p:cNvPr id="16" name="text"/>
          <p:cNvSpPr/>
          <p:nvPr/>
        </p:nvSpPr>
        <p:spPr>
          <a:xfrm>
            <a:off x="742950" y="4724400"/>
            <a:ext cx="742950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5A6478"/>
                </a:solidFill>
                <a:latin typeface="Segoe UI" pitchFamily="34" charset="0"/>
                <a:ea typeface="Segoe UI" pitchFamily="34" charset="-122"/>
                <a:cs typeface="Segoe UI" pitchFamily="34" charset="-120"/>
              </a:rPr>
              <a:t>DIAGRAM FOR PHASE 2</a:t>
            </a:r>
            <a:endParaRPr lang="en-US" sz="1100" dirty="0"/>
          </a:p>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A vertical divider splits the panel. Left side, headed 'mutable', shows list, dict and set icons, each with a small pencil badge and the caption 'can be edited in place'; a dictionary-key slot beside them is d…</a:t>
            </a:r>
            <a:endParaRPr lang="en-US" sz="1100" dirty="0"/>
          </a:p>
        </p:txBody>
      </p:sp>
      <p:sp>
        <p:nvSpPr>
          <p:cNvPr id="17" name="text"/>
          <p:cNvSpPr/>
          <p:nvPr/>
        </p:nvSpPr>
        <p:spPr>
          <a:xfrm>
            <a:off x="7810500" y="4705350"/>
            <a:ext cx="3657600" cy="2667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Automate the Boring Stuff with Python, 1st ed., Ch. 4, pp. 93-97</a:t>
            </a:r>
            <a:endParaRPr lang="en-US" sz="900" dirty="0"/>
          </a:p>
        </p:txBody>
      </p:sp>
      <p:sp>
        <p:nvSpPr>
          <p:cNvPr id="18" name="text"/>
          <p:cNvSpPr/>
          <p:nvPr/>
        </p:nvSpPr>
        <p:spPr>
          <a:xfrm>
            <a:off x="7810500" y="4972050"/>
            <a:ext cx="3657600" cy="20955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CO2  |  Bloom L3  |  visual id: mutable-immutable-split</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Mutable and immutable types, and the tuple - how it works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The procedure in order, and what each pass costs you.</a:t>
            </a:r>
            <a:endParaRPr lang="en-US" sz="1100" dirty="0"/>
          </a:p>
        </p:txBody>
      </p:sp>
      <p:sp>
        <p:nvSpPr>
          <p:cNvPr id="4" name="shape-24-2"/>
          <p:cNvSpPr/>
          <p:nvPr/>
        </p:nvSpPr>
        <p:spPr>
          <a:xfrm>
            <a:off x="552450" y="1266825"/>
            <a:ext cx="990600" cy="47625"/>
          </a:xfrm>
          <a:prstGeom prst="rect">
            <a:avLst/>
          </a:prstGeom>
          <a:solidFill>
            <a:srgbClr val="0F6FC6"/>
          </a:solidFill>
          <a:ln/>
        </p:spPr>
      </p:sp>
      <p:sp>
        <p:nvSpPr>
          <p:cNvPr id="5" name="shape-24-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2</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Mutable and immutable types, and the…</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24</a:t>
            </a:r>
            <a:endParaRPr lang="en-US" sz="900" dirty="0"/>
          </a:p>
        </p:txBody>
      </p:sp>
      <p:sp>
        <p:nvSpPr>
          <p:cNvPr id="9" name="shape-24-7"/>
          <p:cNvSpPr/>
          <p:nvPr/>
        </p:nvSpPr>
        <p:spPr>
          <a:xfrm>
            <a:off x="552450" y="1600200"/>
            <a:ext cx="7239000" cy="476250"/>
          </a:xfrm>
          <a:prstGeom prst="rect">
            <a:avLst/>
          </a:prstGeom>
          <a:solidFill>
            <a:srgbClr val="F1F5FA"/>
          </a:solidFill>
          <a:ln w="12700">
            <a:solidFill>
              <a:srgbClr val="D7DEE8"/>
            </a:solidFill>
            <a:prstDash val="solid"/>
          </a:ln>
        </p:spPr>
      </p:sp>
      <p:sp>
        <p:nvSpPr>
          <p:cNvPr id="10" name="text"/>
          <p:cNvSpPr/>
          <p:nvPr/>
        </p:nvSpPr>
        <p:spPr>
          <a:xfrm>
            <a:off x="723900" y="17145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Decide whether the collection will ever need to change</a:t>
            </a:r>
            <a:endParaRPr lang="en-US" sz="1100" dirty="0"/>
          </a:p>
        </p:txBody>
      </p:sp>
      <p:sp>
        <p:nvSpPr>
          <p:cNvPr id="11" name="shape-24-9"/>
          <p:cNvSpPr/>
          <p:nvPr/>
        </p:nvSpPr>
        <p:spPr>
          <a:xfrm>
            <a:off x="552450" y="2152650"/>
            <a:ext cx="7239000" cy="476250"/>
          </a:xfrm>
          <a:prstGeom prst="rect">
            <a:avLst/>
          </a:prstGeom>
          <a:solidFill>
            <a:srgbClr val="FFFFFF"/>
          </a:solidFill>
          <a:ln w="12700">
            <a:solidFill>
              <a:srgbClr val="D7DEE8"/>
            </a:solidFill>
            <a:prstDash val="solid"/>
          </a:ln>
        </p:spPr>
      </p:sp>
      <p:sp>
        <p:nvSpPr>
          <p:cNvPr id="12" name="text"/>
          <p:cNvSpPr/>
          <p:nvPr/>
        </p:nvSpPr>
        <p:spPr>
          <a:xfrm>
            <a:off x="723900" y="22669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Use a list when it will, a tuple when it will not</a:t>
            </a:r>
            <a:endParaRPr lang="en-US" sz="1100" dirty="0"/>
          </a:p>
        </p:txBody>
      </p:sp>
      <p:sp>
        <p:nvSpPr>
          <p:cNvPr id="13" name="shape-24-11"/>
          <p:cNvSpPr/>
          <p:nvPr/>
        </p:nvSpPr>
        <p:spPr>
          <a:xfrm>
            <a:off x="552450" y="2705100"/>
            <a:ext cx="7239000" cy="476250"/>
          </a:xfrm>
          <a:prstGeom prst="rect">
            <a:avLst/>
          </a:prstGeom>
          <a:solidFill>
            <a:srgbClr val="F1F5FA"/>
          </a:solidFill>
          <a:ln w="12700">
            <a:solidFill>
              <a:srgbClr val="D7DEE8"/>
            </a:solidFill>
            <a:prstDash val="solid"/>
          </a:ln>
        </p:spPr>
      </p:sp>
      <p:sp>
        <p:nvSpPr>
          <p:cNvPr id="14" name="text"/>
          <p:cNvSpPr/>
          <p:nvPr/>
        </p:nvSpPr>
        <p:spPr>
          <a:xfrm>
            <a:off x="723900" y="28194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Write a one-element tuple with a trailing comma</a:t>
            </a:r>
            <a:endParaRPr lang="en-US" sz="1100" dirty="0"/>
          </a:p>
        </p:txBody>
      </p:sp>
      <p:sp>
        <p:nvSpPr>
          <p:cNvPr id="15" name="shape-24-13"/>
          <p:cNvSpPr/>
          <p:nvPr/>
        </p:nvSpPr>
        <p:spPr>
          <a:xfrm>
            <a:off x="552450" y="3257550"/>
            <a:ext cx="7239000" cy="476250"/>
          </a:xfrm>
          <a:prstGeom prst="rect">
            <a:avLst/>
          </a:prstGeom>
          <a:solidFill>
            <a:srgbClr val="FFFFFF"/>
          </a:solidFill>
          <a:ln w="12700">
            <a:solidFill>
              <a:srgbClr val="D7DEE8"/>
            </a:solidFill>
            <a:prstDash val="solid"/>
          </a:ln>
        </p:spPr>
      </p:sp>
      <p:sp>
        <p:nvSpPr>
          <p:cNvPr id="16" name="text"/>
          <p:cNvSpPr/>
          <p:nvPr/>
        </p:nvSpPr>
        <p:spPr>
          <a:xfrm>
            <a:off x="723900" y="33718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Use a tuple when the value must serve as a dictionary key</a:t>
            </a:r>
            <a:endParaRPr lang="en-US" sz="1100" dirty="0"/>
          </a:p>
        </p:txBody>
      </p:sp>
      <p:sp>
        <p:nvSpPr>
          <p:cNvPr id="17" name="shape-24-15"/>
          <p:cNvSpPr/>
          <p:nvPr/>
        </p:nvSpPr>
        <p:spPr>
          <a:xfrm>
            <a:off x="552450" y="3810000"/>
            <a:ext cx="7239000" cy="476250"/>
          </a:xfrm>
          <a:prstGeom prst="rect">
            <a:avLst/>
          </a:prstGeom>
          <a:solidFill>
            <a:srgbClr val="F1F5FA"/>
          </a:solidFill>
          <a:ln w="12700">
            <a:solidFill>
              <a:srgbClr val="D7DEE8"/>
            </a:solidFill>
            <a:prstDash val="solid"/>
          </a:ln>
        </p:spPr>
      </p:sp>
      <p:sp>
        <p:nvSpPr>
          <p:cNvPr id="18" name="text"/>
          <p:cNvSpPr/>
          <p:nvPr/>
        </p:nvSpPr>
        <p:spPr>
          <a:xfrm>
            <a:off x="723900" y="39243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Convert between them with list() and tuple() when needed</a:t>
            </a:r>
            <a:endParaRPr lang="en-US" sz="1100" dirty="0"/>
          </a:p>
        </p:txBody>
      </p:sp>
      <p:sp>
        <p:nvSpPr>
          <p:cNvPr id="19" name="shape-24-17"/>
          <p:cNvSpPr/>
          <p:nvPr/>
        </p:nvSpPr>
        <p:spPr>
          <a:xfrm>
            <a:off x="552450" y="4362450"/>
            <a:ext cx="7239000" cy="476250"/>
          </a:xfrm>
          <a:prstGeom prst="rect">
            <a:avLst/>
          </a:prstGeom>
          <a:solidFill>
            <a:srgbClr val="FFFFFF"/>
          </a:solidFill>
          <a:ln w="12700">
            <a:solidFill>
              <a:srgbClr val="D7DEE8"/>
            </a:solidFill>
            <a:prstDash val="solid"/>
          </a:ln>
        </p:spPr>
      </p:sp>
      <p:sp>
        <p:nvSpPr>
          <p:cNvPr id="20" name="text"/>
          <p:cNvSpPr/>
          <p:nvPr/>
        </p:nvSpPr>
        <p:spPr>
          <a:xfrm>
            <a:off x="723900" y="44767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6.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Read "unhashable type: list" as "this needed to be a tuple"</a:t>
            </a:r>
            <a:endParaRPr lang="en-US" sz="1100" dirty="0"/>
          </a:p>
        </p:txBody>
      </p:sp>
      <p:sp>
        <p:nvSpPr>
          <p:cNvPr id="21" name="shape-24-19"/>
          <p:cNvSpPr/>
          <p:nvPr/>
        </p:nvSpPr>
        <p:spPr>
          <a:xfrm>
            <a:off x="8020050" y="1543050"/>
            <a:ext cx="3619500" cy="2247900"/>
          </a:xfrm>
          <a:prstGeom prst="rect">
            <a:avLst/>
          </a:prstGeom>
          <a:solidFill>
            <a:srgbClr val="F1F5FA"/>
          </a:solidFill>
          <a:ln/>
        </p:spPr>
      </p:sp>
      <p:sp>
        <p:nvSpPr>
          <p:cNvPr id="22" name="text"/>
          <p:cNvSpPr/>
          <p:nvPr/>
        </p:nvSpPr>
        <p:spPr>
          <a:xfrm>
            <a:off x="8210550" y="1695450"/>
            <a:ext cx="3257550" cy="19621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COST AND BEHAVIOUR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Best: O(1) to read from either</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Typical: tuples are marginally faster to create and iterate than lists</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Worst: O(n) to convert between the two</a:t>
            </a:r>
            <a:endParaRPr lang="en-US" sz="1100" dirty="0"/>
          </a:p>
        </p:txBody>
      </p:sp>
      <p:sp>
        <p:nvSpPr>
          <p:cNvPr id="23" name="shape-24-21"/>
          <p:cNvSpPr/>
          <p:nvPr/>
        </p:nvSpPr>
        <p:spPr>
          <a:xfrm>
            <a:off x="8020050" y="3943350"/>
            <a:ext cx="3619500" cy="1257300"/>
          </a:xfrm>
          <a:prstGeom prst="rect">
            <a:avLst/>
          </a:prstGeom>
          <a:solidFill>
            <a:srgbClr val="FDF3EC"/>
          </a:solidFill>
          <a:ln/>
        </p:spPr>
      </p:sp>
      <p:sp>
        <p:nvSpPr>
          <p:cNvPr id="24" name="text"/>
          <p:cNvSpPr/>
          <p:nvPr/>
        </p:nvSpPr>
        <p:spPr>
          <a:xfrm>
            <a:off x="8210550" y="4076700"/>
            <a:ext cx="3257550" cy="10096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WHAT THAT MEANS</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The performance difference is small; the semantic guarantee of immutability is the real reason to choose a tuple.</a:t>
            </a:r>
            <a:endParaRPr lang="en-US" sz="1100" dirty="0"/>
          </a:p>
        </p:txBody>
      </p:sp>
      <p:sp>
        <p:nvSpPr>
          <p:cNvPr id="25"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Automate the Boring Stuff with Python, 1st ed., Ch. 4, pp. 93-97   |   CO2  |  Bloom L3</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Mutable and immutable types, and the tuple - worked example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concrete case, carried all the way to a stated number.</a:t>
            </a:r>
            <a:endParaRPr lang="en-US" sz="1100" dirty="0"/>
          </a:p>
        </p:txBody>
      </p:sp>
      <p:sp>
        <p:nvSpPr>
          <p:cNvPr id="4" name="shape-25-2"/>
          <p:cNvSpPr/>
          <p:nvPr/>
        </p:nvSpPr>
        <p:spPr>
          <a:xfrm>
            <a:off x="552450" y="1266825"/>
            <a:ext cx="990600" cy="47625"/>
          </a:xfrm>
          <a:prstGeom prst="rect">
            <a:avLst/>
          </a:prstGeom>
          <a:solidFill>
            <a:srgbClr val="0F6FC6"/>
          </a:solidFill>
          <a:ln/>
        </p:spPr>
      </p:sp>
      <p:sp>
        <p:nvSpPr>
          <p:cNvPr id="5" name="shape-25-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2</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Mutable and immutable types, and the…</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25</a:t>
            </a:r>
            <a:endParaRPr lang="en-US" sz="900" dirty="0"/>
          </a:p>
        </p:txBody>
      </p:sp>
      <p:sp>
        <p:nvSpPr>
          <p:cNvPr id="9" name="shape-25-7"/>
          <p:cNvSpPr/>
          <p:nvPr/>
        </p:nvSpPr>
        <p:spPr>
          <a:xfrm>
            <a:off x="552450" y="1543050"/>
            <a:ext cx="7048500" cy="590550"/>
          </a:xfrm>
          <a:prstGeom prst="rect">
            <a:avLst/>
          </a:prstGeom>
          <a:solidFill>
            <a:srgbClr val="F1F5FA"/>
          </a:solidFill>
          <a:ln/>
        </p:spPr>
      </p:sp>
      <p:sp>
        <p:nvSpPr>
          <p:cNvPr id="10" name="text"/>
          <p:cNvSpPr/>
          <p:nvPr/>
        </p:nvSpPr>
        <p:spPr>
          <a:xfrm>
            <a:off x="723900" y="1657350"/>
            <a:ext cx="6724650" cy="4191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GIVEN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Try using a list as a dictionary key, then a tuple.</a:t>
            </a:r>
            <a:endParaRPr lang="en-US" sz="1100" dirty="0"/>
          </a:p>
        </p:txBody>
      </p:sp>
      <p:sp>
        <p:nvSpPr>
          <p:cNvPr id="11" name="text"/>
          <p:cNvSpPr/>
          <p:nvPr/>
        </p:nvSpPr>
        <p:spPr>
          <a:xfrm>
            <a:off x="723900" y="22669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d = {}; d[['a','b']] = 1 raises TypeError: unhashable type: 'list'</a:t>
            </a:r>
            <a:endParaRPr lang="en-US" sz="1100" dirty="0"/>
          </a:p>
        </p:txBody>
      </p:sp>
      <p:sp>
        <p:nvSpPr>
          <p:cNvPr id="12" name="text"/>
          <p:cNvSpPr/>
          <p:nvPr/>
        </p:nvSpPr>
        <p:spPr>
          <a:xfrm>
            <a:off x="723900" y="27051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d[('a','b')] = 1 succeeds, because a tuple is immutable and therefore hashable</a:t>
            </a:r>
            <a:endParaRPr lang="en-US" sz="1100" dirty="0"/>
          </a:p>
        </p:txBody>
      </p:sp>
      <p:sp>
        <p:nvSpPr>
          <p:cNvPr id="13" name="text"/>
          <p:cNvSpPr/>
          <p:nvPr/>
        </p:nvSpPr>
        <p:spPr>
          <a:xfrm>
            <a:off x="723900" y="31432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type((42)) is int, because the parentheses are just grouping</a:t>
            </a:r>
            <a:endParaRPr lang="en-US" sz="1100" dirty="0"/>
          </a:p>
        </p:txBody>
      </p:sp>
      <p:sp>
        <p:nvSpPr>
          <p:cNvPr id="14" name="text"/>
          <p:cNvSpPr/>
          <p:nvPr/>
        </p:nvSpPr>
        <p:spPr>
          <a:xfrm>
            <a:off x="723900" y="35814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type((42,)) is tuple, because the trailing comma makes it one</a:t>
            </a:r>
            <a:endParaRPr lang="en-US" sz="1100" dirty="0"/>
          </a:p>
        </p:txBody>
      </p:sp>
      <p:sp>
        <p:nvSpPr>
          <p:cNvPr id="15" name="shape-25-13"/>
          <p:cNvSpPr/>
          <p:nvPr/>
        </p:nvSpPr>
        <p:spPr>
          <a:xfrm>
            <a:off x="552450" y="4076700"/>
            <a:ext cx="7048500" cy="628650"/>
          </a:xfrm>
          <a:prstGeom prst="rect">
            <a:avLst/>
          </a:prstGeom>
          <a:solidFill>
            <a:srgbClr val="FDF3EC"/>
          </a:solidFill>
          <a:ln/>
        </p:spPr>
      </p:sp>
      <p:sp>
        <p:nvSpPr>
          <p:cNvPr id="16" name="text"/>
          <p:cNvSpPr/>
          <p:nvPr/>
        </p:nvSpPr>
        <p:spPr>
          <a:xfrm>
            <a:off x="723900" y="4191000"/>
            <a:ext cx="672465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RESULT</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Only the tuple works as a key, and the one-element case shows the comma rather than the parentheses is what defines a tuple.</a:t>
            </a:r>
            <a:endParaRPr lang="en-US" sz="1100" dirty="0"/>
          </a:p>
        </p:txBody>
      </p:sp>
      <p:sp>
        <p:nvSpPr>
          <p:cNvPr id="17" name="shape-25-15"/>
          <p:cNvSpPr/>
          <p:nvPr/>
        </p:nvSpPr>
        <p:spPr>
          <a:xfrm>
            <a:off x="7810500" y="1543050"/>
            <a:ext cx="3829050" cy="1771650"/>
          </a:xfrm>
          <a:prstGeom prst="rect">
            <a:avLst/>
          </a:prstGeom>
          <a:solidFill>
            <a:srgbClr val="0E1726"/>
          </a:solidFill>
          <a:ln/>
        </p:spPr>
      </p:sp>
      <p:sp>
        <p:nvSpPr>
          <p:cNvPr id="18" name="text"/>
          <p:cNvSpPr/>
          <p:nvPr/>
        </p:nvSpPr>
        <p:spPr>
          <a:xfrm>
            <a:off x="7981950" y="1695450"/>
            <a:ext cx="3486150" cy="14859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&gt;&gt;&gt; d = {}</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&gt;&gt;&gt; d[['a','b']] = 1</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TypeError: unhashable type: 'list'</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&gt;&gt;&gt; d[('a','b')] = 1        # fine</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&gt;&gt;&gt; type((42)), type((42,))</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(&lt;class 'int'&gt;, &lt;class 'tuple'&gt;)</a:t>
            </a:r>
            <a:endParaRPr lang="en-US" sz="1000" dirty="0"/>
          </a:p>
        </p:txBody>
      </p:sp>
      <p:sp>
        <p:nvSpPr>
          <p:cNvPr id="19" name="shape-25-17"/>
          <p:cNvSpPr/>
          <p:nvPr/>
        </p:nvSpPr>
        <p:spPr>
          <a:xfrm>
            <a:off x="7810500" y="3467100"/>
            <a:ext cx="3829050" cy="1733550"/>
          </a:xfrm>
          <a:prstGeom prst="rect">
            <a:avLst/>
          </a:prstGeom>
          <a:solidFill>
            <a:srgbClr val="FFFFFF"/>
          </a:solidFill>
          <a:ln w="19050">
            <a:solidFill>
              <a:srgbClr val="C2410C"/>
            </a:solidFill>
            <a:prstDash val="solid"/>
          </a:ln>
        </p:spPr>
      </p:sp>
      <p:sp>
        <p:nvSpPr>
          <p:cNvPr id="20" name="text"/>
          <p:cNvSpPr/>
          <p:nvPr/>
        </p:nvSpPr>
        <p:spPr>
          <a:xfrm>
            <a:off x="7981950" y="3600450"/>
            <a:ext cx="3486150" cy="14668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MISTAKE STUDENTS MAKE</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Students write a one-element tuple as (42) and are surprised when len() fails or arithmetic works on it. Without the trailing comma the parentheses are only grouping; the value is an int.</a:t>
            </a:r>
            <a:endParaRPr lang="en-US" sz="1100" dirty="0"/>
          </a:p>
        </p:txBody>
      </p:sp>
      <p:sp>
        <p:nvSpPr>
          <p:cNvPr id="21"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Automate the Boring Stuff with Python, 1st ed., Ch. 4, pp. 93-97   |   CO2  |  Bloom L3</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References, copy() and deepcopy()</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What it is, why it works, and what it costs.</a:t>
            </a:r>
            <a:endParaRPr lang="en-US" sz="1100" dirty="0"/>
          </a:p>
        </p:txBody>
      </p:sp>
      <p:sp>
        <p:nvSpPr>
          <p:cNvPr id="4" name="shape-26-2"/>
          <p:cNvSpPr/>
          <p:nvPr/>
        </p:nvSpPr>
        <p:spPr>
          <a:xfrm>
            <a:off x="552450" y="1266825"/>
            <a:ext cx="990600" cy="47625"/>
          </a:xfrm>
          <a:prstGeom prst="rect">
            <a:avLst/>
          </a:prstGeom>
          <a:solidFill>
            <a:srgbClr val="0F6FC6"/>
          </a:solidFill>
          <a:ln/>
        </p:spPr>
      </p:sp>
      <p:sp>
        <p:nvSpPr>
          <p:cNvPr id="5" name="shape-26-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2</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References, copy() and deepcopy()</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26</a:t>
            </a:r>
            <a:endParaRPr lang="en-US" sz="900" dirty="0"/>
          </a:p>
        </p:txBody>
      </p:sp>
      <p:sp>
        <p:nvSpPr>
          <p:cNvPr id="9" name="shape-26-7"/>
          <p:cNvSpPr/>
          <p:nvPr/>
        </p:nvSpPr>
        <p:spPr>
          <a:xfrm>
            <a:off x="552450" y="1543050"/>
            <a:ext cx="7048500" cy="2914650"/>
          </a:xfrm>
          <a:prstGeom prst="rect">
            <a:avLst/>
          </a:prstGeom>
          <a:solidFill>
            <a:srgbClr val="FFFFFF"/>
          </a:solidFill>
          <a:ln w="12700">
            <a:solidFill>
              <a:srgbClr val="D7DEE8"/>
            </a:solidFill>
            <a:prstDash val="solid"/>
          </a:ln>
        </p:spPr>
      </p:sp>
      <p:sp>
        <p:nvSpPr>
          <p:cNvPr id="10" name="text"/>
          <p:cNvSpPr/>
          <p:nvPr/>
        </p:nvSpPr>
        <p:spPr>
          <a:xfrm>
            <a:off x="742950" y="1714500"/>
            <a:ext cx="6667500" cy="25908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THE MECHANISM</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Assigning a list to a second name copies the reference, not the list, so both names refer to one object and a change through either is visible through both. The same applies when a list is passed to a function: the function receives a reference and can mutate the caller's list. copy.copy() produces a shallow copy — a new outer list whose elements are still references to the same inner objects — which is enough when the elements are immutable and not enough when they are lists. copy.deepcopy() recursively copies the nested structure too, at proportionally higher cost, and is the correct tool whenever nested mutable data must be independent.</a:t>
            </a:r>
            <a:endParaRPr lang="en-US" sz="1100" dirty="0"/>
          </a:p>
        </p:txBody>
      </p:sp>
      <p:sp>
        <p:nvSpPr>
          <p:cNvPr id="11" name="shape-26-9"/>
          <p:cNvSpPr/>
          <p:nvPr/>
        </p:nvSpPr>
        <p:spPr>
          <a:xfrm>
            <a:off x="7810500" y="1543050"/>
            <a:ext cx="3829050" cy="1390650"/>
          </a:xfrm>
          <a:prstGeom prst="rect">
            <a:avLst/>
          </a:prstGeom>
          <a:solidFill>
            <a:srgbClr val="F1F5FA"/>
          </a:solidFill>
          <a:ln/>
        </p:spPr>
      </p:sp>
      <p:sp>
        <p:nvSpPr>
          <p:cNvPr id="12" name="text"/>
          <p:cNvSpPr/>
          <p:nvPr/>
        </p:nvSpPr>
        <p:spPr>
          <a:xfrm>
            <a:off x="8001000" y="1695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KEY TERMS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reference</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aliasing</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pass by reference</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copy.copy()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copy.deepcopy()</a:t>
            </a:r>
            <a:endParaRPr lang="en-US" sz="1100" dirty="0"/>
          </a:p>
        </p:txBody>
      </p:sp>
      <p:sp>
        <p:nvSpPr>
          <p:cNvPr id="13" name="shape-26-11"/>
          <p:cNvSpPr/>
          <p:nvPr/>
        </p:nvSpPr>
        <p:spPr>
          <a:xfrm>
            <a:off x="7810500" y="3067050"/>
            <a:ext cx="3829050" cy="1390650"/>
          </a:xfrm>
          <a:prstGeom prst="rect">
            <a:avLst/>
          </a:prstGeom>
          <a:solidFill>
            <a:srgbClr val="FDF3EC"/>
          </a:solidFill>
          <a:ln/>
        </p:spPr>
      </p:sp>
      <p:sp>
        <p:nvSpPr>
          <p:cNvPr id="14" name="text"/>
          <p:cNvSpPr/>
          <p:nvPr/>
        </p:nvSpPr>
        <p:spPr>
          <a:xfrm>
            <a:off x="8001000" y="3219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TAKEAWAY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Assignment aliases, copy() duplicates one level, deepcopy() duplicates all of them — and the bug only appears when the data nests.</a:t>
            </a:r>
            <a:endParaRPr lang="en-US" sz="1100" dirty="0"/>
          </a:p>
        </p:txBody>
      </p:sp>
      <p:sp>
        <p:nvSpPr>
          <p:cNvPr id="15" name="shape-26-13"/>
          <p:cNvSpPr/>
          <p:nvPr/>
        </p:nvSpPr>
        <p:spPr>
          <a:xfrm>
            <a:off x="552450" y="4629150"/>
            <a:ext cx="11087100" cy="609600"/>
          </a:xfrm>
          <a:prstGeom prst="rect">
            <a:avLst/>
          </a:prstGeom>
          <a:solidFill>
            <a:srgbClr val="F1F5FA"/>
          </a:solidFill>
          <a:ln/>
        </p:spPr>
      </p:sp>
      <p:sp>
        <p:nvSpPr>
          <p:cNvPr id="16" name="text"/>
          <p:cNvSpPr/>
          <p:nvPr/>
        </p:nvSpPr>
        <p:spPr>
          <a:xfrm>
            <a:off x="742950" y="4724400"/>
            <a:ext cx="742950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5A6478"/>
                </a:solidFill>
                <a:latin typeface="Segoe UI" pitchFamily="34" charset="0"/>
                <a:ea typeface="Segoe UI" pitchFamily="34" charset="-122"/>
                <a:cs typeface="Segoe UI" pitchFamily="34" charset="-120"/>
              </a:rPr>
              <a:t>DIAGRAM FOR PHASE 2</a:t>
            </a:r>
            <a:endParaRPr lang="en-US" sz="1100" dirty="0"/>
          </a:p>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Three stacked scenarios, each showing two name labels and the objects they reach. Case 1 'b = a': both labels point at the single outer list box, which itself holds two inner list boxes; a change through b is…</a:t>
            </a:r>
            <a:endParaRPr lang="en-US" sz="1100" dirty="0"/>
          </a:p>
        </p:txBody>
      </p:sp>
      <p:sp>
        <p:nvSpPr>
          <p:cNvPr id="17" name="text"/>
          <p:cNvSpPr/>
          <p:nvPr/>
        </p:nvSpPr>
        <p:spPr>
          <a:xfrm>
            <a:off x="7810500" y="4705350"/>
            <a:ext cx="3657600" cy="2667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Automate the Boring Stuff with Python, 1st ed., Ch. 4, pp. 97-102</a:t>
            </a:r>
            <a:endParaRPr lang="en-US" sz="900" dirty="0"/>
          </a:p>
        </p:txBody>
      </p:sp>
      <p:sp>
        <p:nvSpPr>
          <p:cNvPr id="18" name="text"/>
          <p:cNvSpPr/>
          <p:nvPr/>
        </p:nvSpPr>
        <p:spPr>
          <a:xfrm>
            <a:off x="7810500" y="4972050"/>
            <a:ext cx="3657600" cy="20955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CO2  |  Bloom L4  |  visual id: aliasing-three-cases</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References, copy() and deepcopy() - how it works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The procedure in order, and what each pass costs you.</a:t>
            </a:r>
            <a:endParaRPr lang="en-US" sz="1100" dirty="0"/>
          </a:p>
        </p:txBody>
      </p:sp>
      <p:sp>
        <p:nvSpPr>
          <p:cNvPr id="4" name="shape-27-2"/>
          <p:cNvSpPr/>
          <p:nvPr/>
        </p:nvSpPr>
        <p:spPr>
          <a:xfrm>
            <a:off x="552450" y="1266825"/>
            <a:ext cx="990600" cy="47625"/>
          </a:xfrm>
          <a:prstGeom prst="rect">
            <a:avLst/>
          </a:prstGeom>
          <a:solidFill>
            <a:srgbClr val="0F6FC6"/>
          </a:solidFill>
          <a:ln/>
        </p:spPr>
      </p:sp>
      <p:sp>
        <p:nvSpPr>
          <p:cNvPr id="5" name="shape-27-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2</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References, copy() and deepcopy()</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27</a:t>
            </a:r>
            <a:endParaRPr lang="en-US" sz="900" dirty="0"/>
          </a:p>
        </p:txBody>
      </p:sp>
      <p:sp>
        <p:nvSpPr>
          <p:cNvPr id="9" name="shape-27-7"/>
          <p:cNvSpPr/>
          <p:nvPr/>
        </p:nvSpPr>
        <p:spPr>
          <a:xfrm>
            <a:off x="552450" y="1600200"/>
            <a:ext cx="7239000" cy="476250"/>
          </a:xfrm>
          <a:prstGeom prst="rect">
            <a:avLst/>
          </a:prstGeom>
          <a:solidFill>
            <a:srgbClr val="F1F5FA"/>
          </a:solidFill>
          <a:ln w="12700">
            <a:solidFill>
              <a:srgbClr val="D7DEE8"/>
            </a:solidFill>
            <a:prstDash val="solid"/>
          </a:ln>
        </p:spPr>
      </p:sp>
      <p:sp>
        <p:nvSpPr>
          <p:cNvPr id="10" name="text"/>
          <p:cNvSpPr/>
          <p:nvPr/>
        </p:nvSpPr>
        <p:spPr>
          <a:xfrm>
            <a:off x="723900" y="17145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Assume assignment shares rather than copies</a:t>
            </a:r>
            <a:endParaRPr lang="en-US" sz="1100" dirty="0"/>
          </a:p>
        </p:txBody>
      </p:sp>
      <p:sp>
        <p:nvSpPr>
          <p:cNvPr id="11" name="shape-27-9"/>
          <p:cNvSpPr/>
          <p:nvPr/>
        </p:nvSpPr>
        <p:spPr>
          <a:xfrm>
            <a:off x="552450" y="2152650"/>
            <a:ext cx="7239000" cy="476250"/>
          </a:xfrm>
          <a:prstGeom prst="rect">
            <a:avLst/>
          </a:prstGeom>
          <a:solidFill>
            <a:srgbClr val="FFFFFF"/>
          </a:solidFill>
          <a:ln w="12700">
            <a:solidFill>
              <a:srgbClr val="D7DEE8"/>
            </a:solidFill>
            <a:prstDash val="solid"/>
          </a:ln>
        </p:spPr>
      </p:sp>
      <p:sp>
        <p:nvSpPr>
          <p:cNvPr id="12" name="text"/>
          <p:cNvSpPr/>
          <p:nvPr/>
        </p:nvSpPr>
        <p:spPr>
          <a:xfrm>
            <a:off x="723900" y="22669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Use listname[:] or copy.copy() for a one-level copy</a:t>
            </a:r>
            <a:endParaRPr lang="en-US" sz="1100" dirty="0"/>
          </a:p>
        </p:txBody>
      </p:sp>
      <p:sp>
        <p:nvSpPr>
          <p:cNvPr id="13" name="shape-27-11"/>
          <p:cNvSpPr/>
          <p:nvPr/>
        </p:nvSpPr>
        <p:spPr>
          <a:xfrm>
            <a:off x="552450" y="2705100"/>
            <a:ext cx="7239000" cy="476250"/>
          </a:xfrm>
          <a:prstGeom prst="rect">
            <a:avLst/>
          </a:prstGeom>
          <a:solidFill>
            <a:srgbClr val="F1F5FA"/>
          </a:solidFill>
          <a:ln w="12700">
            <a:solidFill>
              <a:srgbClr val="D7DEE8"/>
            </a:solidFill>
            <a:prstDash val="solid"/>
          </a:ln>
        </p:spPr>
      </p:sp>
      <p:sp>
        <p:nvSpPr>
          <p:cNvPr id="14" name="text"/>
          <p:cNvSpPr/>
          <p:nvPr/>
        </p:nvSpPr>
        <p:spPr>
          <a:xfrm>
            <a:off x="723900" y="28194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Use copy.deepcopy() when the list contains lists or dictionaries</a:t>
            </a:r>
            <a:endParaRPr lang="en-US" sz="1100" dirty="0"/>
          </a:p>
        </p:txBody>
      </p:sp>
      <p:sp>
        <p:nvSpPr>
          <p:cNvPr id="15" name="shape-27-13"/>
          <p:cNvSpPr/>
          <p:nvPr/>
        </p:nvSpPr>
        <p:spPr>
          <a:xfrm>
            <a:off x="552450" y="3257550"/>
            <a:ext cx="7239000" cy="476250"/>
          </a:xfrm>
          <a:prstGeom prst="rect">
            <a:avLst/>
          </a:prstGeom>
          <a:solidFill>
            <a:srgbClr val="FFFFFF"/>
          </a:solidFill>
          <a:ln w="12700">
            <a:solidFill>
              <a:srgbClr val="D7DEE8"/>
            </a:solidFill>
            <a:prstDash val="solid"/>
          </a:ln>
        </p:spPr>
      </p:sp>
      <p:sp>
        <p:nvSpPr>
          <p:cNvPr id="16" name="text"/>
          <p:cNvSpPr/>
          <p:nvPr/>
        </p:nvSpPr>
        <p:spPr>
          <a:xfrm>
            <a:off x="723900" y="33718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Return a new list from a function rather than mutating the argument, where practical</a:t>
            </a:r>
            <a:endParaRPr lang="en-US" sz="1100" dirty="0"/>
          </a:p>
        </p:txBody>
      </p:sp>
      <p:sp>
        <p:nvSpPr>
          <p:cNvPr id="17" name="shape-27-15"/>
          <p:cNvSpPr/>
          <p:nvPr/>
        </p:nvSpPr>
        <p:spPr>
          <a:xfrm>
            <a:off x="552450" y="3810000"/>
            <a:ext cx="7239000" cy="476250"/>
          </a:xfrm>
          <a:prstGeom prst="rect">
            <a:avLst/>
          </a:prstGeom>
          <a:solidFill>
            <a:srgbClr val="F1F5FA"/>
          </a:solidFill>
          <a:ln w="12700">
            <a:solidFill>
              <a:srgbClr val="D7DEE8"/>
            </a:solidFill>
            <a:prstDash val="solid"/>
          </a:ln>
        </p:spPr>
      </p:sp>
      <p:sp>
        <p:nvSpPr>
          <p:cNvPr id="18" name="text"/>
          <p:cNvSpPr/>
          <p:nvPr/>
        </p:nvSpPr>
        <p:spPr>
          <a:xfrm>
            <a:off x="723900" y="39243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Document any function that deliberately mutates its argument</a:t>
            </a:r>
            <a:endParaRPr lang="en-US" sz="1100" dirty="0"/>
          </a:p>
        </p:txBody>
      </p:sp>
      <p:sp>
        <p:nvSpPr>
          <p:cNvPr id="19" name="shape-27-17"/>
          <p:cNvSpPr/>
          <p:nvPr/>
        </p:nvSpPr>
        <p:spPr>
          <a:xfrm>
            <a:off x="552450" y="4362450"/>
            <a:ext cx="7239000" cy="476250"/>
          </a:xfrm>
          <a:prstGeom prst="rect">
            <a:avLst/>
          </a:prstGeom>
          <a:solidFill>
            <a:srgbClr val="FFFFFF"/>
          </a:solidFill>
          <a:ln w="12700">
            <a:solidFill>
              <a:srgbClr val="D7DEE8"/>
            </a:solidFill>
            <a:prstDash val="solid"/>
          </a:ln>
        </p:spPr>
      </p:sp>
      <p:sp>
        <p:nvSpPr>
          <p:cNvPr id="20" name="text"/>
          <p:cNvSpPr/>
          <p:nvPr/>
        </p:nvSpPr>
        <p:spPr>
          <a:xfrm>
            <a:off x="723900" y="44767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6.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Test independence by changing one copy and inspecting the other</a:t>
            </a:r>
            <a:endParaRPr lang="en-US" sz="1100" dirty="0"/>
          </a:p>
        </p:txBody>
      </p:sp>
      <p:sp>
        <p:nvSpPr>
          <p:cNvPr id="21" name="shape-27-19"/>
          <p:cNvSpPr/>
          <p:nvPr/>
        </p:nvSpPr>
        <p:spPr>
          <a:xfrm>
            <a:off x="8020050" y="1543050"/>
            <a:ext cx="3619500" cy="2247900"/>
          </a:xfrm>
          <a:prstGeom prst="rect">
            <a:avLst/>
          </a:prstGeom>
          <a:solidFill>
            <a:srgbClr val="F1F5FA"/>
          </a:solidFill>
          <a:ln/>
        </p:spPr>
      </p:sp>
      <p:sp>
        <p:nvSpPr>
          <p:cNvPr id="22" name="text"/>
          <p:cNvSpPr/>
          <p:nvPr/>
        </p:nvSpPr>
        <p:spPr>
          <a:xfrm>
            <a:off x="8210550" y="1695450"/>
            <a:ext cx="3257550" cy="19621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COST AND BEHAVIOUR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Best: O(1) for an aliasing assignment</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Typical: O(n) for a shallow copy of n elements</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Worst: O(total nodes) for a deep copy of a nested structure</a:t>
            </a:r>
            <a:endParaRPr lang="en-US" sz="1100" dirty="0"/>
          </a:p>
        </p:txBody>
      </p:sp>
      <p:sp>
        <p:nvSpPr>
          <p:cNvPr id="23" name="shape-27-21"/>
          <p:cNvSpPr/>
          <p:nvPr/>
        </p:nvSpPr>
        <p:spPr>
          <a:xfrm>
            <a:off x="8020050" y="3943350"/>
            <a:ext cx="3619500" cy="1257300"/>
          </a:xfrm>
          <a:prstGeom prst="rect">
            <a:avLst/>
          </a:prstGeom>
          <a:solidFill>
            <a:srgbClr val="FDF3EC"/>
          </a:solidFill>
          <a:ln/>
        </p:spPr>
      </p:sp>
      <p:sp>
        <p:nvSpPr>
          <p:cNvPr id="24" name="text"/>
          <p:cNvSpPr/>
          <p:nvPr/>
        </p:nvSpPr>
        <p:spPr>
          <a:xfrm>
            <a:off x="8210550" y="4076700"/>
            <a:ext cx="3257550" cy="10096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WHAT THAT MEANS</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deepcopy also handles cycles, which is part of why it is markedly slower than a slice copy.</a:t>
            </a:r>
            <a:endParaRPr lang="en-US" sz="1100" dirty="0"/>
          </a:p>
        </p:txBody>
      </p:sp>
      <p:sp>
        <p:nvSpPr>
          <p:cNvPr id="25"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Automate the Boring Stuff with Python, 1st ed., Ch. 4, pp. 97-102   |   CO2  |  Bloom L4</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References, copy() and deepcopy() - worked example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concrete case, carried all the way to a stated number.</a:t>
            </a:r>
            <a:endParaRPr lang="en-US" sz="1100" dirty="0"/>
          </a:p>
        </p:txBody>
      </p:sp>
      <p:sp>
        <p:nvSpPr>
          <p:cNvPr id="4" name="shape-28-2"/>
          <p:cNvSpPr/>
          <p:nvPr/>
        </p:nvSpPr>
        <p:spPr>
          <a:xfrm>
            <a:off x="552450" y="1266825"/>
            <a:ext cx="990600" cy="47625"/>
          </a:xfrm>
          <a:prstGeom prst="rect">
            <a:avLst/>
          </a:prstGeom>
          <a:solidFill>
            <a:srgbClr val="0F6FC6"/>
          </a:solidFill>
          <a:ln/>
        </p:spPr>
      </p:sp>
      <p:sp>
        <p:nvSpPr>
          <p:cNvPr id="5" name="shape-28-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2</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References, copy() and deepcopy()</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28</a:t>
            </a:r>
            <a:endParaRPr lang="en-US" sz="900" dirty="0"/>
          </a:p>
        </p:txBody>
      </p:sp>
      <p:sp>
        <p:nvSpPr>
          <p:cNvPr id="9" name="shape-28-7"/>
          <p:cNvSpPr/>
          <p:nvPr/>
        </p:nvSpPr>
        <p:spPr>
          <a:xfrm>
            <a:off x="552450" y="1543050"/>
            <a:ext cx="7048500" cy="590550"/>
          </a:xfrm>
          <a:prstGeom prst="rect">
            <a:avLst/>
          </a:prstGeom>
          <a:solidFill>
            <a:srgbClr val="F1F5FA"/>
          </a:solidFill>
          <a:ln/>
        </p:spPr>
      </p:sp>
      <p:sp>
        <p:nvSpPr>
          <p:cNvPr id="10" name="text"/>
          <p:cNvSpPr/>
          <p:nvPr/>
        </p:nvSpPr>
        <p:spPr>
          <a:xfrm>
            <a:off x="723900" y="1657350"/>
            <a:ext cx="6724650" cy="4191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GIVEN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 = [[1, 2], [3, 4]]; make b = copy.copy(a) and c = copy.deepcopy(a), then set b[0][0] = 99.</a:t>
            </a:r>
            <a:endParaRPr lang="en-US" sz="1100" dirty="0"/>
          </a:p>
        </p:txBody>
      </p:sp>
      <p:sp>
        <p:nvSpPr>
          <p:cNvPr id="11" name="text"/>
          <p:cNvSpPr/>
          <p:nvPr/>
        </p:nvSpPr>
        <p:spPr>
          <a:xfrm>
            <a:off x="723900" y="22669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copy.copy(a) creates a new outer list, but b[0] and a[0] are the same inner list</a:t>
            </a:r>
            <a:endParaRPr lang="en-US" sz="1100" dirty="0"/>
          </a:p>
        </p:txBody>
      </p:sp>
      <p:sp>
        <p:nvSpPr>
          <p:cNvPr id="12" name="text"/>
          <p:cNvSpPr/>
          <p:nvPr/>
        </p:nvSpPr>
        <p:spPr>
          <a:xfrm>
            <a:off x="723900" y="27051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b[0][0] = 99 therefore changes a[0][0] as well</a:t>
            </a:r>
            <a:endParaRPr lang="en-US" sz="1100" dirty="0"/>
          </a:p>
        </p:txBody>
      </p:sp>
      <p:sp>
        <p:nvSpPr>
          <p:cNvPr id="13" name="text"/>
          <p:cNvSpPr/>
          <p:nvPr/>
        </p:nvSpPr>
        <p:spPr>
          <a:xfrm>
            <a:off x="723900" y="31432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 = copy.deepcopy(a) had already built independent inner lists</a:t>
            </a:r>
            <a:endParaRPr lang="en-US" sz="1100" dirty="0"/>
          </a:p>
        </p:txBody>
      </p:sp>
      <p:sp>
        <p:nvSpPr>
          <p:cNvPr id="14" name="text"/>
          <p:cNvSpPr/>
          <p:nvPr/>
        </p:nvSpPr>
        <p:spPr>
          <a:xfrm>
            <a:off x="723900" y="35814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c[0][0] is still 1</a:t>
            </a:r>
            <a:endParaRPr lang="en-US" sz="1100" dirty="0"/>
          </a:p>
        </p:txBody>
      </p:sp>
      <p:sp>
        <p:nvSpPr>
          <p:cNvPr id="15" name="shape-28-13"/>
          <p:cNvSpPr/>
          <p:nvPr/>
        </p:nvSpPr>
        <p:spPr>
          <a:xfrm>
            <a:off x="552450" y="4076700"/>
            <a:ext cx="7048500" cy="628650"/>
          </a:xfrm>
          <a:prstGeom prst="rect">
            <a:avLst/>
          </a:prstGeom>
          <a:solidFill>
            <a:srgbClr val="FDF3EC"/>
          </a:solidFill>
          <a:ln/>
        </p:spPr>
      </p:sp>
      <p:sp>
        <p:nvSpPr>
          <p:cNvPr id="16" name="text"/>
          <p:cNvSpPr/>
          <p:nvPr/>
        </p:nvSpPr>
        <p:spPr>
          <a:xfrm>
            <a:off x="723900" y="4191000"/>
            <a:ext cx="672465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RESULT</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a and b both show 99 while c shows 1 — the shallow copy protected the outer list only, which is the distinction the two functions exist to express.</a:t>
            </a:r>
            <a:endParaRPr lang="en-US" sz="1100" dirty="0"/>
          </a:p>
        </p:txBody>
      </p:sp>
      <p:sp>
        <p:nvSpPr>
          <p:cNvPr id="17" name="shape-28-15"/>
          <p:cNvSpPr/>
          <p:nvPr/>
        </p:nvSpPr>
        <p:spPr>
          <a:xfrm>
            <a:off x="7810500" y="1543050"/>
            <a:ext cx="3829050" cy="1771650"/>
          </a:xfrm>
          <a:prstGeom prst="rect">
            <a:avLst/>
          </a:prstGeom>
          <a:solidFill>
            <a:srgbClr val="0E1726"/>
          </a:solidFill>
          <a:ln/>
        </p:spPr>
      </p:sp>
      <p:sp>
        <p:nvSpPr>
          <p:cNvPr id="18" name="text"/>
          <p:cNvSpPr/>
          <p:nvPr/>
        </p:nvSpPr>
        <p:spPr>
          <a:xfrm>
            <a:off x="7981950" y="1695450"/>
            <a:ext cx="3486150" cy="14859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&gt;&gt;&gt; import copy</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&gt;&gt;&gt; a = [[1, 2], [3, 4]]</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&gt;&gt;&gt; b = copy.copy(a); c = copy.deepcopy(a)</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&gt;&gt;&gt; b[0][0] = 99</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&gt;&gt;&gt; a[0][0], b[0][0], c[0][0]</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(99, 99, 1)</a:t>
            </a:r>
            <a:endParaRPr lang="en-US" sz="1000" dirty="0"/>
          </a:p>
        </p:txBody>
      </p:sp>
      <p:sp>
        <p:nvSpPr>
          <p:cNvPr id="19" name="shape-28-17"/>
          <p:cNvSpPr/>
          <p:nvPr/>
        </p:nvSpPr>
        <p:spPr>
          <a:xfrm>
            <a:off x="7810500" y="3467100"/>
            <a:ext cx="3829050" cy="1733550"/>
          </a:xfrm>
          <a:prstGeom prst="rect">
            <a:avLst/>
          </a:prstGeom>
          <a:solidFill>
            <a:srgbClr val="FFFFFF"/>
          </a:solidFill>
          <a:ln w="19050">
            <a:solidFill>
              <a:srgbClr val="C2410C"/>
            </a:solidFill>
            <a:prstDash val="solid"/>
          </a:ln>
        </p:spPr>
      </p:sp>
      <p:sp>
        <p:nvSpPr>
          <p:cNvPr id="20" name="text"/>
          <p:cNvSpPr/>
          <p:nvPr/>
        </p:nvSpPr>
        <p:spPr>
          <a:xfrm>
            <a:off x="7981950" y="3600450"/>
            <a:ext cx="3486150" cy="14668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MISTAKE STUDENTS MAKE</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Students use spam[:] to copy a list of lists and believe it is independent. The slice copies the outer list only; the inner lists are still shared, so a change reaches through. Nested data needs copy.deepcopy().</a:t>
            </a:r>
            <a:endParaRPr lang="en-US" sz="1100" dirty="0"/>
          </a:p>
        </p:txBody>
      </p:sp>
      <p:sp>
        <p:nvSpPr>
          <p:cNvPr id="21"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Automate the Boring Stuff with Python, 1st ed., Ch. 4, pp. 97-102   |   CO2  |  Bloom L4</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The dictionary data type, and dictionaries versus lists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What it is, why it works, and what it costs.</a:t>
            </a:r>
            <a:endParaRPr lang="en-US" sz="1100" dirty="0"/>
          </a:p>
        </p:txBody>
      </p:sp>
      <p:sp>
        <p:nvSpPr>
          <p:cNvPr id="4" name="shape-29-2"/>
          <p:cNvSpPr/>
          <p:nvPr/>
        </p:nvSpPr>
        <p:spPr>
          <a:xfrm>
            <a:off x="552450" y="1266825"/>
            <a:ext cx="990600" cy="47625"/>
          </a:xfrm>
          <a:prstGeom prst="rect">
            <a:avLst/>
          </a:prstGeom>
          <a:solidFill>
            <a:srgbClr val="0F6FC6"/>
          </a:solidFill>
          <a:ln/>
        </p:spPr>
      </p:sp>
      <p:sp>
        <p:nvSpPr>
          <p:cNvPr id="5" name="shape-29-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2</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The dictionary data type, and diction…</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29</a:t>
            </a:r>
            <a:endParaRPr lang="en-US" sz="900" dirty="0"/>
          </a:p>
        </p:txBody>
      </p:sp>
      <p:sp>
        <p:nvSpPr>
          <p:cNvPr id="9" name="shape-29-7"/>
          <p:cNvSpPr/>
          <p:nvPr/>
        </p:nvSpPr>
        <p:spPr>
          <a:xfrm>
            <a:off x="552450" y="1543050"/>
            <a:ext cx="7048500" cy="2914650"/>
          </a:xfrm>
          <a:prstGeom prst="rect">
            <a:avLst/>
          </a:prstGeom>
          <a:solidFill>
            <a:srgbClr val="FFFFFF"/>
          </a:solidFill>
          <a:ln w="12700">
            <a:solidFill>
              <a:srgbClr val="D7DEE8"/>
            </a:solidFill>
            <a:prstDash val="solid"/>
          </a:ln>
        </p:spPr>
      </p:sp>
      <p:sp>
        <p:nvSpPr>
          <p:cNvPr id="10" name="text"/>
          <p:cNvSpPr/>
          <p:nvPr/>
        </p:nvSpPr>
        <p:spPr>
          <a:xfrm>
            <a:off x="742950" y="1714500"/>
            <a:ext cx="6667500" cy="25908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THE MECHANISM</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A dictionary stores key-value pairs and is written in braces, with lookup by key rather than by position. Keys must be hashable — strings, numbers and tuples qualify, lists do not — and each key appears at most once, so assigning to an existing key replaces its value rather than adding a second entry. Lookup is a hash operation and therefore constant time regardless of size, which is the decisive advantage over scanning a list. The trade-off is that a dictionary expresses no ordering relationship between entries: if the data has a meaningful sequence, a list is the honest structure, and if it has meaningful labels, a dictionary is.</a:t>
            </a:r>
            <a:endParaRPr lang="en-US" sz="1100" dirty="0"/>
          </a:p>
        </p:txBody>
      </p:sp>
      <p:sp>
        <p:nvSpPr>
          <p:cNvPr id="11" name="shape-29-9"/>
          <p:cNvSpPr/>
          <p:nvPr/>
        </p:nvSpPr>
        <p:spPr>
          <a:xfrm>
            <a:off x="7810500" y="1543050"/>
            <a:ext cx="3829050" cy="1390650"/>
          </a:xfrm>
          <a:prstGeom prst="rect">
            <a:avLst/>
          </a:prstGeom>
          <a:solidFill>
            <a:srgbClr val="F1F5FA"/>
          </a:solidFill>
          <a:ln/>
        </p:spPr>
      </p:sp>
      <p:sp>
        <p:nvSpPr>
          <p:cNvPr id="12" name="text"/>
          <p:cNvSpPr/>
          <p:nvPr/>
        </p:nvSpPr>
        <p:spPr>
          <a:xfrm>
            <a:off x="8001000" y="1695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KEY TERMS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dictionary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key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value</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key-value pair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KeyError</a:t>
            </a:r>
            <a:endParaRPr lang="en-US" sz="1100" dirty="0"/>
          </a:p>
        </p:txBody>
      </p:sp>
      <p:sp>
        <p:nvSpPr>
          <p:cNvPr id="13" name="shape-29-11"/>
          <p:cNvSpPr/>
          <p:nvPr/>
        </p:nvSpPr>
        <p:spPr>
          <a:xfrm>
            <a:off x="7810500" y="3067050"/>
            <a:ext cx="3829050" cy="1390650"/>
          </a:xfrm>
          <a:prstGeom prst="rect">
            <a:avLst/>
          </a:prstGeom>
          <a:solidFill>
            <a:srgbClr val="FDF3EC"/>
          </a:solidFill>
          <a:ln/>
        </p:spPr>
      </p:sp>
      <p:sp>
        <p:nvSpPr>
          <p:cNvPr id="14" name="text"/>
          <p:cNvSpPr/>
          <p:nvPr/>
        </p:nvSpPr>
        <p:spPr>
          <a:xfrm>
            <a:off x="8001000" y="3219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TAKEAWAY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Choose a list when position carries meaning and a dictionary when a label does.</a:t>
            </a:r>
            <a:endParaRPr lang="en-US" sz="1100" dirty="0"/>
          </a:p>
        </p:txBody>
      </p:sp>
      <p:sp>
        <p:nvSpPr>
          <p:cNvPr id="15" name="shape-29-13"/>
          <p:cNvSpPr/>
          <p:nvPr/>
        </p:nvSpPr>
        <p:spPr>
          <a:xfrm>
            <a:off x="552450" y="4629150"/>
            <a:ext cx="11087100" cy="609600"/>
          </a:xfrm>
          <a:prstGeom prst="rect">
            <a:avLst/>
          </a:prstGeom>
          <a:solidFill>
            <a:srgbClr val="F1F5FA"/>
          </a:solidFill>
          <a:ln/>
        </p:spPr>
      </p:sp>
      <p:sp>
        <p:nvSpPr>
          <p:cNvPr id="16" name="text"/>
          <p:cNvSpPr/>
          <p:nvPr/>
        </p:nvSpPr>
        <p:spPr>
          <a:xfrm>
            <a:off x="742950" y="4724400"/>
            <a:ext cx="742950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5A6478"/>
                </a:solidFill>
                <a:latin typeface="Segoe UI" pitchFamily="34" charset="0"/>
                <a:ea typeface="Segoe UI" pitchFamily="34" charset="-122"/>
                <a:cs typeface="Segoe UI" pitchFamily="34" charset="-120"/>
              </a:rPr>
              <a:t>DIAGRAM FOR PHASE 2</a:t>
            </a:r>
            <a:endParaRPr lang="en-US" sz="1100" dirty="0"/>
          </a:p>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Left panel 'list: find by scanning' shows a row of five cells and a search token walking left to right, testing each cell, with a step counter incrementing and a caption 'O(n)'. Right panel 'dict: find by hash…</a:t>
            </a:r>
            <a:endParaRPr lang="en-US" sz="1100" dirty="0"/>
          </a:p>
        </p:txBody>
      </p:sp>
      <p:sp>
        <p:nvSpPr>
          <p:cNvPr id="17" name="text"/>
          <p:cNvSpPr/>
          <p:nvPr/>
        </p:nvSpPr>
        <p:spPr>
          <a:xfrm>
            <a:off x="7810500" y="4705350"/>
            <a:ext cx="3657600" cy="2667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Automate the Boring Stuff with Python, 1st ed., Ch. 5, pp. 105-109</a:t>
            </a:r>
            <a:endParaRPr lang="en-US" sz="900" dirty="0"/>
          </a:p>
        </p:txBody>
      </p:sp>
      <p:sp>
        <p:nvSpPr>
          <p:cNvPr id="18" name="text"/>
          <p:cNvSpPr/>
          <p:nvPr/>
        </p:nvSpPr>
        <p:spPr>
          <a:xfrm>
            <a:off x="7810500" y="4972050"/>
            <a:ext cx="3657600" cy="20955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CO2  |  Bloom L3  |  visual id: dict-versus-list-lookup</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The dictionary data type, and dictionaries versus lists - how it works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The procedure in order, and what each pass costs you.</a:t>
            </a:r>
            <a:endParaRPr lang="en-US" sz="1100" dirty="0"/>
          </a:p>
        </p:txBody>
      </p:sp>
      <p:sp>
        <p:nvSpPr>
          <p:cNvPr id="4" name="shape-30-2"/>
          <p:cNvSpPr/>
          <p:nvPr/>
        </p:nvSpPr>
        <p:spPr>
          <a:xfrm>
            <a:off x="552450" y="1266825"/>
            <a:ext cx="990600" cy="47625"/>
          </a:xfrm>
          <a:prstGeom prst="rect">
            <a:avLst/>
          </a:prstGeom>
          <a:solidFill>
            <a:srgbClr val="0F6FC6"/>
          </a:solidFill>
          <a:ln/>
        </p:spPr>
      </p:sp>
      <p:sp>
        <p:nvSpPr>
          <p:cNvPr id="5" name="shape-30-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2</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The dictionary data type, and diction…</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30</a:t>
            </a:r>
            <a:endParaRPr lang="en-US" sz="900" dirty="0"/>
          </a:p>
        </p:txBody>
      </p:sp>
      <p:sp>
        <p:nvSpPr>
          <p:cNvPr id="9" name="shape-30-7"/>
          <p:cNvSpPr/>
          <p:nvPr/>
        </p:nvSpPr>
        <p:spPr>
          <a:xfrm>
            <a:off x="552450" y="1600200"/>
            <a:ext cx="7239000" cy="476250"/>
          </a:xfrm>
          <a:prstGeom prst="rect">
            <a:avLst/>
          </a:prstGeom>
          <a:solidFill>
            <a:srgbClr val="F1F5FA"/>
          </a:solidFill>
          <a:ln w="12700">
            <a:solidFill>
              <a:srgbClr val="D7DEE8"/>
            </a:solidFill>
            <a:prstDash val="solid"/>
          </a:ln>
        </p:spPr>
      </p:sp>
      <p:sp>
        <p:nvSpPr>
          <p:cNvPr id="10" name="text"/>
          <p:cNvSpPr/>
          <p:nvPr/>
        </p:nvSpPr>
        <p:spPr>
          <a:xfrm>
            <a:off x="723900" y="17145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Ask whether lookups will be by position or by label</a:t>
            </a:r>
            <a:endParaRPr lang="en-US" sz="1100" dirty="0"/>
          </a:p>
        </p:txBody>
      </p:sp>
      <p:sp>
        <p:nvSpPr>
          <p:cNvPr id="11" name="shape-30-9"/>
          <p:cNvSpPr/>
          <p:nvPr/>
        </p:nvSpPr>
        <p:spPr>
          <a:xfrm>
            <a:off x="552450" y="2152650"/>
            <a:ext cx="7239000" cy="476250"/>
          </a:xfrm>
          <a:prstGeom prst="rect">
            <a:avLst/>
          </a:prstGeom>
          <a:solidFill>
            <a:srgbClr val="FFFFFF"/>
          </a:solidFill>
          <a:ln w="12700">
            <a:solidFill>
              <a:srgbClr val="D7DEE8"/>
            </a:solidFill>
            <a:prstDash val="solid"/>
          </a:ln>
        </p:spPr>
      </p:sp>
      <p:sp>
        <p:nvSpPr>
          <p:cNvPr id="12" name="text"/>
          <p:cNvSpPr/>
          <p:nvPr/>
        </p:nvSpPr>
        <p:spPr>
          <a:xfrm>
            <a:off x="723900" y="22669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Write the dictionary as {key: value, key: value}</a:t>
            </a:r>
            <a:endParaRPr lang="en-US" sz="1100" dirty="0"/>
          </a:p>
        </p:txBody>
      </p:sp>
      <p:sp>
        <p:nvSpPr>
          <p:cNvPr id="13" name="shape-30-11"/>
          <p:cNvSpPr/>
          <p:nvPr/>
        </p:nvSpPr>
        <p:spPr>
          <a:xfrm>
            <a:off x="552450" y="2705100"/>
            <a:ext cx="7239000" cy="476250"/>
          </a:xfrm>
          <a:prstGeom prst="rect">
            <a:avLst/>
          </a:prstGeom>
          <a:solidFill>
            <a:srgbClr val="F1F5FA"/>
          </a:solidFill>
          <a:ln w="12700">
            <a:solidFill>
              <a:srgbClr val="D7DEE8"/>
            </a:solidFill>
            <a:prstDash val="solid"/>
          </a:ln>
        </p:spPr>
      </p:sp>
      <p:sp>
        <p:nvSpPr>
          <p:cNvPr id="14" name="text"/>
          <p:cNvSpPr/>
          <p:nvPr/>
        </p:nvSpPr>
        <p:spPr>
          <a:xfrm>
            <a:off x="723900" y="28194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Use only hashable values as keys</a:t>
            </a:r>
            <a:endParaRPr lang="en-US" sz="1100" dirty="0"/>
          </a:p>
        </p:txBody>
      </p:sp>
      <p:sp>
        <p:nvSpPr>
          <p:cNvPr id="15" name="shape-30-13"/>
          <p:cNvSpPr/>
          <p:nvPr/>
        </p:nvSpPr>
        <p:spPr>
          <a:xfrm>
            <a:off x="552450" y="3257550"/>
            <a:ext cx="7239000" cy="476250"/>
          </a:xfrm>
          <a:prstGeom prst="rect">
            <a:avLst/>
          </a:prstGeom>
          <a:solidFill>
            <a:srgbClr val="FFFFFF"/>
          </a:solidFill>
          <a:ln w="12700">
            <a:solidFill>
              <a:srgbClr val="D7DEE8"/>
            </a:solidFill>
            <a:prstDash val="solid"/>
          </a:ln>
        </p:spPr>
      </p:sp>
      <p:sp>
        <p:nvSpPr>
          <p:cNvPr id="16" name="text"/>
          <p:cNvSpPr/>
          <p:nvPr/>
        </p:nvSpPr>
        <p:spPr>
          <a:xfrm>
            <a:off x="723900" y="33718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Read a value with d[key], accepting that a missing key raises KeyError</a:t>
            </a:r>
            <a:endParaRPr lang="en-US" sz="1100" dirty="0"/>
          </a:p>
        </p:txBody>
      </p:sp>
      <p:sp>
        <p:nvSpPr>
          <p:cNvPr id="17" name="shape-30-15"/>
          <p:cNvSpPr/>
          <p:nvPr/>
        </p:nvSpPr>
        <p:spPr>
          <a:xfrm>
            <a:off x="552450" y="3810000"/>
            <a:ext cx="7239000" cy="476250"/>
          </a:xfrm>
          <a:prstGeom prst="rect">
            <a:avLst/>
          </a:prstGeom>
          <a:solidFill>
            <a:srgbClr val="F1F5FA"/>
          </a:solidFill>
          <a:ln w="12700">
            <a:solidFill>
              <a:srgbClr val="D7DEE8"/>
            </a:solidFill>
            <a:prstDash val="solid"/>
          </a:ln>
        </p:spPr>
      </p:sp>
      <p:sp>
        <p:nvSpPr>
          <p:cNvPr id="18" name="text"/>
          <p:cNvSpPr/>
          <p:nvPr/>
        </p:nvSpPr>
        <p:spPr>
          <a:xfrm>
            <a:off x="723900" y="39243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Assign with d[key] = value, which adds or replaces</a:t>
            </a:r>
            <a:endParaRPr lang="en-US" sz="1100" dirty="0"/>
          </a:p>
        </p:txBody>
      </p:sp>
      <p:sp>
        <p:nvSpPr>
          <p:cNvPr id="19" name="shape-30-17"/>
          <p:cNvSpPr/>
          <p:nvPr/>
        </p:nvSpPr>
        <p:spPr>
          <a:xfrm>
            <a:off x="552450" y="4362450"/>
            <a:ext cx="7239000" cy="476250"/>
          </a:xfrm>
          <a:prstGeom prst="rect">
            <a:avLst/>
          </a:prstGeom>
          <a:solidFill>
            <a:srgbClr val="FFFFFF"/>
          </a:solidFill>
          <a:ln w="12700">
            <a:solidFill>
              <a:srgbClr val="D7DEE8"/>
            </a:solidFill>
            <a:prstDash val="solid"/>
          </a:ln>
        </p:spPr>
      </p:sp>
      <p:sp>
        <p:nvSpPr>
          <p:cNvPr id="20" name="text"/>
          <p:cNvSpPr/>
          <p:nvPr/>
        </p:nvSpPr>
        <p:spPr>
          <a:xfrm>
            <a:off x="723900" y="44767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6.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Use len(d) for the number of pairs</a:t>
            </a:r>
            <a:endParaRPr lang="en-US" sz="1100" dirty="0"/>
          </a:p>
        </p:txBody>
      </p:sp>
      <p:sp>
        <p:nvSpPr>
          <p:cNvPr id="21" name="shape-30-19"/>
          <p:cNvSpPr/>
          <p:nvPr/>
        </p:nvSpPr>
        <p:spPr>
          <a:xfrm>
            <a:off x="8020050" y="1543050"/>
            <a:ext cx="3619500" cy="2247900"/>
          </a:xfrm>
          <a:prstGeom prst="rect">
            <a:avLst/>
          </a:prstGeom>
          <a:solidFill>
            <a:srgbClr val="F1F5FA"/>
          </a:solidFill>
          <a:ln/>
        </p:spPr>
      </p:sp>
      <p:sp>
        <p:nvSpPr>
          <p:cNvPr id="22" name="text"/>
          <p:cNvSpPr/>
          <p:nvPr/>
        </p:nvSpPr>
        <p:spPr>
          <a:xfrm>
            <a:off x="8210550" y="1695450"/>
            <a:ext cx="3257550" cy="19621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COST AND BEHAVIOUR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Best: O(1) average for lookup, insertion and deletion</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Typical: O(1) amortised regardless of size</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Worst: O(n) in a pathological hash-collision case, which is rare in practice</a:t>
            </a:r>
            <a:endParaRPr lang="en-US" sz="1100" dirty="0"/>
          </a:p>
        </p:txBody>
      </p:sp>
      <p:sp>
        <p:nvSpPr>
          <p:cNvPr id="23" name="shape-30-21"/>
          <p:cNvSpPr/>
          <p:nvPr/>
        </p:nvSpPr>
        <p:spPr>
          <a:xfrm>
            <a:off x="8020050" y="3943350"/>
            <a:ext cx="3619500" cy="1257300"/>
          </a:xfrm>
          <a:prstGeom prst="rect">
            <a:avLst/>
          </a:prstGeom>
          <a:solidFill>
            <a:srgbClr val="FDF3EC"/>
          </a:solidFill>
          <a:ln/>
        </p:spPr>
      </p:sp>
      <p:sp>
        <p:nvSpPr>
          <p:cNvPr id="24" name="text"/>
          <p:cNvSpPr/>
          <p:nvPr/>
        </p:nvSpPr>
        <p:spPr>
          <a:xfrm>
            <a:off x="8210550" y="4076700"/>
            <a:ext cx="3257550" cy="10096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WHAT THAT MEANS</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Constant-time lookup is the whole reason to accept the loss of positional meaning.</a:t>
            </a:r>
            <a:endParaRPr lang="en-US" sz="1100" dirty="0"/>
          </a:p>
        </p:txBody>
      </p:sp>
      <p:sp>
        <p:nvSpPr>
          <p:cNvPr id="25"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Automate the Boring Stuff with Python, 1st ed., Ch. 5, pp. 105-109   |   CO2  |  Bloom L3</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The dictionary data type, and dictionaries versus lists - worked example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concrete case, carried all the way to a stated number.</a:t>
            </a:r>
            <a:endParaRPr lang="en-US" sz="1100" dirty="0"/>
          </a:p>
        </p:txBody>
      </p:sp>
      <p:sp>
        <p:nvSpPr>
          <p:cNvPr id="4" name="shape-31-2"/>
          <p:cNvSpPr/>
          <p:nvPr/>
        </p:nvSpPr>
        <p:spPr>
          <a:xfrm>
            <a:off x="552450" y="1266825"/>
            <a:ext cx="990600" cy="47625"/>
          </a:xfrm>
          <a:prstGeom prst="rect">
            <a:avLst/>
          </a:prstGeom>
          <a:solidFill>
            <a:srgbClr val="0F6FC6"/>
          </a:solidFill>
          <a:ln/>
        </p:spPr>
      </p:sp>
      <p:sp>
        <p:nvSpPr>
          <p:cNvPr id="5" name="shape-31-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2</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The dictionary data type, and diction…</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31</a:t>
            </a:r>
            <a:endParaRPr lang="en-US" sz="900" dirty="0"/>
          </a:p>
        </p:txBody>
      </p:sp>
      <p:sp>
        <p:nvSpPr>
          <p:cNvPr id="9" name="shape-31-7"/>
          <p:cNvSpPr/>
          <p:nvPr/>
        </p:nvSpPr>
        <p:spPr>
          <a:xfrm>
            <a:off x="552450" y="1543050"/>
            <a:ext cx="7048500" cy="590550"/>
          </a:xfrm>
          <a:prstGeom prst="rect">
            <a:avLst/>
          </a:prstGeom>
          <a:solidFill>
            <a:srgbClr val="F1F5FA"/>
          </a:solidFill>
          <a:ln/>
        </p:spPr>
      </p:sp>
      <p:sp>
        <p:nvSpPr>
          <p:cNvPr id="10" name="text"/>
          <p:cNvSpPr/>
          <p:nvPr/>
        </p:nvSpPr>
        <p:spPr>
          <a:xfrm>
            <a:off x="723900" y="1657350"/>
            <a:ext cx="6724650" cy="4191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GIVEN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phone = {'alice': '5550100', 'bob': '5550101'}; look up alice, then carol.</a:t>
            </a:r>
            <a:endParaRPr lang="en-US" sz="1100" dirty="0"/>
          </a:p>
        </p:txBody>
      </p:sp>
      <p:sp>
        <p:nvSpPr>
          <p:cNvPr id="11" name="text"/>
          <p:cNvSpPr/>
          <p:nvPr/>
        </p:nvSpPr>
        <p:spPr>
          <a:xfrm>
            <a:off x="723900" y="22669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phone['alice'] hashes the key and returns '5550100' in one step</a:t>
            </a:r>
            <a:endParaRPr lang="en-US" sz="1100" dirty="0"/>
          </a:p>
        </p:txBody>
      </p:sp>
      <p:sp>
        <p:nvSpPr>
          <p:cNvPr id="12" name="text"/>
          <p:cNvSpPr/>
          <p:nvPr/>
        </p:nvSpPr>
        <p:spPr>
          <a:xfrm>
            <a:off x="723900" y="27051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phone['carol'] raises KeyError: 'carol'</a:t>
            </a:r>
            <a:endParaRPr lang="en-US" sz="1100" dirty="0"/>
          </a:p>
        </p:txBody>
      </p:sp>
      <p:sp>
        <p:nvSpPr>
          <p:cNvPr id="13" name="text"/>
          <p:cNvSpPr/>
          <p:nvPr/>
        </p:nvSpPr>
        <p:spPr>
          <a:xfrm>
            <a:off x="723900" y="31432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phone['carol'] = '5550102' adds the pair</a:t>
            </a:r>
            <a:endParaRPr lang="en-US" sz="1100" dirty="0"/>
          </a:p>
        </p:txBody>
      </p:sp>
      <p:sp>
        <p:nvSpPr>
          <p:cNvPr id="14" name="text"/>
          <p:cNvSpPr/>
          <p:nvPr/>
        </p:nvSpPr>
        <p:spPr>
          <a:xfrm>
            <a:off x="723900" y="35814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phone['alice'] = '5559999' replaces the existing value rather than adding a duplicate</a:t>
            </a:r>
            <a:endParaRPr lang="en-US" sz="1100" dirty="0"/>
          </a:p>
        </p:txBody>
      </p:sp>
      <p:sp>
        <p:nvSpPr>
          <p:cNvPr id="15" name="shape-31-13"/>
          <p:cNvSpPr/>
          <p:nvPr/>
        </p:nvSpPr>
        <p:spPr>
          <a:xfrm>
            <a:off x="552450" y="4076700"/>
            <a:ext cx="7048500" cy="628650"/>
          </a:xfrm>
          <a:prstGeom prst="rect">
            <a:avLst/>
          </a:prstGeom>
          <a:solidFill>
            <a:srgbClr val="FDF3EC"/>
          </a:solidFill>
          <a:ln/>
        </p:spPr>
      </p:sp>
      <p:sp>
        <p:nvSpPr>
          <p:cNvPr id="16" name="text"/>
          <p:cNvSpPr/>
          <p:nvPr/>
        </p:nvSpPr>
        <p:spPr>
          <a:xfrm>
            <a:off x="723900" y="4191000"/>
            <a:ext cx="672465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RESULT</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Lookup is one step regardless of how many entries exist, and a repeated key replaces rather than duplicates — two behaviours a list gives you neither of.</a:t>
            </a:r>
            <a:endParaRPr lang="en-US" sz="1100" dirty="0"/>
          </a:p>
        </p:txBody>
      </p:sp>
      <p:sp>
        <p:nvSpPr>
          <p:cNvPr id="17" name="shape-31-15"/>
          <p:cNvSpPr/>
          <p:nvPr/>
        </p:nvSpPr>
        <p:spPr>
          <a:xfrm>
            <a:off x="7810500" y="1543050"/>
            <a:ext cx="3829050" cy="1771650"/>
          </a:xfrm>
          <a:prstGeom prst="rect">
            <a:avLst/>
          </a:prstGeom>
          <a:solidFill>
            <a:srgbClr val="0E1726"/>
          </a:solidFill>
          <a:ln/>
        </p:spPr>
      </p:sp>
      <p:sp>
        <p:nvSpPr>
          <p:cNvPr id="18" name="text"/>
          <p:cNvSpPr/>
          <p:nvPr/>
        </p:nvSpPr>
        <p:spPr>
          <a:xfrm>
            <a:off x="7981950" y="1695450"/>
            <a:ext cx="3486150" cy="14859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&gt;&gt;&gt; phone = {'alice': '5550100', 'bob': '5550101'}</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&gt;&gt;&gt; phone['alice']</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'5550100'</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&gt;&gt;&gt; phone['carol']</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KeyError: 'carol'</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&gt;&gt;&gt; phone['carol'] = '5550102'</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&gt;&gt;&gt; len(phone)</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3</a:t>
            </a:r>
            <a:endParaRPr lang="en-US" sz="1000" dirty="0"/>
          </a:p>
        </p:txBody>
      </p:sp>
      <p:sp>
        <p:nvSpPr>
          <p:cNvPr id="19" name="shape-31-17"/>
          <p:cNvSpPr/>
          <p:nvPr/>
        </p:nvSpPr>
        <p:spPr>
          <a:xfrm>
            <a:off x="7810500" y="3467100"/>
            <a:ext cx="3829050" cy="1733550"/>
          </a:xfrm>
          <a:prstGeom prst="rect">
            <a:avLst/>
          </a:prstGeom>
          <a:solidFill>
            <a:srgbClr val="FFFFFF"/>
          </a:solidFill>
          <a:ln w="19050">
            <a:solidFill>
              <a:srgbClr val="C2410C"/>
            </a:solidFill>
            <a:prstDash val="solid"/>
          </a:ln>
        </p:spPr>
      </p:sp>
      <p:sp>
        <p:nvSpPr>
          <p:cNvPr id="20" name="text"/>
          <p:cNvSpPr/>
          <p:nvPr/>
        </p:nvSpPr>
        <p:spPr>
          <a:xfrm>
            <a:off x="7981950" y="3600450"/>
            <a:ext cx="3486150" cy="14668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MISTAKE STUDENTS MAKE</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Students store a record as a list and then index it with magic numbers such as record[3], which nobody can read six months later. If the position needs a comment to explain it, the data wanted a dictionary.</a:t>
            </a:r>
            <a:endParaRPr lang="en-US" sz="1100" dirty="0"/>
          </a:p>
        </p:txBody>
      </p:sp>
      <p:sp>
        <p:nvSpPr>
          <p:cNvPr id="21"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Automate the Boring Stuff with Python, 1st ed., Ch. 5, pp. 105-109   |   CO2  |  Bloom L3</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get(), setdefault() and checking for keys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What it is, why it works, and what it costs.</a:t>
            </a:r>
            <a:endParaRPr lang="en-US" sz="1100" dirty="0"/>
          </a:p>
        </p:txBody>
      </p:sp>
      <p:sp>
        <p:nvSpPr>
          <p:cNvPr id="4" name="shape-32-2"/>
          <p:cNvSpPr/>
          <p:nvPr/>
        </p:nvSpPr>
        <p:spPr>
          <a:xfrm>
            <a:off x="552450" y="1266825"/>
            <a:ext cx="990600" cy="47625"/>
          </a:xfrm>
          <a:prstGeom prst="rect">
            <a:avLst/>
          </a:prstGeom>
          <a:solidFill>
            <a:srgbClr val="0F6FC6"/>
          </a:solidFill>
          <a:ln/>
        </p:spPr>
      </p:sp>
      <p:sp>
        <p:nvSpPr>
          <p:cNvPr id="5" name="shape-32-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2</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get(), setdefault() and checking for…</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32</a:t>
            </a:r>
            <a:endParaRPr lang="en-US" sz="900" dirty="0"/>
          </a:p>
        </p:txBody>
      </p:sp>
      <p:sp>
        <p:nvSpPr>
          <p:cNvPr id="9" name="shape-32-7"/>
          <p:cNvSpPr/>
          <p:nvPr/>
        </p:nvSpPr>
        <p:spPr>
          <a:xfrm>
            <a:off x="552450" y="1543050"/>
            <a:ext cx="7048500" cy="2914650"/>
          </a:xfrm>
          <a:prstGeom prst="rect">
            <a:avLst/>
          </a:prstGeom>
          <a:solidFill>
            <a:srgbClr val="FFFFFF"/>
          </a:solidFill>
          <a:ln w="12700">
            <a:solidFill>
              <a:srgbClr val="D7DEE8"/>
            </a:solidFill>
            <a:prstDash val="solid"/>
          </a:ln>
        </p:spPr>
      </p:sp>
      <p:sp>
        <p:nvSpPr>
          <p:cNvPr id="10" name="text"/>
          <p:cNvSpPr/>
          <p:nvPr/>
        </p:nvSpPr>
        <p:spPr>
          <a:xfrm>
            <a:off x="742950" y="1714500"/>
            <a:ext cx="6667500" cy="25908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THE MECHANISM</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Reading a missing key with square brackets raises KeyError, so most dictionary code is really about what to do when a key is absent. get(key, default) returns the default instead of raising, leaving the dictionary untouched — the right tool for reading. setdefault(key, default) returns the existing value if the key is present and otherwise inserts the default and returns it — the right tool for initialising. Using setdefault removes the whole if-key-not-in-dictionary preamble that beginners write before every counter update, and the keys(), values() and items() methods supply views for iterating over one side or both.</a:t>
            </a:r>
            <a:endParaRPr lang="en-US" sz="1100" dirty="0"/>
          </a:p>
        </p:txBody>
      </p:sp>
      <p:sp>
        <p:nvSpPr>
          <p:cNvPr id="11" name="shape-32-9"/>
          <p:cNvSpPr/>
          <p:nvPr/>
        </p:nvSpPr>
        <p:spPr>
          <a:xfrm>
            <a:off x="7810500" y="1543050"/>
            <a:ext cx="3829050" cy="1390650"/>
          </a:xfrm>
          <a:prstGeom prst="rect">
            <a:avLst/>
          </a:prstGeom>
          <a:solidFill>
            <a:srgbClr val="F1F5FA"/>
          </a:solidFill>
          <a:ln/>
        </p:spPr>
      </p:sp>
      <p:sp>
        <p:nvSpPr>
          <p:cNvPr id="12" name="text"/>
          <p:cNvSpPr/>
          <p:nvPr/>
        </p:nvSpPr>
        <p:spPr>
          <a:xfrm>
            <a:off x="8001000" y="1695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KEY TERMS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get()</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setdefault()</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default value</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KeyError avoidance</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keys() values() items()</a:t>
            </a:r>
            <a:endParaRPr lang="en-US" sz="1100" dirty="0"/>
          </a:p>
        </p:txBody>
      </p:sp>
      <p:sp>
        <p:nvSpPr>
          <p:cNvPr id="13" name="shape-32-11"/>
          <p:cNvSpPr/>
          <p:nvPr/>
        </p:nvSpPr>
        <p:spPr>
          <a:xfrm>
            <a:off x="7810500" y="3067050"/>
            <a:ext cx="3829050" cy="1390650"/>
          </a:xfrm>
          <a:prstGeom prst="rect">
            <a:avLst/>
          </a:prstGeom>
          <a:solidFill>
            <a:srgbClr val="FDF3EC"/>
          </a:solidFill>
          <a:ln/>
        </p:spPr>
      </p:sp>
      <p:sp>
        <p:nvSpPr>
          <p:cNvPr id="14" name="text"/>
          <p:cNvSpPr/>
          <p:nvPr/>
        </p:nvSpPr>
        <p:spPr>
          <a:xfrm>
            <a:off x="8001000" y="3219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TAKEAWAY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get() reads with a fallback and changes nothing; setdefault() initialises and does change the dictionary.</a:t>
            </a:r>
            <a:endParaRPr lang="en-US" sz="1100" dirty="0"/>
          </a:p>
        </p:txBody>
      </p:sp>
      <p:sp>
        <p:nvSpPr>
          <p:cNvPr id="15" name="shape-32-13"/>
          <p:cNvSpPr/>
          <p:nvPr/>
        </p:nvSpPr>
        <p:spPr>
          <a:xfrm>
            <a:off x="552450" y="4629150"/>
            <a:ext cx="11087100" cy="609600"/>
          </a:xfrm>
          <a:prstGeom prst="rect">
            <a:avLst/>
          </a:prstGeom>
          <a:solidFill>
            <a:srgbClr val="F1F5FA"/>
          </a:solidFill>
          <a:ln/>
        </p:spPr>
      </p:sp>
      <p:sp>
        <p:nvSpPr>
          <p:cNvPr id="16" name="text"/>
          <p:cNvSpPr/>
          <p:nvPr/>
        </p:nvSpPr>
        <p:spPr>
          <a:xfrm>
            <a:off x="742950" y="4724400"/>
            <a:ext cx="742950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5A6478"/>
                </a:solidFill>
                <a:latin typeface="Segoe UI" pitchFamily="34" charset="0"/>
                <a:ea typeface="Segoe UI" pitchFamily="34" charset="-122"/>
                <a:cs typeface="Segoe UI" pitchFamily="34" charset="-120"/>
              </a:rPr>
              <a:t>DIAGRAM FOR PHASE 2</a:t>
            </a:r>
            <a:endParaRPr lang="en-US" sz="1100" dirty="0"/>
          </a:p>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Two parallel flow rows over a shared dictionary box holding two pairs. Row 1 'get(k, default)': a key token enters a diamond 'present?'; the yes branch returns the stored value, the no branch returns the defau…</a:t>
            </a:r>
            <a:endParaRPr lang="en-US" sz="1100" dirty="0"/>
          </a:p>
        </p:txBody>
      </p:sp>
      <p:sp>
        <p:nvSpPr>
          <p:cNvPr id="17" name="text"/>
          <p:cNvSpPr/>
          <p:nvPr/>
        </p:nvSpPr>
        <p:spPr>
          <a:xfrm>
            <a:off x="7810500" y="4705350"/>
            <a:ext cx="3657600" cy="2667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Automate the Boring Stuff with Python, 1st ed., Ch. 5, pp. 109-111</a:t>
            </a:r>
            <a:endParaRPr lang="en-US" sz="900" dirty="0"/>
          </a:p>
        </p:txBody>
      </p:sp>
      <p:sp>
        <p:nvSpPr>
          <p:cNvPr id="18" name="text"/>
          <p:cNvSpPr/>
          <p:nvPr/>
        </p:nvSpPr>
        <p:spPr>
          <a:xfrm>
            <a:off x="7810500" y="4972050"/>
            <a:ext cx="3657600" cy="20955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CO2  |  Bloom L4  |  visual id: get-versus-setdefault</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get(), setdefault() and checking for keys - how it works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The procedure in order, and what each pass costs you.</a:t>
            </a:r>
            <a:endParaRPr lang="en-US" sz="1100" dirty="0"/>
          </a:p>
        </p:txBody>
      </p:sp>
      <p:sp>
        <p:nvSpPr>
          <p:cNvPr id="4" name="shape-33-2"/>
          <p:cNvSpPr/>
          <p:nvPr/>
        </p:nvSpPr>
        <p:spPr>
          <a:xfrm>
            <a:off x="552450" y="1266825"/>
            <a:ext cx="990600" cy="47625"/>
          </a:xfrm>
          <a:prstGeom prst="rect">
            <a:avLst/>
          </a:prstGeom>
          <a:solidFill>
            <a:srgbClr val="0F6FC6"/>
          </a:solidFill>
          <a:ln/>
        </p:spPr>
      </p:sp>
      <p:sp>
        <p:nvSpPr>
          <p:cNvPr id="5" name="shape-33-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2</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get(), setdefault() and checking for…</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33</a:t>
            </a:r>
            <a:endParaRPr lang="en-US" sz="900" dirty="0"/>
          </a:p>
        </p:txBody>
      </p:sp>
      <p:sp>
        <p:nvSpPr>
          <p:cNvPr id="9" name="shape-33-7"/>
          <p:cNvSpPr/>
          <p:nvPr/>
        </p:nvSpPr>
        <p:spPr>
          <a:xfrm>
            <a:off x="552450" y="1600200"/>
            <a:ext cx="7239000" cy="476250"/>
          </a:xfrm>
          <a:prstGeom prst="rect">
            <a:avLst/>
          </a:prstGeom>
          <a:solidFill>
            <a:srgbClr val="F1F5FA"/>
          </a:solidFill>
          <a:ln w="12700">
            <a:solidFill>
              <a:srgbClr val="D7DEE8"/>
            </a:solidFill>
            <a:prstDash val="solid"/>
          </a:ln>
        </p:spPr>
      </p:sp>
      <p:sp>
        <p:nvSpPr>
          <p:cNvPr id="10" name="text"/>
          <p:cNvSpPr/>
          <p:nvPr/>
        </p:nvSpPr>
        <p:spPr>
          <a:xfrm>
            <a:off x="723900" y="17145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Decide whether a missing key should be read past or created</a:t>
            </a:r>
            <a:endParaRPr lang="en-US" sz="1100" dirty="0"/>
          </a:p>
        </p:txBody>
      </p:sp>
      <p:sp>
        <p:nvSpPr>
          <p:cNvPr id="11" name="shape-33-9"/>
          <p:cNvSpPr/>
          <p:nvPr/>
        </p:nvSpPr>
        <p:spPr>
          <a:xfrm>
            <a:off x="552450" y="2152650"/>
            <a:ext cx="7239000" cy="476250"/>
          </a:xfrm>
          <a:prstGeom prst="rect">
            <a:avLst/>
          </a:prstGeom>
          <a:solidFill>
            <a:srgbClr val="FFFFFF"/>
          </a:solidFill>
          <a:ln w="12700">
            <a:solidFill>
              <a:srgbClr val="D7DEE8"/>
            </a:solidFill>
            <a:prstDash val="solid"/>
          </a:ln>
        </p:spPr>
      </p:sp>
      <p:sp>
        <p:nvSpPr>
          <p:cNvPr id="12" name="text"/>
          <p:cNvSpPr/>
          <p:nvPr/>
        </p:nvSpPr>
        <p:spPr>
          <a:xfrm>
            <a:off x="723900" y="22669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For reading, use d.get(key, default)</a:t>
            </a:r>
            <a:endParaRPr lang="en-US" sz="1100" dirty="0"/>
          </a:p>
        </p:txBody>
      </p:sp>
      <p:sp>
        <p:nvSpPr>
          <p:cNvPr id="13" name="shape-33-11"/>
          <p:cNvSpPr/>
          <p:nvPr/>
        </p:nvSpPr>
        <p:spPr>
          <a:xfrm>
            <a:off x="552450" y="2705100"/>
            <a:ext cx="7239000" cy="476250"/>
          </a:xfrm>
          <a:prstGeom prst="rect">
            <a:avLst/>
          </a:prstGeom>
          <a:solidFill>
            <a:srgbClr val="F1F5FA"/>
          </a:solidFill>
          <a:ln w="12700">
            <a:solidFill>
              <a:srgbClr val="D7DEE8"/>
            </a:solidFill>
            <a:prstDash val="solid"/>
          </a:ln>
        </p:spPr>
      </p:sp>
      <p:sp>
        <p:nvSpPr>
          <p:cNvPr id="14" name="text"/>
          <p:cNvSpPr/>
          <p:nvPr/>
        </p:nvSpPr>
        <p:spPr>
          <a:xfrm>
            <a:off x="723900" y="28194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For initialising, use d.setdefault(key, default)</a:t>
            </a:r>
            <a:endParaRPr lang="en-US" sz="1100" dirty="0"/>
          </a:p>
        </p:txBody>
      </p:sp>
      <p:sp>
        <p:nvSpPr>
          <p:cNvPr id="15" name="shape-33-13"/>
          <p:cNvSpPr/>
          <p:nvPr/>
        </p:nvSpPr>
        <p:spPr>
          <a:xfrm>
            <a:off x="552450" y="3257550"/>
            <a:ext cx="7239000" cy="476250"/>
          </a:xfrm>
          <a:prstGeom prst="rect">
            <a:avLst/>
          </a:prstGeom>
          <a:solidFill>
            <a:srgbClr val="FFFFFF"/>
          </a:solidFill>
          <a:ln w="12700">
            <a:solidFill>
              <a:srgbClr val="D7DEE8"/>
            </a:solidFill>
            <a:prstDash val="solid"/>
          </a:ln>
        </p:spPr>
      </p:sp>
      <p:sp>
        <p:nvSpPr>
          <p:cNvPr id="16" name="text"/>
          <p:cNvSpPr/>
          <p:nvPr/>
        </p:nvSpPr>
        <p:spPr>
          <a:xfrm>
            <a:off x="723900" y="33718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Use key in d only when you need the Boolean itself</a:t>
            </a:r>
            <a:endParaRPr lang="en-US" sz="1100" dirty="0"/>
          </a:p>
        </p:txBody>
      </p:sp>
      <p:sp>
        <p:nvSpPr>
          <p:cNvPr id="17" name="shape-33-15"/>
          <p:cNvSpPr/>
          <p:nvPr/>
        </p:nvSpPr>
        <p:spPr>
          <a:xfrm>
            <a:off x="552450" y="3810000"/>
            <a:ext cx="7239000" cy="476250"/>
          </a:xfrm>
          <a:prstGeom prst="rect">
            <a:avLst/>
          </a:prstGeom>
          <a:solidFill>
            <a:srgbClr val="F1F5FA"/>
          </a:solidFill>
          <a:ln w="12700">
            <a:solidFill>
              <a:srgbClr val="D7DEE8"/>
            </a:solidFill>
            <a:prstDash val="solid"/>
          </a:ln>
        </p:spPr>
      </p:sp>
      <p:sp>
        <p:nvSpPr>
          <p:cNvPr id="18" name="text"/>
          <p:cNvSpPr/>
          <p:nvPr/>
        </p:nvSpPr>
        <p:spPr>
          <a:xfrm>
            <a:off x="723900" y="39243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Iterate keys with d.keys(), values with d.values(), both with d.items()</a:t>
            </a:r>
            <a:endParaRPr lang="en-US" sz="1100" dirty="0"/>
          </a:p>
        </p:txBody>
      </p:sp>
      <p:sp>
        <p:nvSpPr>
          <p:cNvPr id="19" name="shape-33-17"/>
          <p:cNvSpPr/>
          <p:nvPr/>
        </p:nvSpPr>
        <p:spPr>
          <a:xfrm>
            <a:off x="552450" y="4362450"/>
            <a:ext cx="7239000" cy="476250"/>
          </a:xfrm>
          <a:prstGeom prst="rect">
            <a:avLst/>
          </a:prstGeom>
          <a:solidFill>
            <a:srgbClr val="FFFFFF"/>
          </a:solidFill>
          <a:ln w="12700">
            <a:solidFill>
              <a:srgbClr val="D7DEE8"/>
            </a:solidFill>
            <a:prstDash val="solid"/>
          </a:ln>
        </p:spPr>
      </p:sp>
      <p:sp>
        <p:nvSpPr>
          <p:cNvPr id="20" name="text"/>
          <p:cNvSpPr/>
          <p:nvPr/>
        </p:nvSpPr>
        <p:spPr>
          <a:xfrm>
            <a:off x="723900" y="44767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6.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Reserve d[key] for keys you are certain exist</a:t>
            </a:r>
            <a:endParaRPr lang="en-US" sz="1100" dirty="0"/>
          </a:p>
        </p:txBody>
      </p:sp>
      <p:sp>
        <p:nvSpPr>
          <p:cNvPr id="21" name="shape-33-19"/>
          <p:cNvSpPr/>
          <p:nvPr/>
        </p:nvSpPr>
        <p:spPr>
          <a:xfrm>
            <a:off x="8020050" y="1543050"/>
            <a:ext cx="3619500" cy="2247900"/>
          </a:xfrm>
          <a:prstGeom prst="rect">
            <a:avLst/>
          </a:prstGeom>
          <a:solidFill>
            <a:srgbClr val="F1F5FA"/>
          </a:solidFill>
          <a:ln/>
        </p:spPr>
      </p:sp>
      <p:sp>
        <p:nvSpPr>
          <p:cNvPr id="22" name="text"/>
          <p:cNvSpPr/>
          <p:nvPr/>
        </p:nvSpPr>
        <p:spPr>
          <a:xfrm>
            <a:off x="8210550" y="1695450"/>
            <a:ext cx="3257550" cy="19621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COST AND BEHAVIOUR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Best: O(1) for get and setdefault</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Typical: O(1) average</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Worst: O(n) to iterate all items</a:t>
            </a:r>
            <a:endParaRPr lang="en-US" sz="1100" dirty="0"/>
          </a:p>
        </p:txBody>
      </p:sp>
      <p:sp>
        <p:nvSpPr>
          <p:cNvPr id="23" name="shape-33-21"/>
          <p:cNvSpPr/>
          <p:nvPr/>
        </p:nvSpPr>
        <p:spPr>
          <a:xfrm>
            <a:off x="8020050" y="3943350"/>
            <a:ext cx="3619500" cy="1257300"/>
          </a:xfrm>
          <a:prstGeom prst="rect">
            <a:avLst/>
          </a:prstGeom>
          <a:solidFill>
            <a:srgbClr val="FDF3EC"/>
          </a:solidFill>
          <a:ln/>
        </p:spPr>
      </p:sp>
      <p:sp>
        <p:nvSpPr>
          <p:cNvPr id="24" name="text"/>
          <p:cNvSpPr/>
          <p:nvPr/>
        </p:nvSpPr>
        <p:spPr>
          <a:xfrm>
            <a:off x="8210550" y="4076700"/>
            <a:ext cx="3257550" cy="10096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WHAT THAT MEANS</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setdefault does the presence test and the insertion in one hash lookup rather than two.</a:t>
            </a:r>
            <a:endParaRPr lang="en-US" sz="1100" dirty="0"/>
          </a:p>
        </p:txBody>
      </p:sp>
      <p:sp>
        <p:nvSpPr>
          <p:cNvPr id="25"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Automate the Boring Stuff with Python, 1st ed., Ch. 5, pp. 109-111   |   CO2  |  Bloom L4</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get(), setdefault() and checking for keys - worked example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concrete case, carried all the way to a stated number.</a:t>
            </a:r>
            <a:endParaRPr lang="en-US" sz="1100" dirty="0"/>
          </a:p>
        </p:txBody>
      </p:sp>
      <p:sp>
        <p:nvSpPr>
          <p:cNvPr id="4" name="shape-34-2"/>
          <p:cNvSpPr/>
          <p:nvPr/>
        </p:nvSpPr>
        <p:spPr>
          <a:xfrm>
            <a:off x="552450" y="1266825"/>
            <a:ext cx="990600" cy="47625"/>
          </a:xfrm>
          <a:prstGeom prst="rect">
            <a:avLst/>
          </a:prstGeom>
          <a:solidFill>
            <a:srgbClr val="0F6FC6"/>
          </a:solidFill>
          <a:ln/>
        </p:spPr>
      </p:sp>
      <p:sp>
        <p:nvSpPr>
          <p:cNvPr id="5" name="shape-34-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2</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get(), setdefault() and checking for…</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34</a:t>
            </a:r>
            <a:endParaRPr lang="en-US" sz="900" dirty="0"/>
          </a:p>
        </p:txBody>
      </p:sp>
      <p:sp>
        <p:nvSpPr>
          <p:cNvPr id="9" name="shape-34-7"/>
          <p:cNvSpPr/>
          <p:nvPr/>
        </p:nvSpPr>
        <p:spPr>
          <a:xfrm>
            <a:off x="552450" y="1543050"/>
            <a:ext cx="7048500" cy="590550"/>
          </a:xfrm>
          <a:prstGeom prst="rect">
            <a:avLst/>
          </a:prstGeom>
          <a:solidFill>
            <a:srgbClr val="F1F5FA"/>
          </a:solidFill>
          <a:ln/>
        </p:spPr>
      </p:sp>
      <p:sp>
        <p:nvSpPr>
          <p:cNvPr id="10" name="text"/>
          <p:cNvSpPr/>
          <p:nvPr/>
        </p:nvSpPr>
        <p:spPr>
          <a:xfrm>
            <a:off x="723900" y="1657350"/>
            <a:ext cx="6724650" cy="4191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GIVEN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Count character frequencies in the string 'hello' using setdefault.</a:t>
            </a:r>
            <a:endParaRPr lang="en-US" sz="1100" dirty="0"/>
          </a:p>
        </p:txBody>
      </p:sp>
      <p:sp>
        <p:nvSpPr>
          <p:cNvPr id="11" name="text"/>
          <p:cNvSpPr/>
          <p:nvPr/>
        </p:nvSpPr>
        <p:spPr>
          <a:xfrm>
            <a:off x="723900" y="22669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Start with count = {}</a:t>
            </a:r>
            <a:endParaRPr lang="en-US" sz="1100" dirty="0"/>
          </a:p>
        </p:txBody>
      </p:sp>
      <p:sp>
        <p:nvSpPr>
          <p:cNvPr id="12" name="text"/>
          <p:cNvSpPr/>
          <p:nvPr/>
        </p:nvSpPr>
        <p:spPr>
          <a:xfrm>
            <a:off x="723900" y="27051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For 'h': setdefault('h', 0) inserts 0 and returns it; adding 1 gives count['h'] = 1</a:t>
            </a:r>
            <a:endParaRPr lang="en-US" sz="1100" dirty="0"/>
          </a:p>
        </p:txBody>
      </p:sp>
      <p:sp>
        <p:nvSpPr>
          <p:cNvPr id="13" name="text"/>
          <p:cNvSpPr/>
          <p:nvPr/>
        </p:nvSpPr>
        <p:spPr>
          <a:xfrm>
            <a:off x="723900" y="31432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For the second 'l': setdefault('l', 0) finds the existing 1 and returns it; adding 1 gives 2</a:t>
            </a:r>
            <a:endParaRPr lang="en-US" sz="1100" dirty="0"/>
          </a:p>
        </p:txBody>
      </p:sp>
      <p:sp>
        <p:nvSpPr>
          <p:cNvPr id="14" name="text"/>
          <p:cNvSpPr/>
          <p:nvPr/>
        </p:nvSpPr>
        <p:spPr>
          <a:xfrm>
            <a:off x="723900" y="35814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After the loop count is {'h':1, 'e':1, 'l':2, 'o':1}</a:t>
            </a:r>
            <a:endParaRPr lang="en-US" sz="1100" dirty="0"/>
          </a:p>
        </p:txBody>
      </p:sp>
      <p:sp>
        <p:nvSpPr>
          <p:cNvPr id="15" name="shape-34-13"/>
          <p:cNvSpPr/>
          <p:nvPr/>
        </p:nvSpPr>
        <p:spPr>
          <a:xfrm>
            <a:off x="552450" y="4076700"/>
            <a:ext cx="7048500" cy="628650"/>
          </a:xfrm>
          <a:prstGeom prst="rect">
            <a:avLst/>
          </a:prstGeom>
          <a:solidFill>
            <a:srgbClr val="FDF3EC"/>
          </a:solidFill>
          <a:ln/>
        </p:spPr>
      </p:sp>
      <p:sp>
        <p:nvSpPr>
          <p:cNvPr id="16" name="text"/>
          <p:cNvSpPr/>
          <p:nvPr/>
        </p:nvSpPr>
        <p:spPr>
          <a:xfrm>
            <a:off x="723900" y="4191000"/>
            <a:ext cx="672465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RESULT</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The counter needs no if-statement at all, because setdefault handles the first-sighting case and the repeat case with the same line.</a:t>
            </a:r>
            <a:endParaRPr lang="en-US" sz="1100" dirty="0"/>
          </a:p>
        </p:txBody>
      </p:sp>
      <p:sp>
        <p:nvSpPr>
          <p:cNvPr id="17" name="shape-34-15"/>
          <p:cNvSpPr/>
          <p:nvPr/>
        </p:nvSpPr>
        <p:spPr>
          <a:xfrm>
            <a:off x="7810500" y="1543050"/>
            <a:ext cx="3829050" cy="1771650"/>
          </a:xfrm>
          <a:prstGeom prst="rect">
            <a:avLst/>
          </a:prstGeom>
          <a:solidFill>
            <a:srgbClr val="0E1726"/>
          </a:solidFill>
          <a:ln/>
        </p:spPr>
      </p:sp>
      <p:sp>
        <p:nvSpPr>
          <p:cNvPr id="18" name="text"/>
          <p:cNvSpPr/>
          <p:nvPr/>
        </p:nvSpPr>
        <p:spPr>
          <a:xfrm>
            <a:off x="7981950" y="1695450"/>
            <a:ext cx="3486150" cy="14859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&gt;&gt;&gt; count = {}</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&gt;&gt;&gt; for ch in 'hello':</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     count[ch] = count.setdefault(ch, 0) + 1</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&gt;&gt;&gt; count</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{'h': 1, 'e': 1, 'l': 2, 'o': 1}</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&gt;&gt;&gt; count.get('z', 0)</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0</a:t>
            </a:r>
            <a:endParaRPr lang="en-US" sz="1000" dirty="0"/>
          </a:p>
        </p:txBody>
      </p:sp>
      <p:sp>
        <p:nvSpPr>
          <p:cNvPr id="19" name="shape-34-17"/>
          <p:cNvSpPr/>
          <p:nvPr/>
        </p:nvSpPr>
        <p:spPr>
          <a:xfrm>
            <a:off x="7810500" y="3467100"/>
            <a:ext cx="3829050" cy="1733550"/>
          </a:xfrm>
          <a:prstGeom prst="rect">
            <a:avLst/>
          </a:prstGeom>
          <a:solidFill>
            <a:srgbClr val="FFFFFF"/>
          </a:solidFill>
          <a:ln w="19050">
            <a:solidFill>
              <a:srgbClr val="C2410C"/>
            </a:solidFill>
            <a:prstDash val="solid"/>
          </a:ln>
        </p:spPr>
      </p:sp>
      <p:sp>
        <p:nvSpPr>
          <p:cNvPr id="20" name="text"/>
          <p:cNvSpPr/>
          <p:nvPr/>
        </p:nvSpPr>
        <p:spPr>
          <a:xfrm>
            <a:off x="7981950" y="3600450"/>
            <a:ext cx="3486150" cy="14668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MISTAKE STUDENTS MAKE</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Students use get() where setdefault() is meant and wonder why the dictionary never fills up. get() deliberately does not write; if you need the key to exist afterwards, setdefault() is the one that inserts.</a:t>
            </a:r>
            <a:endParaRPr lang="en-US" sz="1100" dirty="0"/>
          </a:p>
        </p:txBody>
      </p:sp>
      <p:sp>
        <p:nvSpPr>
          <p:cNvPr id="21"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Automate the Boring Stuff with Python, 1st ed., Ch. 5, pp. 109-111   |   CO2  |  Bloom L4</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Pretty printing and modelling real-world things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What it is, why it works, and what it costs.</a:t>
            </a:r>
            <a:endParaRPr lang="en-US" sz="1100" dirty="0"/>
          </a:p>
        </p:txBody>
      </p:sp>
      <p:sp>
        <p:nvSpPr>
          <p:cNvPr id="4" name="shape-35-2"/>
          <p:cNvSpPr/>
          <p:nvPr/>
        </p:nvSpPr>
        <p:spPr>
          <a:xfrm>
            <a:off x="552450" y="1266825"/>
            <a:ext cx="990600" cy="47625"/>
          </a:xfrm>
          <a:prstGeom prst="rect">
            <a:avLst/>
          </a:prstGeom>
          <a:solidFill>
            <a:srgbClr val="0F6FC6"/>
          </a:solidFill>
          <a:ln/>
        </p:spPr>
      </p:sp>
      <p:sp>
        <p:nvSpPr>
          <p:cNvPr id="5" name="shape-35-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2</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Pretty printing and modelling real-wo…</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35</a:t>
            </a:r>
            <a:endParaRPr lang="en-US" sz="900" dirty="0"/>
          </a:p>
        </p:txBody>
      </p:sp>
      <p:sp>
        <p:nvSpPr>
          <p:cNvPr id="9" name="shape-35-7"/>
          <p:cNvSpPr/>
          <p:nvPr/>
        </p:nvSpPr>
        <p:spPr>
          <a:xfrm>
            <a:off x="552450" y="1543050"/>
            <a:ext cx="7048500" cy="2914650"/>
          </a:xfrm>
          <a:prstGeom prst="rect">
            <a:avLst/>
          </a:prstGeom>
          <a:solidFill>
            <a:srgbClr val="FFFFFF"/>
          </a:solidFill>
          <a:ln w="12700">
            <a:solidFill>
              <a:srgbClr val="D7DEE8"/>
            </a:solidFill>
            <a:prstDash val="solid"/>
          </a:ln>
        </p:spPr>
      </p:sp>
      <p:sp>
        <p:nvSpPr>
          <p:cNvPr id="10" name="text"/>
          <p:cNvSpPr/>
          <p:nvPr/>
        </p:nvSpPr>
        <p:spPr>
          <a:xfrm>
            <a:off x="742950" y="1714500"/>
            <a:ext cx="6667500" cy="25908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THE MECHANISM</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A dictionary printed with print() appears on one long line, which becomes unreadable as soon as it nests. The pprint module formats it with one key per line and consistent indentation: pprint() writes it to the screen and pformat() returns the same text as a string, which is what lets a structure be written into a .py file and imported back later. Beyond formatting, the real skill is modelling — choosing the structure whose shape matches the thing being described, so a tic-tac-toe board becomes a dictionary keyed by position name rather than a list indexed by a number nobody can decode. The test of a good model is whether reading the data aloud describes the real object.</a:t>
            </a:r>
            <a:endParaRPr lang="en-US" sz="1100" dirty="0"/>
          </a:p>
        </p:txBody>
      </p:sp>
      <p:sp>
        <p:nvSpPr>
          <p:cNvPr id="11" name="shape-35-9"/>
          <p:cNvSpPr/>
          <p:nvPr/>
        </p:nvSpPr>
        <p:spPr>
          <a:xfrm>
            <a:off x="7810500" y="1543050"/>
            <a:ext cx="3829050" cy="1390650"/>
          </a:xfrm>
          <a:prstGeom prst="rect">
            <a:avLst/>
          </a:prstGeom>
          <a:solidFill>
            <a:srgbClr val="F1F5FA"/>
          </a:solidFill>
          <a:ln/>
        </p:spPr>
      </p:sp>
      <p:sp>
        <p:nvSpPr>
          <p:cNvPr id="12" name="text"/>
          <p:cNvSpPr/>
          <p:nvPr/>
        </p:nvSpPr>
        <p:spPr>
          <a:xfrm>
            <a:off x="8001000" y="1695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KEY TERMS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pprint.pprint()</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pprint.pformat()</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data model</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readability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structure choice</a:t>
            </a:r>
            <a:endParaRPr lang="en-US" sz="1100" dirty="0"/>
          </a:p>
        </p:txBody>
      </p:sp>
      <p:sp>
        <p:nvSpPr>
          <p:cNvPr id="13" name="shape-35-11"/>
          <p:cNvSpPr/>
          <p:nvPr/>
        </p:nvSpPr>
        <p:spPr>
          <a:xfrm>
            <a:off x="7810500" y="3067050"/>
            <a:ext cx="3829050" cy="1390650"/>
          </a:xfrm>
          <a:prstGeom prst="rect">
            <a:avLst/>
          </a:prstGeom>
          <a:solidFill>
            <a:srgbClr val="FDF3EC"/>
          </a:solidFill>
          <a:ln/>
        </p:spPr>
      </p:sp>
      <p:sp>
        <p:nvSpPr>
          <p:cNvPr id="14" name="text"/>
          <p:cNvSpPr/>
          <p:nvPr/>
        </p:nvSpPr>
        <p:spPr>
          <a:xfrm>
            <a:off x="8001000" y="3219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TAKEAWAY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Model the structure so reading the data aloud describes the real thing; use pprint when that reading needs help.</a:t>
            </a:r>
            <a:endParaRPr lang="en-US" sz="1100" dirty="0"/>
          </a:p>
        </p:txBody>
      </p:sp>
      <p:sp>
        <p:nvSpPr>
          <p:cNvPr id="15" name="shape-35-13"/>
          <p:cNvSpPr/>
          <p:nvPr/>
        </p:nvSpPr>
        <p:spPr>
          <a:xfrm>
            <a:off x="552450" y="4629150"/>
            <a:ext cx="11087100" cy="609600"/>
          </a:xfrm>
          <a:prstGeom prst="rect">
            <a:avLst/>
          </a:prstGeom>
          <a:solidFill>
            <a:srgbClr val="F1F5FA"/>
          </a:solidFill>
          <a:ln/>
        </p:spPr>
      </p:sp>
      <p:sp>
        <p:nvSpPr>
          <p:cNvPr id="16" name="text"/>
          <p:cNvSpPr/>
          <p:nvPr/>
        </p:nvSpPr>
        <p:spPr>
          <a:xfrm>
            <a:off x="742950" y="4724400"/>
            <a:ext cx="742950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5A6478"/>
                </a:solidFill>
                <a:latin typeface="Segoe UI" pitchFamily="34" charset="0"/>
                <a:ea typeface="Segoe UI" pitchFamily="34" charset="-122"/>
                <a:cs typeface="Segoe UI" pitchFamily="34" charset="-120"/>
              </a:rPr>
              <a:t>DIAGRAM FOR PHASE 2</a:t>
            </a:r>
            <a:endParaRPr lang="en-US" sz="1100" dirty="0"/>
          </a:p>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Left: a drawn tic-tac-toe grid with nine cells labelled by position, top-L, top-M, top-R and so on. Right: two candidate representations. Candidate A is a flat nine-element list with numeric indexes beneath, t…</a:t>
            </a:r>
            <a:endParaRPr lang="en-US" sz="1100" dirty="0"/>
          </a:p>
        </p:txBody>
      </p:sp>
      <p:sp>
        <p:nvSpPr>
          <p:cNvPr id="17" name="text"/>
          <p:cNvSpPr/>
          <p:nvPr/>
        </p:nvSpPr>
        <p:spPr>
          <a:xfrm>
            <a:off x="7810500" y="4705350"/>
            <a:ext cx="3657600" cy="2667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Automate the Boring Stuff with Python, 1st ed., Ch. 5, pp. 111-113</a:t>
            </a:r>
            <a:endParaRPr lang="en-US" sz="900" dirty="0"/>
          </a:p>
        </p:txBody>
      </p:sp>
      <p:sp>
        <p:nvSpPr>
          <p:cNvPr id="18" name="text"/>
          <p:cNvSpPr/>
          <p:nvPr/>
        </p:nvSpPr>
        <p:spPr>
          <a:xfrm>
            <a:off x="7810500" y="4972050"/>
            <a:ext cx="3657600" cy="20955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CO2  |  Bloom L4  |  visual id: model-shape-match</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Pretty printing and modelling real-world things - how it works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The procedure in order, and what each pass costs you.</a:t>
            </a:r>
            <a:endParaRPr lang="en-US" sz="1100" dirty="0"/>
          </a:p>
        </p:txBody>
      </p:sp>
      <p:sp>
        <p:nvSpPr>
          <p:cNvPr id="4" name="shape-36-2"/>
          <p:cNvSpPr/>
          <p:nvPr/>
        </p:nvSpPr>
        <p:spPr>
          <a:xfrm>
            <a:off x="552450" y="1266825"/>
            <a:ext cx="990600" cy="47625"/>
          </a:xfrm>
          <a:prstGeom prst="rect">
            <a:avLst/>
          </a:prstGeom>
          <a:solidFill>
            <a:srgbClr val="0F6FC6"/>
          </a:solidFill>
          <a:ln/>
        </p:spPr>
      </p:sp>
      <p:sp>
        <p:nvSpPr>
          <p:cNvPr id="5" name="shape-36-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2</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Pretty printing and modelling real-wo…</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36</a:t>
            </a:r>
            <a:endParaRPr lang="en-US" sz="900" dirty="0"/>
          </a:p>
        </p:txBody>
      </p:sp>
      <p:sp>
        <p:nvSpPr>
          <p:cNvPr id="9" name="shape-36-7"/>
          <p:cNvSpPr/>
          <p:nvPr/>
        </p:nvSpPr>
        <p:spPr>
          <a:xfrm>
            <a:off x="552450" y="1600200"/>
            <a:ext cx="7239000" cy="476250"/>
          </a:xfrm>
          <a:prstGeom prst="rect">
            <a:avLst/>
          </a:prstGeom>
          <a:solidFill>
            <a:srgbClr val="F1F5FA"/>
          </a:solidFill>
          <a:ln w="12700">
            <a:solidFill>
              <a:srgbClr val="D7DEE8"/>
            </a:solidFill>
            <a:prstDash val="solid"/>
          </a:ln>
        </p:spPr>
      </p:sp>
      <p:sp>
        <p:nvSpPr>
          <p:cNvPr id="10" name="text"/>
          <p:cNvSpPr/>
          <p:nvPr/>
        </p:nvSpPr>
        <p:spPr>
          <a:xfrm>
            <a:off x="723900" y="17145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Describe the real object in words first</a:t>
            </a:r>
            <a:endParaRPr lang="en-US" sz="1100" dirty="0"/>
          </a:p>
        </p:txBody>
      </p:sp>
      <p:sp>
        <p:nvSpPr>
          <p:cNvPr id="11" name="shape-36-9"/>
          <p:cNvSpPr/>
          <p:nvPr/>
        </p:nvSpPr>
        <p:spPr>
          <a:xfrm>
            <a:off x="552450" y="2152650"/>
            <a:ext cx="7239000" cy="476250"/>
          </a:xfrm>
          <a:prstGeom prst="rect">
            <a:avLst/>
          </a:prstGeom>
          <a:solidFill>
            <a:srgbClr val="FFFFFF"/>
          </a:solidFill>
          <a:ln w="12700">
            <a:solidFill>
              <a:srgbClr val="D7DEE8"/>
            </a:solidFill>
            <a:prstDash val="solid"/>
          </a:ln>
        </p:spPr>
      </p:sp>
      <p:sp>
        <p:nvSpPr>
          <p:cNvPr id="12" name="text"/>
          <p:cNvSpPr/>
          <p:nvPr/>
        </p:nvSpPr>
        <p:spPr>
          <a:xfrm>
            <a:off x="723900" y="22669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Identify whether its parts have names or positions</a:t>
            </a:r>
            <a:endParaRPr lang="en-US" sz="1100" dirty="0"/>
          </a:p>
        </p:txBody>
      </p:sp>
      <p:sp>
        <p:nvSpPr>
          <p:cNvPr id="13" name="shape-36-11"/>
          <p:cNvSpPr/>
          <p:nvPr/>
        </p:nvSpPr>
        <p:spPr>
          <a:xfrm>
            <a:off x="552450" y="2705100"/>
            <a:ext cx="7239000" cy="476250"/>
          </a:xfrm>
          <a:prstGeom prst="rect">
            <a:avLst/>
          </a:prstGeom>
          <a:solidFill>
            <a:srgbClr val="F1F5FA"/>
          </a:solidFill>
          <a:ln w="12700">
            <a:solidFill>
              <a:srgbClr val="D7DEE8"/>
            </a:solidFill>
            <a:prstDash val="solid"/>
          </a:ln>
        </p:spPr>
      </p:sp>
      <p:sp>
        <p:nvSpPr>
          <p:cNvPr id="14" name="text"/>
          <p:cNvSpPr/>
          <p:nvPr/>
        </p:nvSpPr>
        <p:spPr>
          <a:xfrm>
            <a:off x="723900" y="28194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Choose a dictionary for named parts and a list for ordered ones</a:t>
            </a:r>
            <a:endParaRPr lang="en-US" sz="1100" dirty="0"/>
          </a:p>
        </p:txBody>
      </p:sp>
      <p:sp>
        <p:nvSpPr>
          <p:cNvPr id="15" name="shape-36-13"/>
          <p:cNvSpPr/>
          <p:nvPr/>
        </p:nvSpPr>
        <p:spPr>
          <a:xfrm>
            <a:off x="552450" y="3257550"/>
            <a:ext cx="7239000" cy="476250"/>
          </a:xfrm>
          <a:prstGeom prst="rect">
            <a:avLst/>
          </a:prstGeom>
          <a:solidFill>
            <a:srgbClr val="FFFFFF"/>
          </a:solidFill>
          <a:ln w="12700">
            <a:solidFill>
              <a:srgbClr val="D7DEE8"/>
            </a:solidFill>
            <a:prstDash val="solid"/>
          </a:ln>
        </p:spPr>
      </p:sp>
      <p:sp>
        <p:nvSpPr>
          <p:cNvPr id="16" name="text"/>
          <p:cNvSpPr/>
          <p:nvPr/>
        </p:nvSpPr>
        <p:spPr>
          <a:xfrm>
            <a:off x="723900" y="33718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Nest structures to match the nesting of the real thing</a:t>
            </a:r>
            <a:endParaRPr lang="en-US" sz="1100" dirty="0"/>
          </a:p>
        </p:txBody>
      </p:sp>
      <p:sp>
        <p:nvSpPr>
          <p:cNvPr id="17" name="shape-36-15"/>
          <p:cNvSpPr/>
          <p:nvPr/>
        </p:nvSpPr>
        <p:spPr>
          <a:xfrm>
            <a:off x="552450" y="3810000"/>
            <a:ext cx="7239000" cy="476250"/>
          </a:xfrm>
          <a:prstGeom prst="rect">
            <a:avLst/>
          </a:prstGeom>
          <a:solidFill>
            <a:srgbClr val="F1F5FA"/>
          </a:solidFill>
          <a:ln w="12700">
            <a:solidFill>
              <a:srgbClr val="D7DEE8"/>
            </a:solidFill>
            <a:prstDash val="solid"/>
          </a:ln>
        </p:spPr>
      </p:sp>
      <p:sp>
        <p:nvSpPr>
          <p:cNvPr id="18" name="text"/>
          <p:cNvSpPr/>
          <p:nvPr/>
        </p:nvSpPr>
        <p:spPr>
          <a:xfrm>
            <a:off x="723900" y="39243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Use pprint.pprint() to inspect the result while developing</a:t>
            </a:r>
            <a:endParaRPr lang="en-US" sz="1100" dirty="0"/>
          </a:p>
        </p:txBody>
      </p:sp>
      <p:sp>
        <p:nvSpPr>
          <p:cNvPr id="19" name="shape-36-17"/>
          <p:cNvSpPr/>
          <p:nvPr/>
        </p:nvSpPr>
        <p:spPr>
          <a:xfrm>
            <a:off x="552450" y="4362450"/>
            <a:ext cx="7239000" cy="476250"/>
          </a:xfrm>
          <a:prstGeom prst="rect">
            <a:avLst/>
          </a:prstGeom>
          <a:solidFill>
            <a:srgbClr val="FFFFFF"/>
          </a:solidFill>
          <a:ln w="12700">
            <a:solidFill>
              <a:srgbClr val="D7DEE8"/>
            </a:solidFill>
            <a:prstDash val="solid"/>
          </a:ln>
        </p:spPr>
      </p:sp>
      <p:sp>
        <p:nvSpPr>
          <p:cNvPr id="20" name="text"/>
          <p:cNvSpPr/>
          <p:nvPr/>
        </p:nvSpPr>
        <p:spPr>
          <a:xfrm>
            <a:off x="723900" y="44767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6.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Use pprint.pformat() to save a structure into a file</a:t>
            </a:r>
            <a:endParaRPr lang="en-US" sz="1100" dirty="0"/>
          </a:p>
        </p:txBody>
      </p:sp>
      <p:sp>
        <p:nvSpPr>
          <p:cNvPr id="21" name="shape-36-19"/>
          <p:cNvSpPr/>
          <p:nvPr/>
        </p:nvSpPr>
        <p:spPr>
          <a:xfrm>
            <a:off x="8020050" y="1543050"/>
            <a:ext cx="3619500" cy="2247900"/>
          </a:xfrm>
          <a:prstGeom prst="rect">
            <a:avLst/>
          </a:prstGeom>
          <a:solidFill>
            <a:srgbClr val="F1F5FA"/>
          </a:solidFill>
          <a:ln/>
        </p:spPr>
      </p:sp>
      <p:sp>
        <p:nvSpPr>
          <p:cNvPr id="22" name="text"/>
          <p:cNvSpPr/>
          <p:nvPr/>
        </p:nvSpPr>
        <p:spPr>
          <a:xfrm>
            <a:off x="8210550" y="1695450"/>
            <a:ext cx="3257550" cy="19621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COST AND BEHAVIOUR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Best: O(n) to format n entries</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Typical: O(n) for pprint output</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Worst: O(total nodes) for a deeply nested structure</a:t>
            </a:r>
            <a:endParaRPr lang="en-US" sz="1100" dirty="0"/>
          </a:p>
        </p:txBody>
      </p:sp>
      <p:sp>
        <p:nvSpPr>
          <p:cNvPr id="23" name="shape-36-21"/>
          <p:cNvSpPr/>
          <p:nvPr/>
        </p:nvSpPr>
        <p:spPr>
          <a:xfrm>
            <a:off x="8020050" y="3943350"/>
            <a:ext cx="3619500" cy="1257300"/>
          </a:xfrm>
          <a:prstGeom prst="rect">
            <a:avLst/>
          </a:prstGeom>
          <a:solidFill>
            <a:srgbClr val="FDF3EC"/>
          </a:solidFill>
          <a:ln/>
        </p:spPr>
      </p:sp>
      <p:sp>
        <p:nvSpPr>
          <p:cNvPr id="24" name="text"/>
          <p:cNvSpPr/>
          <p:nvPr/>
        </p:nvSpPr>
        <p:spPr>
          <a:xfrm>
            <a:off x="8210550" y="4076700"/>
            <a:ext cx="3257550" cy="10096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WHAT THAT MEANS</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Formatting cost is irrelevant next to the maintenance cost of a structure whose shape does not match the data.</a:t>
            </a:r>
            <a:endParaRPr lang="en-US" sz="1100" dirty="0"/>
          </a:p>
        </p:txBody>
      </p:sp>
      <p:sp>
        <p:nvSpPr>
          <p:cNvPr id="25"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Automate the Boring Stuff with Python, 1st ed., Ch. 5, pp. 111-113   |   CO2  |  Bloom L4</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Pretty printing and modelling real-world things - worked example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concrete case, carried all the way to a stated number.</a:t>
            </a:r>
            <a:endParaRPr lang="en-US" sz="1100" dirty="0"/>
          </a:p>
        </p:txBody>
      </p:sp>
      <p:sp>
        <p:nvSpPr>
          <p:cNvPr id="4" name="shape-37-2"/>
          <p:cNvSpPr/>
          <p:nvPr/>
        </p:nvSpPr>
        <p:spPr>
          <a:xfrm>
            <a:off x="552450" y="1266825"/>
            <a:ext cx="990600" cy="47625"/>
          </a:xfrm>
          <a:prstGeom prst="rect">
            <a:avLst/>
          </a:prstGeom>
          <a:solidFill>
            <a:srgbClr val="0F6FC6"/>
          </a:solidFill>
          <a:ln/>
        </p:spPr>
      </p:sp>
      <p:sp>
        <p:nvSpPr>
          <p:cNvPr id="5" name="shape-37-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2</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Pretty printing and modelling real-wo…</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37</a:t>
            </a:r>
            <a:endParaRPr lang="en-US" sz="900" dirty="0"/>
          </a:p>
        </p:txBody>
      </p:sp>
      <p:sp>
        <p:nvSpPr>
          <p:cNvPr id="9" name="shape-37-7"/>
          <p:cNvSpPr/>
          <p:nvPr/>
        </p:nvSpPr>
        <p:spPr>
          <a:xfrm>
            <a:off x="552450" y="1543050"/>
            <a:ext cx="7048500" cy="590550"/>
          </a:xfrm>
          <a:prstGeom prst="rect">
            <a:avLst/>
          </a:prstGeom>
          <a:solidFill>
            <a:srgbClr val="F1F5FA"/>
          </a:solidFill>
          <a:ln/>
        </p:spPr>
      </p:sp>
      <p:sp>
        <p:nvSpPr>
          <p:cNvPr id="10" name="text"/>
          <p:cNvSpPr/>
          <p:nvPr/>
        </p:nvSpPr>
        <p:spPr>
          <a:xfrm>
            <a:off x="723900" y="1657350"/>
            <a:ext cx="6724650" cy="4191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GIVEN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Represent a tic-tac-toe board and print it readably.</a:t>
            </a:r>
            <a:endParaRPr lang="en-US" sz="1100" dirty="0"/>
          </a:p>
        </p:txBody>
      </p:sp>
      <p:sp>
        <p:nvSpPr>
          <p:cNvPr id="11" name="text"/>
          <p:cNvSpPr/>
          <p:nvPr/>
        </p:nvSpPr>
        <p:spPr>
          <a:xfrm>
            <a:off x="723900" y="22669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Define board = {'top-L':' ', 'top-M':' ', 'top-R':' ', 'mid-L':' ', ...}</a:t>
            </a:r>
            <a:endParaRPr lang="en-US" sz="1100" dirty="0"/>
          </a:p>
        </p:txBody>
      </p:sp>
      <p:sp>
        <p:nvSpPr>
          <p:cNvPr id="12" name="text"/>
          <p:cNvSpPr/>
          <p:nvPr/>
        </p:nvSpPr>
        <p:spPr>
          <a:xfrm>
            <a:off x="723900" y="27051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Placing a move is board['mid-M'] = 'X', which reads as what it does</a:t>
            </a:r>
            <a:endParaRPr lang="en-US" sz="1100" dirty="0"/>
          </a:p>
        </p:txBody>
      </p:sp>
      <p:sp>
        <p:nvSpPr>
          <p:cNvPr id="13" name="text"/>
          <p:cNvSpPr/>
          <p:nvPr/>
        </p:nvSpPr>
        <p:spPr>
          <a:xfrm>
            <a:off x="723900" y="31432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print(board) produces one long line of braces</a:t>
            </a:r>
            <a:endParaRPr lang="en-US" sz="1100" dirty="0"/>
          </a:p>
        </p:txBody>
      </p:sp>
      <p:sp>
        <p:nvSpPr>
          <p:cNvPr id="14" name="text"/>
          <p:cNvSpPr/>
          <p:nvPr/>
        </p:nvSpPr>
        <p:spPr>
          <a:xfrm>
            <a:off x="723900" y="35814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pprint.pprint(board) produces one key per line, sorted and aligned</a:t>
            </a:r>
            <a:endParaRPr lang="en-US" sz="1100" dirty="0"/>
          </a:p>
        </p:txBody>
      </p:sp>
      <p:sp>
        <p:nvSpPr>
          <p:cNvPr id="15" name="shape-37-13"/>
          <p:cNvSpPr/>
          <p:nvPr/>
        </p:nvSpPr>
        <p:spPr>
          <a:xfrm>
            <a:off x="552450" y="4076700"/>
            <a:ext cx="7048500" cy="628650"/>
          </a:xfrm>
          <a:prstGeom prst="rect">
            <a:avLst/>
          </a:prstGeom>
          <a:solidFill>
            <a:srgbClr val="FDF3EC"/>
          </a:solidFill>
          <a:ln/>
        </p:spPr>
      </p:sp>
      <p:sp>
        <p:nvSpPr>
          <p:cNvPr id="16" name="text"/>
          <p:cNvSpPr/>
          <p:nvPr/>
        </p:nvSpPr>
        <p:spPr>
          <a:xfrm>
            <a:off x="723900" y="4191000"/>
            <a:ext cx="672465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RESULT</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The dictionary version needs no comment to explain a position, and pprint makes the state inspectable during development without writing a display function.</a:t>
            </a:r>
            <a:endParaRPr lang="en-US" sz="1100" dirty="0"/>
          </a:p>
        </p:txBody>
      </p:sp>
      <p:sp>
        <p:nvSpPr>
          <p:cNvPr id="17" name="shape-37-15"/>
          <p:cNvSpPr/>
          <p:nvPr/>
        </p:nvSpPr>
        <p:spPr>
          <a:xfrm>
            <a:off x="7810500" y="1543050"/>
            <a:ext cx="3829050" cy="1771650"/>
          </a:xfrm>
          <a:prstGeom prst="rect">
            <a:avLst/>
          </a:prstGeom>
          <a:solidFill>
            <a:srgbClr val="0E1726"/>
          </a:solidFill>
          <a:ln/>
        </p:spPr>
      </p:sp>
      <p:sp>
        <p:nvSpPr>
          <p:cNvPr id="18" name="text"/>
          <p:cNvSpPr/>
          <p:nvPr/>
        </p:nvSpPr>
        <p:spPr>
          <a:xfrm>
            <a:off x="7981950" y="1695450"/>
            <a:ext cx="3486150" cy="14859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&gt;&gt;&gt; import pprint</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&gt;&gt;&gt; board = {'top-L': ' ', 'mid-M': 'X', 'low-R': 'O'}</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&gt;&gt;&gt; board['mid-M'] = 'X'</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&gt;&gt;&gt; pprint.pprint(board)</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{'low-R': 'O', 'mid-M': 'X', 'top-L': ' '}</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&gt;&gt;&gt; text = pprint.pformat(board)   # same text, as a string</a:t>
            </a:r>
            <a:endParaRPr lang="en-US" sz="1000" dirty="0"/>
          </a:p>
        </p:txBody>
      </p:sp>
      <p:sp>
        <p:nvSpPr>
          <p:cNvPr id="19" name="shape-37-17"/>
          <p:cNvSpPr/>
          <p:nvPr/>
        </p:nvSpPr>
        <p:spPr>
          <a:xfrm>
            <a:off x="7810500" y="3467100"/>
            <a:ext cx="3829050" cy="1733550"/>
          </a:xfrm>
          <a:prstGeom prst="rect">
            <a:avLst/>
          </a:prstGeom>
          <a:solidFill>
            <a:srgbClr val="FFFFFF"/>
          </a:solidFill>
          <a:ln w="19050">
            <a:solidFill>
              <a:srgbClr val="C2410C"/>
            </a:solidFill>
            <a:prstDash val="solid"/>
          </a:ln>
        </p:spPr>
      </p:sp>
      <p:sp>
        <p:nvSpPr>
          <p:cNvPr id="20" name="text"/>
          <p:cNvSpPr/>
          <p:nvPr/>
        </p:nvSpPr>
        <p:spPr>
          <a:xfrm>
            <a:off x="7981950" y="3600450"/>
            <a:ext cx="3486150" cy="14668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MISTAKE STUDENTS MAKE</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Students pick a list because it is the structure they met first, then write a comment explaining what each index means. That comment is the evidence a dictionary was wanted; the index numbers will drift out of step with the comment.</a:t>
            </a:r>
            <a:endParaRPr lang="en-US" sz="1100" dirty="0"/>
          </a:p>
        </p:txBody>
      </p:sp>
      <p:sp>
        <p:nvSpPr>
          <p:cNvPr id="21"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Automate the Boring Stuff with Python, 1st ed., Ch. 5, pp. 111-113   |   CO2  |  Bloom L4</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Nested dictionaries and lists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What it is, why it works, and what it costs.</a:t>
            </a:r>
            <a:endParaRPr lang="en-US" sz="1100" dirty="0"/>
          </a:p>
        </p:txBody>
      </p:sp>
      <p:sp>
        <p:nvSpPr>
          <p:cNvPr id="4" name="shape-38-2"/>
          <p:cNvSpPr/>
          <p:nvPr/>
        </p:nvSpPr>
        <p:spPr>
          <a:xfrm>
            <a:off x="552450" y="1266825"/>
            <a:ext cx="990600" cy="47625"/>
          </a:xfrm>
          <a:prstGeom prst="rect">
            <a:avLst/>
          </a:prstGeom>
          <a:solidFill>
            <a:srgbClr val="0F6FC6"/>
          </a:solidFill>
          <a:ln/>
        </p:spPr>
      </p:sp>
      <p:sp>
        <p:nvSpPr>
          <p:cNvPr id="5" name="shape-38-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2</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Nested dictionaries and lists</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38</a:t>
            </a:r>
            <a:endParaRPr lang="en-US" sz="900" dirty="0"/>
          </a:p>
        </p:txBody>
      </p:sp>
      <p:sp>
        <p:nvSpPr>
          <p:cNvPr id="9" name="shape-38-7"/>
          <p:cNvSpPr/>
          <p:nvPr/>
        </p:nvSpPr>
        <p:spPr>
          <a:xfrm>
            <a:off x="552450" y="1543050"/>
            <a:ext cx="7048500" cy="2914650"/>
          </a:xfrm>
          <a:prstGeom prst="rect">
            <a:avLst/>
          </a:prstGeom>
          <a:solidFill>
            <a:srgbClr val="FFFFFF"/>
          </a:solidFill>
          <a:ln w="12700">
            <a:solidFill>
              <a:srgbClr val="D7DEE8"/>
            </a:solidFill>
            <a:prstDash val="solid"/>
          </a:ln>
        </p:spPr>
      </p:sp>
      <p:sp>
        <p:nvSpPr>
          <p:cNvPr id="10" name="text"/>
          <p:cNvSpPr/>
          <p:nvPr/>
        </p:nvSpPr>
        <p:spPr>
          <a:xfrm>
            <a:off x="742950" y="1714500"/>
            <a:ext cx="6667500" cy="25908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THE MECHANISM</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Values in a dictionary may themselves be dictionaries or lists, which is how a single structure represents a whole inventory, a guest list or a set of records. Access chains left to right: guests['Alice']['apples'] first retrieves the inner dictionary and then the key inside it, so an error anywhere along the chain reports the level that failed. Building nested structures needs setdefault at each level before the innermost assignment, otherwise the intermediate dictionary does not exist. Traversal is a nested loop whose depth matches the nesting of the data, which is a good reason to keep nesting shallow — beyond two or three levels, a flatter design or a class is usually clearer.</a:t>
            </a:r>
            <a:endParaRPr lang="en-US" sz="1100" dirty="0"/>
          </a:p>
        </p:txBody>
      </p:sp>
      <p:sp>
        <p:nvSpPr>
          <p:cNvPr id="11" name="shape-38-9"/>
          <p:cNvSpPr/>
          <p:nvPr/>
        </p:nvSpPr>
        <p:spPr>
          <a:xfrm>
            <a:off x="7810500" y="1543050"/>
            <a:ext cx="3829050" cy="1390650"/>
          </a:xfrm>
          <a:prstGeom prst="rect">
            <a:avLst/>
          </a:prstGeom>
          <a:solidFill>
            <a:srgbClr val="F1F5FA"/>
          </a:solidFill>
          <a:ln/>
        </p:spPr>
      </p:sp>
      <p:sp>
        <p:nvSpPr>
          <p:cNvPr id="12" name="text"/>
          <p:cNvSpPr/>
          <p:nvPr/>
        </p:nvSpPr>
        <p:spPr>
          <a:xfrm>
            <a:off x="8001000" y="1695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KEY TERMS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nesting</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chained subscripts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inner structure</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setdefault for nesting</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traversal</a:t>
            </a:r>
            <a:endParaRPr lang="en-US" sz="1100" dirty="0"/>
          </a:p>
        </p:txBody>
      </p:sp>
      <p:sp>
        <p:nvSpPr>
          <p:cNvPr id="13" name="shape-38-11"/>
          <p:cNvSpPr/>
          <p:nvPr/>
        </p:nvSpPr>
        <p:spPr>
          <a:xfrm>
            <a:off x="7810500" y="3067050"/>
            <a:ext cx="3829050" cy="1390650"/>
          </a:xfrm>
          <a:prstGeom prst="rect">
            <a:avLst/>
          </a:prstGeom>
          <a:solidFill>
            <a:srgbClr val="FDF3EC"/>
          </a:solidFill>
          <a:ln/>
        </p:spPr>
      </p:sp>
      <p:sp>
        <p:nvSpPr>
          <p:cNvPr id="14" name="text"/>
          <p:cNvSpPr/>
          <p:nvPr/>
        </p:nvSpPr>
        <p:spPr>
          <a:xfrm>
            <a:off x="8001000" y="3219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TAKEAWAY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Access chains left to right, and building a nested structure needs setdefault at every level except the last.</a:t>
            </a:r>
            <a:endParaRPr lang="en-US" sz="1100" dirty="0"/>
          </a:p>
        </p:txBody>
      </p:sp>
      <p:sp>
        <p:nvSpPr>
          <p:cNvPr id="15" name="shape-38-13"/>
          <p:cNvSpPr/>
          <p:nvPr/>
        </p:nvSpPr>
        <p:spPr>
          <a:xfrm>
            <a:off x="552450" y="4629150"/>
            <a:ext cx="11087100" cy="609600"/>
          </a:xfrm>
          <a:prstGeom prst="rect">
            <a:avLst/>
          </a:prstGeom>
          <a:solidFill>
            <a:srgbClr val="F1F5FA"/>
          </a:solidFill>
          <a:ln/>
        </p:spPr>
      </p:sp>
      <p:sp>
        <p:nvSpPr>
          <p:cNvPr id="16" name="text"/>
          <p:cNvSpPr/>
          <p:nvPr/>
        </p:nvSpPr>
        <p:spPr>
          <a:xfrm>
            <a:off x="742950" y="4724400"/>
            <a:ext cx="742950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5A6478"/>
                </a:solidFill>
                <a:latin typeface="Segoe UI" pitchFamily="34" charset="0"/>
                <a:ea typeface="Segoe UI" pitchFamily="34" charset="-122"/>
                <a:cs typeface="Segoe UI" pitchFamily="34" charset="-120"/>
              </a:rPr>
              <a:t>DIAGRAM FOR PHASE 2</a:t>
            </a:r>
            <a:endParaRPr lang="en-US" sz="1100" dirty="0"/>
          </a:p>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A tree drawn left to right. Root node 'guests' branches to two child nodes 'Alice' and 'Bob'; each of those branches to leaf nodes such as 'apples: 5' and 'pretzels: 12'. A highlighted path runs root to Alice…</a:t>
            </a:r>
            <a:endParaRPr lang="en-US" sz="1100" dirty="0"/>
          </a:p>
        </p:txBody>
      </p:sp>
      <p:sp>
        <p:nvSpPr>
          <p:cNvPr id="17" name="text"/>
          <p:cNvSpPr/>
          <p:nvPr/>
        </p:nvSpPr>
        <p:spPr>
          <a:xfrm>
            <a:off x="7810500" y="4705350"/>
            <a:ext cx="3657600" cy="2667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Automate the Boring Stuff with Python, 1st ed., Ch. 5, pp. 113-119</a:t>
            </a:r>
            <a:endParaRPr lang="en-US" sz="900" dirty="0"/>
          </a:p>
        </p:txBody>
      </p:sp>
      <p:sp>
        <p:nvSpPr>
          <p:cNvPr id="18" name="text"/>
          <p:cNvSpPr/>
          <p:nvPr/>
        </p:nvSpPr>
        <p:spPr>
          <a:xfrm>
            <a:off x="7810500" y="4972050"/>
            <a:ext cx="3657600" cy="20955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CO2  |  Bloom L4  |  visual id: nested-structure-tree</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Nested dictionaries and lists - how it works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The procedure in order, and what each pass costs you.</a:t>
            </a:r>
            <a:endParaRPr lang="en-US" sz="1100" dirty="0"/>
          </a:p>
        </p:txBody>
      </p:sp>
      <p:sp>
        <p:nvSpPr>
          <p:cNvPr id="4" name="shape-39-2"/>
          <p:cNvSpPr/>
          <p:nvPr/>
        </p:nvSpPr>
        <p:spPr>
          <a:xfrm>
            <a:off x="552450" y="1266825"/>
            <a:ext cx="990600" cy="47625"/>
          </a:xfrm>
          <a:prstGeom prst="rect">
            <a:avLst/>
          </a:prstGeom>
          <a:solidFill>
            <a:srgbClr val="0F6FC6"/>
          </a:solidFill>
          <a:ln/>
        </p:spPr>
      </p:sp>
      <p:sp>
        <p:nvSpPr>
          <p:cNvPr id="5" name="shape-39-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2</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Nested dictionaries and lists</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39</a:t>
            </a:r>
            <a:endParaRPr lang="en-US" sz="900" dirty="0"/>
          </a:p>
        </p:txBody>
      </p:sp>
      <p:sp>
        <p:nvSpPr>
          <p:cNvPr id="9" name="shape-39-7"/>
          <p:cNvSpPr/>
          <p:nvPr/>
        </p:nvSpPr>
        <p:spPr>
          <a:xfrm>
            <a:off x="552450" y="1600200"/>
            <a:ext cx="7239000" cy="476250"/>
          </a:xfrm>
          <a:prstGeom prst="rect">
            <a:avLst/>
          </a:prstGeom>
          <a:solidFill>
            <a:srgbClr val="F1F5FA"/>
          </a:solidFill>
          <a:ln w="12700">
            <a:solidFill>
              <a:srgbClr val="D7DEE8"/>
            </a:solidFill>
            <a:prstDash val="solid"/>
          </a:ln>
        </p:spPr>
      </p:sp>
      <p:sp>
        <p:nvSpPr>
          <p:cNvPr id="10" name="text"/>
          <p:cNvSpPr/>
          <p:nvPr/>
        </p:nvSpPr>
        <p:spPr>
          <a:xfrm>
            <a:off x="723900" y="17145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Sketch the nesting of the real data before coding it</a:t>
            </a:r>
            <a:endParaRPr lang="en-US" sz="1100" dirty="0"/>
          </a:p>
        </p:txBody>
      </p:sp>
      <p:sp>
        <p:nvSpPr>
          <p:cNvPr id="11" name="shape-39-9"/>
          <p:cNvSpPr/>
          <p:nvPr/>
        </p:nvSpPr>
        <p:spPr>
          <a:xfrm>
            <a:off x="552450" y="2152650"/>
            <a:ext cx="7239000" cy="476250"/>
          </a:xfrm>
          <a:prstGeom prst="rect">
            <a:avLst/>
          </a:prstGeom>
          <a:solidFill>
            <a:srgbClr val="FFFFFF"/>
          </a:solidFill>
          <a:ln w="12700">
            <a:solidFill>
              <a:srgbClr val="D7DEE8"/>
            </a:solidFill>
            <a:prstDash val="solid"/>
          </a:ln>
        </p:spPr>
      </p:sp>
      <p:sp>
        <p:nvSpPr>
          <p:cNvPr id="12" name="text"/>
          <p:cNvSpPr/>
          <p:nvPr/>
        </p:nvSpPr>
        <p:spPr>
          <a:xfrm>
            <a:off x="723900" y="22669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Read an inner value by chaining subscripts left to right</a:t>
            </a:r>
            <a:endParaRPr lang="en-US" sz="1100" dirty="0"/>
          </a:p>
        </p:txBody>
      </p:sp>
      <p:sp>
        <p:nvSpPr>
          <p:cNvPr id="13" name="shape-39-11"/>
          <p:cNvSpPr/>
          <p:nvPr/>
        </p:nvSpPr>
        <p:spPr>
          <a:xfrm>
            <a:off x="552450" y="2705100"/>
            <a:ext cx="7239000" cy="476250"/>
          </a:xfrm>
          <a:prstGeom prst="rect">
            <a:avLst/>
          </a:prstGeom>
          <a:solidFill>
            <a:srgbClr val="F1F5FA"/>
          </a:solidFill>
          <a:ln w="12700">
            <a:solidFill>
              <a:srgbClr val="D7DEE8"/>
            </a:solidFill>
            <a:prstDash val="solid"/>
          </a:ln>
        </p:spPr>
      </p:sp>
      <p:sp>
        <p:nvSpPr>
          <p:cNvPr id="14" name="text"/>
          <p:cNvSpPr/>
          <p:nvPr/>
        </p:nvSpPr>
        <p:spPr>
          <a:xfrm>
            <a:off x="723900" y="28194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Use setdefault at each intermediate level when building</a:t>
            </a:r>
            <a:endParaRPr lang="en-US" sz="1100" dirty="0"/>
          </a:p>
        </p:txBody>
      </p:sp>
      <p:sp>
        <p:nvSpPr>
          <p:cNvPr id="15" name="shape-39-13"/>
          <p:cNvSpPr/>
          <p:nvPr/>
        </p:nvSpPr>
        <p:spPr>
          <a:xfrm>
            <a:off x="552450" y="3257550"/>
            <a:ext cx="7239000" cy="476250"/>
          </a:xfrm>
          <a:prstGeom prst="rect">
            <a:avLst/>
          </a:prstGeom>
          <a:solidFill>
            <a:srgbClr val="FFFFFF"/>
          </a:solidFill>
          <a:ln w="12700">
            <a:solidFill>
              <a:srgbClr val="D7DEE8"/>
            </a:solidFill>
            <a:prstDash val="solid"/>
          </a:ln>
        </p:spPr>
      </p:sp>
      <p:sp>
        <p:nvSpPr>
          <p:cNvPr id="16" name="text"/>
          <p:cNvSpPr/>
          <p:nvPr/>
        </p:nvSpPr>
        <p:spPr>
          <a:xfrm>
            <a:off x="723900" y="33718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Assign the innermost value last</a:t>
            </a:r>
            <a:endParaRPr lang="en-US" sz="1100" dirty="0"/>
          </a:p>
        </p:txBody>
      </p:sp>
      <p:sp>
        <p:nvSpPr>
          <p:cNvPr id="17" name="shape-39-15"/>
          <p:cNvSpPr/>
          <p:nvPr/>
        </p:nvSpPr>
        <p:spPr>
          <a:xfrm>
            <a:off x="552450" y="3810000"/>
            <a:ext cx="7239000" cy="476250"/>
          </a:xfrm>
          <a:prstGeom prst="rect">
            <a:avLst/>
          </a:prstGeom>
          <a:solidFill>
            <a:srgbClr val="F1F5FA"/>
          </a:solidFill>
          <a:ln w="12700">
            <a:solidFill>
              <a:srgbClr val="D7DEE8"/>
            </a:solidFill>
            <a:prstDash val="solid"/>
          </a:ln>
        </p:spPr>
      </p:sp>
      <p:sp>
        <p:nvSpPr>
          <p:cNvPr id="18" name="text"/>
          <p:cNvSpPr/>
          <p:nvPr/>
        </p:nvSpPr>
        <p:spPr>
          <a:xfrm>
            <a:off x="723900" y="39243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Traverse with a loop per level of nesting</a:t>
            </a:r>
            <a:endParaRPr lang="en-US" sz="1100" dirty="0"/>
          </a:p>
        </p:txBody>
      </p:sp>
      <p:sp>
        <p:nvSpPr>
          <p:cNvPr id="19" name="shape-39-17"/>
          <p:cNvSpPr/>
          <p:nvPr/>
        </p:nvSpPr>
        <p:spPr>
          <a:xfrm>
            <a:off x="552450" y="4362450"/>
            <a:ext cx="7239000" cy="476250"/>
          </a:xfrm>
          <a:prstGeom prst="rect">
            <a:avLst/>
          </a:prstGeom>
          <a:solidFill>
            <a:srgbClr val="FFFFFF"/>
          </a:solidFill>
          <a:ln w="12700">
            <a:solidFill>
              <a:srgbClr val="D7DEE8"/>
            </a:solidFill>
            <a:prstDash val="solid"/>
          </a:ln>
        </p:spPr>
      </p:sp>
      <p:sp>
        <p:nvSpPr>
          <p:cNvPr id="20" name="text"/>
          <p:cNvSpPr/>
          <p:nvPr/>
        </p:nvSpPr>
        <p:spPr>
          <a:xfrm>
            <a:off x="723900" y="44767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6.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Flatten the design if the nesting exceeds about three levels</a:t>
            </a:r>
            <a:endParaRPr lang="en-US" sz="1100" dirty="0"/>
          </a:p>
        </p:txBody>
      </p:sp>
      <p:sp>
        <p:nvSpPr>
          <p:cNvPr id="21" name="shape-39-19"/>
          <p:cNvSpPr/>
          <p:nvPr/>
        </p:nvSpPr>
        <p:spPr>
          <a:xfrm>
            <a:off x="8020050" y="1543050"/>
            <a:ext cx="3619500" cy="2247900"/>
          </a:xfrm>
          <a:prstGeom prst="rect">
            <a:avLst/>
          </a:prstGeom>
          <a:solidFill>
            <a:srgbClr val="F1F5FA"/>
          </a:solidFill>
          <a:ln/>
        </p:spPr>
      </p:sp>
      <p:sp>
        <p:nvSpPr>
          <p:cNvPr id="22" name="text"/>
          <p:cNvSpPr/>
          <p:nvPr/>
        </p:nvSpPr>
        <p:spPr>
          <a:xfrm>
            <a:off x="8210550" y="1695450"/>
            <a:ext cx="3257550" cy="19621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COST AND BEHAVIOUR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Best: O(depth) for a single chained lookup</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Typical: O(depth) per access, which is tiny</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Worst: O(total entries) to traverse everything</a:t>
            </a:r>
            <a:endParaRPr lang="en-US" sz="1100" dirty="0"/>
          </a:p>
        </p:txBody>
      </p:sp>
      <p:sp>
        <p:nvSpPr>
          <p:cNvPr id="23" name="shape-39-21"/>
          <p:cNvSpPr/>
          <p:nvPr/>
        </p:nvSpPr>
        <p:spPr>
          <a:xfrm>
            <a:off x="8020050" y="3943350"/>
            <a:ext cx="3619500" cy="1257300"/>
          </a:xfrm>
          <a:prstGeom prst="rect">
            <a:avLst/>
          </a:prstGeom>
          <a:solidFill>
            <a:srgbClr val="FDF3EC"/>
          </a:solidFill>
          <a:ln/>
        </p:spPr>
      </p:sp>
      <p:sp>
        <p:nvSpPr>
          <p:cNvPr id="24" name="text"/>
          <p:cNvSpPr/>
          <p:nvPr/>
        </p:nvSpPr>
        <p:spPr>
          <a:xfrm>
            <a:off x="8210550" y="4076700"/>
            <a:ext cx="3257550" cy="10096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WHAT THAT MEANS</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Chained lookups are cheap; the cost of deep nesting is to the reader, not the interpreter.</a:t>
            </a:r>
            <a:endParaRPr lang="en-US" sz="1100" dirty="0"/>
          </a:p>
        </p:txBody>
      </p:sp>
      <p:sp>
        <p:nvSpPr>
          <p:cNvPr id="25"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Automate the Boring Stuff with Python, 1st ed., Ch. 5, pp. 113-119   |   CO2  |  Bloom L4</a:t>
            </a:r>
            <a:endParaRPr lang="en-US" sz="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Nested dictionaries and lists - worked example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concrete case, carried all the way to a stated number.</a:t>
            </a:r>
            <a:endParaRPr lang="en-US" sz="1100" dirty="0"/>
          </a:p>
        </p:txBody>
      </p:sp>
      <p:sp>
        <p:nvSpPr>
          <p:cNvPr id="4" name="shape-40-2"/>
          <p:cNvSpPr/>
          <p:nvPr/>
        </p:nvSpPr>
        <p:spPr>
          <a:xfrm>
            <a:off x="552450" y="1266825"/>
            <a:ext cx="990600" cy="47625"/>
          </a:xfrm>
          <a:prstGeom prst="rect">
            <a:avLst/>
          </a:prstGeom>
          <a:solidFill>
            <a:srgbClr val="0F6FC6"/>
          </a:solidFill>
          <a:ln/>
        </p:spPr>
      </p:sp>
      <p:sp>
        <p:nvSpPr>
          <p:cNvPr id="5" name="shape-40-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2</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Nested dictionaries and lists</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40</a:t>
            </a:r>
            <a:endParaRPr lang="en-US" sz="900" dirty="0"/>
          </a:p>
        </p:txBody>
      </p:sp>
      <p:sp>
        <p:nvSpPr>
          <p:cNvPr id="9" name="shape-40-7"/>
          <p:cNvSpPr/>
          <p:nvPr/>
        </p:nvSpPr>
        <p:spPr>
          <a:xfrm>
            <a:off x="552450" y="1543050"/>
            <a:ext cx="7048500" cy="590550"/>
          </a:xfrm>
          <a:prstGeom prst="rect">
            <a:avLst/>
          </a:prstGeom>
          <a:solidFill>
            <a:srgbClr val="F1F5FA"/>
          </a:solidFill>
          <a:ln/>
        </p:spPr>
      </p:sp>
      <p:sp>
        <p:nvSpPr>
          <p:cNvPr id="10" name="text"/>
          <p:cNvSpPr/>
          <p:nvPr/>
        </p:nvSpPr>
        <p:spPr>
          <a:xfrm>
            <a:off x="723900" y="1657350"/>
            <a:ext cx="6724650" cy="4191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GIVEN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Record that Alice brings 5 apples into an empty dictionary guests.</a:t>
            </a:r>
            <a:endParaRPr lang="en-US" sz="1100" dirty="0"/>
          </a:p>
        </p:txBody>
      </p:sp>
      <p:sp>
        <p:nvSpPr>
          <p:cNvPr id="11" name="text"/>
          <p:cNvSpPr/>
          <p:nvPr/>
        </p:nvSpPr>
        <p:spPr>
          <a:xfrm>
            <a:off x="723900" y="22669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guests = {}</a:t>
            </a:r>
            <a:endParaRPr lang="en-US" sz="1100" dirty="0"/>
          </a:p>
        </p:txBody>
      </p:sp>
      <p:sp>
        <p:nvSpPr>
          <p:cNvPr id="12" name="text"/>
          <p:cNvSpPr/>
          <p:nvPr/>
        </p:nvSpPr>
        <p:spPr>
          <a:xfrm>
            <a:off x="723900" y="27051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guests['Alice']['apples'] = 5 raises KeyError: 'Alice', because the inner dictionary does not exist</a:t>
            </a:r>
            <a:endParaRPr lang="en-US" sz="1100" dirty="0"/>
          </a:p>
        </p:txBody>
      </p:sp>
      <p:sp>
        <p:nvSpPr>
          <p:cNvPr id="13" name="text"/>
          <p:cNvSpPr/>
          <p:nvPr/>
        </p:nvSpPr>
        <p:spPr>
          <a:xfrm>
            <a:off x="723900" y="31432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guests.setdefault('Alice', {}) creates the inner dictionary and returns it</a:t>
            </a:r>
            <a:endParaRPr lang="en-US" sz="1100" dirty="0"/>
          </a:p>
        </p:txBody>
      </p:sp>
      <p:sp>
        <p:nvSpPr>
          <p:cNvPr id="14" name="text"/>
          <p:cNvSpPr/>
          <p:nvPr/>
        </p:nvSpPr>
        <p:spPr>
          <a:xfrm>
            <a:off x="723900" y="35814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guests['Alice']['apples'] = 5 now succeeds, giving {'Alice': {'apples': 5}}</a:t>
            </a:r>
            <a:endParaRPr lang="en-US" sz="1100" dirty="0"/>
          </a:p>
        </p:txBody>
      </p:sp>
      <p:sp>
        <p:nvSpPr>
          <p:cNvPr id="15" name="shape-40-13"/>
          <p:cNvSpPr/>
          <p:nvPr/>
        </p:nvSpPr>
        <p:spPr>
          <a:xfrm>
            <a:off x="552450" y="4076700"/>
            <a:ext cx="7048500" cy="628650"/>
          </a:xfrm>
          <a:prstGeom prst="rect">
            <a:avLst/>
          </a:prstGeom>
          <a:solidFill>
            <a:srgbClr val="FDF3EC"/>
          </a:solidFill>
          <a:ln/>
        </p:spPr>
      </p:sp>
      <p:sp>
        <p:nvSpPr>
          <p:cNvPr id="16" name="text"/>
          <p:cNvSpPr/>
          <p:nvPr/>
        </p:nvSpPr>
        <p:spPr>
          <a:xfrm>
            <a:off x="723900" y="4191000"/>
            <a:ext cx="672465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RESULT</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The intermediate level must exist before the innermost assignment; setdefault creates it if needed and leaves it alone if it is already there.</a:t>
            </a:r>
            <a:endParaRPr lang="en-US" sz="1100" dirty="0"/>
          </a:p>
        </p:txBody>
      </p:sp>
      <p:sp>
        <p:nvSpPr>
          <p:cNvPr id="17" name="shape-40-15"/>
          <p:cNvSpPr/>
          <p:nvPr/>
        </p:nvSpPr>
        <p:spPr>
          <a:xfrm>
            <a:off x="7810500" y="1543050"/>
            <a:ext cx="3829050" cy="1771650"/>
          </a:xfrm>
          <a:prstGeom prst="rect">
            <a:avLst/>
          </a:prstGeom>
          <a:solidFill>
            <a:srgbClr val="0E1726"/>
          </a:solidFill>
          <a:ln/>
        </p:spPr>
      </p:sp>
      <p:sp>
        <p:nvSpPr>
          <p:cNvPr id="18" name="text"/>
          <p:cNvSpPr/>
          <p:nvPr/>
        </p:nvSpPr>
        <p:spPr>
          <a:xfrm>
            <a:off x="7981950" y="1695450"/>
            <a:ext cx="3486150" cy="14859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&gt;&gt;&gt; guests = {}</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&gt;&gt;&gt; guests.setdefault('Alice', {})</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&gt;&gt;&gt; guests['Alice']['apples'] = 5</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&gt;&gt;&gt; guests</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{'Alice': {'apples': 5}}</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&gt;&gt;&gt; guests['Alice']['apples']</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5</a:t>
            </a:r>
            <a:endParaRPr lang="en-US" sz="1000" dirty="0"/>
          </a:p>
        </p:txBody>
      </p:sp>
      <p:sp>
        <p:nvSpPr>
          <p:cNvPr id="19" name="shape-40-17"/>
          <p:cNvSpPr/>
          <p:nvPr/>
        </p:nvSpPr>
        <p:spPr>
          <a:xfrm>
            <a:off x="7810500" y="3467100"/>
            <a:ext cx="3829050" cy="1733550"/>
          </a:xfrm>
          <a:prstGeom prst="rect">
            <a:avLst/>
          </a:prstGeom>
          <a:solidFill>
            <a:srgbClr val="FFFFFF"/>
          </a:solidFill>
          <a:ln w="19050">
            <a:solidFill>
              <a:srgbClr val="C2410C"/>
            </a:solidFill>
            <a:prstDash val="solid"/>
          </a:ln>
        </p:spPr>
      </p:sp>
      <p:sp>
        <p:nvSpPr>
          <p:cNvPr id="20" name="text"/>
          <p:cNvSpPr/>
          <p:nvPr/>
        </p:nvSpPr>
        <p:spPr>
          <a:xfrm>
            <a:off x="7981950" y="3600450"/>
            <a:ext cx="3486150" cy="14668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MISTAKE STUDENTS MAKE</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Students assign straight to the innermost key and get a KeyError naming the outer key, then assume the outer dictionary is broken. The error is telling you the intermediate level was never created; setdefault it first.</a:t>
            </a:r>
            <a:endParaRPr lang="en-US" sz="1100" dirty="0"/>
          </a:p>
        </p:txBody>
      </p:sp>
      <p:sp>
        <p:nvSpPr>
          <p:cNvPr id="21"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Automate the Boring Stuff with Python, 1st ed., Ch. 5, pp. 113-119   |   CO2  |  Bloom L4</a:t>
            </a:r>
            <a:endParaRPr lang="en-US" sz="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Working with strings: literals, indexing and slicing</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What it is, why it works, and what it costs.</a:t>
            </a:r>
            <a:endParaRPr lang="en-US" sz="1100" dirty="0"/>
          </a:p>
        </p:txBody>
      </p:sp>
      <p:sp>
        <p:nvSpPr>
          <p:cNvPr id="4" name="shape-41-2"/>
          <p:cNvSpPr/>
          <p:nvPr/>
        </p:nvSpPr>
        <p:spPr>
          <a:xfrm>
            <a:off x="552450" y="1266825"/>
            <a:ext cx="990600" cy="47625"/>
          </a:xfrm>
          <a:prstGeom prst="rect">
            <a:avLst/>
          </a:prstGeom>
          <a:solidFill>
            <a:srgbClr val="0F6FC6"/>
          </a:solidFill>
          <a:ln/>
        </p:spPr>
      </p:sp>
      <p:sp>
        <p:nvSpPr>
          <p:cNvPr id="5" name="shape-41-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2</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Working with strings: literals, index…</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41</a:t>
            </a:r>
            <a:endParaRPr lang="en-US" sz="900" dirty="0"/>
          </a:p>
        </p:txBody>
      </p:sp>
      <p:sp>
        <p:nvSpPr>
          <p:cNvPr id="9" name="shape-41-7"/>
          <p:cNvSpPr/>
          <p:nvPr/>
        </p:nvSpPr>
        <p:spPr>
          <a:xfrm>
            <a:off x="552450" y="1543050"/>
            <a:ext cx="7048500" cy="2914650"/>
          </a:xfrm>
          <a:prstGeom prst="rect">
            <a:avLst/>
          </a:prstGeom>
          <a:solidFill>
            <a:srgbClr val="FFFFFF"/>
          </a:solidFill>
          <a:ln w="12700">
            <a:solidFill>
              <a:srgbClr val="D7DEE8"/>
            </a:solidFill>
            <a:prstDash val="solid"/>
          </a:ln>
        </p:spPr>
      </p:sp>
      <p:sp>
        <p:nvSpPr>
          <p:cNvPr id="10" name="text"/>
          <p:cNvSpPr/>
          <p:nvPr/>
        </p:nvSpPr>
        <p:spPr>
          <a:xfrm>
            <a:off x="742950" y="1714500"/>
            <a:ext cx="6667500" cy="25908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THE MECHANISM</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A string literal may be written with single or double quotes, which lets one kind of quote appear unescaped inside the other. Escape characters cover the rest: \n for a newline, \t for a tab and \\ for a literal backslash. A raw string, prefixed with r, disables escape processing entirely and is the correct form for Windows paths and for the regular expressions of Module 3. Strings index and slice exactly like lists, but they are immutable, so every operation that appears to modify one in fact returns a new string and leaves the original untouched.</a:t>
            </a:r>
            <a:endParaRPr lang="en-US" sz="1100" dirty="0"/>
          </a:p>
        </p:txBody>
      </p:sp>
      <p:sp>
        <p:nvSpPr>
          <p:cNvPr id="11" name="shape-41-9"/>
          <p:cNvSpPr/>
          <p:nvPr/>
        </p:nvSpPr>
        <p:spPr>
          <a:xfrm>
            <a:off x="7810500" y="1543050"/>
            <a:ext cx="3829050" cy="1390650"/>
          </a:xfrm>
          <a:prstGeom prst="rect">
            <a:avLst/>
          </a:prstGeom>
          <a:solidFill>
            <a:srgbClr val="F1F5FA"/>
          </a:solidFill>
          <a:ln/>
        </p:spPr>
      </p:sp>
      <p:sp>
        <p:nvSpPr>
          <p:cNvPr id="12" name="text"/>
          <p:cNvSpPr/>
          <p:nvPr/>
        </p:nvSpPr>
        <p:spPr>
          <a:xfrm>
            <a:off x="8001000" y="1695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KEY TERMS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string literal</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escape character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raw string</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triple quotes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immutability</a:t>
            </a:r>
            <a:endParaRPr lang="en-US" sz="1100" dirty="0"/>
          </a:p>
        </p:txBody>
      </p:sp>
      <p:sp>
        <p:nvSpPr>
          <p:cNvPr id="13" name="shape-41-11"/>
          <p:cNvSpPr/>
          <p:nvPr/>
        </p:nvSpPr>
        <p:spPr>
          <a:xfrm>
            <a:off x="7810500" y="3067050"/>
            <a:ext cx="3829050" cy="1390650"/>
          </a:xfrm>
          <a:prstGeom prst="rect">
            <a:avLst/>
          </a:prstGeom>
          <a:solidFill>
            <a:srgbClr val="FDF3EC"/>
          </a:solidFill>
          <a:ln/>
        </p:spPr>
      </p:sp>
      <p:sp>
        <p:nvSpPr>
          <p:cNvPr id="14" name="text"/>
          <p:cNvSpPr/>
          <p:nvPr/>
        </p:nvSpPr>
        <p:spPr>
          <a:xfrm>
            <a:off x="8001000" y="3219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TAKEAWAY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Strings index like lists but are immutable — every string "change" is really a new string.</a:t>
            </a:r>
            <a:endParaRPr lang="en-US" sz="1100" dirty="0"/>
          </a:p>
        </p:txBody>
      </p:sp>
      <p:sp>
        <p:nvSpPr>
          <p:cNvPr id="15" name="shape-41-13"/>
          <p:cNvSpPr/>
          <p:nvPr/>
        </p:nvSpPr>
        <p:spPr>
          <a:xfrm>
            <a:off x="552450" y="4629150"/>
            <a:ext cx="11087100" cy="609600"/>
          </a:xfrm>
          <a:prstGeom prst="rect">
            <a:avLst/>
          </a:prstGeom>
          <a:solidFill>
            <a:srgbClr val="F1F5FA"/>
          </a:solidFill>
          <a:ln/>
        </p:spPr>
      </p:sp>
      <p:sp>
        <p:nvSpPr>
          <p:cNvPr id="16" name="text"/>
          <p:cNvSpPr/>
          <p:nvPr/>
        </p:nvSpPr>
        <p:spPr>
          <a:xfrm>
            <a:off x="742950" y="4724400"/>
            <a:ext cx="742950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5A6478"/>
                </a:solidFill>
                <a:latin typeface="Segoe UI" pitchFamily="34" charset="0"/>
                <a:ea typeface="Segoe UI" pitchFamily="34" charset="-122"/>
                <a:cs typeface="Segoe UI" pitchFamily="34" charset="-120"/>
              </a:rPr>
              <a:t>DIAGRAM FOR PHASE 2</a:t>
            </a:r>
            <a:endParaRPr lang="en-US" sz="1100" dirty="0"/>
          </a:p>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Upper half: a character row spelling H e l l o with forward indexes 0 to 4 above and negative indexes -5 to -1 below, and a slice bracket over positions 1 to 3 labelled s[1:4] returning 'ell'. A red arrow atte…</a:t>
            </a:r>
            <a:endParaRPr lang="en-US" sz="1100" dirty="0"/>
          </a:p>
        </p:txBody>
      </p:sp>
      <p:sp>
        <p:nvSpPr>
          <p:cNvPr id="17" name="text"/>
          <p:cNvSpPr/>
          <p:nvPr/>
        </p:nvSpPr>
        <p:spPr>
          <a:xfrm>
            <a:off x="7810500" y="4705350"/>
            <a:ext cx="3657600" cy="2667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Automate the Boring Stuff with Python, 1st ed., Ch. 6, pp. 123-127</a:t>
            </a:r>
            <a:endParaRPr lang="en-US" sz="900" dirty="0"/>
          </a:p>
        </p:txBody>
      </p:sp>
      <p:sp>
        <p:nvSpPr>
          <p:cNvPr id="18" name="text"/>
          <p:cNvSpPr/>
          <p:nvPr/>
        </p:nvSpPr>
        <p:spPr>
          <a:xfrm>
            <a:off x="7810500" y="4972050"/>
            <a:ext cx="3657600" cy="20955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CO2  |  Bloom L3  |  visual id: string-immutability-and-literals</a:t>
            </a:r>
            <a:endParaRPr lang="en-US" sz="9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Working with strings: literals, indexing and slicing - how it works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The procedure in order, and what each pass costs you.</a:t>
            </a:r>
            <a:endParaRPr lang="en-US" sz="1100" dirty="0"/>
          </a:p>
        </p:txBody>
      </p:sp>
      <p:sp>
        <p:nvSpPr>
          <p:cNvPr id="4" name="shape-42-2"/>
          <p:cNvSpPr/>
          <p:nvPr/>
        </p:nvSpPr>
        <p:spPr>
          <a:xfrm>
            <a:off x="552450" y="1266825"/>
            <a:ext cx="990600" cy="47625"/>
          </a:xfrm>
          <a:prstGeom prst="rect">
            <a:avLst/>
          </a:prstGeom>
          <a:solidFill>
            <a:srgbClr val="0F6FC6"/>
          </a:solidFill>
          <a:ln/>
        </p:spPr>
      </p:sp>
      <p:sp>
        <p:nvSpPr>
          <p:cNvPr id="5" name="shape-42-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2</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Working with strings: literals, index…</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42</a:t>
            </a:r>
            <a:endParaRPr lang="en-US" sz="900" dirty="0"/>
          </a:p>
        </p:txBody>
      </p:sp>
      <p:sp>
        <p:nvSpPr>
          <p:cNvPr id="9" name="shape-42-7"/>
          <p:cNvSpPr/>
          <p:nvPr/>
        </p:nvSpPr>
        <p:spPr>
          <a:xfrm>
            <a:off x="552450" y="1600200"/>
            <a:ext cx="7239000" cy="476250"/>
          </a:xfrm>
          <a:prstGeom prst="rect">
            <a:avLst/>
          </a:prstGeom>
          <a:solidFill>
            <a:srgbClr val="F1F5FA"/>
          </a:solidFill>
          <a:ln w="12700">
            <a:solidFill>
              <a:srgbClr val="D7DEE8"/>
            </a:solidFill>
            <a:prstDash val="solid"/>
          </a:ln>
        </p:spPr>
      </p:sp>
      <p:sp>
        <p:nvSpPr>
          <p:cNvPr id="10" name="text"/>
          <p:cNvSpPr/>
          <p:nvPr/>
        </p:nvSpPr>
        <p:spPr>
          <a:xfrm>
            <a:off x="723900" y="17145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Choose the quote style that avoids escaping</a:t>
            </a:r>
            <a:endParaRPr lang="en-US" sz="1100" dirty="0"/>
          </a:p>
        </p:txBody>
      </p:sp>
      <p:sp>
        <p:nvSpPr>
          <p:cNvPr id="11" name="shape-42-9"/>
          <p:cNvSpPr/>
          <p:nvPr/>
        </p:nvSpPr>
        <p:spPr>
          <a:xfrm>
            <a:off x="552450" y="2152650"/>
            <a:ext cx="7239000" cy="476250"/>
          </a:xfrm>
          <a:prstGeom prst="rect">
            <a:avLst/>
          </a:prstGeom>
          <a:solidFill>
            <a:srgbClr val="FFFFFF"/>
          </a:solidFill>
          <a:ln w="12700">
            <a:solidFill>
              <a:srgbClr val="D7DEE8"/>
            </a:solidFill>
            <a:prstDash val="solid"/>
          </a:ln>
        </p:spPr>
      </p:sp>
      <p:sp>
        <p:nvSpPr>
          <p:cNvPr id="12" name="text"/>
          <p:cNvSpPr/>
          <p:nvPr/>
        </p:nvSpPr>
        <p:spPr>
          <a:xfrm>
            <a:off x="723900" y="22669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Use \n, \t and \\ for newline, tab and backslash</a:t>
            </a:r>
            <a:endParaRPr lang="en-US" sz="1100" dirty="0"/>
          </a:p>
        </p:txBody>
      </p:sp>
      <p:sp>
        <p:nvSpPr>
          <p:cNvPr id="13" name="shape-42-11"/>
          <p:cNvSpPr/>
          <p:nvPr/>
        </p:nvSpPr>
        <p:spPr>
          <a:xfrm>
            <a:off x="552450" y="2705100"/>
            <a:ext cx="7239000" cy="476250"/>
          </a:xfrm>
          <a:prstGeom prst="rect">
            <a:avLst/>
          </a:prstGeom>
          <a:solidFill>
            <a:srgbClr val="F1F5FA"/>
          </a:solidFill>
          <a:ln w="12700">
            <a:solidFill>
              <a:srgbClr val="D7DEE8"/>
            </a:solidFill>
            <a:prstDash val="solid"/>
          </a:ln>
        </p:spPr>
      </p:sp>
      <p:sp>
        <p:nvSpPr>
          <p:cNvPr id="14" name="text"/>
          <p:cNvSpPr/>
          <p:nvPr/>
        </p:nvSpPr>
        <p:spPr>
          <a:xfrm>
            <a:off x="723900" y="28194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Prefix with r for paths and regular expressions</a:t>
            </a:r>
            <a:endParaRPr lang="en-US" sz="1100" dirty="0"/>
          </a:p>
        </p:txBody>
      </p:sp>
      <p:sp>
        <p:nvSpPr>
          <p:cNvPr id="15" name="shape-42-13"/>
          <p:cNvSpPr/>
          <p:nvPr/>
        </p:nvSpPr>
        <p:spPr>
          <a:xfrm>
            <a:off x="552450" y="3257550"/>
            <a:ext cx="7239000" cy="476250"/>
          </a:xfrm>
          <a:prstGeom prst="rect">
            <a:avLst/>
          </a:prstGeom>
          <a:solidFill>
            <a:srgbClr val="FFFFFF"/>
          </a:solidFill>
          <a:ln w="12700">
            <a:solidFill>
              <a:srgbClr val="D7DEE8"/>
            </a:solidFill>
            <a:prstDash val="solid"/>
          </a:ln>
        </p:spPr>
      </p:sp>
      <p:sp>
        <p:nvSpPr>
          <p:cNvPr id="16" name="text"/>
          <p:cNvSpPr/>
          <p:nvPr/>
        </p:nvSpPr>
        <p:spPr>
          <a:xfrm>
            <a:off x="723900" y="33718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Use triple quotes for text spanning several lines</a:t>
            </a:r>
            <a:endParaRPr lang="en-US" sz="1100" dirty="0"/>
          </a:p>
        </p:txBody>
      </p:sp>
      <p:sp>
        <p:nvSpPr>
          <p:cNvPr id="17" name="shape-42-15"/>
          <p:cNvSpPr/>
          <p:nvPr/>
        </p:nvSpPr>
        <p:spPr>
          <a:xfrm>
            <a:off x="552450" y="3810000"/>
            <a:ext cx="7239000" cy="476250"/>
          </a:xfrm>
          <a:prstGeom prst="rect">
            <a:avLst/>
          </a:prstGeom>
          <a:solidFill>
            <a:srgbClr val="F1F5FA"/>
          </a:solidFill>
          <a:ln w="12700">
            <a:solidFill>
              <a:srgbClr val="D7DEE8"/>
            </a:solidFill>
            <a:prstDash val="solid"/>
          </a:ln>
        </p:spPr>
      </p:sp>
      <p:sp>
        <p:nvSpPr>
          <p:cNvPr id="18" name="text"/>
          <p:cNvSpPr/>
          <p:nvPr/>
        </p:nvSpPr>
        <p:spPr>
          <a:xfrm>
            <a:off x="723900" y="39243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Index and slice exactly as for a list</a:t>
            </a:r>
            <a:endParaRPr lang="en-US" sz="1100" dirty="0"/>
          </a:p>
        </p:txBody>
      </p:sp>
      <p:sp>
        <p:nvSpPr>
          <p:cNvPr id="19" name="shape-42-17"/>
          <p:cNvSpPr/>
          <p:nvPr/>
        </p:nvSpPr>
        <p:spPr>
          <a:xfrm>
            <a:off x="552450" y="4362450"/>
            <a:ext cx="7239000" cy="476250"/>
          </a:xfrm>
          <a:prstGeom prst="rect">
            <a:avLst/>
          </a:prstGeom>
          <a:solidFill>
            <a:srgbClr val="FFFFFF"/>
          </a:solidFill>
          <a:ln w="12700">
            <a:solidFill>
              <a:srgbClr val="D7DEE8"/>
            </a:solidFill>
            <a:prstDash val="solid"/>
          </a:ln>
        </p:spPr>
      </p:sp>
      <p:sp>
        <p:nvSpPr>
          <p:cNvPr id="20" name="text"/>
          <p:cNvSpPr/>
          <p:nvPr/>
        </p:nvSpPr>
        <p:spPr>
          <a:xfrm>
            <a:off x="723900" y="44767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6.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Rebind the name when you need a changed string</a:t>
            </a:r>
            <a:endParaRPr lang="en-US" sz="1100" dirty="0"/>
          </a:p>
        </p:txBody>
      </p:sp>
      <p:sp>
        <p:nvSpPr>
          <p:cNvPr id="21" name="shape-42-19"/>
          <p:cNvSpPr/>
          <p:nvPr/>
        </p:nvSpPr>
        <p:spPr>
          <a:xfrm>
            <a:off x="8020050" y="1543050"/>
            <a:ext cx="3619500" cy="2247900"/>
          </a:xfrm>
          <a:prstGeom prst="rect">
            <a:avLst/>
          </a:prstGeom>
          <a:solidFill>
            <a:srgbClr val="F1F5FA"/>
          </a:solidFill>
          <a:ln/>
        </p:spPr>
      </p:sp>
      <p:sp>
        <p:nvSpPr>
          <p:cNvPr id="22" name="text"/>
          <p:cNvSpPr/>
          <p:nvPr/>
        </p:nvSpPr>
        <p:spPr>
          <a:xfrm>
            <a:off x="8210550" y="1695450"/>
            <a:ext cx="3257550" cy="19621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COST AND BEHAVIOUR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Best: O(1) to index one character</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Typical: O(k) to slice k characters</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Worst: O(n) to build a new string of length n for any apparent modification</a:t>
            </a:r>
            <a:endParaRPr lang="en-US" sz="1100" dirty="0"/>
          </a:p>
        </p:txBody>
      </p:sp>
      <p:sp>
        <p:nvSpPr>
          <p:cNvPr id="23" name="shape-42-21"/>
          <p:cNvSpPr/>
          <p:nvPr/>
        </p:nvSpPr>
        <p:spPr>
          <a:xfrm>
            <a:off x="8020050" y="3943350"/>
            <a:ext cx="3619500" cy="1257300"/>
          </a:xfrm>
          <a:prstGeom prst="rect">
            <a:avLst/>
          </a:prstGeom>
          <a:solidFill>
            <a:srgbClr val="FDF3EC"/>
          </a:solidFill>
          <a:ln/>
        </p:spPr>
      </p:sp>
      <p:sp>
        <p:nvSpPr>
          <p:cNvPr id="24" name="text"/>
          <p:cNvSpPr/>
          <p:nvPr/>
        </p:nvSpPr>
        <p:spPr>
          <a:xfrm>
            <a:off x="8210550" y="4076700"/>
            <a:ext cx="3257550" cy="10096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WHAT THAT MEANS</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Because every change allocates, modifying a string in a loop is the same O(n^2) trap as concatenating one.</a:t>
            </a:r>
            <a:endParaRPr lang="en-US" sz="1100" dirty="0"/>
          </a:p>
        </p:txBody>
      </p:sp>
      <p:sp>
        <p:nvSpPr>
          <p:cNvPr id="25"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Automate the Boring Stuff with Python, 1st ed., Ch. 6, pp. 123-127   |   CO2  |  Bloom L3</a:t>
            </a:r>
            <a:endParaRPr lang="en-US" sz="9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Working with strings: literals, indexing and slicing - worked example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concrete case, carried all the way to a stated number.</a:t>
            </a:r>
            <a:endParaRPr lang="en-US" sz="1100" dirty="0"/>
          </a:p>
        </p:txBody>
      </p:sp>
      <p:sp>
        <p:nvSpPr>
          <p:cNvPr id="4" name="shape-43-2"/>
          <p:cNvSpPr/>
          <p:nvPr/>
        </p:nvSpPr>
        <p:spPr>
          <a:xfrm>
            <a:off x="552450" y="1266825"/>
            <a:ext cx="990600" cy="47625"/>
          </a:xfrm>
          <a:prstGeom prst="rect">
            <a:avLst/>
          </a:prstGeom>
          <a:solidFill>
            <a:srgbClr val="0F6FC6"/>
          </a:solidFill>
          <a:ln/>
        </p:spPr>
      </p:sp>
      <p:sp>
        <p:nvSpPr>
          <p:cNvPr id="5" name="shape-43-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2</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Working with strings: literals, index…</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43</a:t>
            </a:r>
            <a:endParaRPr lang="en-US" sz="900" dirty="0"/>
          </a:p>
        </p:txBody>
      </p:sp>
      <p:sp>
        <p:nvSpPr>
          <p:cNvPr id="9" name="shape-43-7"/>
          <p:cNvSpPr/>
          <p:nvPr/>
        </p:nvSpPr>
        <p:spPr>
          <a:xfrm>
            <a:off x="552450" y="1543050"/>
            <a:ext cx="7048500" cy="590550"/>
          </a:xfrm>
          <a:prstGeom prst="rect">
            <a:avLst/>
          </a:prstGeom>
          <a:solidFill>
            <a:srgbClr val="F1F5FA"/>
          </a:solidFill>
          <a:ln/>
        </p:spPr>
      </p:sp>
      <p:sp>
        <p:nvSpPr>
          <p:cNvPr id="10" name="text"/>
          <p:cNvSpPr/>
          <p:nvPr/>
        </p:nvSpPr>
        <p:spPr>
          <a:xfrm>
            <a:off x="723900" y="1657350"/>
            <a:ext cx="6724650" cy="4191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GIVEN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 = 'Hello'; evaluate s[1:4], s[-1], and attempt s[0] = 'J'.</a:t>
            </a:r>
            <a:endParaRPr lang="en-US" sz="1100" dirty="0"/>
          </a:p>
        </p:txBody>
      </p:sp>
      <p:sp>
        <p:nvSpPr>
          <p:cNvPr id="11" name="text"/>
          <p:cNvSpPr/>
          <p:nvPr/>
        </p:nvSpPr>
        <p:spPr>
          <a:xfrm>
            <a:off x="723900" y="22669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s[1:4] gives 'ell' — index 4 is excluded, exactly as for lists</a:t>
            </a:r>
            <a:endParaRPr lang="en-US" sz="1100" dirty="0"/>
          </a:p>
        </p:txBody>
      </p:sp>
      <p:sp>
        <p:nvSpPr>
          <p:cNvPr id="12" name="text"/>
          <p:cNvSpPr/>
          <p:nvPr/>
        </p:nvSpPr>
        <p:spPr>
          <a:xfrm>
            <a:off x="723900" y="27051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s[-1] gives 'o'</a:t>
            </a:r>
            <a:endParaRPr lang="en-US" sz="1100" dirty="0"/>
          </a:p>
        </p:txBody>
      </p:sp>
      <p:sp>
        <p:nvSpPr>
          <p:cNvPr id="13" name="text"/>
          <p:cNvSpPr/>
          <p:nvPr/>
        </p:nvSpPr>
        <p:spPr>
          <a:xfrm>
            <a:off x="723900" y="31432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s[0] = 'J' raises TypeError: 'str' object does not support item assignment</a:t>
            </a:r>
            <a:endParaRPr lang="en-US" sz="1100" dirty="0"/>
          </a:p>
        </p:txBody>
      </p:sp>
      <p:sp>
        <p:nvSpPr>
          <p:cNvPr id="14" name="text"/>
          <p:cNvSpPr/>
          <p:nvPr/>
        </p:nvSpPr>
        <p:spPr>
          <a:xfrm>
            <a:off x="723900" y="35814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The intended change is written as s = 'J' + s[1:], giving 'Jello'</a:t>
            </a:r>
            <a:endParaRPr lang="en-US" sz="1100" dirty="0"/>
          </a:p>
        </p:txBody>
      </p:sp>
      <p:sp>
        <p:nvSpPr>
          <p:cNvPr id="15" name="shape-43-13"/>
          <p:cNvSpPr/>
          <p:nvPr/>
        </p:nvSpPr>
        <p:spPr>
          <a:xfrm>
            <a:off x="552450" y="4076700"/>
            <a:ext cx="7048500" cy="628650"/>
          </a:xfrm>
          <a:prstGeom prst="rect">
            <a:avLst/>
          </a:prstGeom>
          <a:solidFill>
            <a:srgbClr val="FDF3EC"/>
          </a:solidFill>
          <a:ln/>
        </p:spPr>
      </p:sp>
      <p:sp>
        <p:nvSpPr>
          <p:cNvPr id="16" name="text"/>
          <p:cNvSpPr/>
          <p:nvPr/>
        </p:nvSpPr>
        <p:spPr>
          <a:xfrm>
            <a:off x="723900" y="4191000"/>
            <a:ext cx="672465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RESULT</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Indexing and slicing behave identically to lists, but assignment is refused; the replacement is built by slicing and concatenating into a new string.</a:t>
            </a:r>
            <a:endParaRPr lang="en-US" sz="1100" dirty="0"/>
          </a:p>
        </p:txBody>
      </p:sp>
      <p:sp>
        <p:nvSpPr>
          <p:cNvPr id="17" name="shape-43-15"/>
          <p:cNvSpPr/>
          <p:nvPr/>
        </p:nvSpPr>
        <p:spPr>
          <a:xfrm>
            <a:off x="7810500" y="1543050"/>
            <a:ext cx="3829050" cy="1771650"/>
          </a:xfrm>
          <a:prstGeom prst="rect">
            <a:avLst/>
          </a:prstGeom>
          <a:solidFill>
            <a:srgbClr val="0E1726"/>
          </a:solidFill>
          <a:ln/>
        </p:spPr>
      </p:sp>
      <p:sp>
        <p:nvSpPr>
          <p:cNvPr id="18" name="text"/>
          <p:cNvSpPr/>
          <p:nvPr/>
        </p:nvSpPr>
        <p:spPr>
          <a:xfrm>
            <a:off x="7981950" y="1695450"/>
            <a:ext cx="3486150" cy="14859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&gt;&gt;&gt; s = 'Hello'</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&gt;&gt;&gt; s[1:4]</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'ell'</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&gt;&gt;&gt; s[0] = 'J'</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TypeError: 'str' object does not support item assignment</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&gt;&gt;&gt; s = 'J' + s[1:]</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&gt;&gt;&gt; s</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'Jello'</a:t>
            </a:r>
            <a:endParaRPr lang="en-US" sz="1000" dirty="0"/>
          </a:p>
        </p:txBody>
      </p:sp>
      <p:sp>
        <p:nvSpPr>
          <p:cNvPr id="19" name="shape-43-17"/>
          <p:cNvSpPr/>
          <p:nvPr/>
        </p:nvSpPr>
        <p:spPr>
          <a:xfrm>
            <a:off x="7810500" y="3467100"/>
            <a:ext cx="3829050" cy="1733550"/>
          </a:xfrm>
          <a:prstGeom prst="rect">
            <a:avLst/>
          </a:prstGeom>
          <a:solidFill>
            <a:srgbClr val="FFFFFF"/>
          </a:solidFill>
          <a:ln w="19050">
            <a:solidFill>
              <a:srgbClr val="C2410C"/>
            </a:solidFill>
            <a:prstDash val="solid"/>
          </a:ln>
        </p:spPr>
      </p:sp>
      <p:sp>
        <p:nvSpPr>
          <p:cNvPr id="20" name="text"/>
          <p:cNvSpPr/>
          <p:nvPr/>
        </p:nvSpPr>
        <p:spPr>
          <a:xfrm>
            <a:off x="7981950" y="3600450"/>
            <a:ext cx="3486150" cy="14668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MISTAKE STUDENTS MAKE</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Students write a Windows path as 'C:\\new\\data' without doubling the backslashes or using a raw string, so \n becomes a newline and the path silently breaks. Use r'C:\\new\\data' for any path or regex.</a:t>
            </a:r>
            <a:endParaRPr lang="en-US" sz="1100" dirty="0"/>
          </a:p>
        </p:txBody>
      </p:sp>
      <p:sp>
        <p:nvSpPr>
          <p:cNvPr id="21"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Automate the Boring Stuff with Python, 1st ed., Ch. 6, pp. 123-127   |   CO2  |  Bloom L3</a:t>
            </a:r>
            <a:endParaRPr lang="en-US" sz="9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Case methods and the isX methods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What it is, why it works, and what it costs.</a:t>
            </a:r>
            <a:endParaRPr lang="en-US" sz="1100" dirty="0"/>
          </a:p>
        </p:txBody>
      </p:sp>
      <p:sp>
        <p:nvSpPr>
          <p:cNvPr id="4" name="shape-44-2"/>
          <p:cNvSpPr/>
          <p:nvPr/>
        </p:nvSpPr>
        <p:spPr>
          <a:xfrm>
            <a:off x="552450" y="1266825"/>
            <a:ext cx="990600" cy="47625"/>
          </a:xfrm>
          <a:prstGeom prst="rect">
            <a:avLst/>
          </a:prstGeom>
          <a:solidFill>
            <a:srgbClr val="0F6FC6"/>
          </a:solidFill>
          <a:ln/>
        </p:spPr>
      </p:sp>
      <p:sp>
        <p:nvSpPr>
          <p:cNvPr id="5" name="shape-44-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2</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Case methods and the isX methods</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44</a:t>
            </a:r>
            <a:endParaRPr lang="en-US" sz="900" dirty="0"/>
          </a:p>
        </p:txBody>
      </p:sp>
      <p:sp>
        <p:nvSpPr>
          <p:cNvPr id="9" name="shape-44-7"/>
          <p:cNvSpPr/>
          <p:nvPr/>
        </p:nvSpPr>
        <p:spPr>
          <a:xfrm>
            <a:off x="552450" y="1543050"/>
            <a:ext cx="7048500" cy="2914650"/>
          </a:xfrm>
          <a:prstGeom prst="rect">
            <a:avLst/>
          </a:prstGeom>
          <a:solidFill>
            <a:srgbClr val="FFFFFF"/>
          </a:solidFill>
          <a:ln w="12700">
            <a:solidFill>
              <a:srgbClr val="D7DEE8"/>
            </a:solidFill>
            <a:prstDash val="solid"/>
          </a:ln>
        </p:spPr>
      </p:sp>
      <p:sp>
        <p:nvSpPr>
          <p:cNvPr id="10" name="text"/>
          <p:cNvSpPr/>
          <p:nvPr/>
        </p:nvSpPr>
        <p:spPr>
          <a:xfrm>
            <a:off x="742950" y="1714500"/>
            <a:ext cx="6667500" cy="25908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THE MECHANISM</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upper() and lower() return a new string with the case converted, which makes case-insensitive comparison a matter of lowering both sides before comparing. isupper() and islower() return a bool describing the existing string, and return False for a string with no cased characters at all. The isX family — isalpha, isalnum, isdecimal, isspace, istitle — validates content without a regular expression and is the cheapest way to check user input before converting it. The catch that catches everyone is that all of them return False for the empty string, so a validation loop needs a length check as well as an isX test.</a:t>
            </a:r>
            <a:endParaRPr lang="en-US" sz="1100" dirty="0"/>
          </a:p>
        </p:txBody>
      </p:sp>
      <p:sp>
        <p:nvSpPr>
          <p:cNvPr id="11" name="shape-44-9"/>
          <p:cNvSpPr/>
          <p:nvPr/>
        </p:nvSpPr>
        <p:spPr>
          <a:xfrm>
            <a:off x="7810500" y="1543050"/>
            <a:ext cx="3829050" cy="1390650"/>
          </a:xfrm>
          <a:prstGeom prst="rect">
            <a:avLst/>
          </a:prstGeom>
          <a:solidFill>
            <a:srgbClr val="F1F5FA"/>
          </a:solidFill>
          <a:ln/>
        </p:spPr>
      </p:sp>
      <p:sp>
        <p:nvSpPr>
          <p:cNvPr id="12" name="text"/>
          <p:cNvSpPr/>
          <p:nvPr/>
        </p:nvSpPr>
        <p:spPr>
          <a:xfrm>
            <a:off x="8001000" y="1695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KEY TERMS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upper()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lower()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isupper()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islower()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isalpha()</a:t>
            </a:r>
            <a:endParaRPr lang="en-US" sz="1100" dirty="0"/>
          </a:p>
        </p:txBody>
      </p:sp>
      <p:sp>
        <p:nvSpPr>
          <p:cNvPr id="13" name="shape-44-11"/>
          <p:cNvSpPr/>
          <p:nvPr/>
        </p:nvSpPr>
        <p:spPr>
          <a:xfrm>
            <a:off x="7810500" y="3067050"/>
            <a:ext cx="3829050" cy="1390650"/>
          </a:xfrm>
          <a:prstGeom prst="rect">
            <a:avLst/>
          </a:prstGeom>
          <a:solidFill>
            <a:srgbClr val="FDF3EC"/>
          </a:solidFill>
          <a:ln/>
        </p:spPr>
      </p:sp>
      <p:sp>
        <p:nvSpPr>
          <p:cNvPr id="14" name="text"/>
          <p:cNvSpPr/>
          <p:nvPr/>
        </p:nvSpPr>
        <p:spPr>
          <a:xfrm>
            <a:off x="8001000" y="3219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TAKEAWAY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Every isX method returns False for the empty string, so validate length before content.</a:t>
            </a:r>
            <a:endParaRPr lang="en-US" sz="1100" dirty="0"/>
          </a:p>
        </p:txBody>
      </p:sp>
      <p:sp>
        <p:nvSpPr>
          <p:cNvPr id="15" name="shape-44-13"/>
          <p:cNvSpPr/>
          <p:nvPr/>
        </p:nvSpPr>
        <p:spPr>
          <a:xfrm>
            <a:off x="552450" y="4629150"/>
            <a:ext cx="11087100" cy="609600"/>
          </a:xfrm>
          <a:prstGeom prst="rect">
            <a:avLst/>
          </a:prstGeom>
          <a:solidFill>
            <a:srgbClr val="F1F5FA"/>
          </a:solidFill>
          <a:ln/>
        </p:spPr>
      </p:sp>
      <p:sp>
        <p:nvSpPr>
          <p:cNvPr id="16" name="text"/>
          <p:cNvSpPr/>
          <p:nvPr/>
        </p:nvSpPr>
        <p:spPr>
          <a:xfrm>
            <a:off x="742950" y="4724400"/>
            <a:ext cx="742950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5A6478"/>
                </a:solidFill>
                <a:latin typeface="Segoe UI" pitchFamily="34" charset="0"/>
                <a:ea typeface="Segoe UI" pitchFamily="34" charset="-122"/>
                <a:cs typeface="Segoe UI" pitchFamily="34" charset="-120"/>
              </a:rPr>
              <a:t>DIAGRAM FOR PHASE 2</a:t>
            </a:r>
            <a:endParaRPr lang="en-US" sz="1100" dirty="0"/>
          </a:p>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A validation pipeline. An input token enters from the left and meets two gates in series. Gate 1 is labelled len(s) &gt; 0 and has a red reject path for the empty string, annotated 'isdecimal() would say False he…</a:t>
            </a:r>
            <a:endParaRPr lang="en-US" sz="1100" dirty="0"/>
          </a:p>
        </p:txBody>
      </p:sp>
      <p:sp>
        <p:nvSpPr>
          <p:cNvPr id="17" name="text"/>
          <p:cNvSpPr/>
          <p:nvPr/>
        </p:nvSpPr>
        <p:spPr>
          <a:xfrm>
            <a:off x="7810500" y="4705350"/>
            <a:ext cx="3657600" cy="2667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Automate the Boring Stuff with Python, 1st ed., Ch. 6, pp. 127-131</a:t>
            </a:r>
            <a:endParaRPr lang="en-US" sz="900" dirty="0"/>
          </a:p>
        </p:txBody>
      </p:sp>
      <p:sp>
        <p:nvSpPr>
          <p:cNvPr id="18" name="text"/>
          <p:cNvSpPr/>
          <p:nvPr/>
        </p:nvSpPr>
        <p:spPr>
          <a:xfrm>
            <a:off x="7810500" y="4972050"/>
            <a:ext cx="3657600" cy="20955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CO2  |  Bloom L3  |  visual id: isx-validation-gate</a:t>
            </a:r>
            <a:endParaRPr lang="en-US" sz="9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Case methods and the isX methods - how it works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The procedure in order, and what each pass costs you.</a:t>
            </a:r>
            <a:endParaRPr lang="en-US" sz="1100" dirty="0"/>
          </a:p>
        </p:txBody>
      </p:sp>
      <p:sp>
        <p:nvSpPr>
          <p:cNvPr id="4" name="shape-45-2"/>
          <p:cNvSpPr/>
          <p:nvPr/>
        </p:nvSpPr>
        <p:spPr>
          <a:xfrm>
            <a:off x="552450" y="1266825"/>
            <a:ext cx="990600" cy="47625"/>
          </a:xfrm>
          <a:prstGeom prst="rect">
            <a:avLst/>
          </a:prstGeom>
          <a:solidFill>
            <a:srgbClr val="0F6FC6"/>
          </a:solidFill>
          <a:ln/>
        </p:spPr>
      </p:sp>
      <p:sp>
        <p:nvSpPr>
          <p:cNvPr id="5" name="shape-45-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2</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Case methods and the isX methods</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45</a:t>
            </a:r>
            <a:endParaRPr lang="en-US" sz="900" dirty="0"/>
          </a:p>
        </p:txBody>
      </p:sp>
      <p:sp>
        <p:nvSpPr>
          <p:cNvPr id="9" name="shape-45-7"/>
          <p:cNvSpPr/>
          <p:nvPr/>
        </p:nvSpPr>
        <p:spPr>
          <a:xfrm>
            <a:off x="552450" y="1600200"/>
            <a:ext cx="7239000" cy="476250"/>
          </a:xfrm>
          <a:prstGeom prst="rect">
            <a:avLst/>
          </a:prstGeom>
          <a:solidFill>
            <a:srgbClr val="F1F5FA"/>
          </a:solidFill>
          <a:ln w="12700">
            <a:solidFill>
              <a:srgbClr val="D7DEE8"/>
            </a:solidFill>
            <a:prstDash val="solid"/>
          </a:ln>
        </p:spPr>
      </p:sp>
      <p:sp>
        <p:nvSpPr>
          <p:cNvPr id="10" name="text"/>
          <p:cNvSpPr/>
          <p:nvPr/>
        </p:nvSpPr>
        <p:spPr>
          <a:xfrm>
            <a:off x="723900" y="17145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Lower both operands before a case-insensitive comparison</a:t>
            </a:r>
            <a:endParaRPr lang="en-US" sz="1100" dirty="0"/>
          </a:p>
        </p:txBody>
      </p:sp>
      <p:sp>
        <p:nvSpPr>
          <p:cNvPr id="11" name="shape-45-9"/>
          <p:cNvSpPr/>
          <p:nvPr/>
        </p:nvSpPr>
        <p:spPr>
          <a:xfrm>
            <a:off x="552450" y="2152650"/>
            <a:ext cx="7239000" cy="476250"/>
          </a:xfrm>
          <a:prstGeom prst="rect">
            <a:avLst/>
          </a:prstGeom>
          <a:solidFill>
            <a:srgbClr val="FFFFFF"/>
          </a:solidFill>
          <a:ln w="12700">
            <a:solidFill>
              <a:srgbClr val="D7DEE8"/>
            </a:solidFill>
            <a:prstDash val="solid"/>
          </a:ln>
        </p:spPr>
      </p:sp>
      <p:sp>
        <p:nvSpPr>
          <p:cNvPr id="12" name="text"/>
          <p:cNvSpPr/>
          <p:nvPr/>
        </p:nvSpPr>
        <p:spPr>
          <a:xfrm>
            <a:off x="723900" y="22669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Check len(s) &gt; 0 before any isX test</a:t>
            </a:r>
            <a:endParaRPr lang="en-US" sz="1100" dirty="0"/>
          </a:p>
        </p:txBody>
      </p:sp>
      <p:sp>
        <p:nvSpPr>
          <p:cNvPr id="13" name="shape-45-11"/>
          <p:cNvSpPr/>
          <p:nvPr/>
        </p:nvSpPr>
        <p:spPr>
          <a:xfrm>
            <a:off x="552450" y="2705100"/>
            <a:ext cx="7239000" cy="476250"/>
          </a:xfrm>
          <a:prstGeom prst="rect">
            <a:avLst/>
          </a:prstGeom>
          <a:solidFill>
            <a:srgbClr val="F1F5FA"/>
          </a:solidFill>
          <a:ln w="12700">
            <a:solidFill>
              <a:srgbClr val="D7DEE8"/>
            </a:solidFill>
            <a:prstDash val="solid"/>
          </a:ln>
        </p:spPr>
      </p:sp>
      <p:sp>
        <p:nvSpPr>
          <p:cNvPr id="14" name="text"/>
          <p:cNvSpPr/>
          <p:nvPr/>
        </p:nvSpPr>
        <p:spPr>
          <a:xfrm>
            <a:off x="723900" y="28194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Use isdecimal() to validate digits before int()</a:t>
            </a:r>
            <a:endParaRPr lang="en-US" sz="1100" dirty="0"/>
          </a:p>
        </p:txBody>
      </p:sp>
      <p:sp>
        <p:nvSpPr>
          <p:cNvPr id="15" name="shape-45-13"/>
          <p:cNvSpPr/>
          <p:nvPr/>
        </p:nvSpPr>
        <p:spPr>
          <a:xfrm>
            <a:off x="552450" y="3257550"/>
            <a:ext cx="7239000" cy="476250"/>
          </a:xfrm>
          <a:prstGeom prst="rect">
            <a:avLst/>
          </a:prstGeom>
          <a:solidFill>
            <a:srgbClr val="FFFFFF"/>
          </a:solidFill>
          <a:ln w="12700">
            <a:solidFill>
              <a:srgbClr val="D7DEE8"/>
            </a:solidFill>
            <a:prstDash val="solid"/>
          </a:ln>
        </p:spPr>
      </p:sp>
      <p:sp>
        <p:nvSpPr>
          <p:cNvPr id="16" name="text"/>
          <p:cNvSpPr/>
          <p:nvPr/>
        </p:nvSpPr>
        <p:spPr>
          <a:xfrm>
            <a:off x="723900" y="33718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Use isalpha() for letters-only fields</a:t>
            </a:r>
            <a:endParaRPr lang="en-US" sz="1100" dirty="0"/>
          </a:p>
        </p:txBody>
      </p:sp>
      <p:sp>
        <p:nvSpPr>
          <p:cNvPr id="17" name="shape-45-15"/>
          <p:cNvSpPr/>
          <p:nvPr/>
        </p:nvSpPr>
        <p:spPr>
          <a:xfrm>
            <a:off x="552450" y="3810000"/>
            <a:ext cx="7239000" cy="476250"/>
          </a:xfrm>
          <a:prstGeom prst="rect">
            <a:avLst/>
          </a:prstGeom>
          <a:solidFill>
            <a:srgbClr val="F1F5FA"/>
          </a:solidFill>
          <a:ln w="12700">
            <a:solidFill>
              <a:srgbClr val="D7DEE8"/>
            </a:solidFill>
            <a:prstDash val="solid"/>
          </a:ln>
        </p:spPr>
      </p:sp>
      <p:sp>
        <p:nvSpPr>
          <p:cNvPr id="18" name="text"/>
          <p:cNvSpPr/>
          <p:nvPr/>
        </p:nvSpPr>
        <p:spPr>
          <a:xfrm>
            <a:off x="723900" y="39243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Combine tests with and, putting the length check first</a:t>
            </a:r>
            <a:endParaRPr lang="en-US" sz="1100" dirty="0"/>
          </a:p>
        </p:txBody>
      </p:sp>
      <p:sp>
        <p:nvSpPr>
          <p:cNvPr id="19" name="shape-45-17"/>
          <p:cNvSpPr/>
          <p:nvPr/>
        </p:nvSpPr>
        <p:spPr>
          <a:xfrm>
            <a:off x="552450" y="4362450"/>
            <a:ext cx="7239000" cy="476250"/>
          </a:xfrm>
          <a:prstGeom prst="rect">
            <a:avLst/>
          </a:prstGeom>
          <a:solidFill>
            <a:srgbClr val="FFFFFF"/>
          </a:solidFill>
          <a:ln w="12700">
            <a:solidFill>
              <a:srgbClr val="D7DEE8"/>
            </a:solidFill>
            <a:prstDash val="solid"/>
          </a:ln>
        </p:spPr>
      </p:sp>
      <p:sp>
        <p:nvSpPr>
          <p:cNvPr id="20" name="text"/>
          <p:cNvSpPr/>
          <p:nvPr/>
        </p:nvSpPr>
        <p:spPr>
          <a:xfrm>
            <a:off x="723900" y="44767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6.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Remember all these methods return new values or Booleans, never modifying s</a:t>
            </a:r>
            <a:endParaRPr lang="en-US" sz="1100" dirty="0"/>
          </a:p>
        </p:txBody>
      </p:sp>
      <p:sp>
        <p:nvSpPr>
          <p:cNvPr id="21" name="shape-45-19"/>
          <p:cNvSpPr/>
          <p:nvPr/>
        </p:nvSpPr>
        <p:spPr>
          <a:xfrm>
            <a:off x="8020050" y="1543050"/>
            <a:ext cx="3619500" cy="2247900"/>
          </a:xfrm>
          <a:prstGeom prst="rect">
            <a:avLst/>
          </a:prstGeom>
          <a:solidFill>
            <a:srgbClr val="F1F5FA"/>
          </a:solidFill>
          <a:ln/>
        </p:spPr>
      </p:sp>
      <p:sp>
        <p:nvSpPr>
          <p:cNvPr id="22" name="text"/>
          <p:cNvSpPr/>
          <p:nvPr/>
        </p:nvSpPr>
        <p:spPr>
          <a:xfrm>
            <a:off x="8210550" y="1695450"/>
            <a:ext cx="3257550" cy="19621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COST AND BEHAVIOUR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Best: O(1) for an empty or one-character string</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Typical: O(n) to scan n characters</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Worst: O(n); every isX inspects the whole string</a:t>
            </a:r>
            <a:endParaRPr lang="en-US" sz="1100" dirty="0"/>
          </a:p>
        </p:txBody>
      </p:sp>
      <p:sp>
        <p:nvSpPr>
          <p:cNvPr id="23" name="shape-45-21"/>
          <p:cNvSpPr/>
          <p:nvPr/>
        </p:nvSpPr>
        <p:spPr>
          <a:xfrm>
            <a:off x="8020050" y="3943350"/>
            <a:ext cx="3619500" cy="1257300"/>
          </a:xfrm>
          <a:prstGeom prst="rect">
            <a:avLst/>
          </a:prstGeom>
          <a:solidFill>
            <a:srgbClr val="FDF3EC"/>
          </a:solidFill>
          <a:ln/>
        </p:spPr>
      </p:sp>
      <p:sp>
        <p:nvSpPr>
          <p:cNvPr id="24" name="text"/>
          <p:cNvSpPr/>
          <p:nvPr/>
        </p:nvSpPr>
        <p:spPr>
          <a:xfrm>
            <a:off x="8210550" y="4076700"/>
            <a:ext cx="3257550" cy="10096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WHAT THAT MEANS</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These scans are far cheaper than a regular expression and should be preferred for simple validation.</a:t>
            </a:r>
            <a:endParaRPr lang="en-US" sz="1100" dirty="0"/>
          </a:p>
        </p:txBody>
      </p:sp>
      <p:sp>
        <p:nvSpPr>
          <p:cNvPr id="25"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Automate the Boring Stuff with Python, 1st ed., Ch. 6, pp. 127-131   |   CO2  |  Bloom L3</a:t>
            </a:r>
            <a:endParaRPr lang="en-US" sz="9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Case methods and the isX methods - worked example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concrete case, carried all the way to a stated number.</a:t>
            </a:r>
            <a:endParaRPr lang="en-US" sz="1100" dirty="0"/>
          </a:p>
        </p:txBody>
      </p:sp>
      <p:sp>
        <p:nvSpPr>
          <p:cNvPr id="4" name="shape-46-2"/>
          <p:cNvSpPr/>
          <p:nvPr/>
        </p:nvSpPr>
        <p:spPr>
          <a:xfrm>
            <a:off x="552450" y="1266825"/>
            <a:ext cx="990600" cy="47625"/>
          </a:xfrm>
          <a:prstGeom prst="rect">
            <a:avLst/>
          </a:prstGeom>
          <a:solidFill>
            <a:srgbClr val="0F6FC6"/>
          </a:solidFill>
          <a:ln/>
        </p:spPr>
      </p:sp>
      <p:sp>
        <p:nvSpPr>
          <p:cNvPr id="5" name="shape-46-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2</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Case methods and the isX methods</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46</a:t>
            </a:r>
            <a:endParaRPr lang="en-US" sz="900" dirty="0"/>
          </a:p>
        </p:txBody>
      </p:sp>
      <p:sp>
        <p:nvSpPr>
          <p:cNvPr id="9" name="shape-46-7"/>
          <p:cNvSpPr/>
          <p:nvPr/>
        </p:nvSpPr>
        <p:spPr>
          <a:xfrm>
            <a:off x="552450" y="1543050"/>
            <a:ext cx="7048500" cy="590550"/>
          </a:xfrm>
          <a:prstGeom prst="rect">
            <a:avLst/>
          </a:prstGeom>
          <a:solidFill>
            <a:srgbClr val="F1F5FA"/>
          </a:solidFill>
          <a:ln/>
        </p:spPr>
      </p:sp>
      <p:sp>
        <p:nvSpPr>
          <p:cNvPr id="10" name="text"/>
          <p:cNvSpPr/>
          <p:nvPr/>
        </p:nvSpPr>
        <p:spPr>
          <a:xfrm>
            <a:off x="723900" y="1657350"/>
            <a:ext cx="6724650" cy="4191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GIVEN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Validate an age typed by the user, testing '25', 'abc' and ''.</a:t>
            </a:r>
            <a:endParaRPr lang="en-US" sz="1100" dirty="0"/>
          </a:p>
        </p:txBody>
      </p:sp>
      <p:sp>
        <p:nvSpPr>
          <p:cNvPr id="11" name="text"/>
          <p:cNvSpPr/>
          <p:nvPr/>
        </p:nvSpPr>
        <p:spPr>
          <a:xfrm>
            <a:off x="723900" y="22669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'25'.isdecimal() is True, so int('25') is safe</a:t>
            </a:r>
            <a:endParaRPr lang="en-US" sz="1100" dirty="0"/>
          </a:p>
        </p:txBody>
      </p:sp>
      <p:sp>
        <p:nvSpPr>
          <p:cNvPr id="12" name="text"/>
          <p:cNvSpPr/>
          <p:nvPr/>
        </p:nvSpPr>
        <p:spPr>
          <a:xfrm>
            <a:off x="723900" y="27051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'abc'.isdecimal() is False, so the program re-prompts instead of raising ValueError</a:t>
            </a:r>
            <a:endParaRPr lang="en-US" sz="1100" dirty="0"/>
          </a:p>
        </p:txBody>
      </p:sp>
      <p:sp>
        <p:nvSpPr>
          <p:cNvPr id="13" name="text"/>
          <p:cNvSpPr/>
          <p:nvPr/>
        </p:nvSpPr>
        <p:spPr>
          <a:xfrm>
            <a:off x="723900" y="31432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''.isdecimal() is also False — but because the string is empty, not because it holds letters</a:t>
            </a:r>
            <a:endParaRPr lang="en-US" sz="1100" dirty="0"/>
          </a:p>
        </p:txBody>
      </p:sp>
      <p:sp>
        <p:nvSpPr>
          <p:cNvPr id="14" name="text"/>
          <p:cNvSpPr/>
          <p:nvPr/>
        </p:nvSpPr>
        <p:spPr>
          <a:xfrm>
            <a:off x="723900" y="35814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Guarding with len(s) &gt; 0 and s.isdecimal() distinguishes 'nothing typed' from 'wrong thing typed'</a:t>
            </a:r>
            <a:endParaRPr lang="en-US" sz="1100" dirty="0"/>
          </a:p>
        </p:txBody>
      </p:sp>
      <p:sp>
        <p:nvSpPr>
          <p:cNvPr id="15" name="shape-46-13"/>
          <p:cNvSpPr/>
          <p:nvPr/>
        </p:nvSpPr>
        <p:spPr>
          <a:xfrm>
            <a:off x="552450" y="4076700"/>
            <a:ext cx="7048500" cy="628650"/>
          </a:xfrm>
          <a:prstGeom prst="rect">
            <a:avLst/>
          </a:prstGeom>
          <a:solidFill>
            <a:srgbClr val="FDF3EC"/>
          </a:solidFill>
          <a:ln/>
        </p:spPr>
      </p:sp>
      <p:sp>
        <p:nvSpPr>
          <p:cNvPr id="16" name="text"/>
          <p:cNvSpPr/>
          <p:nvPr/>
        </p:nvSpPr>
        <p:spPr>
          <a:xfrm>
            <a:off x="723900" y="4191000"/>
            <a:ext cx="672465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RESULT</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All three are handled without an exception, and the length guard lets the program give the user the accurate message rather than a generic one.</a:t>
            </a:r>
            <a:endParaRPr lang="en-US" sz="1100" dirty="0"/>
          </a:p>
        </p:txBody>
      </p:sp>
      <p:sp>
        <p:nvSpPr>
          <p:cNvPr id="17" name="shape-46-15"/>
          <p:cNvSpPr/>
          <p:nvPr/>
        </p:nvSpPr>
        <p:spPr>
          <a:xfrm>
            <a:off x="7810500" y="1543050"/>
            <a:ext cx="3829050" cy="1771650"/>
          </a:xfrm>
          <a:prstGeom prst="rect">
            <a:avLst/>
          </a:prstGeom>
          <a:solidFill>
            <a:srgbClr val="0E1726"/>
          </a:solidFill>
          <a:ln/>
        </p:spPr>
      </p:sp>
      <p:sp>
        <p:nvSpPr>
          <p:cNvPr id="18" name="text"/>
          <p:cNvSpPr/>
          <p:nvPr/>
        </p:nvSpPr>
        <p:spPr>
          <a:xfrm>
            <a:off x="7981950" y="1695450"/>
            <a:ext cx="3486150" cy="14859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&gt;&gt;&gt; '25'.isdecimal(), 'abc'.isdecimal(), ''.isdecimal()</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(True, False, False)</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&gt;&gt;&gt; s = input('Age? ')</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&gt;&gt;&gt; if len(s) &gt; 0 and s.isdecimal():</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     age = int(s)</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 else:</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     print('Please type a number')</a:t>
            </a:r>
            <a:endParaRPr lang="en-US" sz="1000" dirty="0"/>
          </a:p>
        </p:txBody>
      </p:sp>
      <p:sp>
        <p:nvSpPr>
          <p:cNvPr id="19" name="shape-46-17"/>
          <p:cNvSpPr/>
          <p:nvPr/>
        </p:nvSpPr>
        <p:spPr>
          <a:xfrm>
            <a:off x="7810500" y="3467100"/>
            <a:ext cx="3829050" cy="1733550"/>
          </a:xfrm>
          <a:prstGeom prst="rect">
            <a:avLst/>
          </a:prstGeom>
          <a:solidFill>
            <a:srgbClr val="FFFFFF"/>
          </a:solidFill>
          <a:ln w="19050">
            <a:solidFill>
              <a:srgbClr val="C2410C"/>
            </a:solidFill>
            <a:prstDash val="solid"/>
          </a:ln>
        </p:spPr>
      </p:sp>
      <p:sp>
        <p:nvSpPr>
          <p:cNvPr id="20" name="text"/>
          <p:cNvSpPr/>
          <p:nvPr/>
        </p:nvSpPr>
        <p:spPr>
          <a:xfrm>
            <a:off x="7981950" y="3600450"/>
            <a:ext cx="3486150" cy="14668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MISTAKE STUDENTS MAKE</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Students rely on isdecimal() alone to validate input and then report 'that is not a number' when the user simply pressed Enter. Both cases return False; only a length check separates them.</a:t>
            </a:r>
            <a:endParaRPr lang="en-US" sz="1100" dirty="0"/>
          </a:p>
        </p:txBody>
      </p:sp>
      <p:sp>
        <p:nvSpPr>
          <p:cNvPr id="21"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Automate the Boring Stuff with Python, 1st ed., Ch. 6, pp. 127-131   |   CO2  |  Bloom L3</a:t>
            </a:r>
            <a:endParaRPr lang="en-US" sz="9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startswith, endswith, join and split</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What it is, why it works, and what it costs.</a:t>
            </a:r>
            <a:endParaRPr lang="en-US" sz="1100" dirty="0"/>
          </a:p>
        </p:txBody>
      </p:sp>
      <p:sp>
        <p:nvSpPr>
          <p:cNvPr id="4" name="shape-47-2"/>
          <p:cNvSpPr/>
          <p:nvPr/>
        </p:nvSpPr>
        <p:spPr>
          <a:xfrm>
            <a:off x="552450" y="1266825"/>
            <a:ext cx="990600" cy="47625"/>
          </a:xfrm>
          <a:prstGeom prst="rect">
            <a:avLst/>
          </a:prstGeom>
          <a:solidFill>
            <a:srgbClr val="0F6FC6"/>
          </a:solidFill>
          <a:ln/>
        </p:spPr>
      </p:sp>
      <p:sp>
        <p:nvSpPr>
          <p:cNvPr id="5" name="shape-47-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2</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startswith, endswith, join and split</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47</a:t>
            </a:r>
            <a:endParaRPr lang="en-US" sz="900" dirty="0"/>
          </a:p>
        </p:txBody>
      </p:sp>
      <p:sp>
        <p:nvSpPr>
          <p:cNvPr id="9" name="shape-47-7"/>
          <p:cNvSpPr/>
          <p:nvPr/>
        </p:nvSpPr>
        <p:spPr>
          <a:xfrm>
            <a:off x="552450" y="1543050"/>
            <a:ext cx="7048500" cy="2914650"/>
          </a:xfrm>
          <a:prstGeom prst="rect">
            <a:avLst/>
          </a:prstGeom>
          <a:solidFill>
            <a:srgbClr val="FFFFFF"/>
          </a:solidFill>
          <a:ln w="12700">
            <a:solidFill>
              <a:srgbClr val="D7DEE8"/>
            </a:solidFill>
            <a:prstDash val="solid"/>
          </a:ln>
        </p:spPr>
      </p:sp>
      <p:sp>
        <p:nvSpPr>
          <p:cNvPr id="10" name="text"/>
          <p:cNvSpPr/>
          <p:nvPr/>
        </p:nvSpPr>
        <p:spPr>
          <a:xfrm>
            <a:off x="742950" y="1714500"/>
            <a:ext cx="6667500" cy="25908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THE MECHANISM</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startswith() and endswith() test a prefix or suffix and return a bool, which is clearer and cheaper than slicing and comparing. join() and split() are inverses that convert between a string and a list: join is called on the separator and takes the list, which reads backwards until you internalise that the separator is the thing doing the joining. split() called with no argument splits on any run of whitespace and discards empty pieces, whereas split(',') splits on that exact character and keeps empty pieces, so the two behave quite differently on messy input. The round trip is only exact when the separator is chosen consistently.</a:t>
            </a:r>
            <a:endParaRPr lang="en-US" sz="1100" dirty="0"/>
          </a:p>
        </p:txBody>
      </p:sp>
      <p:sp>
        <p:nvSpPr>
          <p:cNvPr id="11" name="shape-47-9"/>
          <p:cNvSpPr/>
          <p:nvPr/>
        </p:nvSpPr>
        <p:spPr>
          <a:xfrm>
            <a:off x="7810500" y="1543050"/>
            <a:ext cx="3829050" cy="1390650"/>
          </a:xfrm>
          <a:prstGeom prst="rect">
            <a:avLst/>
          </a:prstGeom>
          <a:solidFill>
            <a:srgbClr val="F1F5FA"/>
          </a:solidFill>
          <a:ln/>
        </p:spPr>
      </p:sp>
      <p:sp>
        <p:nvSpPr>
          <p:cNvPr id="12" name="text"/>
          <p:cNvSpPr/>
          <p:nvPr/>
        </p:nvSpPr>
        <p:spPr>
          <a:xfrm>
            <a:off x="8001000" y="1695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KEY TERMS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startswith()</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endswith()</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join()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split()</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separator</a:t>
            </a:r>
            <a:endParaRPr lang="en-US" sz="1100" dirty="0"/>
          </a:p>
        </p:txBody>
      </p:sp>
      <p:sp>
        <p:nvSpPr>
          <p:cNvPr id="13" name="shape-47-11"/>
          <p:cNvSpPr/>
          <p:nvPr/>
        </p:nvSpPr>
        <p:spPr>
          <a:xfrm>
            <a:off x="7810500" y="3067050"/>
            <a:ext cx="3829050" cy="1390650"/>
          </a:xfrm>
          <a:prstGeom prst="rect">
            <a:avLst/>
          </a:prstGeom>
          <a:solidFill>
            <a:srgbClr val="FDF3EC"/>
          </a:solidFill>
          <a:ln/>
        </p:spPr>
      </p:sp>
      <p:sp>
        <p:nvSpPr>
          <p:cNvPr id="14" name="text"/>
          <p:cNvSpPr/>
          <p:nvPr/>
        </p:nvSpPr>
        <p:spPr>
          <a:xfrm>
            <a:off x="8001000" y="3219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TAKEAWAY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join() is called on the separator, not the list — ', '.join(items), never items.join(', ').</a:t>
            </a:r>
            <a:endParaRPr lang="en-US" sz="1100" dirty="0"/>
          </a:p>
        </p:txBody>
      </p:sp>
      <p:sp>
        <p:nvSpPr>
          <p:cNvPr id="15" name="shape-47-13"/>
          <p:cNvSpPr/>
          <p:nvPr/>
        </p:nvSpPr>
        <p:spPr>
          <a:xfrm>
            <a:off x="552450" y="4629150"/>
            <a:ext cx="11087100" cy="609600"/>
          </a:xfrm>
          <a:prstGeom prst="rect">
            <a:avLst/>
          </a:prstGeom>
          <a:solidFill>
            <a:srgbClr val="F1F5FA"/>
          </a:solidFill>
          <a:ln/>
        </p:spPr>
      </p:sp>
      <p:sp>
        <p:nvSpPr>
          <p:cNvPr id="16" name="text"/>
          <p:cNvSpPr/>
          <p:nvPr/>
        </p:nvSpPr>
        <p:spPr>
          <a:xfrm>
            <a:off x="742950" y="4724400"/>
            <a:ext cx="742950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5A6478"/>
                </a:solidFill>
                <a:latin typeface="Segoe UI" pitchFamily="34" charset="0"/>
                <a:ea typeface="Segoe UI" pitchFamily="34" charset="-122"/>
                <a:cs typeface="Segoe UI" pitchFamily="34" charset="-120"/>
              </a:rPr>
              <a:t>DIAGRAM FOR PHASE 2</a:t>
            </a:r>
            <a:endParaRPr lang="en-US" sz="1100" dirty="0"/>
          </a:p>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A cycle diagram. Left node is a list of three tokens ['cats','rats','bats']. An arrow to the right labelled "', '.join(list)" produces a single string node 'cats, rats, bats', with the separator glyph highligh…</a:t>
            </a:r>
            <a:endParaRPr lang="en-US" sz="1100" dirty="0"/>
          </a:p>
        </p:txBody>
      </p:sp>
      <p:sp>
        <p:nvSpPr>
          <p:cNvPr id="17" name="text"/>
          <p:cNvSpPr/>
          <p:nvPr/>
        </p:nvSpPr>
        <p:spPr>
          <a:xfrm>
            <a:off x="7810500" y="4705350"/>
            <a:ext cx="3657600" cy="2667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Automate the Boring Stuff with Python, 1st ed., Ch. 6, pp. 131-133</a:t>
            </a:r>
            <a:endParaRPr lang="en-US" sz="900" dirty="0"/>
          </a:p>
        </p:txBody>
      </p:sp>
      <p:sp>
        <p:nvSpPr>
          <p:cNvPr id="18" name="text"/>
          <p:cNvSpPr/>
          <p:nvPr/>
        </p:nvSpPr>
        <p:spPr>
          <a:xfrm>
            <a:off x="7810500" y="4972050"/>
            <a:ext cx="3657600" cy="20955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CO2  |  Bloom L3  |  visual id: join-split-roundtrip</a:t>
            </a:r>
            <a:endParaRPr lang="en-US" sz="9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startswith, endswith, join and split - how it works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The procedure in order, and what each pass costs you.</a:t>
            </a:r>
            <a:endParaRPr lang="en-US" sz="1100" dirty="0"/>
          </a:p>
        </p:txBody>
      </p:sp>
      <p:sp>
        <p:nvSpPr>
          <p:cNvPr id="4" name="shape-48-2"/>
          <p:cNvSpPr/>
          <p:nvPr/>
        </p:nvSpPr>
        <p:spPr>
          <a:xfrm>
            <a:off x="552450" y="1266825"/>
            <a:ext cx="990600" cy="47625"/>
          </a:xfrm>
          <a:prstGeom prst="rect">
            <a:avLst/>
          </a:prstGeom>
          <a:solidFill>
            <a:srgbClr val="0F6FC6"/>
          </a:solidFill>
          <a:ln/>
        </p:spPr>
      </p:sp>
      <p:sp>
        <p:nvSpPr>
          <p:cNvPr id="5" name="shape-48-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2</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startswith, endswith, join and split</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48</a:t>
            </a:r>
            <a:endParaRPr lang="en-US" sz="900" dirty="0"/>
          </a:p>
        </p:txBody>
      </p:sp>
      <p:sp>
        <p:nvSpPr>
          <p:cNvPr id="9" name="shape-48-7"/>
          <p:cNvSpPr/>
          <p:nvPr/>
        </p:nvSpPr>
        <p:spPr>
          <a:xfrm>
            <a:off x="552450" y="1600200"/>
            <a:ext cx="7239000" cy="476250"/>
          </a:xfrm>
          <a:prstGeom prst="rect">
            <a:avLst/>
          </a:prstGeom>
          <a:solidFill>
            <a:srgbClr val="F1F5FA"/>
          </a:solidFill>
          <a:ln w="12700">
            <a:solidFill>
              <a:srgbClr val="D7DEE8"/>
            </a:solidFill>
            <a:prstDash val="solid"/>
          </a:ln>
        </p:spPr>
      </p:sp>
      <p:sp>
        <p:nvSpPr>
          <p:cNvPr id="10" name="text"/>
          <p:cNvSpPr/>
          <p:nvPr/>
        </p:nvSpPr>
        <p:spPr>
          <a:xfrm>
            <a:off x="723900" y="17145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Use startswith or endswith for prefix and suffix tests</a:t>
            </a:r>
            <a:endParaRPr lang="en-US" sz="1100" dirty="0"/>
          </a:p>
        </p:txBody>
      </p:sp>
      <p:sp>
        <p:nvSpPr>
          <p:cNvPr id="11" name="shape-48-9"/>
          <p:cNvSpPr/>
          <p:nvPr/>
        </p:nvSpPr>
        <p:spPr>
          <a:xfrm>
            <a:off x="552450" y="2152650"/>
            <a:ext cx="7239000" cy="476250"/>
          </a:xfrm>
          <a:prstGeom prst="rect">
            <a:avLst/>
          </a:prstGeom>
          <a:solidFill>
            <a:srgbClr val="FFFFFF"/>
          </a:solidFill>
          <a:ln w="12700">
            <a:solidFill>
              <a:srgbClr val="D7DEE8"/>
            </a:solidFill>
            <a:prstDash val="solid"/>
          </a:ln>
        </p:spPr>
      </p:sp>
      <p:sp>
        <p:nvSpPr>
          <p:cNvPr id="12" name="text"/>
          <p:cNvSpPr/>
          <p:nvPr/>
        </p:nvSpPr>
        <p:spPr>
          <a:xfrm>
            <a:off x="723900" y="22669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Call join on the separator string, passing the list</a:t>
            </a:r>
            <a:endParaRPr lang="en-US" sz="1100" dirty="0"/>
          </a:p>
        </p:txBody>
      </p:sp>
      <p:sp>
        <p:nvSpPr>
          <p:cNvPr id="13" name="shape-48-11"/>
          <p:cNvSpPr/>
          <p:nvPr/>
        </p:nvSpPr>
        <p:spPr>
          <a:xfrm>
            <a:off x="552450" y="2705100"/>
            <a:ext cx="7239000" cy="476250"/>
          </a:xfrm>
          <a:prstGeom prst="rect">
            <a:avLst/>
          </a:prstGeom>
          <a:solidFill>
            <a:srgbClr val="F1F5FA"/>
          </a:solidFill>
          <a:ln w="12700">
            <a:solidFill>
              <a:srgbClr val="D7DEE8"/>
            </a:solidFill>
            <a:prstDash val="solid"/>
          </a:ln>
        </p:spPr>
      </p:sp>
      <p:sp>
        <p:nvSpPr>
          <p:cNvPr id="14" name="text"/>
          <p:cNvSpPr/>
          <p:nvPr/>
        </p:nvSpPr>
        <p:spPr>
          <a:xfrm>
            <a:off x="723900" y="28194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Ensure every element is a string before joining</a:t>
            </a:r>
            <a:endParaRPr lang="en-US" sz="1100" dirty="0"/>
          </a:p>
        </p:txBody>
      </p:sp>
      <p:sp>
        <p:nvSpPr>
          <p:cNvPr id="15" name="shape-48-13"/>
          <p:cNvSpPr/>
          <p:nvPr/>
        </p:nvSpPr>
        <p:spPr>
          <a:xfrm>
            <a:off x="552450" y="3257550"/>
            <a:ext cx="7239000" cy="476250"/>
          </a:xfrm>
          <a:prstGeom prst="rect">
            <a:avLst/>
          </a:prstGeom>
          <a:solidFill>
            <a:srgbClr val="FFFFFF"/>
          </a:solidFill>
          <a:ln w="12700">
            <a:solidFill>
              <a:srgbClr val="D7DEE8"/>
            </a:solidFill>
            <a:prstDash val="solid"/>
          </a:ln>
        </p:spPr>
      </p:sp>
      <p:sp>
        <p:nvSpPr>
          <p:cNvPr id="16" name="text"/>
          <p:cNvSpPr/>
          <p:nvPr/>
        </p:nvSpPr>
        <p:spPr>
          <a:xfrm>
            <a:off x="723900" y="33718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Use split() with no argument for whitespace-separated text</a:t>
            </a:r>
            <a:endParaRPr lang="en-US" sz="1100" dirty="0"/>
          </a:p>
        </p:txBody>
      </p:sp>
      <p:sp>
        <p:nvSpPr>
          <p:cNvPr id="17" name="shape-48-15"/>
          <p:cNvSpPr/>
          <p:nvPr/>
        </p:nvSpPr>
        <p:spPr>
          <a:xfrm>
            <a:off x="552450" y="3810000"/>
            <a:ext cx="7239000" cy="476250"/>
          </a:xfrm>
          <a:prstGeom prst="rect">
            <a:avLst/>
          </a:prstGeom>
          <a:solidFill>
            <a:srgbClr val="F1F5FA"/>
          </a:solidFill>
          <a:ln w="12700">
            <a:solidFill>
              <a:srgbClr val="D7DEE8"/>
            </a:solidFill>
            <a:prstDash val="solid"/>
          </a:ln>
        </p:spPr>
      </p:sp>
      <p:sp>
        <p:nvSpPr>
          <p:cNvPr id="18" name="text"/>
          <p:cNvSpPr/>
          <p:nvPr/>
        </p:nvSpPr>
        <p:spPr>
          <a:xfrm>
            <a:off x="723900" y="39243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Use split(sep) when the separator is a specific character</a:t>
            </a:r>
            <a:endParaRPr lang="en-US" sz="1100" dirty="0"/>
          </a:p>
        </p:txBody>
      </p:sp>
      <p:sp>
        <p:nvSpPr>
          <p:cNvPr id="19" name="shape-48-17"/>
          <p:cNvSpPr/>
          <p:nvPr/>
        </p:nvSpPr>
        <p:spPr>
          <a:xfrm>
            <a:off x="552450" y="4362450"/>
            <a:ext cx="7239000" cy="476250"/>
          </a:xfrm>
          <a:prstGeom prst="rect">
            <a:avLst/>
          </a:prstGeom>
          <a:solidFill>
            <a:srgbClr val="FFFFFF"/>
          </a:solidFill>
          <a:ln w="12700">
            <a:solidFill>
              <a:srgbClr val="D7DEE8"/>
            </a:solidFill>
            <a:prstDash val="solid"/>
          </a:ln>
        </p:spPr>
      </p:sp>
      <p:sp>
        <p:nvSpPr>
          <p:cNvPr id="20" name="text"/>
          <p:cNvSpPr/>
          <p:nvPr/>
        </p:nvSpPr>
        <p:spPr>
          <a:xfrm>
            <a:off x="723900" y="44767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6.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Check whether empty pieces matter before choosing between them</a:t>
            </a:r>
            <a:endParaRPr lang="en-US" sz="1100" dirty="0"/>
          </a:p>
        </p:txBody>
      </p:sp>
      <p:sp>
        <p:nvSpPr>
          <p:cNvPr id="21" name="shape-48-19"/>
          <p:cNvSpPr/>
          <p:nvPr/>
        </p:nvSpPr>
        <p:spPr>
          <a:xfrm>
            <a:off x="8020050" y="1543050"/>
            <a:ext cx="3619500" cy="2247900"/>
          </a:xfrm>
          <a:prstGeom prst="rect">
            <a:avLst/>
          </a:prstGeom>
          <a:solidFill>
            <a:srgbClr val="F1F5FA"/>
          </a:solidFill>
          <a:ln/>
        </p:spPr>
      </p:sp>
      <p:sp>
        <p:nvSpPr>
          <p:cNvPr id="22" name="text"/>
          <p:cNvSpPr/>
          <p:nvPr/>
        </p:nvSpPr>
        <p:spPr>
          <a:xfrm>
            <a:off x="8210550" y="1695450"/>
            <a:ext cx="3257550" cy="19621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COST AND BEHAVIOUR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Best: O(1) for a startswith test that fails on the first character</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Typical: O(n) for join and split over n characters</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Worst: O(n); join is the linear-time way to build a string from parts</a:t>
            </a:r>
            <a:endParaRPr lang="en-US" sz="1100" dirty="0"/>
          </a:p>
        </p:txBody>
      </p:sp>
      <p:sp>
        <p:nvSpPr>
          <p:cNvPr id="23" name="shape-48-21"/>
          <p:cNvSpPr/>
          <p:nvPr/>
        </p:nvSpPr>
        <p:spPr>
          <a:xfrm>
            <a:off x="8020050" y="3943350"/>
            <a:ext cx="3619500" cy="1257300"/>
          </a:xfrm>
          <a:prstGeom prst="rect">
            <a:avLst/>
          </a:prstGeom>
          <a:solidFill>
            <a:srgbClr val="FDF3EC"/>
          </a:solidFill>
          <a:ln/>
        </p:spPr>
      </p:sp>
      <p:sp>
        <p:nvSpPr>
          <p:cNvPr id="24" name="text"/>
          <p:cNvSpPr/>
          <p:nvPr/>
        </p:nvSpPr>
        <p:spPr>
          <a:xfrm>
            <a:off x="8210550" y="4076700"/>
            <a:ext cx="3257550" cy="10096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WHAT THAT MEANS</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''.join(parts) is the standard fix for the O(n^2) repeated-concatenation trap from Module 1.</a:t>
            </a:r>
            <a:endParaRPr lang="en-US" sz="1100" dirty="0"/>
          </a:p>
        </p:txBody>
      </p:sp>
      <p:sp>
        <p:nvSpPr>
          <p:cNvPr id="25"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Automate the Boring Stuff with Python, 1st ed., Ch. 6, pp. 131-133   |   CO2  |  Bloom L3</a:t>
            </a:r>
            <a:endParaRPr lang="en-US" sz="9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startswith, endswith, join and split - worked example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concrete case, carried all the way to a stated number.</a:t>
            </a:r>
            <a:endParaRPr lang="en-US" sz="1100" dirty="0"/>
          </a:p>
        </p:txBody>
      </p:sp>
      <p:sp>
        <p:nvSpPr>
          <p:cNvPr id="4" name="shape-49-2"/>
          <p:cNvSpPr/>
          <p:nvPr/>
        </p:nvSpPr>
        <p:spPr>
          <a:xfrm>
            <a:off x="552450" y="1266825"/>
            <a:ext cx="990600" cy="47625"/>
          </a:xfrm>
          <a:prstGeom prst="rect">
            <a:avLst/>
          </a:prstGeom>
          <a:solidFill>
            <a:srgbClr val="0F6FC6"/>
          </a:solidFill>
          <a:ln/>
        </p:spPr>
      </p:sp>
      <p:sp>
        <p:nvSpPr>
          <p:cNvPr id="5" name="shape-49-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2</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startswith, endswith, join and split</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49</a:t>
            </a:r>
            <a:endParaRPr lang="en-US" sz="900" dirty="0"/>
          </a:p>
        </p:txBody>
      </p:sp>
      <p:sp>
        <p:nvSpPr>
          <p:cNvPr id="9" name="shape-49-7"/>
          <p:cNvSpPr/>
          <p:nvPr/>
        </p:nvSpPr>
        <p:spPr>
          <a:xfrm>
            <a:off x="552450" y="1543050"/>
            <a:ext cx="7048500" cy="590550"/>
          </a:xfrm>
          <a:prstGeom prst="rect">
            <a:avLst/>
          </a:prstGeom>
          <a:solidFill>
            <a:srgbClr val="F1F5FA"/>
          </a:solidFill>
          <a:ln/>
        </p:spPr>
      </p:sp>
      <p:sp>
        <p:nvSpPr>
          <p:cNvPr id="10" name="text"/>
          <p:cNvSpPr/>
          <p:nvPr/>
        </p:nvSpPr>
        <p:spPr>
          <a:xfrm>
            <a:off x="723900" y="1657350"/>
            <a:ext cx="6724650" cy="4191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GIVEN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Join ['cats','rats','bats'] with ', ' and split the result back; then split '  a  b  ' two ways.</a:t>
            </a:r>
            <a:endParaRPr lang="en-US" sz="1100" dirty="0"/>
          </a:p>
        </p:txBody>
      </p:sp>
      <p:sp>
        <p:nvSpPr>
          <p:cNvPr id="11" name="text"/>
          <p:cNvSpPr/>
          <p:nvPr/>
        </p:nvSpPr>
        <p:spPr>
          <a:xfrm>
            <a:off x="723900" y="22669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'.join(['cats','rats','bats']) gives 'cats, rats, bats'</a:t>
            </a:r>
            <a:endParaRPr lang="en-US" sz="1100" dirty="0"/>
          </a:p>
        </p:txBody>
      </p:sp>
      <p:sp>
        <p:nvSpPr>
          <p:cNvPr id="12" name="text"/>
          <p:cNvSpPr/>
          <p:nvPr/>
        </p:nvSpPr>
        <p:spPr>
          <a:xfrm>
            <a:off x="723900" y="27051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'cats, rats, bats'.split(', ') gives back ['cats','rats','bats'] — an exact round trip</a:t>
            </a:r>
            <a:endParaRPr lang="en-US" sz="1100" dirty="0"/>
          </a:p>
        </p:txBody>
      </p:sp>
      <p:sp>
        <p:nvSpPr>
          <p:cNvPr id="13" name="text"/>
          <p:cNvSpPr/>
          <p:nvPr/>
        </p:nvSpPr>
        <p:spPr>
          <a:xfrm>
            <a:off x="723900" y="31432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a  b  '.split() gives ['a','b'], discarding all the whitespace runs</a:t>
            </a:r>
            <a:endParaRPr lang="en-US" sz="1100" dirty="0"/>
          </a:p>
        </p:txBody>
      </p:sp>
      <p:sp>
        <p:nvSpPr>
          <p:cNvPr id="14" name="text"/>
          <p:cNvSpPr/>
          <p:nvPr/>
        </p:nvSpPr>
        <p:spPr>
          <a:xfrm>
            <a:off x="723900" y="35814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a  b  '.split(' ') gives ['', '', 'a', '', 'b', '', ''] — seven pieces, five of them empty</a:t>
            </a:r>
            <a:endParaRPr lang="en-US" sz="1100" dirty="0"/>
          </a:p>
        </p:txBody>
      </p:sp>
      <p:sp>
        <p:nvSpPr>
          <p:cNvPr id="15" name="shape-49-13"/>
          <p:cNvSpPr/>
          <p:nvPr/>
        </p:nvSpPr>
        <p:spPr>
          <a:xfrm>
            <a:off x="552450" y="4076700"/>
            <a:ext cx="7048500" cy="628650"/>
          </a:xfrm>
          <a:prstGeom prst="rect">
            <a:avLst/>
          </a:prstGeom>
          <a:solidFill>
            <a:srgbClr val="FDF3EC"/>
          </a:solidFill>
          <a:ln/>
        </p:spPr>
      </p:sp>
      <p:sp>
        <p:nvSpPr>
          <p:cNvPr id="16" name="text"/>
          <p:cNvSpPr/>
          <p:nvPr/>
        </p:nvSpPr>
        <p:spPr>
          <a:xfrm>
            <a:off x="723900" y="4191000"/>
            <a:ext cx="672465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RESULT</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The round trip is exact with a consistent separator, but the two split forms differ sharply on padded input, which is the case real data always supplies.</a:t>
            </a:r>
            <a:endParaRPr lang="en-US" sz="1100" dirty="0"/>
          </a:p>
        </p:txBody>
      </p:sp>
      <p:sp>
        <p:nvSpPr>
          <p:cNvPr id="17" name="shape-49-15"/>
          <p:cNvSpPr/>
          <p:nvPr/>
        </p:nvSpPr>
        <p:spPr>
          <a:xfrm>
            <a:off x="7810500" y="1543050"/>
            <a:ext cx="3829050" cy="1771650"/>
          </a:xfrm>
          <a:prstGeom prst="rect">
            <a:avLst/>
          </a:prstGeom>
          <a:solidFill>
            <a:srgbClr val="0E1726"/>
          </a:solidFill>
          <a:ln/>
        </p:spPr>
      </p:sp>
      <p:sp>
        <p:nvSpPr>
          <p:cNvPr id="18" name="text"/>
          <p:cNvSpPr/>
          <p:nvPr/>
        </p:nvSpPr>
        <p:spPr>
          <a:xfrm>
            <a:off x="7981950" y="1695450"/>
            <a:ext cx="3486150" cy="14859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&gt;&gt;&gt; ', '.join(['cats', 'rats', 'bats'])</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'cats, rats, bats'</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&gt;&gt;&gt; 'cats, rats, bats'.split(', ')</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['cats', 'rats', 'bats']</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&gt;&gt;&gt; '  a  b  '.split()</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['a', 'b']</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&gt;&gt;&gt; '  a  b  '.split(' ')</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 '', 'a', '', 'b', '', '']</a:t>
            </a:r>
            <a:endParaRPr lang="en-US" sz="1000" dirty="0"/>
          </a:p>
        </p:txBody>
      </p:sp>
      <p:sp>
        <p:nvSpPr>
          <p:cNvPr id="19" name="shape-49-17"/>
          <p:cNvSpPr/>
          <p:nvPr/>
        </p:nvSpPr>
        <p:spPr>
          <a:xfrm>
            <a:off x="7810500" y="3467100"/>
            <a:ext cx="3829050" cy="1733550"/>
          </a:xfrm>
          <a:prstGeom prst="rect">
            <a:avLst/>
          </a:prstGeom>
          <a:solidFill>
            <a:srgbClr val="FFFFFF"/>
          </a:solidFill>
          <a:ln w="19050">
            <a:solidFill>
              <a:srgbClr val="C2410C"/>
            </a:solidFill>
            <a:prstDash val="solid"/>
          </a:ln>
        </p:spPr>
      </p:sp>
      <p:sp>
        <p:nvSpPr>
          <p:cNvPr id="20" name="text"/>
          <p:cNvSpPr/>
          <p:nvPr/>
        </p:nvSpPr>
        <p:spPr>
          <a:xfrm>
            <a:off x="7981950" y="3600450"/>
            <a:ext cx="3486150" cy="14668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MISTAKE STUDENTS MAKE</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Students write items.join(', ') and get an AttributeError, because a list has no join method. The separator is the string doing the joining, so it must be ', '.join(items).</a:t>
            </a:r>
            <a:endParaRPr lang="en-US" sz="1100" dirty="0"/>
          </a:p>
        </p:txBody>
      </p:sp>
      <p:sp>
        <p:nvSpPr>
          <p:cNvPr id="21"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Automate the Boring Stuff with Python, 1st ed., Ch. 6, pp. 131-133   |   CO2  |  Bloom L3</a:t>
            </a:r>
            <a:endParaRPr lang="en-US" sz="9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Justifying and stripping text, and the clipboard with pyperclip</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What it is, why it works, and what it costs.</a:t>
            </a:r>
            <a:endParaRPr lang="en-US" sz="1100" dirty="0"/>
          </a:p>
        </p:txBody>
      </p:sp>
      <p:sp>
        <p:nvSpPr>
          <p:cNvPr id="4" name="shape-50-2"/>
          <p:cNvSpPr/>
          <p:nvPr/>
        </p:nvSpPr>
        <p:spPr>
          <a:xfrm>
            <a:off x="552450" y="1266825"/>
            <a:ext cx="990600" cy="47625"/>
          </a:xfrm>
          <a:prstGeom prst="rect">
            <a:avLst/>
          </a:prstGeom>
          <a:solidFill>
            <a:srgbClr val="0F6FC6"/>
          </a:solidFill>
          <a:ln/>
        </p:spPr>
      </p:sp>
      <p:sp>
        <p:nvSpPr>
          <p:cNvPr id="5" name="shape-50-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2</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Justifying and stripping text, and th…</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50</a:t>
            </a:r>
            <a:endParaRPr lang="en-US" sz="900" dirty="0"/>
          </a:p>
        </p:txBody>
      </p:sp>
      <p:sp>
        <p:nvSpPr>
          <p:cNvPr id="9" name="shape-50-7"/>
          <p:cNvSpPr/>
          <p:nvPr/>
        </p:nvSpPr>
        <p:spPr>
          <a:xfrm>
            <a:off x="552450" y="1543050"/>
            <a:ext cx="7048500" cy="2914650"/>
          </a:xfrm>
          <a:prstGeom prst="rect">
            <a:avLst/>
          </a:prstGeom>
          <a:solidFill>
            <a:srgbClr val="FFFFFF"/>
          </a:solidFill>
          <a:ln w="12700">
            <a:solidFill>
              <a:srgbClr val="D7DEE8"/>
            </a:solidFill>
            <a:prstDash val="solid"/>
          </a:ln>
        </p:spPr>
      </p:sp>
      <p:sp>
        <p:nvSpPr>
          <p:cNvPr id="10" name="text"/>
          <p:cNvSpPr/>
          <p:nvPr/>
        </p:nvSpPr>
        <p:spPr>
          <a:xfrm>
            <a:off x="742950" y="1714500"/>
            <a:ext cx="6667500" cy="25908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THE MECHANISM</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rjust(), ljust() and center() pad a string to a given width with a fill character, which is how plain-text tables are aligned without a formatting library. strip() removes whitespace from both ends of a string, with lstrip() and rstrip() doing one end each; passing a string argument strips any of those characters rather than the whole string as a unit, which surprises people who expect it to remove a prefix. None of these methods modifies the original, so the result must be assigned. pyperclip is a third-party module that reads and writes the system clipboard with copy() and paste(), turning a script into something that slots into whatever the user is already doing.</a:t>
            </a:r>
            <a:endParaRPr lang="en-US" sz="1100" dirty="0"/>
          </a:p>
        </p:txBody>
      </p:sp>
      <p:sp>
        <p:nvSpPr>
          <p:cNvPr id="11" name="shape-50-9"/>
          <p:cNvSpPr/>
          <p:nvPr/>
        </p:nvSpPr>
        <p:spPr>
          <a:xfrm>
            <a:off x="7810500" y="1543050"/>
            <a:ext cx="3829050" cy="1390650"/>
          </a:xfrm>
          <a:prstGeom prst="rect">
            <a:avLst/>
          </a:prstGeom>
          <a:solidFill>
            <a:srgbClr val="F1F5FA"/>
          </a:solidFill>
          <a:ln/>
        </p:spPr>
      </p:sp>
      <p:sp>
        <p:nvSpPr>
          <p:cNvPr id="12" name="text"/>
          <p:cNvSpPr/>
          <p:nvPr/>
        </p:nvSpPr>
        <p:spPr>
          <a:xfrm>
            <a:off x="8001000" y="1695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KEY TERMS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rjust()</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ljust()</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center()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strip()</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lstrip()</a:t>
            </a:r>
            <a:endParaRPr lang="en-US" sz="1100" dirty="0"/>
          </a:p>
        </p:txBody>
      </p:sp>
      <p:sp>
        <p:nvSpPr>
          <p:cNvPr id="13" name="shape-50-11"/>
          <p:cNvSpPr/>
          <p:nvPr/>
        </p:nvSpPr>
        <p:spPr>
          <a:xfrm>
            <a:off x="7810500" y="3067050"/>
            <a:ext cx="3829050" cy="1390650"/>
          </a:xfrm>
          <a:prstGeom prst="rect">
            <a:avLst/>
          </a:prstGeom>
          <a:solidFill>
            <a:srgbClr val="FDF3EC"/>
          </a:solidFill>
          <a:ln/>
        </p:spPr>
      </p:sp>
      <p:sp>
        <p:nvSpPr>
          <p:cNvPr id="14" name="text"/>
          <p:cNvSpPr/>
          <p:nvPr/>
        </p:nvSpPr>
        <p:spPr>
          <a:xfrm>
            <a:off x="8001000" y="3219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TAKEAWAY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strip('abc') removes any of a, b or c from the ends — it is a character set, not a prefix.</a:t>
            </a:r>
            <a:endParaRPr lang="en-US" sz="1100" dirty="0"/>
          </a:p>
        </p:txBody>
      </p:sp>
      <p:sp>
        <p:nvSpPr>
          <p:cNvPr id="15" name="shape-50-13"/>
          <p:cNvSpPr/>
          <p:nvPr/>
        </p:nvSpPr>
        <p:spPr>
          <a:xfrm>
            <a:off x="552450" y="4629150"/>
            <a:ext cx="11087100" cy="609600"/>
          </a:xfrm>
          <a:prstGeom prst="rect">
            <a:avLst/>
          </a:prstGeom>
          <a:solidFill>
            <a:srgbClr val="F1F5FA"/>
          </a:solidFill>
          <a:ln/>
        </p:spPr>
      </p:sp>
      <p:sp>
        <p:nvSpPr>
          <p:cNvPr id="16" name="text"/>
          <p:cNvSpPr/>
          <p:nvPr/>
        </p:nvSpPr>
        <p:spPr>
          <a:xfrm>
            <a:off x="742950" y="4724400"/>
            <a:ext cx="742950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5A6478"/>
                </a:solidFill>
                <a:latin typeface="Segoe UI" pitchFamily="34" charset="0"/>
                <a:ea typeface="Segoe UI" pitchFamily="34" charset="-122"/>
                <a:cs typeface="Segoe UI" pitchFamily="34" charset="-120"/>
              </a:rPr>
              <a:t>DIAGRAM FOR PHASE 2</a:t>
            </a:r>
            <a:endParaRPr lang="en-US" sz="1100" dirty="0"/>
          </a:p>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Three stacked demonstration rows. Row 1 'padding': the word 'Hello' shown three times inside a 12-character ruler, once pushed right by rjust, once left by ljust, once centred, with the fill characters drawn a…</a:t>
            </a:r>
            <a:endParaRPr lang="en-US" sz="1100" dirty="0"/>
          </a:p>
        </p:txBody>
      </p:sp>
      <p:sp>
        <p:nvSpPr>
          <p:cNvPr id="17" name="text"/>
          <p:cNvSpPr/>
          <p:nvPr/>
        </p:nvSpPr>
        <p:spPr>
          <a:xfrm>
            <a:off x="7810500" y="4705350"/>
            <a:ext cx="3657600" cy="2667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Automate the Boring Stuff with Python, 1st ed., Ch. 6, pp. 133-142</a:t>
            </a:r>
            <a:endParaRPr lang="en-US" sz="900" dirty="0"/>
          </a:p>
        </p:txBody>
      </p:sp>
      <p:sp>
        <p:nvSpPr>
          <p:cNvPr id="18" name="text"/>
          <p:cNvSpPr/>
          <p:nvPr/>
        </p:nvSpPr>
        <p:spPr>
          <a:xfrm>
            <a:off x="7810500" y="4972050"/>
            <a:ext cx="3657600" cy="20955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CO2  |  Bloom L4  |  visual id: pad-strip-clipboard</a:t>
            </a:r>
            <a:endParaRPr lang="en-US" sz="9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Justifying and stripping text, and the clipboard with p… - how it works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The procedure in order, and what each pass costs you.</a:t>
            </a:r>
            <a:endParaRPr lang="en-US" sz="1100" dirty="0"/>
          </a:p>
        </p:txBody>
      </p:sp>
      <p:sp>
        <p:nvSpPr>
          <p:cNvPr id="4" name="shape-51-2"/>
          <p:cNvSpPr/>
          <p:nvPr/>
        </p:nvSpPr>
        <p:spPr>
          <a:xfrm>
            <a:off x="552450" y="1266825"/>
            <a:ext cx="990600" cy="47625"/>
          </a:xfrm>
          <a:prstGeom prst="rect">
            <a:avLst/>
          </a:prstGeom>
          <a:solidFill>
            <a:srgbClr val="0F6FC6"/>
          </a:solidFill>
          <a:ln/>
        </p:spPr>
      </p:sp>
      <p:sp>
        <p:nvSpPr>
          <p:cNvPr id="5" name="shape-51-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2</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Justifying and stripping text, and th…</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51</a:t>
            </a:r>
            <a:endParaRPr lang="en-US" sz="900" dirty="0"/>
          </a:p>
        </p:txBody>
      </p:sp>
      <p:sp>
        <p:nvSpPr>
          <p:cNvPr id="9" name="shape-51-7"/>
          <p:cNvSpPr/>
          <p:nvPr/>
        </p:nvSpPr>
        <p:spPr>
          <a:xfrm>
            <a:off x="552450" y="1600200"/>
            <a:ext cx="7239000" cy="476250"/>
          </a:xfrm>
          <a:prstGeom prst="rect">
            <a:avLst/>
          </a:prstGeom>
          <a:solidFill>
            <a:srgbClr val="F1F5FA"/>
          </a:solidFill>
          <a:ln w="12700">
            <a:solidFill>
              <a:srgbClr val="D7DEE8"/>
            </a:solidFill>
            <a:prstDash val="solid"/>
          </a:ln>
        </p:spPr>
      </p:sp>
      <p:sp>
        <p:nvSpPr>
          <p:cNvPr id="10" name="text"/>
          <p:cNvSpPr/>
          <p:nvPr/>
        </p:nvSpPr>
        <p:spPr>
          <a:xfrm>
            <a:off x="723900" y="17145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Choose a column width and pad with rjust, ljust or center</a:t>
            </a:r>
            <a:endParaRPr lang="en-US" sz="1100" dirty="0"/>
          </a:p>
        </p:txBody>
      </p:sp>
      <p:sp>
        <p:nvSpPr>
          <p:cNvPr id="11" name="shape-51-9"/>
          <p:cNvSpPr/>
          <p:nvPr/>
        </p:nvSpPr>
        <p:spPr>
          <a:xfrm>
            <a:off x="552450" y="2152650"/>
            <a:ext cx="7239000" cy="476250"/>
          </a:xfrm>
          <a:prstGeom prst="rect">
            <a:avLst/>
          </a:prstGeom>
          <a:solidFill>
            <a:srgbClr val="FFFFFF"/>
          </a:solidFill>
          <a:ln w="12700">
            <a:solidFill>
              <a:srgbClr val="D7DEE8"/>
            </a:solidFill>
            <a:prstDash val="solid"/>
          </a:ln>
        </p:spPr>
      </p:sp>
      <p:sp>
        <p:nvSpPr>
          <p:cNvPr id="12" name="text"/>
          <p:cNvSpPr/>
          <p:nvPr/>
        </p:nvSpPr>
        <p:spPr>
          <a:xfrm>
            <a:off x="723900" y="22669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Pass a fill character when spaces are not wanted</a:t>
            </a:r>
            <a:endParaRPr lang="en-US" sz="1100" dirty="0"/>
          </a:p>
        </p:txBody>
      </p:sp>
      <p:sp>
        <p:nvSpPr>
          <p:cNvPr id="13" name="shape-51-11"/>
          <p:cNvSpPr/>
          <p:nvPr/>
        </p:nvSpPr>
        <p:spPr>
          <a:xfrm>
            <a:off x="552450" y="2705100"/>
            <a:ext cx="7239000" cy="476250"/>
          </a:xfrm>
          <a:prstGeom prst="rect">
            <a:avLst/>
          </a:prstGeom>
          <a:solidFill>
            <a:srgbClr val="F1F5FA"/>
          </a:solidFill>
          <a:ln w="12700">
            <a:solidFill>
              <a:srgbClr val="D7DEE8"/>
            </a:solidFill>
            <a:prstDash val="solid"/>
          </a:ln>
        </p:spPr>
      </p:sp>
      <p:sp>
        <p:nvSpPr>
          <p:cNvPr id="14" name="text"/>
          <p:cNvSpPr/>
          <p:nvPr/>
        </p:nvSpPr>
        <p:spPr>
          <a:xfrm>
            <a:off x="723900" y="28194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Use strip() to clean whitespace from user input</a:t>
            </a:r>
            <a:endParaRPr lang="en-US" sz="1100" dirty="0"/>
          </a:p>
        </p:txBody>
      </p:sp>
      <p:sp>
        <p:nvSpPr>
          <p:cNvPr id="15" name="shape-51-13"/>
          <p:cNvSpPr/>
          <p:nvPr/>
        </p:nvSpPr>
        <p:spPr>
          <a:xfrm>
            <a:off x="552450" y="3257550"/>
            <a:ext cx="7239000" cy="476250"/>
          </a:xfrm>
          <a:prstGeom prst="rect">
            <a:avLst/>
          </a:prstGeom>
          <a:solidFill>
            <a:srgbClr val="FFFFFF"/>
          </a:solidFill>
          <a:ln w="12700">
            <a:solidFill>
              <a:srgbClr val="D7DEE8"/>
            </a:solidFill>
            <a:prstDash val="solid"/>
          </a:ln>
        </p:spPr>
      </p:sp>
      <p:sp>
        <p:nvSpPr>
          <p:cNvPr id="16" name="text"/>
          <p:cNvSpPr/>
          <p:nvPr/>
        </p:nvSpPr>
        <p:spPr>
          <a:xfrm>
            <a:off x="723900" y="33718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Pass a character set to strip only when you mean any of those characters</a:t>
            </a:r>
            <a:endParaRPr lang="en-US" sz="1100" dirty="0"/>
          </a:p>
        </p:txBody>
      </p:sp>
      <p:sp>
        <p:nvSpPr>
          <p:cNvPr id="17" name="shape-51-15"/>
          <p:cNvSpPr/>
          <p:nvPr/>
        </p:nvSpPr>
        <p:spPr>
          <a:xfrm>
            <a:off x="552450" y="3810000"/>
            <a:ext cx="7239000" cy="476250"/>
          </a:xfrm>
          <a:prstGeom prst="rect">
            <a:avLst/>
          </a:prstGeom>
          <a:solidFill>
            <a:srgbClr val="F1F5FA"/>
          </a:solidFill>
          <a:ln w="12700">
            <a:solidFill>
              <a:srgbClr val="D7DEE8"/>
            </a:solidFill>
            <a:prstDash val="solid"/>
          </a:ln>
        </p:spPr>
      </p:sp>
      <p:sp>
        <p:nvSpPr>
          <p:cNvPr id="18" name="text"/>
          <p:cNvSpPr/>
          <p:nvPr/>
        </p:nvSpPr>
        <p:spPr>
          <a:xfrm>
            <a:off x="723900" y="39243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Assign the result; none of these methods modifies in place</a:t>
            </a:r>
            <a:endParaRPr lang="en-US" sz="1100" dirty="0"/>
          </a:p>
        </p:txBody>
      </p:sp>
      <p:sp>
        <p:nvSpPr>
          <p:cNvPr id="19" name="shape-51-17"/>
          <p:cNvSpPr/>
          <p:nvPr/>
        </p:nvSpPr>
        <p:spPr>
          <a:xfrm>
            <a:off x="552450" y="4362450"/>
            <a:ext cx="7239000" cy="476250"/>
          </a:xfrm>
          <a:prstGeom prst="rect">
            <a:avLst/>
          </a:prstGeom>
          <a:solidFill>
            <a:srgbClr val="FFFFFF"/>
          </a:solidFill>
          <a:ln w="12700">
            <a:solidFill>
              <a:srgbClr val="D7DEE8"/>
            </a:solidFill>
            <a:prstDash val="solid"/>
          </a:ln>
        </p:spPr>
      </p:sp>
      <p:sp>
        <p:nvSpPr>
          <p:cNvPr id="20" name="text"/>
          <p:cNvSpPr/>
          <p:nvPr/>
        </p:nvSpPr>
        <p:spPr>
          <a:xfrm>
            <a:off x="723900" y="44767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6.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Use pyperclip.copy() and paste() to exchange text with other applications</a:t>
            </a:r>
            <a:endParaRPr lang="en-US" sz="1100" dirty="0"/>
          </a:p>
        </p:txBody>
      </p:sp>
      <p:sp>
        <p:nvSpPr>
          <p:cNvPr id="21" name="shape-51-19"/>
          <p:cNvSpPr/>
          <p:nvPr/>
        </p:nvSpPr>
        <p:spPr>
          <a:xfrm>
            <a:off x="8020050" y="1543050"/>
            <a:ext cx="3619500" cy="2247900"/>
          </a:xfrm>
          <a:prstGeom prst="rect">
            <a:avLst/>
          </a:prstGeom>
          <a:solidFill>
            <a:srgbClr val="F1F5FA"/>
          </a:solidFill>
          <a:ln/>
        </p:spPr>
      </p:sp>
      <p:sp>
        <p:nvSpPr>
          <p:cNvPr id="22" name="text"/>
          <p:cNvSpPr/>
          <p:nvPr/>
        </p:nvSpPr>
        <p:spPr>
          <a:xfrm>
            <a:off x="8210550" y="1695450"/>
            <a:ext cx="3257550" cy="19621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COST AND BEHAVIOUR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Best: O(1) when the string already exceeds the requested width</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Typical: O(width) to build the padded string</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Worst: O(n) for strip over n characters</a:t>
            </a:r>
            <a:endParaRPr lang="en-US" sz="1100" dirty="0"/>
          </a:p>
        </p:txBody>
      </p:sp>
      <p:sp>
        <p:nvSpPr>
          <p:cNvPr id="23" name="shape-51-21"/>
          <p:cNvSpPr/>
          <p:nvPr/>
        </p:nvSpPr>
        <p:spPr>
          <a:xfrm>
            <a:off x="8020050" y="3943350"/>
            <a:ext cx="3619500" cy="1257300"/>
          </a:xfrm>
          <a:prstGeom prst="rect">
            <a:avLst/>
          </a:prstGeom>
          <a:solidFill>
            <a:srgbClr val="FDF3EC"/>
          </a:solidFill>
          <a:ln/>
        </p:spPr>
      </p:sp>
      <p:sp>
        <p:nvSpPr>
          <p:cNvPr id="24" name="text"/>
          <p:cNvSpPr/>
          <p:nvPr/>
        </p:nvSpPr>
        <p:spPr>
          <a:xfrm>
            <a:off x="8210550" y="4076700"/>
            <a:ext cx="3257550" cy="10096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WHAT THAT MEANS</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Padding never truncates: asking for a width smaller than the string returns the string unchanged.</a:t>
            </a:r>
            <a:endParaRPr lang="en-US" sz="1100" dirty="0"/>
          </a:p>
        </p:txBody>
      </p:sp>
      <p:sp>
        <p:nvSpPr>
          <p:cNvPr id="25"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Automate the Boring Stuff with Python, 1st ed., Ch. 6, pp. 133-142   |   CO2  |  Bloom L4</a:t>
            </a:r>
            <a:endParaRPr lang="en-US" sz="9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Justifying and stripping text, and the clipboard with p… - worked example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concrete case, carried all the way to a stated number.</a:t>
            </a:r>
            <a:endParaRPr lang="en-US" sz="1100" dirty="0"/>
          </a:p>
        </p:txBody>
      </p:sp>
      <p:sp>
        <p:nvSpPr>
          <p:cNvPr id="4" name="shape-52-2"/>
          <p:cNvSpPr/>
          <p:nvPr/>
        </p:nvSpPr>
        <p:spPr>
          <a:xfrm>
            <a:off x="552450" y="1266825"/>
            <a:ext cx="990600" cy="47625"/>
          </a:xfrm>
          <a:prstGeom prst="rect">
            <a:avLst/>
          </a:prstGeom>
          <a:solidFill>
            <a:srgbClr val="0F6FC6"/>
          </a:solidFill>
          <a:ln/>
        </p:spPr>
      </p:sp>
      <p:sp>
        <p:nvSpPr>
          <p:cNvPr id="5" name="shape-52-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2</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Justifying and stripping text, and th…</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52</a:t>
            </a:r>
            <a:endParaRPr lang="en-US" sz="900" dirty="0"/>
          </a:p>
        </p:txBody>
      </p:sp>
      <p:sp>
        <p:nvSpPr>
          <p:cNvPr id="9" name="shape-52-7"/>
          <p:cNvSpPr/>
          <p:nvPr/>
        </p:nvSpPr>
        <p:spPr>
          <a:xfrm>
            <a:off x="552450" y="1543050"/>
            <a:ext cx="7048500" cy="590550"/>
          </a:xfrm>
          <a:prstGeom prst="rect">
            <a:avLst/>
          </a:prstGeom>
          <a:solidFill>
            <a:srgbClr val="F1F5FA"/>
          </a:solidFill>
          <a:ln/>
        </p:spPr>
      </p:sp>
      <p:sp>
        <p:nvSpPr>
          <p:cNvPr id="10" name="text"/>
          <p:cNvSpPr/>
          <p:nvPr/>
        </p:nvSpPr>
        <p:spPr>
          <a:xfrm>
            <a:off x="723900" y="1657350"/>
            <a:ext cx="6724650" cy="4191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GIVEN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Align a two-column table and strip a padded input, then try strip('ampS').</a:t>
            </a:r>
            <a:endParaRPr lang="en-US" sz="1100" dirty="0"/>
          </a:p>
        </p:txBody>
      </p:sp>
      <p:sp>
        <p:nvSpPr>
          <p:cNvPr id="11" name="text"/>
          <p:cNvSpPr/>
          <p:nvPr/>
        </p:nvSpPr>
        <p:spPr>
          <a:xfrm>
            <a:off x="723900" y="22669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'Hello'.rjust(12, '.') gives '.......Hello' — seven dots then the word</a:t>
            </a:r>
            <a:endParaRPr lang="en-US" sz="1100" dirty="0"/>
          </a:p>
        </p:txBody>
      </p:sp>
      <p:sp>
        <p:nvSpPr>
          <p:cNvPr id="12" name="text"/>
          <p:cNvSpPr/>
          <p:nvPr/>
        </p:nvSpPr>
        <p:spPr>
          <a:xfrm>
            <a:off x="723900" y="27051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'Hello'.ljust(12, '.') gives 'Hello.......'</a:t>
            </a:r>
            <a:endParaRPr lang="en-US" sz="1100" dirty="0"/>
          </a:p>
        </p:txBody>
      </p:sp>
      <p:sp>
        <p:nvSpPr>
          <p:cNvPr id="13" name="text"/>
          <p:cNvSpPr/>
          <p:nvPr/>
        </p:nvSpPr>
        <p:spPr>
          <a:xfrm>
            <a:off x="723900" y="31432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spam  '.strip() gives 'spam'</a:t>
            </a:r>
            <a:endParaRPr lang="en-US" sz="1100" dirty="0"/>
          </a:p>
        </p:txBody>
      </p:sp>
      <p:sp>
        <p:nvSpPr>
          <p:cNvPr id="14" name="text"/>
          <p:cNvSpPr/>
          <p:nvPr/>
        </p:nvSpPr>
        <p:spPr>
          <a:xfrm>
            <a:off x="723900" y="35814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'SpamSpamBaconSpam'.strip('ampS') gives 'Bacon' — every leading and trailing character that is in the set is removed</a:t>
            </a:r>
            <a:endParaRPr lang="en-US" sz="1100" dirty="0"/>
          </a:p>
        </p:txBody>
      </p:sp>
      <p:sp>
        <p:nvSpPr>
          <p:cNvPr id="15" name="shape-52-13"/>
          <p:cNvSpPr/>
          <p:nvPr/>
        </p:nvSpPr>
        <p:spPr>
          <a:xfrm>
            <a:off x="552450" y="4076700"/>
            <a:ext cx="7048500" cy="628650"/>
          </a:xfrm>
          <a:prstGeom prst="rect">
            <a:avLst/>
          </a:prstGeom>
          <a:solidFill>
            <a:srgbClr val="FDF3EC"/>
          </a:solidFill>
          <a:ln/>
        </p:spPr>
      </p:sp>
      <p:sp>
        <p:nvSpPr>
          <p:cNvPr id="16" name="text"/>
          <p:cNvSpPr/>
          <p:nvPr/>
        </p:nvSpPr>
        <p:spPr>
          <a:xfrm>
            <a:off x="723900" y="4191000"/>
            <a:ext cx="672465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RESULT</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Padding aligns columns without a library, and the last line shows strip taking a character set rather than a prefix, which removes far more than most people expect.</a:t>
            </a:r>
            <a:endParaRPr lang="en-US" sz="1100" dirty="0"/>
          </a:p>
        </p:txBody>
      </p:sp>
      <p:sp>
        <p:nvSpPr>
          <p:cNvPr id="17" name="shape-52-15"/>
          <p:cNvSpPr/>
          <p:nvPr/>
        </p:nvSpPr>
        <p:spPr>
          <a:xfrm>
            <a:off x="7810500" y="1543050"/>
            <a:ext cx="3829050" cy="1771650"/>
          </a:xfrm>
          <a:prstGeom prst="rect">
            <a:avLst/>
          </a:prstGeom>
          <a:solidFill>
            <a:srgbClr val="0E1726"/>
          </a:solidFill>
          <a:ln/>
        </p:spPr>
      </p:sp>
      <p:sp>
        <p:nvSpPr>
          <p:cNvPr id="18" name="text"/>
          <p:cNvSpPr/>
          <p:nvPr/>
        </p:nvSpPr>
        <p:spPr>
          <a:xfrm>
            <a:off x="7981950" y="1695450"/>
            <a:ext cx="3486150" cy="14859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&gt;&gt;&gt; 'Hello'.rjust(12, '.')</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'.......Hello'</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&gt;&gt;&gt; '  spam  '.strip()</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'spam'</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&gt;&gt;&gt; 'SpamSpamBaconSpam'.strip('ampS')</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'Bacon'</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&gt;&gt;&gt; import pyperclip</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&gt;&gt;&gt; pyperclip.copy('text to clipboard')</a:t>
            </a:r>
            <a:endParaRPr lang="en-US" sz="1000" dirty="0"/>
          </a:p>
        </p:txBody>
      </p:sp>
      <p:sp>
        <p:nvSpPr>
          <p:cNvPr id="19" name="shape-52-17"/>
          <p:cNvSpPr/>
          <p:nvPr/>
        </p:nvSpPr>
        <p:spPr>
          <a:xfrm>
            <a:off x="7810500" y="3467100"/>
            <a:ext cx="3829050" cy="1733550"/>
          </a:xfrm>
          <a:prstGeom prst="rect">
            <a:avLst/>
          </a:prstGeom>
          <a:solidFill>
            <a:srgbClr val="FFFFFF"/>
          </a:solidFill>
          <a:ln w="19050">
            <a:solidFill>
              <a:srgbClr val="C2410C"/>
            </a:solidFill>
            <a:prstDash val="solid"/>
          </a:ln>
        </p:spPr>
      </p:sp>
      <p:sp>
        <p:nvSpPr>
          <p:cNvPr id="20" name="text"/>
          <p:cNvSpPr/>
          <p:nvPr/>
        </p:nvSpPr>
        <p:spPr>
          <a:xfrm>
            <a:off x="7981950" y="3600450"/>
            <a:ext cx="3486150" cy="14668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MISTAKE STUDENTS MAKE</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Students call strip('Spam') expecting it to remove the word Spam from the front. It treats the argument as the set of characters S, p, a and m and removes any of them from both ends, which can eat far into the string.</a:t>
            </a:r>
            <a:endParaRPr lang="en-US" sz="1100" dirty="0"/>
          </a:p>
        </p:txBody>
      </p:sp>
      <p:sp>
        <p:nvSpPr>
          <p:cNvPr id="21"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Automate the Boring Stuff with Python, 1st ed., Ch. 6, pp. 133-142   |   CO2  |  Bloom L4</a:t>
            </a:r>
            <a:endParaRPr lang="en-US" sz="9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One sentence per unit, six months from now</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Units 1-7: what survives after the detail has gone.</a:t>
            </a:r>
            <a:endParaRPr lang="en-US" sz="1100" dirty="0"/>
          </a:p>
        </p:txBody>
      </p:sp>
      <p:sp>
        <p:nvSpPr>
          <p:cNvPr id="4" name="shape-53-2"/>
          <p:cNvSpPr/>
          <p:nvPr/>
        </p:nvSpPr>
        <p:spPr>
          <a:xfrm>
            <a:off x="552450" y="1266825"/>
            <a:ext cx="990600" cy="47625"/>
          </a:xfrm>
          <a:prstGeom prst="rect">
            <a:avLst/>
          </a:prstGeom>
          <a:solidFill>
            <a:srgbClr val="0F6FC6"/>
          </a:solidFill>
          <a:ln/>
        </p:spPr>
      </p:sp>
      <p:sp>
        <p:nvSpPr>
          <p:cNvPr id="5" name="shape-53-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2</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Revision</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53</a:t>
            </a:r>
            <a:endParaRPr lang="en-US" sz="900" dirty="0"/>
          </a:p>
        </p:txBody>
      </p:sp>
      <p:sp>
        <p:nvSpPr>
          <p:cNvPr id="9" name="shape-53-7"/>
          <p:cNvSpPr/>
          <p:nvPr/>
        </p:nvSpPr>
        <p:spPr>
          <a:xfrm>
            <a:off x="552450" y="1600200"/>
            <a:ext cx="11087100" cy="552450"/>
          </a:xfrm>
          <a:prstGeom prst="rect">
            <a:avLst/>
          </a:prstGeom>
          <a:solidFill>
            <a:srgbClr val="F1F5FA"/>
          </a:solidFill>
          <a:ln w="12700">
            <a:solidFill>
              <a:srgbClr val="D7DEE8"/>
            </a:solidFill>
            <a:prstDash val="solid"/>
          </a:ln>
        </p:spPr>
      </p:sp>
      <p:sp>
        <p:nvSpPr>
          <p:cNvPr id="10" name="text"/>
          <p:cNvSpPr/>
          <p:nvPr/>
        </p:nvSpPr>
        <p:spPr>
          <a:xfrm>
            <a:off x="762000" y="1714500"/>
            <a:ext cx="10706100" cy="3810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01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Indexes run 0 to len-1, and Python raises rather than guesses when you step outside that range.</a:t>
            </a:r>
            <a:endParaRPr lang="en-US" sz="1100" dirty="0"/>
          </a:p>
        </p:txBody>
      </p:sp>
      <p:sp>
        <p:nvSpPr>
          <p:cNvPr id="11" name="shape-53-9"/>
          <p:cNvSpPr/>
          <p:nvPr/>
        </p:nvSpPr>
        <p:spPr>
          <a:xfrm>
            <a:off x="552450" y="2228850"/>
            <a:ext cx="11087100" cy="552450"/>
          </a:xfrm>
          <a:prstGeom prst="rect">
            <a:avLst/>
          </a:prstGeom>
          <a:solidFill>
            <a:srgbClr val="FFFFFF"/>
          </a:solidFill>
          <a:ln w="12700">
            <a:solidFill>
              <a:srgbClr val="D7DEE8"/>
            </a:solidFill>
            <a:prstDash val="solid"/>
          </a:ln>
        </p:spPr>
      </p:sp>
      <p:sp>
        <p:nvSpPr>
          <p:cNvPr id="12" name="text"/>
          <p:cNvSpPr/>
          <p:nvPr/>
        </p:nvSpPr>
        <p:spPr>
          <a:xfrm>
            <a:off x="762000" y="2343150"/>
            <a:ext cx="10706100" cy="3810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02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An index borrows an element; a slice builds a new list — that difference decides whether your change is visible outside.</a:t>
            </a:r>
            <a:endParaRPr lang="en-US" sz="1100" dirty="0"/>
          </a:p>
        </p:txBody>
      </p:sp>
      <p:sp>
        <p:nvSpPr>
          <p:cNvPr id="13" name="shape-53-11"/>
          <p:cNvSpPr/>
          <p:nvPr/>
        </p:nvSpPr>
        <p:spPr>
          <a:xfrm>
            <a:off x="552450" y="2857500"/>
            <a:ext cx="11087100" cy="552450"/>
          </a:xfrm>
          <a:prstGeom prst="rect">
            <a:avLst/>
          </a:prstGeom>
          <a:solidFill>
            <a:srgbClr val="F1F5FA"/>
          </a:solidFill>
          <a:ln w="12700">
            <a:solidFill>
              <a:srgbClr val="D7DEE8"/>
            </a:solidFill>
            <a:prstDash val="solid"/>
          </a:ln>
        </p:spPr>
      </p:sp>
      <p:sp>
        <p:nvSpPr>
          <p:cNvPr id="14" name="text"/>
          <p:cNvSpPr/>
          <p:nvPr/>
        </p:nvSpPr>
        <p:spPr>
          <a:xfrm>
            <a:off x="762000" y="2971800"/>
            <a:ext cx="10706100" cy="3810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03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Assignment by index and del mutate in place; + and * build something new — and only the first kind is visible to other names.</a:t>
            </a:r>
            <a:endParaRPr lang="en-US" sz="1100" dirty="0"/>
          </a:p>
        </p:txBody>
      </p:sp>
      <p:sp>
        <p:nvSpPr>
          <p:cNvPr id="15" name="shape-53-13"/>
          <p:cNvSpPr/>
          <p:nvPr/>
        </p:nvSpPr>
        <p:spPr>
          <a:xfrm>
            <a:off x="552450" y="3486150"/>
            <a:ext cx="11087100" cy="552450"/>
          </a:xfrm>
          <a:prstGeom prst="rect">
            <a:avLst/>
          </a:prstGeom>
          <a:solidFill>
            <a:srgbClr val="FFFFFF"/>
          </a:solidFill>
          <a:ln w="12700">
            <a:solidFill>
              <a:srgbClr val="D7DEE8"/>
            </a:solidFill>
            <a:prstDash val="solid"/>
          </a:ln>
        </p:spPr>
      </p:sp>
      <p:sp>
        <p:nvSpPr>
          <p:cNvPr id="16" name="text"/>
          <p:cNvSpPr/>
          <p:nvPr/>
        </p:nvSpPr>
        <p:spPr>
          <a:xfrm>
            <a:off x="762000" y="3600450"/>
            <a:ext cx="10706100" cy="3810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04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Iterate the list, not its indexes — and if you are testing membership repeatedly, you wanted a set.</a:t>
            </a:r>
            <a:endParaRPr lang="en-US" sz="1100" dirty="0"/>
          </a:p>
        </p:txBody>
      </p:sp>
      <p:sp>
        <p:nvSpPr>
          <p:cNvPr id="17" name="shape-53-15"/>
          <p:cNvSpPr/>
          <p:nvPr/>
        </p:nvSpPr>
        <p:spPr>
          <a:xfrm>
            <a:off x="552450" y="4114800"/>
            <a:ext cx="11087100" cy="552450"/>
          </a:xfrm>
          <a:prstGeom prst="rect">
            <a:avLst/>
          </a:prstGeom>
          <a:solidFill>
            <a:srgbClr val="F1F5FA"/>
          </a:solidFill>
          <a:ln w="12700">
            <a:solidFill>
              <a:srgbClr val="D7DEE8"/>
            </a:solidFill>
            <a:prstDash val="solid"/>
          </a:ln>
        </p:spPr>
      </p:sp>
      <p:sp>
        <p:nvSpPr>
          <p:cNvPr id="18" name="text"/>
          <p:cNvSpPr/>
          <p:nvPr/>
        </p:nvSpPr>
        <p:spPr>
          <a:xfrm>
            <a:off x="762000" y="4229100"/>
            <a:ext cx="10706100" cy="3810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05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The right-hand side is fully evaluated before anything is bound, which is what makes a, b = b, a a correct swap.</a:t>
            </a:r>
            <a:endParaRPr lang="en-US" sz="1100" dirty="0"/>
          </a:p>
        </p:txBody>
      </p:sp>
      <p:sp>
        <p:nvSpPr>
          <p:cNvPr id="19" name="shape-53-17"/>
          <p:cNvSpPr/>
          <p:nvPr/>
        </p:nvSpPr>
        <p:spPr>
          <a:xfrm>
            <a:off x="552450" y="4743450"/>
            <a:ext cx="11087100" cy="552450"/>
          </a:xfrm>
          <a:prstGeom prst="rect">
            <a:avLst/>
          </a:prstGeom>
          <a:solidFill>
            <a:srgbClr val="FFFFFF"/>
          </a:solidFill>
          <a:ln w="12700">
            <a:solidFill>
              <a:srgbClr val="D7DEE8"/>
            </a:solidFill>
            <a:prstDash val="solid"/>
          </a:ln>
        </p:spPr>
      </p:sp>
      <p:sp>
        <p:nvSpPr>
          <p:cNvPr id="20" name="text"/>
          <p:cNvSpPr/>
          <p:nvPr/>
        </p:nvSpPr>
        <p:spPr>
          <a:xfrm>
            <a:off x="762000" y="4857750"/>
            <a:ext cx="10706100" cy="3810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06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The mutating list methods return None, so never assign their result back to the list.</a:t>
            </a:r>
            <a:endParaRPr lang="en-US" sz="1100" dirty="0"/>
          </a:p>
        </p:txBody>
      </p:sp>
      <p:sp>
        <p:nvSpPr>
          <p:cNvPr id="21" name="shape-53-19"/>
          <p:cNvSpPr/>
          <p:nvPr/>
        </p:nvSpPr>
        <p:spPr>
          <a:xfrm>
            <a:off x="552450" y="5372100"/>
            <a:ext cx="11087100" cy="552450"/>
          </a:xfrm>
          <a:prstGeom prst="rect">
            <a:avLst/>
          </a:prstGeom>
          <a:solidFill>
            <a:srgbClr val="F1F5FA"/>
          </a:solidFill>
          <a:ln w="12700">
            <a:solidFill>
              <a:srgbClr val="D7DEE8"/>
            </a:solidFill>
            <a:prstDash val="solid"/>
          </a:ln>
        </p:spPr>
      </p:sp>
      <p:sp>
        <p:nvSpPr>
          <p:cNvPr id="22" name="text"/>
          <p:cNvSpPr/>
          <p:nvPr/>
        </p:nvSpPr>
        <p:spPr>
          <a:xfrm>
            <a:off x="762000" y="5486400"/>
            <a:ext cx="10706100" cy="3810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07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Immutability buys hashability, which is why a tuple can be a dictionary key and a list cannot.</a:t>
            </a:r>
            <a:endParaRPr lang="en-US" sz="11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Revision, continued</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Units 8-14: what survives after the detail has gone.</a:t>
            </a:r>
            <a:endParaRPr lang="en-US" sz="1100" dirty="0"/>
          </a:p>
        </p:txBody>
      </p:sp>
      <p:sp>
        <p:nvSpPr>
          <p:cNvPr id="4" name="shape-54-2"/>
          <p:cNvSpPr/>
          <p:nvPr/>
        </p:nvSpPr>
        <p:spPr>
          <a:xfrm>
            <a:off x="552450" y="1266825"/>
            <a:ext cx="990600" cy="47625"/>
          </a:xfrm>
          <a:prstGeom prst="rect">
            <a:avLst/>
          </a:prstGeom>
          <a:solidFill>
            <a:srgbClr val="0F6FC6"/>
          </a:solidFill>
          <a:ln/>
        </p:spPr>
      </p:sp>
      <p:sp>
        <p:nvSpPr>
          <p:cNvPr id="5" name="shape-54-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2</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Revision</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54</a:t>
            </a:r>
            <a:endParaRPr lang="en-US" sz="900" dirty="0"/>
          </a:p>
        </p:txBody>
      </p:sp>
      <p:sp>
        <p:nvSpPr>
          <p:cNvPr id="9" name="shape-54-7"/>
          <p:cNvSpPr/>
          <p:nvPr/>
        </p:nvSpPr>
        <p:spPr>
          <a:xfrm>
            <a:off x="552450" y="1600200"/>
            <a:ext cx="11087100" cy="552450"/>
          </a:xfrm>
          <a:prstGeom prst="rect">
            <a:avLst/>
          </a:prstGeom>
          <a:solidFill>
            <a:srgbClr val="F1F5FA"/>
          </a:solidFill>
          <a:ln w="12700">
            <a:solidFill>
              <a:srgbClr val="D7DEE8"/>
            </a:solidFill>
            <a:prstDash val="solid"/>
          </a:ln>
        </p:spPr>
      </p:sp>
      <p:sp>
        <p:nvSpPr>
          <p:cNvPr id="10" name="text"/>
          <p:cNvSpPr/>
          <p:nvPr/>
        </p:nvSpPr>
        <p:spPr>
          <a:xfrm>
            <a:off x="762000" y="1714500"/>
            <a:ext cx="10706100" cy="3810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08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Assignment aliases, copy() duplicates one level, deepcopy() duplicates all of them — and the bug only appears when the data nests.</a:t>
            </a:r>
            <a:endParaRPr lang="en-US" sz="1100" dirty="0"/>
          </a:p>
        </p:txBody>
      </p:sp>
      <p:sp>
        <p:nvSpPr>
          <p:cNvPr id="11" name="shape-54-9"/>
          <p:cNvSpPr/>
          <p:nvPr/>
        </p:nvSpPr>
        <p:spPr>
          <a:xfrm>
            <a:off x="552450" y="2228850"/>
            <a:ext cx="11087100" cy="552450"/>
          </a:xfrm>
          <a:prstGeom prst="rect">
            <a:avLst/>
          </a:prstGeom>
          <a:solidFill>
            <a:srgbClr val="FFFFFF"/>
          </a:solidFill>
          <a:ln w="12700">
            <a:solidFill>
              <a:srgbClr val="D7DEE8"/>
            </a:solidFill>
            <a:prstDash val="solid"/>
          </a:ln>
        </p:spPr>
      </p:sp>
      <p:sp>
        <p:nvSpPr>
          <p:cNvPr id="12" name="text"/>
          <p:cNvSpPr/>
          <p:nvPr/>
        </p:nvSpPr>
        <p:spPr>
          <a:xfrm>
            <a:off x="762000" y="2343150"/>
            <a:ext cx="10706100" cy="3810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09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Choose a list when position carries meaning and a dictionary when a label does.</a:t>
            </a:r>
            <a:endParaRPr lang="en-US" sz="1100" dirty="0"/>
          </a:p>
        </p:txBody>
      </p:sp>
      <p:sp>
        <p:nvSpPr>
          <p:cNvPr id="13" name="shape-54-11"/>
          <p:cNvSpPr/>
          <p:nvPr/>
        </p:nvSpPr>
        <p:spPr>
          <a:xfrm>
            <a:off x="552450" y="2857500"/>
            <a:ext cx="11087100" cy="552450"/>
          </a:xfrm>
          <a:prstGeom prst="rect">
            <a:avLst/>
          </a:prstGeom>
          <a:solidFill>
            <a:srgbClr val="F1F5FA"/>
          </a:solidFill>
          <a:ln w="12700">
            <a:solidFill>
              <a:srgbClr val="D7DEE8"/>
            </a:solidFill>
            <a:prstDash val="solid"/>
          </a:ln>
        </p:spPr>
      </p:sp>
      <p:sp>
        <p:nvSpPr>
          <p:cNvPr id="14" name="text"/>
          <p:cNvSpPr/>
          <p:nvPr/>
        </p:nvSpPr>
        <p:spPr>
          <a:xfrm>
            <a:off x="762000" y="2971800"/>
            <a:ext cx="10706100" cy="3810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10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get() reads with a fallback and changes nothing; setdefault() initialises and does change the dictionary.</a:t>
            </a:r>
            <a:endParaRPr lang="en-US" sz="1100" dirty="0"/>
          </a:p>
        </p:txBody>
      </p:sp>
      <p:sp>
        <p:nvSpPr>
          <p:cNvPr id="15" name="shape-54-13"/>
          <p:cNvSpPr/>
          <p:nvPr/>
        </p:nvSpPr>
        <p:spPr>
          <a:xfrm>
            <a:off x="552450" y="3486150"/>
            <a:ext cx="11087100" cy="552450"/>
          </a:xfrm>
          <a:prstGeom prst="rect">
            <a:avLst/>
          </a:prstGeom>
          <a:solidFill>
            <a:srgbClr val="FFFFFF"/>
          </a:solidFill>
          <a:ln w="12700">
            <a:solidFill>
              <a:srgbClr val="D7DEE8"/>
            </a:solidFill>
            <a:prstDash val="solid"/>
          </a:ln>
        </p:spPr>
      </p:sp>
      <p:sp>
        <p:nvSpPr>
          <p:cNvPr id="16" name="text"/>
          <p:cNvSpPr/>
          <p:nvPr/>
        </p:nvSpPr>
        <p:spPr>
          <a:xfrm>
            <a:off x="762000" y="3600450"/>
            <a:ext cx="10706100" cy="3810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Model the structure so reading the data aloud describes the real thing; use pprint when that reading needs help.</a:t>
            </a:r>
            <a:endParaRPr lang="en-US" sz="1100" dirty="0"/>
          </a:p>
        </p:txBody>
      </p:sp>
      <p:sp>
        <p:nvSpPr>
          <p:cNvPr id="17" name="shape-54-15"/>
          <p:cNvSpPr/>
          <p:nvPr/>
        </p:nvSpPr>
        <p:spPr>
          <a:xfrm>
            <a:off x="552450" y="4114800"/>
            <a:ext cx="11087100" cy="552450"/>
          </a:xfrm>
          <a:prstGeom prst="rect">
            <a:avLst/>
          </a:prstGeom>
          <a:solidFill>
            <a:srgbClr val="F1F5FA"/>
          </a:solidFill>
          <a:ln w="12700">
            <a:solidFill>
              <a:srgbClr val="D7DEE8"/>
            </a:solidFill>
            <a:prstDash val="solid"/>
          </a:ln>
        </p:spPr>
      </p:sp>
      <p:sp>
        <p:nvSpPr>
          <p:cNvPr id="18" name="text"/>
          <p:cNvSpPr/>
          <p:nvPr/>
        </p:nvSpPr>
        <p:spPr>
          <a:xfrm>
            <a:off x="762000" y="4229100"/>
            <a:ext cx="10706100" cy="3810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Access chains left to right, and building a nested structure needs setdefault at every level except the last.</a:t>
            </a:r>
            <a:endParaRPr lang="en-US" sz="1100" dirty="0"/>
          </a:p>
        </p:txBody>
      </p:sp>
      <p:sp>
        <p:nvSpPr>
          <p:cNvPr id="19" name="shape-54-17"/>
          <p:cNvSpPr/>
          <p:nvPr/>
        </p:nvSpPr>
        <p:spPr>
          <a:xfrm>
            <a:off x="552450" y="4743450"/>
            <a:ext cx="11087100" cy="552450"/>
          </a:xfrm>
          <a:prstGeom prst="rect">
            <a:avLst/>
          </a:prstGeom>
          <a:solidFill>
            <a:srgbClr val="FFFFFF"/>
          </a:solidFill>
          <a:ln w="12700">
            <a:solidFill>
              <a:srgbClr val="D7DEE8"/>
            </a:solidFill>
            <a:prstDash val="solid"/>
          </a:ln>
        </p:spPr>
      </p:sp>
      <p:sp>
        <p:nvSpPr>
          <p:cNvPr id="20" name="text"/>
          <p:cNvSpPr/>
          <p:nvPr/>
        </p:nvSpPr>
        <p:spPr>
          <a:xfrm>
            <a:off x="762000" y="4857750"/>
            <a:ext cx="10706100" cy="3810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Strings index like lists but are immutable — every string "change" is really a new string.</a:t>
            </a:r>
            <a:endParaRPr lang="en-US" sz="1100" dirty="0"/>
          </a:p>
        </p:txBody>
      </p:sp>
      <p:sp>
        <p:nvSpPr>
          <p:cNvPr id="21" name="shape-54-19"/>
          <p:cNvSpPr/>
          <p:nvPr/>
        </p:nvSpPr>
        <p:spPr>
          <a:xfrm>
            <a:off x="552450" y="5372100"/>
            <a:ext cx="11087100" cy="552450"/>
          </a:xfrm>
          <a:prstGeom prst="rect">
            <a:avLst/>
          </a:prstGeom>
          <a:solidFill>
            <a:srgbClr val="F1F5FA"/>
          </a:solidFill>
          <a:ln w="12700">
            <a:solidFill>
              <a:srgbClr val="D7DEE8"/>
            </a:solidFill>
            <a:prstDash val="solid"/>
          </a:ln>
        </p:spPr>
      </p:sp>
      <p:sp>
        <p:nvSpPr>
          <p:cNvPr id="22" name="text"/>
          <p:cNvSpPr/>
          <p:nvPr/>
        </p:nvSpPr>
        <p:spPr>
          <a:xfrm>
            <a:off x="762000" y="5486400"/>
            <a:ext cx="10706100" cy="3810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Every isX method returns False for the empty string, so validate length before content.</a:t>
            </a:r>
            <a:endParaRPr lang="en-US" sz="11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Revision, continued</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Units 15-16: what survives after the detail has gone.</a:t>
            </a:r>
            <a:endParaRPr lang="en-US" sz="1100" dirty="0"/>
          </a:p>
        </p:txBody>
      </p:sp>
      <p:sp>
        <p:nvSpPr>
          <p:cNvPr id="4" name="shape-55-2"/>
          <p:cNvSpPr/>
          <p:nvPr/>
        </p:nvSpPr>
        <p:spPr>
          <a:xfrm>
            <a:off x="552450" y="1266825"/>
            <a:ext cx="990600" cy="47625"/>
          </a:xfrm>
          <a:prstGeom prst="rect">
            <a:avLst/>
          </a:prstGeom>
          <a:solidFill>
            <a:srgbClr val="0F6FC6"/>
          </a:solidFill>
          <a:ln/>
        </p:spPr>
      </p:sp>
      <p:sp>
        <p:nvSpPr>
          <p:cNvPr id="5" name="shape-55-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2</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Revision</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55</a:t>
            </a:r>
            <a:endParaRPr lang="en-US" sz="900" dirty="0"/>
          </a:p>
        </p:txBody>
      </p:sp>
      <p:sp>
        <p:nvSpPr>
          <p:cNvPr id="9" name="shape-55-7"/>
          <p:cNvSpPr/>
          <p:nvPr/>
        </p:nvSpPr>
        <p:spPr>
          <a:xfrm>
            <a:off x="552450" y="1600200"/>
            <a:ext cx="11087100" cy="552450"/>
          </a:xfrm>
          <a:prstGeom prst="rect">
            <a:avLst/>
          </a:prstGeom>
          <a:solidFill>
            <a:srgbClr val="F1F5FA"/>
          </a:solidFill>
          <a:ln w="12700">
            <a:solidFill>
              <a:srgbClr val="D7DEE8"/>
            </a:solidFill>
            <a:prstDash val="solid"/>
          </a:ln>
        </p:spPr>
      </p:sp>
      <p:sp>
        <p:nvSpPr>
          <p:cNvPr id="10" name="text"/>
          <p:cNvSpPr/>
          <p:nvPr/>
        </p:nvSpPr>
        <p:spPr>
          <a:xfrm>
            <a:off x="762000" y="1714500"/>
            <a:ext cx="10706100" cy="3810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join() is called on the separator, not the list — ', '.join(items), never items.join(', ').</a:t>
            </a:r>
            <a:endParaRPr lang="en-US" sz="1100" dirty="0"/>
          </a:p>
        </p:txBody>
      </p:sp>
      <p:sp>
        <p:nvSpPr>
          <p:cNvPr id="11" name="shape-55-9"/>
          <p:cNvSpPr/>
          <p:nvPr/>
        </p:nvSpPr>
        <p:spPr>
          <a:xfrm>
            <a:off x="552450" y="2228850"/>
            <a:ext cx="11087100" cy="552450"/>
          </a:xfrm>
          <a:prstGeom prst="rect">
            <a:avLst/>
          </a:prstGeom>
          <a:solidFill>
            <a:srgbClr val="FFFFFF"/>
          </a:solidFill>
          <a:ln w="12700">
            <a:solidFill>
              <a:srgbClr val="D7DEE8"/>
            </a:solidFill>
            <a:prstDash val="solid"/>
          </a:ln>
        </p:spPr>
      </p:sp>
      <p:sp>
        <p:nvSpPr>
          <p:cNvPr id="12" name="text"/>
          <p:cNvSpPr/>
          <p:nvPr/>
        </p:nvSpPr>
        <p:spPr>
          <a:xfrm>
            <a:off x="762000" y="2343150"/>
            <a:ext cx="10706100" cy="3810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16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strip('abc') removes any of a, b or c from the ends — it is a character set, not a prefix.</a:t>
            </a:r>
            <a:endParaRPr lang="en-US" sz="11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How this module is assessed</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Where the quiz and the assignment live, and what they test.</a:t>
            </a:r>
            <a:endParaRPr lang="en-US" sz="1100" dirty="0"/>
          </a:p>
        </p:txBody>
      </p:sp>
      <p:sp>
        <p:nvSpPr>
          <p:cNvPr id="4" name="shape-56-2"/>
          <p:cNvSpPr/>
          <p:nvPr/>
        </p:nvSpPr>
        <p:spPr>
          <a:xfrm>
            <a:off x="552450" y="1266825"/>
            <a:ext cx="990600" cy="47625"/>
          </a:xfrm>
          <a:prstGeom prst="rect">
            <a:avLst/>
          </a:prstGeom>
          <a:solidFill>
            <a:srgbClr val="0F6FC6"/>
          </a:solidFill>
          <a:ln/>
        </p:spPr>
      </p:sp>
      <p:sp>
        <p:nvSpPr>
          <p:cNvPr id="5" name="shape-56-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2</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Assessment</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56</a:t>
            </a:r>
            <a:endParaRPr lang="en-US" sz="900" dirty="0"/>
          </a:p>
        </p:txBody>
      </p:sp>
      <p:sp>
        <p:nvSpPr>
          <p:cNvPr id="9" name="shape-56-7"/>
          <p:cNvSpPr/>
          <p:nvPr/>
        </p:nvSpPr>
        <p:spPr>
          <a:xfrm>
            <a:off x="552450" y="1543050"/>
            <a:ext cx="5429250" cy="2438400"/>
          </a:xfrm>
          <a:prstGeom prst="rect">
            <a:avLst/>
          </a:prstGeom>
          <a:solidFill>
            <a:srgbClr val="F1F5FA"/>
          </a:solidFill>
          <a:ln w="12700">
            <a:solidFill>
              <a:srgbClr val="D7DEE8"/>
            </a:solidFill>
            <a:prstDash val="solid"/>
          </a:ln>
        </p:spPr>
      </p:sp>
      <p:sp>
        <p:nvSpPr>
          <p:cNvPr id="10" name="text"/>
          <p:cNvSpPr/>
          <p:nvPr/>
        </p:nvSpPr>
        <p:spPr>
          <a:xfrm>
            <a:off x="742950" y="1695450"/>
            <a:ext cx="5048250" cy="10287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MODULE 2 QUIZ</a:t>
            </a:r>
            <a:endParaRPr lang="en-US" sz="1100" dirty="0"/>
          </a:p>
          <a:p>
            <a:pPr algn="l" indent="0" marL="0">
              <a:lnSpc>
                <a:spcPct val="105000"/>
              </a:lnSpc>
              <a:buNone/>
            </a:pPr>
            <a:r>
              <a:rPr lang="en-US" sz="1100" dirty="0">
                <a:solidFill>
                  <a:srgbClr val="12203A"/>
                </a:solidFill>
                <a:latin typeface="Consolas" pitchFamily="34" charset="0"/>
                <a:ea typeface="Consolas" pitchFamily="34" charset="-122"/>
                <a:cs typeface="Consolas" pitchFamily="34" charset="-120"/>
              </a:rPr>
              <a:t>quizzes/Module_2_Quiz.pdf</a:t>
            </a:r>
            <a:endParaRPr lang="en-US" sz="1100" dirty="0"/>
          </a:p>
          <a:p>
            <a:pPr algn="l" indent="0" marL="0">
              <a:lnSpc>
                <a:spcPct val="105000"/>
              </a:lnSpc>
              <a:buNone/>
            </a:pPr>
            <a:r>
              <a:rPr lang="en-US" sz="1100" dirty="0">
                <a:solidFill>
                  <a:srgbClr val="12203A"/>
                </a:solidFill>
                <a:latin typeface="Consolas" pitchFamily="34" charset="0"/>
                <a:ea typeface="Consolas" pitchFamily="34" charset="-122"/>
                <a:cs typeface="Consolas" pitchFamily="34" charset="-120"/>
              </a:rPr>
              <a:t>quizzes/Module_2_Quiz.gift</a:t>
            </a:r>
            <a:endParaRPr lang="en-US" sz="1100" dirty="0"/>
          </a:p>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45 minutes  |  50 marks  |  pass 20  |  1 attempt</a:t>
            </a:r>
            <a:endParaRPr lang="en-US" sz="1100" dirty="0"/>
          </a:p>
        </p:txBody>
      </p:sp>
      <p:sp>
        <p:nvSpPr>
          <p:cNvPr id="11" name="text"/>
          <p:cNvSpPr/>
          <p:nvPr/>
        </p:nvSpPr>
        <p:spPr>
          <a:xfrm>
            <a:off x="742950" y="2781300"/>
            <a:ext cx="5048250" cy="43815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Part A: 20 MCQs, 1 mark each.</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Part B: 13 descriptive questions, 30 marks.</a:t>
            </a:r>
            <a:endParaRPr lang="en-US" sz="1100" dirty="0"/>
          </a:p>
        </p:txBody>
      </p:sp>
      <p:sp>
        <p:nvSpPr>
          <p:cNvPr id="12" name="text"/>
          <p:cNvSpPr/>
          <p:nvPr/>
        </p:nvSpPr>
        <p:spPr>
          <a:xfrm>
            <a:off x="742950" y="3276600"/>
            <a:ext cx="5048250" cy="20955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C2410C"/>
                </a:solidFill>
                <a:latin typeface="Segoe UI" pitchFamily="34" charset="0"/>
                <a:ea typeface="Segoe UI" pitchFamily="34" charset="-122"/>
                <a:cs typeface="Segoe UI" pitchFamily="34" charset="-120"/>
              </a:rPr>
              <a:t>Bloom spread: L1-L2 21%, L3-L4 73%, L5-L6 6%</a:t>
            </a:r>
            <a:endParaRPr lang="en-US" sz="1100" dirty="0"/>
          </a:p>
        </p:txBody>
      </p:sp>
      <p:sp>
        <p:nvSpPr>
          <p:cNvPr id="13" name="text"/>
          <p:cNvSpPr/>
          <p:nvPr/>
        </p:nvSpPr>
        <p:spPr>
          <a:xfrm>
            <a:off x="742950" y="3524250"/>
            <a:ext cx="5048250" cy="381000"/>
          </a:xfrm>
          <a:prstGeom prst="rect">
            <a:avLst/>
          </a:prstGeom>
          <a:noFill/>
          <a:ln/>
        </p:spPr>
        <p:txBody>
          <a:bodyPr wrap="square" lIns="0" tIns="0" rIns="0" bIns="0" rtlCol="0" anchor="t">
            <a:normAutofit/>
          </a:bodyPr>
          <a:lstStyle/>
          <a:p>
            <a:pPr algn="l" indent="0" marL="0">
              <a:lnSpc>
                <a:spcPct val="105000"/>
              </a:lnSpc>
              <a:buNone/>
            </a:pPr>
            <a:r>
              <a:rPr lang="en-US" sz="1000" dirty="0">
                <a:solidFill>
                  <a:srgbClr val="5A6478"/>
                </a:solidFill>
                <a:latin typeface="Segoe UI" pitchFamily="34" charset="0"/>
                <a:ea typeface="Segoe UI" pitchFamily="34" charset="-122"/>
                <a:cs typeface="Segoe UI" pitchFamily="34" charset="-120"/>
              </a:rPr>
              <a:t>Every question carries a CO tag, a Bloom level and a chapter reference; distractor feedback names the misconception.</a:t>
            </a:r>
            <a:endParaRPr lang="en-US" sz="1000" dirty="0"/>
          </a:p>
        </p:txBody>
      </p:sp>
      <p:sp>
        <p:nvSpPr>
          <p:cNvPr id="14" name="shape-56-12"/>
          <p:cNvSpPr/>
          <p:nvPr/>
        </p:nvSpPr>
        <p:spPr>
          <a:xfrm>
            <a:off x="6210300" y="1543050"/>
            <a:ext cx="5429250" cy="2438400"/>
          </a:xfrm>
          <a:prstGeom prst="rect">
            <a:avLst/>
          </a:prstGeom>
          <a:solidFill>
            <a:srgbClr val="FDF3EC"/>
          </a:solidFill>
          <a:ln w="12700">
            <a:solidFill>
              <a:srgbClr val="D7DEE8"/>
            </a:solidFill>
            <a:prstDash val="solid"/>
          </a:ln>
        </p:spPr>
      </p:sp>
      <p:sp>
        <p:nvSpPr>
          <p:cNvPr id="15" name="text"/>
          <p:cNvSpPr/>
          <p:nvPr/>
        </p:nvSpPr>
        <p:spPr>
          <a:xfrm>
            <a:off x="6400800" y="1695450"/>
            <a:ext cx="5048250" cy="11620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MODULE 2 ASSIGNMENT</a:t>
            </a:r>
            <a:endParaRPr lang="en-US" sz="1100" dirty="0"/>
          </a:p>
          <a:p>
            <a:pPr algn="l" indent="0" marL="0">
              <a:lnSpc>
                <a:spcPct val="105000"/>
              </a:lnSpc>
              <a:buNone/>
            </a:pPr>
            <a:r>
              <a:rPr lang="en-US" sz="1100" dirty="0">
                <a:solidFill>
                  <a:srgbClr val="12203A"/>
                </a:solidFill>
                <a:latin typeface="Consolas" pitchFamily="34" charset="0"/>
                <a:ea typeface="Consolas" pitchFamily="34" charset="-122"/>
                <a:cs typeface="Consolas" pitchFamily="34" charset="-120"/>
              </a:rPr>
              <a:t>assignments/Module_2_Assignment.pdf</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Assignment 2 — Choosing and using the built-in data structures</a:t>
            </a:r>
            <a:endParaRPr lang="en-US" sz="1100" dirty="0"/>
          </a:p>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20 marks  |  10% of CIE  |  10 problems + 3 theory items</a:t>
            </a:r>
            <a:endParaRPr lang="en-US" sz="1100" dirty="0"/>
          </a:p>
        </p:txBody>
      </p:sp>
      <p:sp>
        <p:nvSpPr>
          <p:cNvPr id="16" name="text"/>
          <p:cNvSpPr/>
          <p:nvPr/>
        </p:nvSpPr>
        <p:spPr>
          <a:xfrm>
            <a:off x="6400800" y="2914650"/>
            <a:ext cx="5048250" cy="457200"/>
          </a:xfrm>
          <a:prstGeom prst="rect">
            <a:avLst/>
          </a:prstGeom>
          <a:noFill/>
          <a:ln/>
        </p:spPr>
        <p:txBody>
          <a:bodyPr wrap="square" lIns="0" tIns="0" rIns="0" bIns="0" rtlCol="0" anchor="t">
            <a:normAutofit/>
          </a:bodyPr>
          <a:lstStyle/>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Submit as PDF, single file, named &lt;USN&gt;_BEC305_Assignment2.pdf, via LMS upload. 10% per day, nothing after 5 days.</a:t>
            </a:r>
            <a:endParaRPr lang="en-US" sz="1000" dirty="0"/>
          </a:p>
        </p:txBody>
      </p:sp>
      <p:sp>
        <p:nvSpPr>
          <p:cNvPr id="17" name="text"/>
          <p:cNvSpPr/>
          <p:nvPr/>
        </p:nvSpPr>
        <p:spPr>
          <a:xfrm>
            <a:off x="6400800" y="3390900"/>
            <a:ext cx="5048250" cy="51435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Rubric: Correct use of the four containers (6); Mutation, aliasing and copying (6); String handling and validation (4); Modelling and presentation (4). Attainment: CO2 = 20.</a:t>
            </a:r>
            <a:endParaRPr lang="en-US" sz="900" dirty="0"/>
          </a:p>
        </p:txBody>
      </p:sp>
      <p:sp>
        <p:nvSpPr>
          <p:cNvPr id="18" name="text"/>
          <p:cNvSpPr/>
          <p:nvPr/>
        </p:nvSpPr>
        <p:spPr>
          <a:xfrm>
            <a:off x="552450" y="4133850"/>
            <a:ext cx="11087100" cy="43815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Previous years' question papers for EC are indexed in pyq/PYQ_Index.pdf; the syllabus extract and the topic-to-slide mapping are in syllabus/Syllabus_Mapping.pdf.</a:t>
            </a:r>
            <a:endParaRPr lang="en-US" sz="1100" dirty="0"/>
          </a:p>
        </p:txBody>
      </p:sp>
      <p:sp>
        <p:nvSpPr>
          <p:cNvPr id="19" name="text"/>
          <p:cNvSpPr/>
          <p:nvPr/>
        </p:nvSpPr>
        <p:spPr>
          <a:xfrm>
            <a:off x="552450" y="4667250"/>
            <a:ext cx="11087100" cy="285750"/>
          </a:xfrm>
          <a:prstGeom prst="rect">
            <a:avLst/>
          </a:prstGeom>
          <a:noFill/>
          <a:ln/>
        </p:spPr>
        <p:txBody>
          <a:bodyPr wrap="square" lIns="0" tIns="0" rIns="0" bIns="0" rtlCol="0" anchor="t">
            <a:normAutofit/>
          </a:bodyPr>
          <a:lstStyle/>
          <a:p>
            <a:pPr algn="l" indent="0" marL="0">
              <a:lnSpc>
                <a:spcPct val="105000"/>
              </a:lnSpc>
              <a:buNone/>
            </a:pPr>
            <a:r>
              <a:rPr lang="en-US" sz="1000" dirty="0">
                <a:solidFill>
                  <a:srgbClr val="C2410C"/>
                </a:solidFill>
                <a:latin typeface="Segoe UI" pitchFamily="34" charset="0"/>
                <a:ea typeface="Segoe UI" pitchFamily="34" charset="-122"/>
                <a:cs typeface="Segoe UI" pitchFamily="34" charset="-120"/>
              </a:rPr>
              <a:t>Individual submission. Identical submissions score zero for both parties.</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Segoe U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egoe U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56</Slides>
  <Notes>56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56</vt:i4>
      </vt:variant>
    </vt:vector>
  </HeadingPairs>
  <TitlesOfParts>
    <vt:vector size="5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2026-09-11T19:47:50Z</dcterms:created>
  <dcterms:modified xsi:type="dcterms:W3CDTF">2026-09-11T19:47:50Z</dcterms:modified>
</cp:coreProperties>
</file>