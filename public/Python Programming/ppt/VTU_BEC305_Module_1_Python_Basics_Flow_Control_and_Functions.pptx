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9 contact hours and 16 teaching units, and that all of it exists to answer one question: How do I turn an idea into a program that makes decisions, repeats work, and can be broken into pieces I can reuse?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"How do I turn an idea into a program that makes decisions, repeats work, and can be broke…" to look like?
Animation instructions: Module title block fades in first, then the textbook panel slides in from the right, then the five arc beats appear left to right one at a time.
Transition style: Fade
[Sources] VTU BEC305 Python Programming syllabus, 2025 scheme, Module 1: Python Basics, Flow Control and Functions, 9 hours, TB1 (Sweigart 1e) Ch. 1 Python Basics, Ch. 2 Flow Control, Ch. 3 Functions, pp. 13-78. TB1: Al Sweigart, Automate the Boring Stuff with Python, No Starch Press, 1st ed., 2015.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BEC305 Python Programming syllabus, 2025 scheme, Module 1: Python Basics, Flow Control and Functions, 9 hours, TB1 (Sweigart 1e) Ch. 1 Python Basics, Ch. 2 Flow Control, Ch. 3 Functions, pp. 13-78. TB1: Al Sweigart, Automate the Boring Stuff with Python, No Starch Press, 1st ed., 2015.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BEC305 Python Programming syllabus, 2025 scheme, Module 1: Python Basics, Flow Control and Functions, 9 hours, TB1 (Sweigart 1e) Ch. 1 Python Basics, Ch. 2 Flow Control, Ch. 3 Functions, pp. 13-78. TB1: Al Sweigart, Automate the Boring Stuff with Python, No Starch Press, 1st ed., 2015.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BEC305 Python Programming syllabus, 2025 scheme, Module 1: Python Basics, Flow Control and Functions, 9 hours, TB1 (Sweigart 1e) Ch. 1 Python Basics, Ch. 2 Flow Control, Ch. 3 Functions, pp. 13-78. TB1: Al Sweigart, Automate the Boring Stuff with Python, No Starch Press, 1st ed., 2015.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Python is an interpreted, dynamically typed language: source text is executed line by line by an interpreter rather than compiled ahead of time into a mac… Then add the part they are examined on - Use the shell to answer one question at a time; use a file for anything you will want tomorrow.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"interpreter" constrain here, and what would break if it did not hold?
Animation instructions: the four loop stages appear clockwise one at a time with the connecting arrows drawing between them, then the loop runs once with a sample expression travelling round it, then the shell-versus-file panel slides in from the right, then the two tags land.
Transition style: Fade
[Sources] VTU BEC305 Python Programming syllabus, 2025 scheme, Module 1: Python Basics, Flow Control and Functions. TB1 as listed by the syllabus: Al Sweigart, Automate the Boring Stuff with Python, No Starch Press, 1st ed., 2015; Ch. 1, pp. 13-16.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Open IDLE or a terminal and start the Python shell - and check everyone has written it before moving on. At the cost panel, translate it: The shell forgets everything when closed; a file is the only durable artefact.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1, pp. 13-16.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You are unsure whether Python evaluates 2 + 3 * 4 as 20 or 14. Work at the pace of the slowest note-taker and land hard on the result: Precedence settled in five seconds with two shell lines, rather than by editing and running a file twice.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1, pp. 13-16.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Every Python value has a type, and the three met first are int for whole numbers, float for numbers with a decimal point, and str for text in quotes. Then add the part they are examined on - A variable has no type; the value in it does — and the operator behaves according to that value.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"int" constrain here, and what would break if it did not hold?
Animation instructions: the three type boxes appear left to right with their sample values dropping in, then the operator strip builds row by row, then the red TypeError row flashes, then the division side note fades in last.
Transition style: Fade
[Sources] VTU BEC305 Python Programming syllabus, 2025 scheme, Module 1: Python Basics, Flow Control and Functions. TB1 as listed by the syllabus: Al Sweigart, Automate the Boring Stuff with Python, No Starch Press, 1st ed., 2015; Ch. 1, pp. 16-17.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Use type(value) in the shell whenever you are unsure what you are holding - and check everyone has written it before moving on. At the cost panel, translate it: Dynamic typing trades compile-time safety for flexibility; the cost lands at run time.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1, pp. 16-17.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Evaluate 5 / 2, 5 // 2, 5 % 2 and '5' + 2 in the shell. Work at the pace of the slowest note-taker and land hard on the result: Three numeric operators behave differently on the same pair, and the fourth line fails because a str and an int met a + that cann…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1, pp. 16-17.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 and * operators do different things depending on the types they are given. Then add the part they are examined on - The + and * symbols are chosen by operand type, so a stray number in a string expression is a TypeError, not a silent conver…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"concatenation" constrain here, and what would break if it did not hold?
Animation instructions: the + switchboard draws, each wire pair energises top to bottom with its outcome appearing, the red pair sparks, then the * switchboard appears beneath, then the str() fix arrow animates into the red pair turning it green.
Transition style: Fade
[Sources] VTU BEC305 Python Programming syllabus, 2025 scheme, Module 1: Python Basics, Flow Control and Functions. TB1 as listed by the syllabus: Al Sweigart, Automate the Boring Stuff with Python, No Starch Press, 1st ed., 2015; Ch. 1, pp. 17-18.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whether you are joining text or repeating it - and check everyone has written it before moving on. At the cost panel, translate it: Repeated concatenation inside a loop is the classic Python performance trap; use join() instead.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1, pp. 17-18.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Build the message 'Alice has 3 cats' from name = 'Alice' and count = 3. Work at the pace of the slowest note-taker and land hard on the result: Both corrected forms give 'Alice has 3 cats'; the f-string needs no explicit conversion because it calls str() on each field itse…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1, pp. 17-18.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An assignment statement binds a name to a value using a single equals sign, and it is a statement rather than an expression — it does something rather tha… Then add the part they are examined on - A variable is a label pointing at a value, not a container holding one — rebinding moves the label.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"assignment statement" constrain here, and what would break if it did not hold?
Animation instructions: the 42 node appears, the spam label slides in and its arrow snaps to 42, then the 100 node appears, the arrow swings across to 100 and 42 fades to grey, then the rules strip types in line by line.
Transition style: Fade
[Sources] VTU BEC305 Python Programming syllabus, 2025 scheme, Module 1: Python Basics, Flow Control and Functions. TB1 as listed by the syllabus: Al Sweigart, Automate the Boring Stuff with Python, No Starch Press, 1st ed., 2015; Ch. 1, pp. 18-21.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a descriptive lowercase name with underscores between words - and check everyone has written it before moving on. At the cost panel, translate it: Assignment never copies the value, only the reference — which matters enormously for lists in Module 2.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1, pp. 18-21.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Trace spam = 42; cheese = spam; spam = 100. Work at the pace of the slowest note-taker and land hard on the result: cheese is 42 and spam is 100 — rebinding one label never disturbs another label that was pointing at the old value.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1, pp. 18-21.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Python program is a text file of statements executed strictly top to bottom, with no main function required and no compilation step. Then add the part they are examined on - Read a program the way the interpreter runs it: top to bottom, tracking what each name currently holds.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"source file" constrain here, and what would break if it did not hold?
Animation instructions: the code panel appears, the state table and console appear empty, then the highlight bar steps down line by line with the table and console updating in sync at each step.
Transition style: Fade
[Sources] VTU BEC305 Python Programming syllabus, 2025 scheme, Module 1: Python Basics, Flow Control and Functions. TB1 as listed by the syllabus: Al Sweigart, Automate the Boring Stuff with Python, No Starch Press, 1st ed., 2015; Ch. 1, pp. 21-23.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the program in a .py file, not the shell - and check everyone has written it before moving on. At the cost panel, translate it: Predicting before running is the habit that converts running a program into a test rather than a guess.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1, pp. 21-23.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four-line program: name = input('Name? ') then print('Hello, ' + name) with the user typing Alice. Work at the pace of the slowest note-taker and land hard on the result: Output is 'Hello, Alice', and name holds the string 'Alice' — note input() always returns a str, never a number.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1, pp. 21-23.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Six built-in functions cover almost all early input and output. Then add the part they are examined on - print() is called for its effect and returns None; the converters are called for their return value and change nothing in pl…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"built-in function" constrain here, and what would break if it did not hold?
Animation instructions: the two column headers appear, then each card flips in from left to right alternating columns, then the red footnote card slides up last and its cross lands.
Transition style: Fade
[Sources] VTU BEC305 Python Programming syllabus, 2025 scheme, Module 1: Python Basics, Flow Control and Functions. TB1 as listed by the syllabus: Al Sweigart, Automate the Boring Stuff with Python, No Starch Press, 1st ed., 2015; Ch. 1, pp. 23-28.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Use print() to show something and expect no useful return value - and check everyone has written it before moving on. At the cost panel, translate it: len() on a built-in sequence is O(1) in CPython because the length is stored, not counted.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1, pp. 23-28.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The user is asked for an age and types 25; compute the age in dog years. Work at the pace of the slowest note-taker and land hard on the result: Output is "In dog years: 175"; without the int() the multiplication would have replicated the string 25 seven times instead.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1, pp. 23-28.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bool type has exactly two values, True and False, written with a leading capital and no quotes. Then add the part they are examined on - Comparison operators produce a bool, and == asks about value while is asks about identity.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"bool" constrain here, and what would break if it did not hold?
Animation instructions: the six funnels appear in sequence, each dropping its two inputs and emitting its result token, then the amber value-versus-identity card slides in from the right.
Transition style: Fade
[Sources] VTU BEC305 Python Programming syllabus, 2025 scheme, Module 1: Python Basics, Flow Control and Functions. TB1 as listed by the syllabus: Al Sweigart, Automate the Boring Stuff with Python, No Starch Press, 1st ed., 2015; Ch. 2, pp. 32-35.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the condition as a question with a yes or no answer - and check everyone has written it before moving on. At the cost panel, translate it: String and list comparisons stop at the first difference, so worst case is full length.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2, pp. 32-35.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Evaluate 42 == 42.0, 42 == "42", "cat" &lt; "dog" and 42 &lt; "42". Work at the pace of the slowest note-taker and land hard on the result: Three Booleans and one TypeError: equality across types returns False, but ordering across types is an error rather than a guess.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2, pp. 32-35.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three Boolean operators combine conditions: and is True only when both operands are True, or is True when at least one is, and not inverts a single op… Then add the part they are examined on - and and or stop early, which is why a guard condition placed first can protect the expression after it.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"and" constrain here, and what would break if it did not hold?
Animation instructions: the and track animates left to right with the scissors cutting the wire and the grey box staying dark, then the or track does the same, then the guard example types in with its protecting arrow, then the precedence ladder fades in.
Transition style: Fade
[Sources] VTU BEC305 Python Programming syllabus, 2025 scheme, Module 1: Python Basics, Flow Control and Functions. TB1 as listed by the syllabus: Al Sweigart, Automate the Boring Stuff with Python, No Starch Press, 1st ed., 2015; Ch. 2, pp. 35-37.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each condition separately and confirm each is a bool - and check everyone has written it before moving on. At the cost panel, translate it: Short-circuiting means the order of operands changes both speed and safety, not just style.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2, pp. 35-37.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items = [] and the condition len(items) &gt; 0 and items[0] == 'x'. Work at the pace of the slowest note-taker and land hard on the result: The guarded order returns False safely; the reversed order crashes, which is the entire reason short-circuiting is specified beha…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2, pp. 35-37.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flow control statement has two parts: a condition that evaluates to a bool, and a block of code that runs depending on it. Then add the part they are examined on - In Python, indentation is not layout — it is the syntax that defines a block.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"condition" constrain here, and what would break if it did not hold?
Animation instructions: the code panel appears, the blue bar draws down the outer block, the green bar draws down the nested block, the brace version fades in and its arrow sweeps across, then the two error cards drop in with the amber one landing last.
Transition style: Fade
[Sources] VTU BEC305 Python Programming syllabus, 2025 scheme, Module 1: Python Basics, Flow Control and Functions. TB1 as listed by the syllabus: Al Sweigart, Automate the Boring Stuff with Python, No Starch Press, 1st ed., 2015; Ch. 2, pp. 37-38.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the condition and end the line with a colon - and check everyone has written it before moving on. At the cost panel, translate it: Nesting beyond three levels is usually a sign a function is waiting to be extracted.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2, pp. 37-38.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program prints "big" when n &gt; 10 and always prints "done". Work at the pace of the slowest note-taker and land hard on the result: Indenting the second print by four spaces would move it inside the block, so "done" would then print only for n &gt; 10 — no error,…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2, pp. 37-38.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if statement runs its block when its condition is True. Then add the part they are examined on - An if/elif chain stops at the first True clause, so condition order decides behaviour, not just style.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"if" constrain here, and what would break if it did not hold?
Animation instructions: the chain draws top to bottom, the token drops through the first two diamonds taking the False arrows, then exits right at the matching clause which highlights green, then the lower diamonds grey out, then the red bad-order inset slides in.
Transition style: Fade
[Sources] VTU BEC305 Python Programming syllabus, 2025 scheme, Module 1: Python Basics, Flow Control and Functions. TB1 as listed by the syllabus: Al Sweigart, Automate the Boring Stuff with Python, No Starch Press, 1st ed., 2015; Ch. 2, pp. 38-45.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List every case the program must handle - and check everyone has written it before moving on. At the cost panel, translate it: Put the most likely case first for speed and the most specific first for correctness; when they conflict, correctness wins.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2, pp. 38-45.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Grade a mark: 90+ is A, 80+ is B, 70+ is C, otherwise F. Test with mark = 95. Work at the pace of the slowest note-taker and land hard on the result: Correct order gives "A"; the reversed order gives "C" with no error at all, which is exactly why the order is a correctness decis…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2, pp. 38-45.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while loop re-tests its condition before every pass and runs its block for as long as the condition stays True. Then add the part they are examined on - Before writing a while body, name the statement inside it that will eventually make the condition False.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"while" constrain here, and what would break if it did not hold?
Animation instructions: the diamond and body draw with the main loop arrow, then the loop animates two passes, then the red break arrow draws and fires once, then the amber continue arrow draws and fires once, then the warning badge pulses.
Transition style: Fade
[Sources] VTU BEC305 Python Programming syllabus, 2025 scheme, Module 1: Python Basics, Flow Control and Functions. TB1 as listed by the syllabus: Al Sweigart, Automate the Boring Stuff with Python, No Starch Press, 1st ed., 2015; Ch. 2, pp. 45-53.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Initialise the variable the condition tests, before the loop - and check everyone has written it before moving on. At the cost panel, translate it: A while loop has no built-in bound; a counter guard is worth adding when the terminating condition depends on external input.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2, pp. 45-53.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Keep asking for a password until the user types "swordfish". Work at the pace of the slowest note-taker and land hard on the result: The loop runs once per wrong attempt and exits on the correct one; removing the assignment from the body would spin forever witho…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2, pp. 45-53.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for loop walks over the items of an iterable, binding each to the loop variable in turn, and stops when the items run out — so unlike a while loop it ca… Then add the part they are examined on - range() excludes its stop value, which is exactly what makes range(len(x)) the valid index set.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"for" constrain here, and what would break if it did not hold?
Animation instructions: the number line draws, then each range bracket appears in turn with its hollow stop circle flashing to emphasise exclusion, then the item list appears beneath with its indexes, then the linking arrow sweeps from range(len(items)) to the index row.
Transition style: Fade
[Sources] VTU BEC305 Python Programming syllabus, 2025 scheme, Module 1: Python Basics, Flow Control and Functions. TB1 as listed by the syllabus: Al Sweigart, Automate the Boring Stuff with Python, No Starch Press, 1st ed., 2015; Ch. 2, pp. 53-57.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what you are iterating over: items or positions - and check everyone has written it before moving on. At the cost panel, translate it: range is lazy, so range(10**9) is instant to build and only costs when iterated.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2, pp. 53-57.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Print the values produced by range(5), range(2, 6) and range(5, 0, -1). Work at the pace of the slowest note-taker and land hard on the result: All three exclude their stop value; the countdown case is where that exclusion surprises people, since range(5, 0, -1) never yiel…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2, pp. 53-57.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module is a Python file of ready-made functions, and import makes it available under its own name, so random.randint() is called through the module that… Then add the part they are examined on - Prefer plain import so every call says which module it came from; reserve from-import for names you use constantly.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"module" constrain here, and what would break if it did not hold?
Animation instructions: the namespace boxes appear, arrow A draws and deposits its name, arrow B draws and deposits its name with the collision badge flashing amber, then the sys.exit() red arrow animates out of the nested loop.
Transition style: Fade
[Sources] VTU BEC305 Python Programming syllabus, 2025 scheme, Module 1: Python Basics, Flow Control and Functions. TB1 as listed by the syllabus: Al Sweigart, Automate the Boring Stuff with Python, No Starch Press, 1st ed., 2015; Ch. 2, pp. 57-60.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module that already solves the problem - and check everyone has written it before moving on. At the cost panel, translate it: All imports belong at the top of the file so the load cost is paid once, predictably, at startup.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2, pp. 57-60.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Print four random integers between 1 and 10. Work at the pace of the slowest note-taker and land hard on the result: Four integers in 1..10 — note randint is inclusive at both ends, unlike range(), which excludes its stop.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2, pp. 57-60.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def statement creates a function: it names a block of code and lists the parameters that block expects. Then add the part they are examined on - A function with no return statement still returns something: None.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"def" constrain here, and what would break if it did not hold?
Animation instructions: the def block and call site appear, the curved binding arrow sweeps the argument into the parameter, then the return path animates its value token back, then the fall-off path animates its None token back in grey, then the caption fades in.
Transition style: Fade
[Sources] VTU BEC305 Python Programming syllabus, 2025 scheme, Module 1: Python Basics, Flow Control and Functions. TB1 as listed by the syllabus: Al Sweigart, Automate the Boring Stuff with Python, No Starch Press, 1st ed., 2015; Ch. 3, pp. 61-65.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a block of code that has one job and is used more than once - and check everyone has written it before moving on. At the cost panel, translate it: Function call overhead in Python is real but almost always smaller than the readability gain.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3, pp. 61-65.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Define add(a, b) that returns a + b, and a broken version that prints instead of returning. Work at the pace of the slowest note-taker and land hard on the result: The returning version composes into further expressions; the printing version does not, because None cannot be multiplied.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3, pp. 61-65.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Keyword arguments are passed by name rather than position, which is how print() accepts end= and sep= without their order mattering. Then add the part they are examined on - Assigning to a name inside a function makes it local, however much it looks like the global of the same name.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"keyword argument" constrain here, and what would break if it did not hold?
Animation instructions: the global box and its token appear, then version A's dashed local box with its read arrow, then version B appears with its local token and the arrow blocked by a red bar, then version C appears and the red bar dissolves as the global declaration line types in.
Transition style: Fade
[Sources] VTU BEC305 Python Programming syllabus, 2025 scheme, Module 1: Python Basics, Flow Control and Functions. TB1 as listed by the syllabus: Al Sweigart, Automate the Boring Stuff with Python, No Starch Press, 1st ed., 2015; Ch. 3, pp. 65-72.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Prefer passing values in as parameters and returning results out - and check everyone has written it before moving on. At the cost panel, translate it: The real cost of globals is coupling, not lookup speed.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3, pp. 65-72.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spam = 42 at the top level; a function assigns spam = 99 without a global statement. Work at the pace of the slowest note-taker and land hard on the result: Without the declaration the global stays 42; with it the global becomes 99 — and nothing warns you which one you wrote.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3, pp. 65-72.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An exception is an error raised at run time that, if nothing catches it, unwinds the call stack and prints a traceback. Then add the part they are examined on - Catch the specific exception you expect; a bare except turns your own bugs into silence.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"exception" constrain here, and what would break if it did not hold?
Animation instructions: the try block draws with its three statements, the normal dashed path animates first, then the lightning bolt fires from the middle statement into the except block which flashes and rejoins the flow, then the two contrasting cards slide up with the red one landing last.
Transition style: Fade
[Sources] VTU BEC305 Python Programming syllabus, 2025 scheme, Module 1: Python Basics, Flow Control and Functions. TB1 as listed by the syllabus: Al Sweigart, Automate the Boring Stuff with Python, No Starch Press, 1st ed., 2015; Ch. 3, pp. 72-78.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single statement that can fail and why - and check everyone has written it before moving on. At the cost panel, translate it: Python idiom favours asking forgiveness over permission, but not inside a hot loop.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1: Python Basics, Flow Control and Functions. TB1 as listed by the syllabus: Al Sweigart, Automate the Boring Stuff with Python, No Starch Press, 1st ed., 2015; Ch. 3, pp. 72-78.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The user is asked for a guess and types "abc". Work at the pace of the slowest note-taker and land hard on the result: A bad input re-prompts instead of printing a traceback and quitting; catching ValueError specifically means a genuine bug elsewhe…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1: Python Basics, Flow Control and Functions. TB1 as listed by the syllabus: Al Sweigart, Automate the Boring Stuff with Python, No Starch Press, 1st ed., 2015; Ch. 3, pp. 72-78.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1: Python Basics, Flow Control and Functions, 9 hours, TB1 (Sweigart 1e) Ch. 1 Python Basics, Ch. 2 Flow Control, Ch. 3 Functions, pp. 13-78.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1: Python Basics, Flow Control and Functions, 9 hours, TB1 (Sweigart 1e) Ch. 1 Python Basics, Ch. 2 Flow Control, Ch. 3 Functions, pp. 13-78.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1: Python Basics, Flow Control and Functions, 9 hours, TB1 (Sweigart 1e) Ch. 1 Python Basics, Ch. 2 Flow Control, Ch. 3 Functions, pp. 13-78.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BEC305 Python Programming syllabus, 2025 scheme, Module 1: Python Basics, Flow Control and Functions, 9 hours, TB1 (Sweigart 1e) Ch. 1 Python Basics, Ch. 2 Flow Control, Ch. 3 Functions, pp. 13-78. TB1: Al Sweigart, Automate the Boring Stuff with Python, No Starch Press, 1st ed., 2015. Assessment counts: 20 MCQs, 13 descriptive questions, 13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Python Programming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1 asks: How do I turn an idea into a program that makes decisions, repeats work, and can be broken into pieces I ca…</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1</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Python Basics, Flow Control and Functions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9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Automate the Boring Stuff with Python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 Sweigart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 Starch Press, 1st edition, 2015</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TB1 (Sweigart 1e) Ch. 1 Python Basics, Ch. 2 Flow Control, Ch. 3 Functions, pp. 13-78</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Basics &amp; Flow Control   •   Lists, Dicts &amp; Strings   •   Regex &amp; Files   •   Classes &amp; Objects   •   Web Services &amp; SQL</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Shell answers one expression   →   Variables remember values   →   Conditions choose a branch   →   Loops repeat the work   →   Functions package it up</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3 · BEC305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How do I turn an idea into a program that makes decisions, repeats work, and can be broken into pieces I can reuse?</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Shell answers one expression</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Variables remember values</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Conditions choose a branch</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Loops repeat the work</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Functions package it up</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TB1 Chapters 1-3, which the syllabus names for this module. The organising idea is that a program is expressions plus three control structures plus functions, and that almost every beginner bug is a type error, an indentation error or a scope error rather than a logic error. The interactive shell is used throughout as the place to test one expression before committing it to a file. Exception handling is introduced here rather than later because the Guess the Number program needs it.</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CO1</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+ 13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What Python is and what the interactive shell is for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 pp. 13-16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CO1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integer, floating-point and string data types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 pp. 16-17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CO1 / L2</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String concatenation and replication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 pp. 17-18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CO1 / L3</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Storing values in variables: assignment statements and names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 pp. 18-21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CO1 / L2</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Your first program, dissected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 pp. 21-23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CO1 / L2</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print(), input(), len(), str(), int() and float() functions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 pp. 23-28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CO1 / L3</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Boolean values and comparison operators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32-35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CO1 / L2</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Boolean operators and mixing them with comparisons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35-37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CO1 / L3</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Elements of flow control: conditions, blocks and program execution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37-38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CO1 / L2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else and elif statements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38-45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CO1 / L3</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while loops, break and continue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45-53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CO1 / L3</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loops and the range() function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53-57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CO1 / L3</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Importing modules and ending a program early with sys.exit()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57-60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CO1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 statements, parameters, return values and None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3, pp. 61-65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CO1 / L3</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Keyword arguments, local and global scope, and the global statement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3, pp. 65-72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CO1 / L4</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Exception handling and the Guess the Number program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3, pp. 72-78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CO1 / L4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Python is and what the interactive shell is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What Python is and what the interacti…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Python is an interpreted, dynamically typed language: source text is executed line by line by an interpreter rather than compiled ahead of time into a machine-code binary. The interactive shell is a read-evaluate-print loop that accepts one expression, evaluates it immediately and displays the result, which makes it a laboratory rather than a place to write programs. Its value is feedback latency — you can settle a question about operator precedence or a method name in two seconds instead of editing, saving and running a file. The cost is that nothing typed into the shell is saved, so anything worth keeping belongs in a .py file.</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interpreter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interactive shell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REPL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expression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IDLE</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the shell to answer one question at a time; use a file for anything you will want tomorrow.</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circular four-stage loop drawn clockwise with arrows between stages: "Read" showing a prompt &gt;&gt;&gt; with typed text, "Evaluate" showing a gear over an expression tree, "Print" showing the result value on screen…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13-16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repl-loop-cycle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Python is and what the interactive shell is for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What Python is and what the interacti…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 IDLE or a terminal and start the Python shell</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Type one expression at the &gt;&gt;&gt; prompt and press Enter</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value the shell prints back</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Repeat until the behaviour is understood</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Move the settled code into a .py file</a:t>
            </a:r>
            <a:endParaRPr lang="en-US" sz="1100" dirty="0"/>
          </a:p>
        </p:txBody>
      </p:sp>
      <p:sp>
        <p:nvSpPr>
          <p:cNvPr id="19" name="shape-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Run the file to confirm it behaves the same outside the shell</a:t>
            </a:r>
            <a:endParaRPr lang="en-US" sz="1100" dirty="0"/>
          </a:p>
        </p:txBody>
      </p:sp>
      <p:sp>
        <p:nvSpPr>
          <p:cNvPr id="21" name="shape-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expression, immediate answer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 handful of shell experiments per uncertainty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shell experiments do not scale past a few lines of state</a:t>
            </a:r>
            <a:endParaRPr lang="en-US" sz="1100" dirty="0"/>
          </a:p>
        </p:txBody>
      </p:sp>
      <p:sp>
        <p:nvSpPr>
          <p:cNvPr id="23" name="shape-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shell forgets everything when closed; a file is the only durable artefact.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13-16   |   CO1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Python is and what the interactive shell is for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What Python is and what the interacti…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You are unsure whether Python evaluates 2 + 3 * 4 as 20 or 14.</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Type 2 + 3 * 4 at the &gt;&gt;&gt; prompt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shell prints 14</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Multiplication binds tighter than addition, so 3 * 4 is evaluated first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by typing (2 + 3) * 4, which prints 20</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Precedence settled in five seconds with two shell lines, rather than by editing and running a file twice.</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2 + 3 * 4</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14</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(2 + 3) * 4</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20</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a whole program in the shell, then close it and lose the lot. The shell keeps no file; anything longer than a couple of lines should be typed into an editor from the start.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13-16   |   CO1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integer, floating-point and string data types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integer, floating-point and strin…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Every Python value has a type, and the three met first are int for whole numbers, float for numbers with a decimal point, and str for text in quotes. Python is dynamically typed, meaning a variable takes the type of whatever it currently holds rather than being declared with a type up front; this removes ceremony but moves type errors from compile time to run time. The practical consequence is that 42 and '42' are different values that behave differently under the same operator, and mixing them raises a TypeError rather than silently converting. Division is the one place the types shift underneath you: / always produces a float, even when both operands are ints.</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float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dynamic typing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TypeError</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variable has no type; the value in it does — and the operator behaves according to that value.</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labelled boxes in a row. Box 1 "int" contains 42, -7, 0 with a caption "whole numbers". Box 2 "float" contains 3.14, -2.0, 42.0 with a caption "has a decimal point". Box 3 "str" contains '42', "hello", '…</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16-17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three-types-boxes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integer, floating-point and string data types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integer, floating-point and strin…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type(value) in the shell whenever you are unsure what you are holding</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Keep numeric input as str until you have validated it</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explicitly with int(), float() or str() at the boundary</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Expect / to return a float and use // for integer division</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a TypeError as "two different types met one operator"</a:t>
            </a:r>
            <a:endParaRPr lang="en-US" sz="1100" dirty="0"/>
          </a:p>
        </p:txBody>
      </p:sp>
      <p:sp>
        <p:nvSpPr>
          <p:cNvPr id="19" name="shape-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type check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explicit conversion per input boundary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TypeError surfaced only at run time, possibly deep in the program</a:t>
            </a:r>
            <a:endParaRPr lang="en-US" sz="1100" dirty="0"/>
          </a:p>
        </p:txBody>
      </p:sp>
      <p:sp>
        <p:nvSpPr>
          <p:cNvPr id="21" name="shape-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Dynamic typing trades compile-time safety for flexibility; the cost lands at run time.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16-17   |   CO1  |  Bloom L2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integer, floating-point and string data types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integer, floating-point and strin…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Evaluate 5 / 2, 5 // 2, 5 % 2 and '5' + 2 in the shell.</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5 / 2 gives 2.5 — true division always produces a float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5 // 2 gives 2 — floor division discards the remainder</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5 % 2 gives 1 — the modulus is the remainder</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'5' + 2 raises TypeError: can only concatenate str (not "int") to str</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Three numeric operators behave differently on the same pair, and the fourth line fails because a str and an int met a + that cannot reconcile them.</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5 / 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2.5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5 // 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5 % 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'5' + 2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TypeError: can only concatenate str (not "int") to str</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assume 10 / 2 gives the integer 5 and then use the result as a list index, which fails because 5.0 is a float. Use // when an integer is required.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16-17   |   CO1  |  Bloom L2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String concatenation and replication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String concatenation and replication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 and * operators do different things depending on the types they are given. Between two strings, + concatenates, joining them end to end with no separator added; between a string and an integer, * replicates, repeating the string that many times. This is operator overloading: one symbol, several behaviours selected by operand type. The rule that makes it predictable is that + needs both operands to be the same kind of thing and * needs exactly one string and one integer — any other combination is a TypeError, which is why a number must be passed through str() before it can be joined to text.</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concatenation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replication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operator overloading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str()</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 and * symbols are chosen by operand type, so a stray number in a string expression is a TypeError, not a silent conversion.</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central switchboard labelled "+" with three incoming wire pairs on the left and three outcomes on the right. Pair 1, int and int, lights green and outputs "addition: 2 + 3 = 5". Pair 2, str and str, lights g…</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17-18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overloaded-operator-switch</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String concatenation and replication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String concatenation and replication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whether you are joining text or repeating it</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joining, confirm both operands are strings</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repeating, confirm exactly one operand is an integer</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Wrap any number in str() before concatenating it</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an f-string when mixing several values into one message</a:t>
            </a:r>
            <a:endParaRPr lang="en-US" sz="1100" dirty="0"/>
          </a:p>
        </p:txBody>
      </p:sp>
      <p:sp>
        <p:nvSpPr>
          <p:cNvPr id="19" name="shape-12-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for a single concatenation of length 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per join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O(n^2) when concatenating in a loop, because each + builds a new string</a:t>
            </a:r>
            <a:endParaRPr lang="en-US" sz="1100" dirty="0"/>
          </a:p>
        </p:txBody>
      </p:sp>
      <p:sp>
        <p:nvSpPr>
          <p:cNvPr id="21" name="shape-12-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Repeated concatenation inside a loop is the classic Python performance trap; use join() instead.</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17-18   |   CO1  |  Bloom L3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String concatenation and replication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String concatenation and replication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Build the message 'Alice has 3 cats' from name = 'Alice' and count = 3.</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Naive: name + ' has ' + count + ' cats' raises TypeError, because count is an int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Fix by converting: name + ' has ' + str(count) + ' cats'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Result: 'Alice has 3 cats'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Cleaner with an f-string: f'{name} has {count} cats'</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Both corrected forms give 'Alice has 3 cats'; the f-string needs no explicit conversion because it calls str() on each field itself.</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name, count = 'Alice', 3</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name + ' has ' + str(count) + ' cats'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'Alice has 3 cats'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f'{name} has {count} cats'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'Alice has 3 cats'</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build a long string by repeated += inside a loop. Each + creates a brand-new string, so a loop of n appends copies O(n^2) characters; collect the pieces in a list and call ''.join(pieces) once.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17-18   |   CO1  |  Bloom L3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Storing values in variables: assignment statements and names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Storing values in variables: assignme…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An assignment statement binds a name to a value using a single equals sign, and it is a statement rather than an expression — it does something rather than producing a value. The name on the left is a label, not a box: rebinding it simply points the label at a different value and leaves the old value to be collected if nothing else refers to it. Names may use letters, digits and underscores, may not begin with a digit, may not be a reserved keyword, and are case sensitive, so spam and Spam are two distinct variables. Reading a name that has never been assigned raises a NameError, which is Python telling you the label was never attached to anything.</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assignment statement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variable name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binding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reserved keyword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case sensitivity</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variable is a label pointing at a value, not a container holding one — rebinding moves the label.</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two rounded value nodes in a heap area, 42 and 100. Right: a tag shaped like a luggage label reading "spam" with an arrow to the value 42, captioned "spam = 42". A second frame below shows the same label…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18-21</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label-points-at-value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Storing values in variables: assignment statements and…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Storing values in variables: assignme…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descriptive lowercase name with underscores between words</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it is not a Python keyword</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name = expression</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Remember that the right-hand side is evaluated first, then bound</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Re-assign freely; the type may change with the value</a:t>
            </a:r>
            <a:endParaRPr lang="en-US" sz="1100" dirty="0"/>
          </a:p>
        </p:txBody>
      </p:sp>
      <p:sp>
        <p:nvSpPr>
          <p:cNvPr id="19" name="shape-1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Treat a NameError as "this label was never assigned"</a:t>
            </a:r>
            <a:endParaRPr lang="en-US" sz="1100" dirty="0"/>
          </a:p>
        </p:txBody>
      </p:sp>
      <p:sp>
        <p:nvSpPr>
          <p:cNvPr id="21" name="shape-1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binding</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per assignment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O(1); the cost is in evaluating the right-hand side, not the binding</a:t>
            </a:r>
            <a:endParaRPr lang="en-US" sz="1100" dirty="0"/>
          </a:p>
        </p:txBody>
      </p:sp>
      <p:sp>
        <p:nvSpPr>
          <p:cNvPr id="23" name="shape-1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Assignment never copies the value, only the reference — which matters enormously for lists in Module 2.</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18-21   |   CO1  |  Bloom L2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Storing values in variables: assignment statements and…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Storing values in variables: assignme…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Trace spam = 42; cheese = spam; spam = 100.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 = 42 binds the label spam to the value 42</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cheese = spam binds cheese to the same value 42</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 = 100 rebinds only spam; cheese still points at 42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Printing both gives spam 100 and cheese 42</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cheese is 42 and spam is 100 — rebinding one label never disturbs another label that was pointing at the old value.</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 = 42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cheese = spam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 = 100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spam, cheese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(100, 42)</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confuse = with ==. A single equals sign assigns and may only appear as a statement; a double equals compares and produces a Boolean. Using = inside an if condition is a SyntaxError in Python, which is a mercy compared with languages where it silently assigns.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18-21   |   CO1  |  Bloom L2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Your first program, dissected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Your first program, dissected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Python program is a text file of statements executed strictly top to bottom, with no main function required and no compilation step. Dissecting a short program means naming what each line contributes: a comment documents intent and is ignored by the interpreter, a print() call produces output, an input() call pauses for the user, and an assignment records something for later. The discipline worth forming now is reading a program the way the interpreter does — one line at a time, tracking what each name is bound to — because that is exactly how you will debug it. Comments cost nothing at run time and are the cheapest defence against forgetting why a line exists.</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source file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statement order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top-to-bottom execution</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a program the way the interpreter runs it: top to bottom, tracking what each name currently holds.</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six-line Python program in a code panel with line numbers, containing a comment, a print, an input assignment, a conversion, an arithmetic line and a final print. Right: a variable-state table with col…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21-23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program-line-trace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Your first program, dissected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Your first program, dissected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program in a .py file, not the shell</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a comment at the top saying what the program is for</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it once from top to bottom before running it</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Predict the output and the final variable values</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Run it and compare against the prediction</a:t>
            </a:r>
            <a:endParaRPr lang="en-US" sz="1100" dirty="0"/>
          </a:p>
        </p:txBody>
      </p:sp>
      <p:sp>
        <p:nvSpPr>
          <p:cNvPr id="19" name="shape-1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Where they differ, trace line by line until they agree</a:t>
            </a:r>
            <a:endParaRPr lang="en-US" sz="1100" dirty="0"/>
          </a:p>
        </p:txBody>
      </p:sp>
      <p:sp>
        <p:nvSpPr>
          <p:cNvPr id="21" name="shape-1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to read n lines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per trace pass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per pass, repeated until the prediction matches</a:t>
            </a:r>
            <a:endParaRPr lang="en-US" sz="1100" dirty="0"/>
          </a:p>
        </p:txBody>
      </p:sp>
      <p:sp>
        <p:nvSpPr>
          <p:cNvPr id="23" name="shape-1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Predicting before running is the habit that converts running a program into a test rather than a guess.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21-23   |   CO1  |  Bloom L2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Your first program, dissected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Your first program, dissected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four-line program: name = input('Name? ') then print('Hello, ' + name) with the user typing Alice.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Line 1 evaluates input('Name? '), which prints the prompt and waits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user types Alice, so input returns the string 'Alice'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assignment binds name to 'Alice'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Line 2 concatenates and prints Hello, Alice</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Output is 'Hello, Alice', and name holds the string 'Alice' — note input() always returns a str, never a number.</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Greet the user by name.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name = input('Name?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print('Hello, ' + name)</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expect input() to return a number when the user types digits. It always returns a string, so arithmetic on it fails or silently concatenates; wrap it in int() or float() before doing maths.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21-23   |   CO1  |  Bloom L2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print(), input(), len(), str(), int() and float() functions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print(), input(), len(), str(), 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Six built-in functions cover almost all early input and output. print() has a side effect — text on screen — and returns None; input() blocks until the user presses Enter and returns what was typed as a string; len() returns the number of characters in a string or items in a sequence. The other three are type converters: str(), int() and float() take a value and return a new value of the named type, leaving the original untouched. The distinction that matters is between a function called for its return value and one called for its side effect, because assigning the result of print() to a variable gives you None, which is a common and puzzling first bug.</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built-in function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return value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side effect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type conversion</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 is called for its effect and returns None; the converters are called for their return value and change nothing in place.</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two-column table of six function cards. Left column, "called for effect": print() with an arrow to a screen icon and a small tag "returns None". Right column, "called for the value": input() with an arrow fr…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23-28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builtin-functions-panel</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print(), input(), len(), str(), int() and float() f…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print(), input(), len(), str(), 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print() to show something and expect no useful return value</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input() to read a line and remember it is always a str</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immediately with int() or float() when a number is needed</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Guard a conversion with try/except if the user might type nonsense</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len() to check a length before indexing</a:t>
            </a:r>
            <a:endParaRPr lang="en-US" sz="1100" dirty="0"/>
          </a:p>
        </p:txBody>
      </p:sp>
      <p:sp>
        <p:nvSpPr>
          <p:cNvPr id="19" name="shape-2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str() when a number must be joined to text</a:t>
            </a:r>
            <a:endParaRPr lang="en-US" sz="1100" dirty="0"/>
          </a:p>
        </p:txBody>
      </p:sp>
      <p:sp>
        <p:nvSpPr>
          <p:cNvPr id="21" name="shape-2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print and the converters on short values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for len() on a sequence of n items and for str conversion of n characters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input() blocks indefinitely until the user responds</a:t>
            </a:r>
            <a:endParaRPr lang="en-US" sz="1100" dirty="0"/>
          </a:p>
        </p:txBody>
      </p:sp>
      <p:sp>
        <p:nvSpPr>
          <p:cNvPr id="23" name="shape-2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len() on a built-in sequence is O(1) in CPython because the length is stored, not counted.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23-28   |   CO1  |  Bloom L3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print(), input(), len(), str(), int() and float() f…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print(), input(), len(), str(), 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user is asked for an age and types 25; compute the age in dog years.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text = input('Age? ') binds text to the string '25'</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age = int(text) converts it to the integer 25</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dog = age * 7 gives 175</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print('In dog years: ' + str(dog)) prints In dog years: 175</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Output is "In dog years: 175"; without the int() the multiplication would have replicated the string 25 seven times instead.</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text = input('Age? ')   # '25'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age = int(text)          # 25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print('In dog years: ' + str(age * 7))</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In dog years: 175</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x = print('hi') and then find x is None. print() returns nothing useful; it is called for the output it produces, not for a value.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1, pp. 23-28   |   CO1  |  Bloom L3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Boolean values and comparison operators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Boolean values and comparison operato…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bool type has exactly two values, True and False, written with a leading capital and no quotes. The six comparison operators ==, !=, &lt;, &gt;, &lt;= and &gt;= each take two values and produce a bool, which is what makes them the source of every condition in the language. Equality compares values, so 42 == 42.0 is True even though the types differ; identity, written is, compares whether two names refer to the same object, which is a different and usually unwanted question. Comparing values of incompatible types with &lt; raises a TypeError rather than inventing an ordering.</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bool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True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False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comparison operator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 versus is</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Comparison operators produce a bool, and == asks about value while is asks about identity.</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Six funnels arranged in two rows of three, each labelled with one comparison operator. Each funnel takes two value tokens at the top and emits a single True or False token at the bottom, colour coded green for…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32-35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comparison-to-bool-funnel</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Boolean values and comparison operators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Boolean values and comparison operato…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condition as a question with a yes or no answer</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operator that asks that question</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 for value equality, never is</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Reserve is for comparing against None</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both operands are comparable types</a:t>
            </a:r>
            <a:endParaRPr lang="en-US" sz="1100" dirty="0"/>
          </a:p>
        </p:txBody>
      </p:sp>
      <p:sp>
        <p:nvSpPr>
          <p:cNvPr id="19" name="shape-24-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result as a bool that can be stored in a variable</a:t>
            </a:r>
            <a:endParaRPr lang="en-US" sz="1100" dirty="0"/>
          </a:p>
        </p:txBody>
      </p:sp>
      <p:sp>
        <p:nvSpPr>
          <p:cNvPr id="21" name="shape-24-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numbers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for comparing sequences of length n, which compare element by element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with an early exit on the first differing element</a:t>
            </a:r>
            <a:endParaRPr lang="en-US" sz="1100" dirty="0"/>
          </a:p>
        </p:txBody>
      </p:sp>
      <p:sp>
        <p:nvSpPr>
          <p:cNvPr id="23" name="shape-24-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String and list comparisons stop at the first difference, so worst case is full length.</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32-35   |   CO1  |  Bloom L2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Boolean values and comparison operators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Boolean values and comparison operato…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Evaluate 42 == 42.0, 42 == "42", "cat" &lt; "dog" and 42 &lt; "42".</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42 == 42.0 is True — numeric equality ignores int versus float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42 == "42" is False — an int is never equal to a str</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"cat" &lt; "dog" is True — strings compare alphabetically by character codes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42 &lt; "42" raises TypeError — Python refuses to order an int against a str</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Three Booleans and one TypeError: equality across types returns False, but ordering across types is an error rather than a guess.</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42 == 42.0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True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42 == '42'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False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'cat' &lt; 'dog'</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True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42 &lt; '42'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TypeError: '&lt;' not supported between 'int' and 'str'</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if x is 5 instead of if x == 5. It happens to work for small integers because CPython caches them, then fails silently for larger numbers — a bug that appears only once the data grows.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32-35   |   CO1  |  Bloom L2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Boolean operators and mixing them with comparisons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Boolean operators and mixing them wit…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three Boolean operators combine conditions: and is True only when both operands are True, or is True when at least one is, and not inverts a single operand. Both and and or short-circuit — they stop evaluating as soon as the answer is determined, so the right-hand side of an and is never evaluated when the left is False. This is not merely an optimisation; it is what makes the common guard pattern safe, because a length check can protect an index lookup placed after it. Precedence runs not first, then and, then or, and comparisons bind tighter than all three, so a &lt; b and c &lt; d needs no parentheses.</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and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short-circuit evaluation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operator precedence</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and and or stop early, which is why a guard condition placed first can protect the expression after it.</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evaluation tracks drawn as circuits. Upper track, labelled and: a signal enters the left operand box which evaluates to False and lights red; the wire to the right operand box is cut with a scissors icon 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35-37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short-circuit-gate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Boolean operators and mixing them with comparisons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Boolean operators and mixing them wit…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each condition separately and confirm each is a bool</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Join with and when every condition must hold</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Join with or when any one suffices</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Put the cheap or protective condition on the left of an and</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not sparingly and prefer a positively phrased condition</a:t>
            </a:r>
            <a:endParaRPr lang="en-US" sz="1100" dirty="0"/>
          </a:p>
        </p:txBody>
      </p:sp>
      <p:sp>
        <p:nvSpPr>
          <p:cNvPr id="19" name="shape-27-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parentheses when mixing and with or, even where precedence makes them optional</a:t>
            </a:r>
            <a:endParaRPr lang="en-US" sz="1100" dirty="0"/>
          </a:p>
        </p:txBody>
      </p:sp>
      <p:sp>
        <p:nvSpPr>
          <p:cNvPr id="21" name="shape-27-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the left operand settles the answer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evaluates operands left to right until determined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O(k) for k operands when none short-circuits</a:t>
            </a:r>
            <a:endParaRPr lang="en-US" sz="1100" dirty="0"/>
          </a:p>
        </p:txBody>
      </p:sp>
      <p:sp>
        <p:nvSpPr>
          <p:cNvPr id="23" name="shape-27-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Short-circuiting means the order of operands changes both speed and safety, not just style.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35-37   |   CO1  |  Bloom L3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Boolean operators and mixing them with comparisons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Boolean operators and mixing them wit…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items = [] and the condition len(items) &gt; 0 and items[0] == 'x'.</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len(items) &gt; 0 evaluates to 0 &gt; 0, which is False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Because and short-circuits, items[0] is never evaluated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whole expression is False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Reversing the order to items[0] == 'x' and len(items) &gt; 0 raises IndexError</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guarded order returns False safely; the reversed order crashes, which is the entire reason short-circuiting is specified behaviour rather than an optimisation.</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items =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len(items) &gt; 0 and items[0] == 'x'</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False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items[0] == 'x' and len(items) &gt;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IndexError: list index out of range</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if x == 1 or 2 meaning "x is 1 or 2". Python reads it as (x == 1) or (2), and 2 is truthy, so the condition is always True. The correct form is x == 1 or x == 2, or x in (1, 2).</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35-37   |   CO1  |  Bloom L3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Elements of flow control: conditions, blocks and program execution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Elements of flow control: conditions,…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flow control statement has two parts: a condition that evaluates to a bool, and a block of code that runs depending on it. Python marks blocks by indentation rather than braces, so the indentation is syntax and not formatting — a block begins when the indentation increases, may contain further nested blocks, and ends when the indentation returns to the previous level. The benefit is that the visual structure of the code and its actual structure cannot disagree, which removes a whole class of C-family bug. The cost is that mixing tabs and spaces, or being inconsistent by a single space, raises an IndentationError or, worse, silently moves a statement into or out of a block.</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condition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block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indentation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IndentationError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execution flow</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 Python, indentation is not layout — it is the syntax that defines a block.</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code panel showing an if statement with a nested if inside it and a trailing statement at the outer level. Vertical coloured guide bars run down the left of each block: a blue bar spanning the outer block, 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37-38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indentation-defines-block</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Elements of flow control: conditions, blocks and progra…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Elements of flow control: conditions,…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condition and end the line with a colon</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Indent the block consistently, four spaces by convention</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Keep every line of a block at the same indentation</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De-indent to end the block</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Never mix tabs and spaces in one file</a:t>
            </a:r>
            <a:endParaRPr lang="en-US" sz="1100" dirty="0"/>
          </a:p>
        </p:txBody>
      </p:sp>
      <p:sp>
        <p:nvSpPr>
          <p:cNvPr id="19" name="shape-30-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Let the editor show whitespace when a block behaves unexpectedly</a:t>
            </a:r>
            <a:endParaRPr lang="en-US" sz="1100" dirty="0"/>
          </a:p>
        </p:txBody>
      </p:sp>
      <p:sp>
        <p:nvSpPr>
          <p:cNvPr id="21" name="shape-30-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evaluate a condition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O(depth) nesting cost to the reader, not the interpreter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deep nesting becomes unreadable well before it becomes slow</a:t>
            </a:r>
            <a:endParaRPr lang="en-US" sz="1100" dirty="0"/>
          </a:p>
        </p:txBody>
      </p:sp>
      <p:sp>
        <p:nvSpPr>
          <p:cNvPr id="23" name="shape-30-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Nesting beyond three levels is usually a sign a function is waiting to be extracted.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37-38   |   CO1  |  Bloom L2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Elements of flow control: conditions, blocks and progra…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Elements of flow control: conditions,…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program prints "big" when n &gt; 10 and always prints "done".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n &gt; 10: begins a block</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indented print('big') is inside the block and runs only when the condition holds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print('done') at the outer indentation is outside the block</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With n = 5 only "done" prints; with n = 20 both print</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Indenting the second print by four spaces would move it inside the block, so "done" would then print only for n &gt; 10 — no error, just different behaviour.</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 = 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if n &gt; 10: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print('big')   # inside the block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print('done')      # outside the block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output: done</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indent by a mixture of tabs and spaces because two editors disagree. The file looks aligned and raises TabError or, in older code, silently reassigns statements to the wrong block. Configure the editor to insert spaces and never tabs.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37-38   |   CO1  |  Bloom L2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if, else and elif statements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if, else and elif statements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if statement runs its block when its condition is True. An else clause attached to it runs when the condition is False, and elif clauses sit between them, each with its own condition, tested in order. The chain is mutually exclusive and ordered: the first clause whose condition is True runs and every later clause is skipped, even if its condition would also have been True. That ordering is the whole design decision — putting a broad condition before a narrow one makes the narrow clause unreachable, which is a silent logic bug rather than an error.</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if</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else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elif</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mutually exclusive branches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order of conditions</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 if/elif chain stops at the first True clause, so condition order decides behaviour, not just style.</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vertical chain of four diamond decision nodes labelled with the conditions of an if, two elifs and a final else box. A token enters at the top and falls through each diamond; at each, a "False" arrow continu…</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38-45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elif-chain-first-match</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if, else and elif statements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if, else and elif statements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every case the program must handle</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Order them from most specific to most general</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most specific as the if</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intermediate cases as elif clauses in narrowing order</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a final else for the catch-all case</a:t>
            </a:r>
            <a:endParaRPr lang="en-US" sz="1100" dirty="0"/>
          </a:p>
        </p:txBody>
      </p:sp>
      <p:sp>
        <p:nvSpPr>
          <p:cNvPr id="19" name="shape-33-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that every case is reachable by reading the chain top to bottom</a:t>
            </a:r>
            <a:endParaRPr lang="en-US" sz="1100" dirty="0"/>
          </a:p>
        </p:txBody>
      </p:sp>
      <p:sp>
        <p:nvSpPr>
          <p:cNvPr id="21" name="shape-33-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the first condition matches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O(k/2) condition evaluations for k clauses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O(k) when the else is reached</a:t>
            </a:r>
            <a:endParaRPr lang="en-US" sz="1100" dirty="0"/>
          </a:p>
        </p:txBody>
      </p:sp>
      <p:sp>
        <p:nvSpPr>
          <p:cNvPr id="23" name="shape-33-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Put the most likely case first for speed and the most specific first for correctness; when they conflict, correctness wins.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38-45   |   CO1  |  Bloom L3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if, else and elif statements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if, else and elif statements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Grade a mark: 90+ is A, 80+ is B, 70+ is C, otherwise F. Test with mark = 95.</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mark &gt;= 90 is True for 95, so "A" is assigned</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elif mark &gt;= 80 clause is skipped entirely, never evaluated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remaining clauses are likewise skipped</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Reversing the order to test mark &gt;= 70 first would give "C" for 95</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Correct order gives "A"; the reversed order gives "C" with no error at all, which is exactly why the order is a correctness decision.</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if mark &gt;= 90: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grade = 'A'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elif mark &gt;= 80: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grade = 'B'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elif mark &gt;= 70: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grade = 'C'</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else: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grade = 'F'</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mark = 95 -&gt; 'A'</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a series of separate if statements instead of an elif chain, so several blocks run for one input and the last one silently overwrites the earlier results. Use elif whenever the cases are meant to be mutually exclusive.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38-45   |   CO1  |  Bloom L3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while loops, break and continue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while loops, break and continue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while loop re-tests its condition before every pass and runs its block for as long as the condition stays True. It is the right choice when the number of repetitions is not known in advance — waiting for valid user input, for example. Two statements alter the flow from inside: break exits the loop immediately without re-testing, and continue jumps straight back to the condition, skipping the rest of the current pass. The permanent hazard is that nothing inside the loop changes the condition, which produces an infinite loop; the discipline is to name, before writing the body, exactly which statement will eventually make the condition False.</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while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loop condition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break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continue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infinite loop</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Before writing a while body, name the statement inside it that will eventually make the condition False.</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flow diagram: an entry arrow into a diamond labelled with the loop condition; the True branch goes right into a block rectangle labelled "body", whose exit arrow loops back up to the diamond; the False branc…</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45-53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while-loop-flow</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while loops, break and continue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while loops, break and continue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Initialise the variable the condition tests, before the loop</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condition so it is True at the start</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body</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Ensure at least one statement in the body moves the condition toward False</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break only for an early exit that the condition cannot express</a:t>
            </a:r>
            <a:endParaRPr lang="en-US" sz="1100" dirty="0"/>
          </a:p>
        </p:txBody>
      </p:sp>
      <p:sp>
        <p:nvSpPr>
          <p:cNvPr id="19" name="shape-3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continue only to skip the remainder of one pass</a:t>
            </a:r>
            <a:endParaRPr lang="en-US" sz="1100" dirty="0"/>
          </a:p>
        </p:txBody>
      </p:sp>
      <p:sp>
        <p:nvSpPr>
          <p:cNvPr id="21" name="shape-3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the condition is False at entry and the body never runs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for n passes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unbounded — an infinite loop if the condition never becomes False</a:t>
            </a:r>
            <a:endParaRPr lang="en-US" sz="1100" dirty="0"/>
          </a:p>
        </p:txBody>
      </p:sp>
      <p:sp>
        <p:nvSpPr>
          <p:cNvPr id="23" name="shape-3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while loop has no built-in bound; a counter guard is worth adding when the terminating condition depends on external input.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45-53   |   CO1  |  Bloom L3</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while loops, break and continue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while loops, break and continue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Keep asking for a password until the user types "swordfish".</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guess = '' so the condition is True on entry</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while guess != 'swordfish': re-tests before each pass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body reassigns guess = input('Password? '), which is the statement that can end the loop</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When the user types swordfish the condition becomes False and the loop exits</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loop runs once per wrong attempt and exits on the correct one; removing the assignment from the body would spin forever without ever re-prompting.</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guess =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while guess != 'swordfish':</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guess = input('Password? ')   # this line can end the loop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print('Access granted')</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put the input() call before the loop instead of inside it, so the condition is tested against the same value forever. If the first guess is wrong the program hangs; the variable the condition tests must be reassigned inside the body.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45-53   |   CO1  |  Bloom L3</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for loops and the range() function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for loops and the range() function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for loop walks over the items of an iterable, binding each to the loop variable in turn, and stops when the items run out — so unlike a while loop it cannot run forever over a finite sequence. range() manufactures a sequence of integers on demand and takes up to three arguments: range(stop) counts from 0, range(start, stop) from start, and range(start, stop, step) advances by step, which may be negative. The stop value is always excluded, making the interval half-open; this is what makes range(len(items)) line up exactly with the valid indexes and makes consecutive ranges join without gaps or overlaps. range() does not build a list, so range(10**9) costs nothing until it is iterated.</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iterable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range(start, stop, step)</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half-open interval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loop variable</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range() excludes its stop value, which is exactly what makes range(len(x)) the valid index set.</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horizontal number line from 0 to 10 with tick marks. Three range calls are drawn as brackets above it: range(5) spanning 0 to 4 with a filled bracket at 0 and a hollow circle at 5; range(2, 6) spanning 2 to…</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53-57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range-half-open-ruler</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for loops and the range() function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for loops and the range() function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what you are iterating over: items or positions</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items, iterate the sequence directly</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positions, use range(len(sequence))</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a counted loop, use range(start, stop, step)</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Remember the stop value is excluded</a:t>
            </a:r>
            <a:endParaRPr lang="en-US" sz="1100" dirty="0"/>
          </a:p>
        </p:txBody>
      </p:sp>
      <p:sp>
        <p:nvSpPr>
          <p:cNvPr id="19" name="shape-3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enumerate() when you need both the index and the item</a:t>
            </a:r>
            <a:endParaRPr lang="en-US" sz="1100" dirty="0"/>
          </a:p>
        </p:txBody>
      </p:sp>
      <p:sp>
        <p:nvSpPr>
          <p:cNvPr id="21" name="shape-3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create a range regardless of size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to iterate n items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range itself never allocates the sequence</a:t>
            </a:r>
            <a:endParaRPr lang="en-US" sz="1100" dirty="0"/>
          </a:p>
        </p:txBody>
      </p:sp>
      <p:sp>
        <p:nvSpPr>
          <p:cNvPr id="23" name="shape-3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range is lazy, so range(10**9) is instant to build and only costs when iterated.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53-57   |   CO1  |  Bloom L3</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for loops and the range() function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for loops and the range() function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 the values produced by range(5), range(2, 6) and range(5, 0, -1).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range(5) yields 0, 1, 2, 3, 4 — five values, stopping before 5</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range(2, 6) yields 2, 3, 4, 5 — four values, stopping before 6</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range(5, 0, -1) yields 5, 4, 3, 2, 1 — counting down, stopping before 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 include 0 in the countdown the stop must be -1, not 0</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All three exclude their stop value; the countdown case is where that exclusion surprises people, since range(5, 0, -1) never yields 0.</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list(range(5))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[0, 1, 2, 3, 4]</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list(range(2, 6))</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[2, 3, 4, 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list(range(5, 0,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[5, 4, 3, 2, 1]</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range(1, len(items)) intending to cover the whole list, which silently skips index 0. The valid index set is range(len(items)); starting at 1 drops the first item with no error.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53-57   |   CO1  |  Bloom L3</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Importing modules and ending a program early with sys.exit()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Importing modules and ending a progra…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module is a Python file of ready-made functions, and import makes it available under its own name, so random.randint() is called through the module that owns it. The from module import name form copies names directly into the current namespace, which shortens calls at the cost of hiding where each name came from and risking a collision with your own variables. sys.exit() terminates the program immediately from anywhere, including deep inside a loop, which is the clean way to stop on an unrecoverable condition. Importing is not free the first time — the module is located, executed once and cached — but subsequent imports of the same module cost nothing.</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module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import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from import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namespace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sys.exit()</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plain import so every call says which module it came from; reserve from-import for names you use constantly.</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box labelled "your program namespace" containing your own variable names. Right: two module boxes, random and sys, each containing their function names. Two arrows cross the gap. Arrow A, labelled "imp…</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57-60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import-namespace-diagram</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Importing modules and ending a program early with sys.e…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Importing modules and ending a progra…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module that already solves the problem</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import modulename at the top of the file</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functions as modulename.function()</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from module import name only for very frequently used names</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Import sys before calling sys.exit()</a:t>
            </a:r>
            <a:endParaRPr lang="en-US" sz="1100" dirty="0"/>
          </a:p>
        </p:txBody>
      </p:sp>
      <p:sp>
        <p:nvSpPr>
          <p:cNvPr id="19" name="shape-4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sys.exit() only for conditions the program genuinely cannot continue from</a:t>
            </a:r>
            <a:endParaRPr lang="en-US" sz="1100" dirty="0"/>
          </a:p>
        </p:txBody>
      </p:sp>
      <p:sp>
        <p:nvSpPr>
          <p:cNvPr id="21" name="shape-4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cached re-import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one-time module load on first import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first import of a large module costs its full execution time</a:t>
            </a:r>
            <a:endParaRPr lang="en-US" sz="1100" dirty="0"/>
          </a:p>
        </p:txBody>
      </p:sp>
      <p:sp>
        <p:nvSpPr>
          <p:cNvPr id="23" name="shape-4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All imports belong at the top of the file so the load cost is paid once, predictably, at startup.</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57-60   |   CO1  |  Bloom L3</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Importing modules and ending a program early with sys.e…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Importing modules and ending a progra…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 four random integers between 1 and 10.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import random loads the module and binds the name random</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for loop over range(4) repeats four times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random.randint(1, 10) returns one integer each pass, inclusive of both ends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 shows each value</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Four integers in 1..10 — note randint is inclusive at both ends, unlike range(), which excludes its stop.</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import random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 i in range(4):</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print(random.randint(1, 10))</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import sys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if not data: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sys.exit('no data, stopping')</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from random import * and then define their own variable named random or randint, silently shadowing the imported function. The star form pollutes the namespace; use plain import and call through the module name.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2, pp. 57-60   |   CO1  |  Bloom L3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def statements, parameters, return values and None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def statements, parameters, return va…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def statement creates a function: it names a block of code and lists the parameters that block expects. Parameters are the names in the definition; arguments are the values supplied at the call. A return statement ends the function immediately and hands a value back to the caller; a function that falls off the end without one returns None, which is a real value of type NoneType and not an absence. Defining a function does not run it — the block executes only when it is called, which is why a def containing an error can sit harmlessly in a file until the day it is invoked.</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def</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parameter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argument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return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None</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function with no return statement still returns something: None.</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def block showing def greet(name): with the parameter name circled in blue. Right: a call site showing greet('Alice') with the argument 'Alice' circled in green. A curved arrow carries the green argume…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3, pp. 61-65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function-call-mechanics</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def statements, parameters, return values and None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def statements, parameters, return va…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a block of code that has one job and is used more than once</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def name(parameters): above it</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Indent the block as the function body</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 the value the caller needs</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the function by name with arguments in the right order</a:t>
            </a:r>
            <a:endParaRPr lang="en-US" sz="1100" dirty="0"/>
          </a:p>
        </p:txBody>
      </p:sp>
      <p:sp>
        <p:nvSpPr>
          <p:cNvPr id="19" name="shape-4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what the function returns when no return statement runs</a:t>
            </a:r>
            <a:endParaRPr lang="en-US" sz="1100" dirty="0"/>
          </a:p>
        </p:txBody>
      </p:sp>
      <p:sp>
        <p:nvSpPr>
          <p:cNvPr id="21" name="shape-4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call overhead plus the body cost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body cost dominates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deep recursion risks RecursionError at roughly 1000 frames by default</a:t>
            </a:r>
            <a:endParaRPr lang="en-US" sz="1100" dirty="0"/>
          </a:p>
        </p:txBody>
      </p:sp>
      <p:sp>
        <p:nvSpPr>
          <p:cNvPr id="23" name="shape-4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Function call overhead in Python is real but almost always smaller than the readability gain.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3, pp. 61-65   |   CO1  |  Bloom L3</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def statements, parameters, return values and None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def statements, parameters, return va…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add(a, b) that returns a + b, and a broken version that prints instead of returning.</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 add(a, b): return a + b — calling add(2, 3) gives the value 5</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total = add(2, 3) binds total to 5</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 show(a, b): print(a + b) — calling show(2, 3) prints 5 but returns None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total = show(2, 3) binds total to None, and total * 2 then raises TypeError</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returning version composes into further expressions; the printing version does not, because None cannot be multiplied.</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def add(a, 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a + b</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def show(a, 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print(a + b)      # no return -&gt; returns None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add(2, 3)    # 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show(2, 3)   # prints 5, returns None</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print inside a function and then try to use the function call in an expression. print() shows a value to the user; return hands it to the caller. Only return makes a function composable.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3, pp. 61-65   |   CO1  |  Bloom L3</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Keyword arguments, local and global scope, and the global statement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Keyword arguments, local and global 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Keyword arguments are passed by name rather than position, which is how print() accepts end= and sep= without their order mattering. Scope is the region in which a name is visible: every function call creates a fresh local scope that is discarded on return, while names assigned at the top level of a file live in the global scope. A function can read a global name freely, but assigning to that name inside the function creates a new local variable that shadows it instead of changing it. The global statement is the explicit opt-out, declaring that assignments to a name inside the function should affect the global binding — useful occasionally and a maintenance hazard in quantity, because it lets any function change state any other function depends on.</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keyword argument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local scope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global scope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global statement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shadowing</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Assigning to a name inside a function makes it local, however much it looks like the global of the same name.</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large outer rectangle labelled "global scope" containing a name token spam = 42. Inside it, a smaller rectangle labelled "local scope of func()" drawn with a dashed border to show it is temporary. Two versio…</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3, pp. 65-72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L4  |  visual id: scope-boxes-nested</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Keyword arguments, local and global scope, and the glob…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Keyword arguments, local and global 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passing values in as parameters and returning results out</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a global only when the value is genuinely program-wide configuration</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Never assign to a global name inside a function by accident</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a global must be assigned, declare global name as the first line of the function</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Keep the number of global statements in a program countable on one hand</a:t>
            </a:r>
            <a:endParaRPr lang="en-US" sz="1100" dirty="0"/>
          </a:p>
        </p:txBody>
      </p:sp>
      <p:sp>
        <p:nvSpPr>
          <p:cNvPr id="19" name="shape-4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keyword arguments to make a call site self-documenting</a:t>
            </a:r>
            <a:endParaRPr lang="en-US" sz="1100" dirty="0"/>
          </a:p>
        </p:txBody>
      </p:sp>
      <p:sp>
        <p:nvSpPr>
          <p:cNvPr id="21" name="shape-4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local lookup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local lookups are faster than global lookups in CPython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O(1) but with a wider constant for globals and builtins</a:t>
            </a:r>
            <a:endParaRPr lang="en-US" sz="1100" dirty="0"/>
          </a:p>
        </p:txBody>
      </p:sp>
      <p:sp>
        <p:nvSpPr>
          <p:cNvPr id="23" name="shape-4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real cost of globals is coupling, not lookup speed.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3, pp. 65-72   |   CO1  |  Bloom L4</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Keyword arguments, local and global scope, and the glob…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Keyword arguments, local and global 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spam = 42 at the top level; a function assigns spam = 99 without a global statement.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Inside the function, the assignment spam = 99 creates a local named spam</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global spam is untouched and still holds 42</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Printing spam after the call gives 42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Adding global spam as the first line of the function makes the assignment write through, and the print then gives 99</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Without the declaration the global stays 42; with it the global becomes 99 — and nothing warns you which one you wrote.</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spam = 42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def f():</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spam = 99        # creates a LOCAL spam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 print(spam)     # 42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def g():</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global spam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spam = 99        # writes the GLOBAL spam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 print(spam)     # 99</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read a global successfully at the top of a function and then assign to it lower down, which retroactively makes the name local for the whole function and turns the earlier read into an UnboundLocalError. Python decides local-or-global for the entire function body, not line by line.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3, pp. 65-72   |   CO1  |  Bloom L4</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Exception handling and the Guess the Number program</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Exception handling and the Guess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An exception is an error raised at run time that, if nothing catches it, unwinds the call stack and prints a traceback. A try block marks code that might fail, and an except clause names the exception type it is prepared to handle, so control jumps there instead of crashing. Catching a specific type such as ValueError is the whole discipline: a bare except catches everything, including a typo in your own code and the user pressing Ctrl-C, and turns a loud bug into a silent one. The Guess the Number program brings the module together — a loop for repetition, a conditional for the hotter-colder response, a function for the comparison and a try/except around the int() conversion so a non-numeric guess re-prompts instead of crashing.</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exception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except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traceback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specific exception type</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Catch the specific exception you expect; a bare except turns your own bugs into silence.</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flow diagram with a try block rectangle at the top containing three statements. From the middle statement a red lightning bolt labelled "ValueError raised" fires sideways to an except rectangle labelled "exc…</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3, pp. 72-78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L4  |  visual id: try-except-flow</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Exception handling and the Guess the Number program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Exception handling and the Guess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single statement that can fail and why</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Wrap only that statement in try</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except with the specific exception type it raises</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Handle it: re-prompt, use a default, or report and exit</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Keep the try block as small as possible</a:t>
            </a:r>
            <a:endParaRPr lang="en-US" sz="1100" dirty="0"/>
          </a:p>
        </p:txBody>
      </p:sp>
      <p:sp>
        <p:nvSpPr>
          <p:cNvPr id="19" name="shape-5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Never write a bare except</a:t>
            </a:r>
            <a:endParaRPr lang="en-US" sz="1100" dirty="0"/>
          </a:p>
        </p:txBody>
      </p:sp>
      <p:sp>
        <p:nvSpPr>
          <p:cNvPr id="21" name="shape-5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near-zero cost when no exception is raised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try setup is cheap; raising and catching is comparatively expensive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an exception raised inside a tight loop is slow</a:t>
            </a:r>
            <a:endParaRPr lang="en-US" sz="1100" dirty="0"/>
          </a:p>
        </p:txBody>
      </p:sp>
      <p:sp>
        <p:nvSpPr>
          <p:cNvPr id="23" name="shape-5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Python idiom favours asking forgiveness over permission, but not inside a hot loop.</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3, pp. 72-78   |   CO1  |  Bloom L4</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Exception handling and the Guess the Number program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Exception handling and the Guess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user is asked for a guess and types "abc".</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int('abc') raises ValueError: invalid literal for int() with base 10: 'abc'</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except ValueError clause catches it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handler prints "Please type a number" and the loop repeats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user types 7, int() succeeds and the program compares it against the secret</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bad input re-prompts instead of printing a traceback and quitting; catching ValueError specifically means a genuine bug elsewhere would still surface.</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import random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secret = random.randint(1, 20)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while True: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try: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guess = int(input('Guess: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except ValueError: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print('Please type a number')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continue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if guess &lt; secret: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print('Too low')</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elif guess &gt; secret: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print('Too high')</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else: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print('Correct!')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break</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wrap the entire program body in one big try/except. When something fails, the handler cannot tell which statement failed or why, so the diagnosis is lost. Wrap the smallest statement that can fail.</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3, pp. 72-78   |   CO1  |  Bloom L4</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the shell to answer one question at a time; use a file for anything you will want tomorrow.</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variable has no type; the value in it does — and the operator behaves according to that value.</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 and * symbols are chosen by operand type, so a stray number in a string expression is a TypeError, not a silent conversion.</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variable is a label pointing at a value, not a container holding one — rebinding moves the label.</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a program the way the interpreter runs it: top to bottom, tracking what each name currently holds.</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 is called for its effect and returns None; the converters are called for their return value and change nothing in place.</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Comparison operators produce a bool, and == asks about value while is asks about identity.</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and and or stop early, which is why a guard condition placed first can protect the expression after it.</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 Python, indentation is not layout — it is the syntax that defines a block.</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 if/elif chain stops at the first True clause, so condition order decides behaviour, not just style.</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Before writing a while body, name the statement inside it that will eventually make the condition False.</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range() excludes its stop value, which is exactly what makes range(len(x)) the valid index set.</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plain import so every call says which module it came from; reserve from-import for names you use constantly.</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function with no return statement still returns something: None.</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Assigning to a name inside a function makes it local, however much it looks like the global of the same name.</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Catch the specific exception you expect; a bare except turns your own bugs into silence.</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1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quizzes/Module_1_Quiz.pdf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quizzes/Module_1_Quiz.gift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36%, L3-L4 64%, L5-L6 0%</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1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assignments/Module_1_Assignment.pdf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1 — Expressions, flow control and functions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10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&lt;USN&gt;_BEC305_Assignment1.pdf,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Correctness of code and predicted output (7); Control-flow choice and justification (5); Functions, scope and error handling (5); Code readability and commentary (3). Attainment: CO1 = 20.</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2026-09-11T19:47:50Z</dcterms:created>
  <dcterms:modified xsi:type="dcterms:W3CDTF">2026-09-11T19:47:50Z</dcterms:modified>
</cp:coreProperties>
</file>