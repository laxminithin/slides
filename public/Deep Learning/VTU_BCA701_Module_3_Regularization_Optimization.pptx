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1ee1252d8b47b0" /><Relationship Type="http://schemas.openxmlformats.org/officeDocument/2006/relationships/extended-properties" Target="/docProps/app.xml" Id="R02404f82f5fc4b46" /><Relationship Type="http://schemas.openxmlformats.org/officeDocument/2006/relationships/officeDocument" Target="/ppt/presentation.xml" Id="Rf869c40c93e94d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26ed5785754974"/>
  </p:sldMasterIdLst>
  <p:notesMasterIdLst>
    <p:notesMasterId xmlns:r="http://schemas.openxmlformats.org/officeDocument/2006/relationships" r:id="R6d2b72a97adc410a"/>
  </p:notesMasterIdLst>
  <p:sldIdLst>
    <p:sldId xmlns:r="http://schemas.openxmlformats.org/officeDocument/2006/relationships" id="256" r:id="R6bb0e3d3154146ce"/>
    <p:sldId xmlns:r="http://schemas.openxmlformats.org/officeDocument/2006/relationships" id="257" r:id="R54f34a626d7c4e2d"/>
    <p:sldId xmlns:r="http://schemas.openxmlformats.org/officeDocument/2006/relationships" id="258" r:id="R1ae048bc88014fdb"/>
    <p:sldId xmlns:r="http://schemas.openxmlformats.org/officeDocument/2006/relationships" id="259" r:id="R946cba3cf0bf42ae"/>
    <p:sldId xmlns:r="http://schemas.openxmlformats.org/officeDocument/2006/relationships" id="260" r:id="R2ceb8b8fdcab4c61"/>
    <p:sldId xmlns:r="http://schemas.openxmlformats.org/officeDocument/2006/relationships" id="261" r:id="R6a8d9f969e7b4674"/>
    <p:sldId xmlns:r="http://schemas.openxmlformats.org/officeDocument/2006/relationships" id="262" r:id="Rad9f46010824483b"/>
    <p:sldId xmlns:r="http://schemas.openxmlformats.org/officeDocument/2006/relationships" id="263" r:id="R5930cdd638064d41"/>
    <p:sldId xmlns:r="http://schemas.openxmlformats.org/officeDocument/2006/relationships" id="264" r:id="R330caab8e2b845bc"/>
    <p:sldId xmlns:r="http://schemas.openxmlformats.org/officeDocument/2006/relationships" id="265" r:id="Rf9cb573e7c104893"/>
    <p:sldId xmlns:r="http://schemas.openxmlformats.org/officeDocument/2006/relationships" id="266" r:id="Reb19ec17bcf945dc"/>
    <p:sldId xmlns:r="http://schemas.openxmlformats.org/officeDocument/2006/relationships" id="267" r:id="R949f812acdd84f58"/>
    <p:sldId xmlns:r="http://schemas.openxmlformats.org/officeDocument/2006/relationships" id="268" r:id="Rc96a9fd14e694d0b"/>
    <p:sldId xmlns:r="http://schemas.openxmlformats.org/officeDocument/2006/relationships" id="269" r:id="R5d9e2467dfa44d88"/>
    <p:sldId xmlns:r="http://schemas.openxmlformats.org/officeDocument/2006/relationships" id="270" r:id="Rcbc9093d400a4e8f"/>
    <p:sldId xmlns:r="http://schemas.openxmlformats.org/officeDocument/2006/relationships" id="271" r:id="R4c20eefe6cec41a2"/>
    <p:sldId xmlns:r="http://schemas.openxmlformats.org/officeDocument/2006/relationships" id="272" r:id="R43b84df7750a4702"/>
    <p:sldId xmlns:r="http://schemas.openxmlformats.org/officeDocument/2006/relationships" id="273" r:id="Rc945a324beac4aa5"/>
    <p:sldId xmlns:r="http://schemas.openxmlformats.org/officeDocument/2006/relationships" id="274" r:id="Ra0b06b57581d4d86"/>
    <p:sldId xmlns:r="http://schemas.openxmlformats.org/officeDocument/2006/relationships" id="275" r:id="R1cc6915e4bef4a8d"/>
    <p:sldId xmlns:r="http://schemas.openxmlformats.org/officeDocument/2006/relationships" id="276" r:id="Rd81c4b6db0e04488"/>
    <p:sldId xmlns:r="http://schemas.openxmlformats.org/officeDocument/2006/relationships" id="277" r:id="R67e8f8343a3b4342"/>
    <p:sldId xmlns:r="http://schemas.openxmlformats.org/officeDocument/2006/relationships" id="278" r:id="R82d8761f0c05434d"/>
    <p:sldId xmlns:r="http://schemas.openxmlformats.org/officeDocument/2006/relationships" id="279" r:id="R604c330940c6452a"/>
    <p:sldId xmlns:r="http://schemas.openxmlformats.org/officeDocument/2006/relationships" id="280" r:id="R0ebf89178b7d4353"/>
    <p:sldId xmlns:r="http://schemas.openxmlformats.org/officeDocument/2006/relationships" id="281" r:id="R970b5e1f8e2844c3"/>
    <p:sldId xmlns:r="http://schemas.openxmlformats.org/officeDocument/2006/relationships" id="282" r:id="R7f883ea0f8ac4106"/>
    <p:sldId xmlns:r="http://schemas.openxmlformats.org/officeDocument/2006/relationships" id="283" r:id="R5c5fc31518a34f8c"/>
    <p:sldId xmlns:r="http://schemas.openxmlformats.org/officeDocument/2006/relationships" id="284" r:id="Race21c5f270d4982"/>
    <p:sldId xmlns:r="http://schemas.openxmlformats.org/officeDocument/2006/relationships" id="285" r:id="R2ef32db144d148f6"/>
    <p:sldId xmlns:r="http://schemas.openxmlformats.org/officeDocument/2006/relationships" id="286" r:id="Re0378197f1a842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b7a0f79bb4718" /><Relationship Type="http://schemas.openxmlformats.org/officeDocument/2006/relationships/slideMaster" Target="/ppt/slideMasters/slideMaster1.xml" Id="Ra526ed5785754974" /><Relationship Type="http://schemas.openxmlformats.org/officeDocument/2006/relationships/notesMaster" Target="/ppt/notesMasters/notesMaster1.xml" Id="R6d2b72a97adc410a" /><Relationship Type="http://schemas.openxmlformats.org/officeDocument/2006/relationships/presProps" Target="/ppt/presProps.xml" Id="Rf5508a2c4a4e4c24" /><Relationship Type="http://schemas.openxmlformats.org/officeDocument/2006/relationships/tableStyles" Target="/ppt/tableStyles.xml" Id="R5f95e350454a446e" /><Relationship Type="http://schemas.openxmlformats.org/officeDocument/2006/relationships/slide" Target="/ppt/slides/slide1.xml" Id="R6bb0e3d3154146ce" /><Relationship Type="http://schemas.openxmlformats.org/officeDocument/2006/relationships/slide" Target="/ppt/slides/slide2.xml" Id="R54f34a626d7c4e2d" /><Relationship Type="http://schemas.openxmlformats.org/officeDocument/2006/relationships/slide" Target="/ppt/slides/slide3.xml" Id="R1ae048bc88014fdb" /><Relationship Type="http://schemas.openxmlformats.org/officeDocument/2006/relationships/slide" Target="/ppt/slides/slide4.xml" Id="R946cba3cf0bf42ae" /><Relationship Type="http://schemas.openxmlformats.org/officeDocument/2006/relationships/slide" Target="/ppt/slides/slide5.xml" Id="R2ceb8b8fdcab4c61" /><Relationship Type="http://schemas.openxmlformats.org/officeDocument/2006/relationships/slide" Target="/ppt/slides/slide6.xml" Id="R6a8d9f969e7b4674" /><Relationship Type="http://schemas.openxmlformats.org/officeDocument/2006/relationships/slide" Target="/ppt/slides/slide7.xml" Id="Rad9f46010824483b" /><Relationship Type="http://schemas.openxmlformats.org/officeDocument/2006/relationships/slide" Target="/ppt/slides/slide8.xml" Id="R5930cdd638064d41" /><Relationship Type="http://schemas.openxmlformats.org/officeDocument/2006/relationships/slide" Target="/ppt/slides/slide9.xml" Id="R330caab8e2b845bc" /><Relationship Type="http://schemas.openxmlformats.org/officeDocument/2006/relationships/slide" Target="/ppt/slides/slide10.xml" Id="Rf9cb573e7c104893" /><Relationship Type="http://schemas.openxmlformats.org/officeDocument/2006/relationships/slide" Target="/ppt/slides/slide11.xml" Id="Reb19ec17bcf945dc" /><Relationship Type="http://schemas.openxmlformats.org/officeDocument/2006/relationships/slide" Target="/ppt/slides/slide12.xml" Id="R949f812acdd84f58" /><Relationship Type="http://schemas.openxmlformats.org/officeDocument/2006/relationships/slide" Target="/ppt/slides/slide13.xml" Id="Rc96a9fd14e694d0b" /><Relationship Type="http://schemas.openxmlformats.org/officeDocument/2006/relationships/slide" Target="/ppt/slides/slide14.xml" Id="R5d9e2467dfa44d88" /><Relationship Type="http://schemas.openxmlformats.org/officeDocument/2006/relationships/slide" Target="/ppt/slides/slide15.xml" Id="Rcbc9093d400a4e8f" /><Relationship Type="http://schemas.openxmlformats.org/officeDocument/2006/relationships/slide" Target="/ppt/slides/slide16.xml" Id="R4c20eefe6cec41a2" /><Relationship Type="http://schemas.openxmlformats.org/officeDocument/2006/relationships/slide" Target="/ppt/slides/slide17.xml" Id="R43b84df7750a4702" /><Relationship Type="http://schemas.openxmlformats.org/officeDocument/2006/relationships/slide" Target="/ppt/slides/slide18.xml" Id="Rc945a324beac4aa5" /><Relationship Type="http://schemas.openxmlformats.org/officeDocument/2006/relationships/slide" Target="/ppt/slides/slide19.xml" Id="Ra0b06b57581d4d86" /><Relationship Type="http://schemas.openxmlformats.org/officeDocument/2006/relationships/slide" Target="/ppt/slides/slide20.xml" Id="R1cc6915e4bef4a8d" /><Relationship Type="http://schemas.openxmlformats.org/officeDocument/2006/relationships/slide" Target="/ppt/slides/slide21.xml" Id="Rd81c4b6db0e04488" /><Relationship Type="http://schemas.openxmlformats.org/officeDocument/2006/relationships/slide" Target="/ppt/slides/slide22.xml" Id="R67e8f8343a3b4342" /><Relationship Type="http://schemas.openxmlformats.org/officeDocument/2006/relationships/slide" Target="/ppt/slides/slide23.xml" Id="R82d8761f0c05434d" /><Relationship Type="http://schemas.openxmlformats.org/officeDocument/2006/relationships/slide" Target="/ppt/slides/slide24.xml" Id="R604c330940c6452a" /><Relationship Type="http://schemas.openxmlformats.org/officeDocument/2006/relationships/slide" Target="/ppt/slides/slide25.xml" Id="R0ebf89178b7d4353" /><Relationship Type="http://schemas.openxmlformats.org/officeDocument/2006/relationships/slide" Target="/ppt/slides/slide26.xml" Id="R970b5e1f8e2844c3" /><Relationship Type="http://schemas.openxmlformats.org/officeDocument/2006/relationships/slide" Target="/ppt/slides/slide27.xml" Id="R7f883ea0f8ac4106" /><Relationship Type="http://schemas.openxmlformats.org/officeDocument/2006/relationships/slide" Target="/ppt/slides/slide28.xml" Id="R5c5fc31518a34f8c" /><Relationship Type="http://schemas.openxmlformats.org/officeDocument/2006/relationships/slide" Target="/ppt/slides/slide29.xml" Id="Race21c5f270d4982" /><Relationship Type="http://schemas.openxmlformats.org/officeDocument/2006/relationships/slide" Target="/ppt/slides/slide30.xml" Id="R2ef32db144d148f6" /><Relationship Type="http://schemas.openxmlformats.org/officeDocument/2006/relationships/slide" Target="/ppt/slides/slide31.xml" Id="Re0378197f1a842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7bb6556da140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d71d85d404891" /><Relationship Type="http://schemas.openxmlformats.org/officeDocument/2006/relationships/notesMaster" Target="/ppt/notesMasters/notesMaster1.xml" Id="Redd2f57a556d4e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923a65cfd4992" /><Relationship Type="http://schemas.openxmlformats.org/officeDocument/2006/relationships/notesMaster" Target="/ppt/notesMasters/notesMaster1.xml" Id="R5c336f142db045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df3fc99aad4acc" /><Relationship Type="http://schemas.openxmlformats.org/officeDocument/2006/relationships/notesMaster" Target="/ppt/notesMasters/notesMaster1.xml" Id="Rdbb9cc0b77a54e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fd91ccc5a6497c" /><Relationship Type="http://schemas.openxmlformats.org/officeDocument/2006/relationships/notesMaster" Target="/ppt/notesMasters/notesMaster1.xml" Id="R647fb1ae24d043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997c93d6db4646" /><Relationship Type="http://schemas.openxmlformats.org/officeDocument/2006/relationships/notesMaster" Target="/ppt/notesMasters/notesMaster1.xml" Id="R40488eb0b1d143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b59ad6ec7c4f39" /><Relationship Type="http://schemas.openxmlformats.org/officeDocument/2006/relationships/notesMaster" Target="/ppt/notesMasters/notesMaster1.xml" Id="R2998cb5b61a2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0350c6b9734c10" /><Relationship Type="http://schemas.openxmlformats.org/officeDocument/2006/relationships/notesMaster" Target="/ppt/notesMasters/notesMaster1.xml" Id="R63541171685049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d1dc66f1a24d03" /><Relationship Type="http://schemas.openxmlformats.org/officeDocument/2006/relationships/notesMaster" Target="/ppt/notesMasters/notesMaster1.xml" Id="R12406388d041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b0b6079cb403b" /><Relationship Type="http://schemas.openxmlformats.org/officeDocument/2006/relationships/notesMaster" Target="/ppt/notesMasters/notesMaster1.xml" Id="Rf4b8d89a01c24b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be33094372475c" /><Relationship Type="http://schemas.openxmlformats.org/officeDocument/2006/relationships/notesMaster" Target="/ppt/notesMasters/notesMaster1.xml" Id="R20ca53063bd049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dee4f9ae3a424a" /><Relationship Type="http://schemas.openxmlformats.org/officeDocument/2006/relationships/notesMaster" Target="/ppt/notesMasters/notesMaster1.xml" Id="Ra7c02af1a4bf44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e34c0b2ece4d93" /><Relationship Type="http://schemas.openxmlformats.org/officeDocument/2006/relationships/notesMaster" Target="/ppt/notesMasters/notesMaster1.xml" Id="Rf236f71c893c4a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1d61012634492e" /><Relationship Type="http://schemas.openxmlformats.org/officeDocument/2006/relationships/notesMaster" Target="/ppt/notesMasters/notesMaster1.xml" Id="Rb603eb0d4b7e45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944cf841e84344" /><Relationship Type="http://schemas.openxmlformats.org/officeDocument/2006/relationships/notesMaster" Target="/ppt/notesMasters/notesMaster1.xml" Id="Rc9b0f843e96b4f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7aa13ec506244f8" /><Relationship Type="http://schemas.openxmlformats.org/officeDocument/2006/relationships/notesMaster" Target="/ppt/notesMasters/notesMaster1.xml" Id="R472dcb9b5b3f41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d81eceb3b54f33" /><Relationship Type="http://schemas.openxmlformats.org/officeDocument/2006/relationships/notesMaster" Target="/ppt/notesMasters/notesMaster1.xml" Id="R2befa2a8963b47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e41dceab014cb6" /><Relationship Type="http://schemas.openxmlformats.org/officeDocument/2006/relationships/notesMaster" Target="/ppt/notesMasters/notesMaster1.xml" Id="R33a3306ad771454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e338637298b4707" /><Relationship Type="http://schemas.openxmlformats.org/officeDocument/2006/relationships/notesMaster" Target="/ppt/notesMasters/notesMaster1.xml" Id="Rfe445fb5a14e4f8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4a6af78ccc34008" /><Relationship Type="http://schemas.openxmlformats.org/officeDocument/2006/relationships/notesMaster" Target="/ppt/notesMasters/notesMaster1.xml" Id="R0a4ddf1f0a1443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1481f7144f46dd" /><Relationship Type="http://schemas.openxmlformats.org/officeDocument/2006/relationships/notesMaster" Target="/ppt/notesMasters/notesMaster1.xml" Id="R15c705338fdd429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cc88eb5e5b467c" /><Relationship Type="http://schemas.openxmlformats.org/officeDocument/2006/relationships/notesMaster" Target="/ppt/notesMasters/notesMaster1.xml" Id="R790c8b5993474d2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065bcfd76f49fa" /><Relationship Type="http://schemas.openxmlformats.org/officeDocument/2006/relationships/notesMaster" Target="/ppt/notesMasters/notesMaster1.xml" Id="Rbf0cd29771ee474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2e6f2121cfe4f20" /><Relationship Type="http://schemas.openxmlformats.org/officeDocument/2006/relationships/notesMaster" Target="/ppt/notesMasters/notesMaster1.xml" Id="R0e14c6e3b1c747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9713dc25ed4984" /><Relationship Type="http://schemas.openxmlformats.org/officeDocument/2006/relationships/notesMaster" Target="/ppt/notesMasters/notesMaster1.xml" Id="R38bcbba9c8bf4c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13d7e2f7d294bc7" /><Relationship Type="http://schemas.openxmlformats.org/officeDocument/2006/relationships/notesMaster" Target="/ppt/notesMasters/notesMaster1.xml" Id="Rfe97e199774142a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0ae5ea55eb4d73" /><Relationship Type="http://schemas.openxmlformats.org/officeDocument/2006/relationships/notesMaster" Target="/ppt/notesMasters/notesMaster1.xml" Id="Raaa0522df685446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e3de40b35514c85" /><Relationship Type="http://schemas.openxmlformats.org/officeDocument/2006/relationships/notesMaster" Target="/ppt/notesMasters/notesMaster1.xml" Id="R59fa746a22574b1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7f0cc73d1749d0" /><Relationship Type="http://schemas.openxmlformats.org/officeDocument/2006/relationships/notesMaster" Target="/ppt/notesMasters/notesMaster1.xml" Id="R94b56e96969240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981c59ebbc943b7" /><Relationship Type="http://schemas.openxmlformats.org/officeDocument/2006/relationships/notesMaster" Target="/ppt/notesMasters/notesMaster1.xml" Id="Rad15f5d3c3de45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4049a3ecc2e4ca6" /><Relationship Type="http://schemas.openxmlformats.org/officeDocument/2006/relationships/notesMaster" Target="/ppt/notesMasters/notesMaster1.xml" Id="Rd912f025a3d248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39ed0482ab049b4" /><Relationship Type="http://schemas.openxmlformats.org/officeDocument/2006/relationships/notesMaster" Target="/ppt/notesMasters/notesMaster1.xml" Id="R774d38c6ec5d4b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for Module 3, aligned to the local VTU syllabus and Goodfellow et al. textbook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every phrase in Module 3 of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Regularization overview follows Goodfellow et al.'s framing of reducing generalization error.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Parameter Norm Penalties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L2 Parameter Regularization.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the practical training effect of L2 regularization as weight decay.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Interpretation of L2 regularization from prescribed deep learning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Regularization strength must be selected using validation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Dataset Augmentation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Simple augmentation flow diagram for label-preserving transformations.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Important condition for correct use of dataset augmentation.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Semi-Supervised Learning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Semi-supervised learning uses unlabeled data to support representation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Comparison slide for all regularization topics in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Introduces Optimization for Training Deep Models and its listed challenges.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Basic gradient descent update used to discuss optimization challenges.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Ill Conditioning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intuition for ill-conditioned curvature.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Local Minima and places them among other optimization issues.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Distinguishes local minima from saddle points, plateaus, and flat regions.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Plateaus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Saddle Points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Other Flat Regions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of every optimization challenge listed in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Connects the two halves of Module 3 without confusing their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synthesis for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Exam-oriented synthesis for Module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Vocabulary review for all Module 3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activity aligned with regularization and optimization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verifies full Module 3 syllabus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reference slide with the prescribed textbook and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Ian Goodfellow, Yoshua Bengio, Aaron Courville, Deep Learning, MIT Press, 2016. Official online book: https://www.deeplearningbook.org/ ; MIT Press listing: https://mitpress.mit.edu/9780262035613/deep-learning/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a3e3f8b6c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b36a1151c84a15" /><Relationship Type="http://schemas.openxmlformats.org/officeDocument/2006/relationships/slideLayout" Target="/ppt/slideLayouts/slideLayout1.xml" Id="Rdb6b48d0c93641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b48d0c93641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d65c68684245aa" /><Relationship Type="http://schemas.openxmlformats.org/officeDocument/2006/relationships/notesSlide" Target="/ppt/notesSlides/notesSlide1.xml" Id="R9b9bf217141c4f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aa6431904de4" /><Relationship Type="http://schemas.openxmlformats.org/officeDocument/2006/relationships/notesSlide" Target="/ppt/notesSlides/notesSlide2.xml" Id="Rb7375cc302ca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15b64873a4dd4" /><Relationship Type="http://schemas.openxmlformats.org/officeDocument/2006/relationships/notesSlide" Target="/ppt/notesSlides/notesSlide3.xml" Id="R42b28edf915241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ef083583b4577" /><Relationship Type="http://schemas.openxmlformats.org/officeDocument/2006/relationships/notesSlide" Target="/ppt/notesSlides/notesSlide4.xml" Id="R011c7cd488a1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8d4bf83af4440" /><Relationship Type="http://schemas.openxmlformats.org/officeDocument/2006/relationships/notesSlide" Target="/ppt/notesSlides/notesSlide5.xml" Id="R44627bf6b73b4b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b6d3b4a5742c9" /><Relationship Type="http://schemas.openxmlformats.org/officeDocument/2006/relationships/notesSlide" Target="/ppt/notesSlides/notesSlide6.xml" Id="R0e1fbed44b5247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3260cef2e4549" /><Relationship Type="http://schemas.openxmlformats.org/officeDocument/2006/relationships/notesSlide" Target="/ppt/notesSlides/notesSlide7.xml" Id="R42025b77e76343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3ad21648d4db0" /><Relationship Type="http://schemas.openxmlformats.org/officeDocument/2006/relationships/notesSlide" Target="/ppt/notesSlides/notesSlide8.xml" Id="Rb759cbf3fa0948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346fd471d44c3" /><Relationship Type="http://schemas.openxmlformats.org/officeDocument/2006/relationships/notesSlide" Target="/ppt/notesSlides/notesSlide9.xml" Id="R924d445f3fae43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b5700761b48cb" /><Relationship Type="http://schemas.openxmlformats.org/officeDocument/2006/relationships/notesSlide" Target="/ppt/notesSlides/notesSlide10.xml" Id="R659240e7798e46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61db33e384a3c" /><Relationship Type="http://schemas.openxmlformats.org/officeDocument/2006/relationships/notesSlide" Target="/ppt/notesSlides/notesSlide11.xml" Id="Raccdb09758934b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2e25d01145ab" /><Relationship Type="http://schemas.openxmlformats.org/officeDocument/2006/relationships/notesSlide" Target="/ppt/notesSlides/notesSlide12.xml" Id="R149673960a0040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ed478900a43fd" /><Relationship Type="http://schemas.openxmlformats.org/officeDocument/2006/relationships/notesSlide" Target="/ppt/notesSlides/notesSlide13.xml" Id="Rf5db2f4353d642b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7bad42ed245b4" /><Relationship Type="http://schemas.openxmlformats.org/officeDocument/2006/relationships/notesSlide" Target="/ppt/notesSlides/notesSlide14.xml" Id="Rc049a365fbbb44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8826348794f0c" /><Relationship Type="http://schemas.openxmlformats.org/officeDocument/2006/relationships/notesSlide" Target="/ppt/notesSlides/notesSlide15.xml" Id="Rf78820c55c3842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21e60ae1946c0" /><Relationship Type="http://schemas.openxmlformats.org/officeDocument/2006/relationships/notesSlide" Target="/ppt/notesSlides/notesSlide16.xml" Id="R1a93daa1019d4d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0006650e94cb4" /><Relationship Type="http://schemas.openxmlformats.org/officeDocument/2006/relationships/notesSlide" Target="/ppt/notesSlides/notesSlide17.xml" Id="R645e4648168040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1f809f456417c" /><Relationship Type="http://schemas.openxmlformats.org/officeDocument/2006/relationships/notesSlide" Target="/ppt/notesSlides/notesSlide18.xml" Id="Rcda29e00ce79460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58fc614584651" /><Relationship Type="http://schemas.openxmlformats.org/officeDocument/2006/relationships/notesSlide" Target="/ppt/notesSlides/notesSlide19.xml" Id="R97f55091aea04f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6eaefd16c4a46" /><Relationship Type="http://schemas.openxmlformats.org/officeDocument/2006/relationships/notesSlide" Target="/ppt/notesSlides/notesSlide20.xml" Id="R291e443904b140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bb4ae03a445d" /><Relationship Type="http://schemas.openxmlformats.org/officeDocument/2006/relationships/notesSlide" Target="/ppt/notesSlides/notesSlide21.xml" Id="R7252fe0b897d4a0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d01985ea64b3c" /><Relationship Type="http://schemas.openxmlformats.org/officeDocument/2006/relationships/notesSlide" Target="/ppt/notesSlides/notesSlide22.xml" Id="R5baedd1b171745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634663299463d" /><Relationship Type="http://schemas.openxmlformats.org/officeDocument/2006/relationships/notesSlide" Target="/ppt/notesSlides/notesSlide23.xml" Id="R79976139024140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999ce81c45cd" /><Relationship Type="http://schemas.openxmlformats.org/officeDocument/2006/relationships/notesSlide" Target="/ppt/notesSlides/notesSlide24.xml" Id="Rbcd343979d82449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d6412422f440cc" /><Relationship Type="http://schemas.openxmlformats.org/officeDocument/2006/relationships/notesSlide" Target="/ppt/notesSlides/notesSlide25.xml" Id="Rf93aa26dfe25441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9f33ed6f54ebb" /><Relationship Type="http://schemas.openxmlformats.org/officeDocument/2006/relationships/notesSlide" Target="/ppt/notesSlides/notesSlide26.xml" Id="R36acaeaf59b147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b9da5412248af" /><Relationship Type="http://schemas.openxmlformats.org/officeDocument/2006/relationships/notesSlide" Target="/ppt/notesSlides/notesSlide27.xml" Id="Rbcc462649052439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3fb2c262640fe" /><Relationship Type="http://schemas.openxmlformats.org/officeDocument/2006/relationships/notesSlide" Target="/ppt/notesSlides/notesSlide28.xml" Id="Re973677dfb9f4ea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20a893f034ba3" /><Relationship Type="http://schemas.openxmlformats.org/officeDocument/2006/relationships/notesSlide" Target="/ppt/notesSlides/notesSlide29.xml" Id="Rc6a76bd02bb449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d29204ad4655" /><Relationship Type="http://schemas.openxmlformats.org/officeDocument/2006/relationships/notesSlide" Target="/ppt/notesSlides/notesSlide30.xml" Id="Reeb04afa7745414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4baf95c034e6d" /><Relationship Type="http://schemas.openxmlformats.org/officeDocument/2006/relationships/notesSlide" Target="/ppt/notesSlides/notesSlide31.xml" Id="R8443759d11f940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1C715-4390-478F-9E8A-547DC70A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007C9-45E6-45CB-9834-5CE4849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3: Regularization and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7C613-9744-4D3B-886F-9A36EAE6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638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How deep models are kept from overfitting, and why their training landscapes are difficult: L2 penalties, augmentation, semi-supervised learning, ill-conditioning, local minima, plateaus, saddle points, and flat regions.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71116-78BE-4C39-AFCB-E33DDEC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143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8334375" y="4000500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18" name=""/>
          <p:cNvCxnSpPr/>
          <p:nvPr/>
        </p:nvCxnSpPr>
        <p:spPr>
          <a:xfrm xmlns:a="http://schemas.openxmlformats.org/drawingml/2006/main">
            <a:off x="8524875" y="1809750"/>
            <a:ext cx="0" cy="2476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19" name=""/>
          <p:cNvCxnSpPr/>
          <p:nvPr/>
        </p:nvCxnSpPr>
        <p:spPr>
          <a:xfrm xmlns:a="http://schemas.openxmlformats.org/drawingml/2006/main">
            <a:off x="8572500" y="2667000"/>
            <a:ext cx="6191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20" name=""/>
          <p:cNvCxnSpPr/>
          <p:nvPr/>
        </p:nvCxnSpPr>
        <p:spPr>
          <a:xfrm xmlns:a="http://schemas.openxmlformats.org/drawingml/2006/main">
            <a:off x="9191625" y="2667000"/>
            <a:ext cx="523875" cy="11049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21" name=""/>
          <p:cNvCxnSpPr/>
          <p:nvPr/>
        </p:nvCxnSpPr>
        <p:spPr>
          <a:xfrm xmlns:a="http://schemas.openxmlformats.org/drawingml/2006/main">
            <a:off x="9715500" y="2247900"/>
            <a:ext cx="666750" cy="1524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704AB-B431-4B74-BE2C-5ABEF14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76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2E70DE-B36B-4A8F-9D73-ED91346C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71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35189-BBE8-4C4E-A258-1EFF025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816522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D1E945-30F9-4686-B29B-97EA0DDC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49D20-4EA1-4CE9-A6B6-B4B2AD5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3 has two big jobs: generalize and train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EE1A7-0BE8-42F7-AD15-1F23E3E5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857375"/>
          <a:ext xmlns:a="http://schemas.openxmlformats.org/drawingml/2006/main" cx="11163300" cy="381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21100"/>
                <a:gridCol w="3721100"/>
                <a:gridCol w="3721100"/>
              </a:tblGrid>
              <a:tr h="476250">
                <a:tc>
                  <a:txBody>
                    <a:bodyPr/>
                    <a:lstStyle/>
                    <a:p>
                      <a:r>
                        <a:t>Part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Syllabus 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Parameter norm penalties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Add constraints or penalties to reduce overfitting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L2 parameter 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Penalize large weights with a squared norm term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Dataset augmentation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Create label-preserving training variations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Semi-supervised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unlabeled data to improve representation or prediction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Optimization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Ill-conditioning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Curvature makes gradient steps unstable or inefficient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Optimization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Local minima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 loss surface can contain non-global stationary points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Optimization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Plateaus, saddle points, flat regions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Gradients can be small or misleading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06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6E818-6299-4A13-A9D6-93DC4914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32F7C-60BC-4595-8A0A-40CDECB2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Regularization controls the gap between training fit and test performance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DEE6F-AF44-4D4A-9B1B-BE6B756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7C74C-0693-40E5-897D-3B5FE021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0E425-E0F3-4512-BCE6-52F9E757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high-capacity deep model can fit the training set very closely, sometimes memorizing noise or accidental patterns.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09060-2718-47DF-94B9-6988461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Generalization error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5AE56-08C3-470D-9D45-B08485AC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Regularization changes the learning problem so the model is encouraged to perform well on unseen data, not only on the examples it has already seen.</a:t>
            </a:r>
          </a:p>
        </p:txBody>
      </p:sp>
    </p:spTree>
    <p:extLst>
      <p:ext uri="{BB962C8B-B14F-4D97-AF65-F5344CB8AC3E}">
        <p14:creationId xmlns:p14="http://schemas.microsoft.com/office/powerpoint/2010/main" val="1734127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C97D5-281D-4AF0-A35C-0787AFB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17DD6-98A1-435F-BB87-32D7B0AD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Parameter norm penalties regularize by making large weights costly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30F6F-62EF-4A90-945D-B2D19B6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B69CE-7876-4E93-BD47-2851A9DA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E3F37-48B3-468B-A8F9-7DE2D49F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J̃(θ) = J(θ) + α Ω(θ)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632013-2D04-43A2-A38F-BF68C61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9B46C-CE9A-4555-B8E3-69C4CCE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J(θ) is the original training objective.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EF597-FB2F-45E6-8935-6A82397C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FA1F24-08F8-4C07-88C8-0D5941EA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Ω(θ) is a penalty that measures parameter size.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725F9-A837-4C80-ABE5-C2B1D50F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73483-8E57-42F6-B1AF-2FE1C6F8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α controls how strongly the penalty influences learning.</a:t>
            </a:r>
          </a:p>
        </p:txBody>
      </p:sp>
    </p:spTree>
    <p:extLst>
      <p:ext uri="{BB962C8B-B14F-4D97-AF65-F5344CB8AC3E}">
        <p14:creationId xmlns:p14="http://schemas.microsoft.com/office/powerpoint/2010/main" val="1739399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80FF8-1174-402E-AEEA-17D9181A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F40C7-51B9-4C66-A6FC-FA2C6A15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regularization uses the squared weight norm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2C3F9-97CD-4416-A0B2-5567990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81EBF-F692-49B9-91DC-DA383E55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B3D96-A294-4F5E-818B-7310321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Ω(w) = 1/2 ||w||²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14748C-AD29-467F-9250-24DF4DBB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02FE3E-654B-4095-A146-88BEC48C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penalty grows rapidly as weights become large.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114D5-128C-47CD-BF52-E461AB01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F2EB5-6019-4AA0-8C29-8F30B6FB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Bias terms are often left unpenalized or treated separately.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C5D37-8DB5-490F-957E-445F3708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8388C-99BB-4CB3-879E-9E0858B9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is encouraged to use smaller, smoother weight values.</a:t>
            </a:r>
          </a:p>
        </p:txBody>
      </p:sp>
    </p:spTree>
    <p:extLst>
      <p:ext uri="{BB962C8B-B14F-4D97-AF65-F5344CB8AC3E}">
        <p14:creationId xmlns:p14="http://schemas.microsoft.com/office/powerpoint/2010/main" val="3343231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32E06-5D5F-42B9-A715-3D894CFD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047D3-25E7-4EAB-B150-3AE9948A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regularization appears in updates as weight decay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79232-B75B-48D7-B9E7-137D655C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511D2-1F81-4074-AF0B-7C9226E1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BFF90-3CB9-4DF2-9CBA-2242AC39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 ← (1 - ηα)w - η ∇w 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20289-099F-40C8-880C-9E3D4E5D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91D41-8438-4C21-8F39-1F7AF05B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η is the learning rate.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4FAD0-A1CE-4C01-95BA-EA008D16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7FAE5-DD0E-459F-BC34-51BC8926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α is the L2 regularization strength.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2BC90-E430-404D-9B06-87E1F2E9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5F49FC-8B5A-4854-93EF-AB052E46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factor (1 - ηα) shrinks weights before the ordinary gradient step.</a:t>
            </a:r>
          </a:p>
        </p:txBody>
      </p:sp>
    </p:spTree>
    <p:extLst>
      <p:ext uri="{BB962C8B-B14F-4D97-AF65-F5344CB8AC3E}">
        <p14:creationId xmlns:p14="http://schemas.microsoft.com/office/powerpoint/2010/main" val="525894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2DD1A-A461-408D-BBA2-B93E2991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A960D-222D-4AF7-9866-C6B4973D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regularization biases learning toward simpler mappings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4A19E-B271-4EF2-A442-F44F637B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2A81-E6B3-4A95-9D9E-865BE98B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Without L2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E1300-BAAE-4A91-A3C3-DEC17F97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network may use large weights to create sharp, highly sensitive input-output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DA4CA-1B41-4BF2-8290-9C4824E1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With L2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255EB-3DEF-424B-86BE-F5B2011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Large weights are costly, so the model is nudged toward smoother functions that often generalize better.</a:t>
            </a:r>
          </a:p>
        </p:txBody>
      </p:sp>
    </p:spTree>
    <p:extLst>
      <p:ext uri="{BB962C8B-B14F-4D97-AF65-F5344CB8AC3E}">
        <p14:creationId xmlns:p14="http://schemas.microsoft.com/office/powerpoint/2010/main" val="7177152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E7D26-4155-4564-9B54-0BCA13D5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002A0-5659-4547-8D1D-E17D6CB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Choosing α is a bias-variance trade-off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02223-04F7-4FF7-88D1-106924C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095500"/>
          <a:ext xmlns:a="http://schemas.openxmlformats.org/drawingml/2006/main" cx="104775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492500"/>
                <a:gridCol w="3492500"/>
                <a:gridCol w="3492500"/>
              </a:tblGrid>
              <a:tr h="714375">
                <a:tc>
                  <a:txBody>
                    <a:bodyPr/>
                    <a:lstStyle/>
                    <a:p>
                      <a:r>
                        <a:t>α setting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Likely behavior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Too small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Regularization effect is weak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Overfitting remains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Weights are controlled while useful patterns remain learnable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Often a good validation-tuned region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Too large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Weights are pushed too close to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Underfitting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6189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83DE6-DF34-495A-BDF2-E5A47F81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B85F0-68D4-4BDA-A3DA-C50B12E2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Dataset augmentation increases useful training variation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2B822-D306-4701-99FF-818CE0B7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C5434-FF20-4F16-B4EB-E31FF38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73349-7C7E-446E-A725-71ADB0A9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Create additional examples by applying label-preserving transformations.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C7D48-BCD6-4138-BC64-A61DD45F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349A8-66D0-4667-A5D9-7F0CDB29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images, common transformations include shifts, flips, crops, rotations, color changes, or small noise.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C901E-EF12-485E-9995-CAD5A91F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FEBD7-35F3-4AF8-B6D1-38201F41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sees more variation without requiring manual labeling of every new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EBCA6-CF35-4128-81AC-51A6C80E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242C3-A881-419A-8D1B-9CF7D696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Augmentation encodes prior knowledge about what should not change the class label.</a:t>
            </a:r>
          </a:p>
        </p:txBody>
      </p:sp>
    </p:spTree>
    <p:extLst>
      <p:ext uri="{BB962C8B-B14F-4D97-AF65-F5344CB8AC3E}">
        <p14:creationId xmlns:p14="http://schemas.microsoft.com/office/powerpoint/2010/main" val="13356778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55A10-5A2A-45CF-8E84-AB9764BB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8CB96-4CC5-4F3F-967C-06FDBD16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Augmentation teaches invariance by example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801C0-10A5-4FF9-93E6-E0D2486A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E917E-0EE5-4F3F-83D7-483DC467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301C9-D4B2-490E-89EC-2F443C60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Original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image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2571750" y="29051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5788B-05E2-48D8-82FD-C54D8B1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6CA58-1E9E-4842-A985-5C4680FC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90875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729BE-94F2-4344-9187-68E82C5E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47875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40DD7-655E-463C-9500-5888BBA2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1428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BE446-3D86-4F61-A800-5A674A56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43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crop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8D3EB-CE53-49BD-8B7B-D8E1B533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86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65D45-7981-4B96-AF9C-27D91B42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748B3-B342-4CB1-A7D8-F20B8AAF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noise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7429500" y="29051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6A564-439D-4AE8-906D-8D330B68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5FF84-EB09-4170-BB4C-D29353E0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86050"/>
            <a:ext cx="133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Same label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stronger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53F09-3AB5-4AE5-9B49-DE21E1D0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label stays stable while the input appearance varies.</a:t>
            </a:r>
          </a:p>
        </p:txBody>
      </p:sp>
    </p:spTree>
    <p:extLst>
      <p:ext uri="{BB962C8B-B14F-4D97-AF65-F5344CB8AC3E}">
        <p14:creationId xmlns:p14="http://schemas.microsoft.com/office/powerpoint/2010/main" val="91593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BBC41-7A8B-4277-995F-37F5AA3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F705E-2D63-4221-A7B0-00F29CC9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Augmentation must preserve the meaning of the label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0DFA3-4710-467C-92C5-13B7D449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EEC0A-9C5D-4519-B983-2040031B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Good augmentation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275FC-C86B-4FEE-9F9E-E2004B84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transformed sample still belongs to the same class and reflects realistic variation expected at test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3F08E-27AE-40FF-A87A-1E628DF1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Bad augmentation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C544B-3C3B-4B4B-9E0F-F71ED72B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transformation changes the label, creates impossible examples, or teaches invariances the task does not actually have.</a:t>
            </a:r>
          </a:p>
        </p:txBody>
      </p:sp>
    </p:spTree>
    <p:extLst>
      <p:ext uri="{BB962C8B-B14F-4D97-AF65-F5344CB8AC3E}">
        <p14:creationId xmlns:p14="http://schemas.microsoft.com/office/powerpoint/2010/main" val="16329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B8F8F-82E6-4D55-BC82-5C5F8E5F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B164E-F465-476D-B0A0-C34B60D2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Semi-supervised learning uses unlabeled data as a training signal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D4223-302B-4019-8B31-7F4BC64E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A5F38-BF51-429A-815E-6D23D35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Available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357C6-17A3-470A-B941-DE2E3D63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small labeled dataset is paired with a larger collection of unlabeled examples from the same problem domain.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E14FE-30EC-4114-8CA1-6E5E649E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CD8CB7-0825-480D-A847-3BA911D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uses unlabeled data to learn structure, representations, or consistency that can improve supervised prediction.</a:t>
            </a:r>
          </a:p>
        </p:txBody>
      </p:sp>
    </p:spTree>
    <p:extLst>
      <p:ext uri="{BB962C8B-B14F-4D97-AF65-F5344CB8AC3E}">
        <p14:creationId xmlns:p14="http://schemas.microsoft.com/office/powerpoint/2010/main" val="23330254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963DD3-98B5-4DE3-9049-1CECDA4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E48B5-154F-4B60-A819-A60B2821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Unlabeled examples can shape the representation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E5CDE-9851-42DD-B407-E7CED071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E2CF9-359C-44A9-B010-EC3F63D4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17C95-E22E-4D02-A394-0B74061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Few labeled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AFD8B-2E70-40FA-91BF-5ED920EB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969B7-6395-468D-A7AF-717F28E9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Many unlabeled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examples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2933700" y="2905125"/>
            <a:ext cx="209550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25" name=""/>
          <p:cNvCxnSpPr/>
          <p:nvPr/>
        </p:nvCxnSpPr>
        <p:spPr>
          <a:xfrm xmlns:a="http://schemas.openxmlformats.org/drawingml/2006/main">
            <a:off x="2933700" y="3619500"/>
            <a:ext cx="20955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B73D5-1104-47A7-BBA2-A3C11B56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90875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69F0C-D774-4CD7-A596-51656BE2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5623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representation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7143750" y="3762375"/>
            <a:ext cx="21431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D829D5-C36F-4FB9-806B-E59F4A45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90875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31E740-FAE7-4867-B4F1-3661176C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6235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Classifier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prediction</a:t>
            </a:r>
          </a:p>
        </p:txBody>
      </p:sp>
    </p:spTree>
    <p:extLst>
      <p:ext uri="{BB962C8B-B14F-4D97-AF65-F5344CB8AC3E}">
        <p14:creationId xmlns:p14="http://schemas.microsoft.com/office/powerpoint/2010/main" val="4301770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53C0B-3820-40B1-B8C4-170645AF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98DF7-54DC-4912-A1D0-05D736E5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Regularization techniques answer different overfitting problems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5660A-2A8B-4F69-9CEC-3D4CE1C4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81050" y="2095500"/>
          <a:ext xmlns:a="http://schemas.openxmlformats.org/drawingml/2006/main" cx="10629900" cy="3048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43300"/>
                <a:gridCol w="3543300"/>
                <a:gridCol w="3543300"/>
              </a:tblGrid>
              <a:tr h="762000">
                <a:tc>
                  <a:txBody>
                    <a:bodyPr/>
                    <a:lstStyle/>
                    <a:p>
                      <a:r>
                        <a:t>Technique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it changes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Best intuition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L2 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 objective function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Prefer smaller weights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Dataset augmentation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The training data distribution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Teach label-preserving invariance</a:t>
                      </a:r>
                    </a:p>
                  </a:txBody>
                  <a:tcPr marL="91440" marR="91440" marT="45720" marB="45720"/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Semi-supervised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Use of unlabeled examples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Learn structure beyond labels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9042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921785-070F-46A1-B423-8B62B6AF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79532-D265-4A33-A488-ABDB2EEE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 for deep models is hard because the loss surface is complex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80826-19E9-4C1E-8A16-BE534C1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E48EB-1AA8-4B3A-B65B-42D777AB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7ECEE-1C8D-420E-BBA5-020F201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 networks are trained by moving through a high-dimensional parameter space.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240EB-3E79-4D18-9070-76F59245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DC428-B0D5-48CC-BCAB-DF69B3E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objective can curve sharply in some directions and barely change in others.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185C3-A473-45BB-B4F3-B67CD5E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00E9D-CBDC-48FE-9A0C-122B0F2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Gradients can point in directions that are locally correct but globally inefficient.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C6AEA-4E44-4F02-835E-7FBE5300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1347A-CEAB-413F-A1C8-4EBC3C17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syllabus highlights ill-conditioning, local minima, plateaus, saddle points, and flat regions.</a:t>
            </a:r>
          </a:p>
        </p:txBody>
      </p:sp>
    </p:spTree>
    <p:extLst>
      <p:ext uri="{BB962C8B-B14F-4D97-AF65-F5344CB8AC3E}">
        <p14:creationId xmlns:p14="http://schemas.microsoft.com/office/powerpoint/2010/main" val="14839314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59E4B-A1A4-4ABF-914E-D02B10A5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023AA-04D8-43F7-9071-50D4B997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 descent follows local slope, not global understanding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441C4-3BDA-4BE5-BE78-B15DF92C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94E62-E0A1-4F18-8D6B-A3506086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E168A-B33C-4F43-9CA2-35EBCECD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θ ← θ - η ∇θ J(θ)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88632-3951-4D92-91A3-106206C8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F259B-2392-4E18-824D-41247D8BE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θ represents all trainable parameters.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AB9CE-AE3C-49B0-89F1-F650B7A4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72A11-2F77-419C-9D90-0B0B7A6C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∇θ J is the gradient of the objective.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46057-C160-4370-8142-8A0F61C1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708B8-E71A-4556-84FD-6F253DE8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η is the learning rate controlling step size.</a:t>
            </a:r>
          </a:p>
        </p:txBody>
      </p:sp>
    </p:spTree>
    <p:extLst>
      <p:ext uri="{BB962C8B-B14F-4D97-AF65-F5344CB8AC3E}">
        <p14:creationId xmlns:p14="http://schemas.microsoft.com/office/powerpoint/2010/main" val="21410794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3C59A-B875-4527-8DE4-585D2058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BE3F-6FDA-48C7-BAD6-0BA21163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Ill-conditioning makes some directions much harder than others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24A9B-2376-49C1-8E53-699899CD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6F331-1FD8-4761-95B6-0D522AB1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7C659-ED3D-4FF6-8E6A-4B8DA8B4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loss surface can have very different curvature along different parameter directions.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1BA42-0083-42C4-B410-CF1D4F4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8227-10DB-4FA4-B13F-EBBE58A7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step size that is safe in a steep direction may be painfully slow in a flat direction, producing zig-zag or slow progress.</a:t>
            </a:r>
          </a:p>
        </p:txBody>
      </p:sp>
    </p:spTree>
    <p:extLst>
      <p:ext uri="{BB962C8B-B14F-4D97-AF65-F5344CB8AC3E}">
        <p14:creationId xmlns:p14="http://schemas.microsoft.com/office/powerpoint/2010/main" val="143489992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F960C-219A-4EB6-B0E8-969C21B8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CF68B-EB3D-4953-B12B-22465D57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Ill-conditioning is about curvature, not only about high loss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AEF85-6B2C-4CDD-AB11-247449D8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524000" y="476250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1809750" y="2190750"/>
            <a:ext cx="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93434-63A5-432D-BB3B-7F6EF1A4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47650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B151C4-25E4-4D25-BCD4-B63DDB9A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809750" cy="438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DA7435-3AA4-4670-81A3-F0F2F864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19425"/>
            <a:ext cx="114300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739BD-B87D-44CC-92FB-102552A2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narrow valley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4E4CD-1E32-49E8-AA8B-344FBD67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57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2441-F722-4D22-AE50-5097B228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Steep across the valley.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5BA2-D33D-440C-9BA9-9DAAB869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1119C-DA7E-4D6C-BCBE-1A2CEA4B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813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along the valley.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64EB6-C499-496A-8020-72C0AF0E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CBF57-5630-4A67-8BCE-9CEE5F08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Naive gradient steps can bounce across the steep direction while making slow progress forward.</a:t>
            </a:r>
          </a:p>
        </p:txBody>
      </p:sp>
    </p:spTree>
    <p:extLst>
      <p:ext uri="{BB962C8B-B14F-4D97-AF65-F5344CB8AC3E}">
        <p14:creationId xmlns:p14="http://schemas.microsoft.com/office/powerpoint/2010/main" val="11181795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EA02B-09FB-41F7-A04B-1B7485DC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6361E-B94E-4A01-A831-E1F7F4A9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minima are points lower than their neighborhood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390E5-A01E-48A4-89C6-84D54090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086E2-D58A-4FDF-9D29-E4141202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Definition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8A033-CC66-47AE-98E7-3DDB797F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local minimum has no nearby direction that immediately decreases the objective, but it may not be the best possible solution overall.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D7FF-3E36-4882-BCA5-46AEA608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Deep-learning nuance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DAA09-186A-4315-89F5-C472C1E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 high-dimensional deep networks, poor local minima are one concern, but saddle points and flat regions can also be major obstacles.</a:t>
            </a:r>
          </a:p>
        </p:txBody>
      </p:sp>
    </p:spTree>
    <p:extLst>
      <p:ext uri="{BB962C8B-B14F-4D97-AF65-F5344CB8AC3E}">
        <p14:creationId xmlns:p14="http://schemas.microsoft.com/office/powerpoint/2010/main" val="69901606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37BD1-90FE-40B9-BAC2-4330EF60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8091B-B2F0-425F-ACE9-05231511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minima are not the only stationary points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8E2F1-AD6F-4C89-AB1C-E6FB60F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23900" y="2047875"/>
          <a:ext xmlns:a="http://schemas.openxmlformats.org/drawingml/2006/main" cx="107442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647700">
                <a:tc>
                  <a:txBody>
                    <a:bodyPr/>
                    <a:lstStyle/>
                    <a:p>
                      <a:r>
                        <a:t>Point type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Gradient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Curvature intuition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Local minimum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or near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Curves upward around the point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Local maximum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or near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Curves downward around the point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Saddle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Zero or near zero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Upward in some directions, downward in others</a:t>
                      </a:r>
                    </a:p>
                  </a:txBody>
                  <a:tcPr marL="91440" marR="91440" marT="45720" marB="45720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t>Plateau / flat 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Very small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Almost no useful slope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1481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630EDF-41A2-4381-A705-94646F50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E4627-6374-4D92-BE8A-D3066E40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Plateaus slow learning because gradients become tiny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032EB-3D61-4AC2-B8A3-1300D80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B15A6E-D875-431B-8FF5-C37F38F7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5ECEC-0C2A-40C9-945B-39806B7F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plateau is a broad region where the objective changes very slowly.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C5FD8E-9BD8-48B1-B8D5-C1B8AE17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9CE4B-DB3A-43FF-9D6B-EFE61C19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gradients produce very small updates.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0B68-8FD8-4031-94E0-08C304E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4AAF2-2D2C-477F-81F8-FAFDAEE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may appear stuck even when it has not reached a good solution.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86FEF-75F0-4FC9-A517-F4FECCA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C882A-D4FC-4420-811F-F87182AA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Momentum, adaptive methods, or better initialization can sometimes help move across plateaus.</a:t>
            </a:r>
          </a:p>
        </p:txBody>
      </p:sp>
    </p:spTree>
    <p:extLst>
      <p:ext uri="{BB962C8B-B14F-4D97-AF65-F5344CB8AC3E}">
        <p14:creationId xmlns:p14="http://schemas.microsoft.com/office/powerpoint/2010/main" val="3985736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BB789-9BAA-4C1B-969A-703BB9B2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44175-84D9-460D-8C90-F073E0CC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Saddle points can look like minima to first-order methods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92133F-AD10-470F-B836-08AE1B67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34CFD-E78C-480A-AF18-D034E4B6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a saddle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A755D-C80E-4320-971C-EFFDA86A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saddle point slopes upward in some directions and downward in others, while the gradient near the point can be very small.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9B0D0-CBE0-45A1-BC71-F29BD538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6D749-7E84-45C7-8694-889C9473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Gradient-based training can slow down near saddle points because the immediate slope gives weak guidance.</a:t>
            </a:r>
          </a:p>
        </p:txBody>
      </p:sp>
    </p:spTree>
    <p:extLst>
      <p:ext uri="{BB962C8B-B14F-4D97-AF65-F5344CB8AC3E}">
        <p14:creationId xmlns:p14="http://schemas.microsoft.com/office/powerpoint/2010/main" val="177605759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7A537-BA11-48B0-923A-1E49893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BFC5B-6776-486F-8AFD-4C7AAC26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regions make progress hard to measure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922BF-06EF-4BC8-910C-EAB279D5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D65BE-585C-4F96-9003-222672ED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7C202-CC8F-44CA-BDAA-F511CFE3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 regions are areas of parameter space with very low curvature and weak gradients.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595D7-3E19-4FD4-AB6A-154016F2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A57D9-11C1-4767-8C23-D6A7039F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Updates can be small even when the model is far from the best parameters.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D043E-C775-4B8C-B78D-8E64567A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5D2C5-397D-44DF-883C-7302AE9B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Flatness can also be connected to many different parameter settings producing similar training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022BB-FA13-4BF2-80CE-C94EF607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880E1-FA01-4033-921D-386D1EC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curves may show long stretches of little visible improvement.</a:t>
            </a:r>
          </a:p>
        </p:txBody>
      </p:sp>
    </p:spTree>
    <p:extLst>
      <p:ext uri="{BB962C8B-B14F-4D97-AF65-F5344CB8AC3E}">
        <p14:creationId xmlns:p14="http://schemas.microsoft.com/office/powerpoint/2010/main" val="71749060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170EB-90EA-4147-8424-EBFA5D4F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78D8E-CC9E-448D-924B-E08387A2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 challenges affect training in different ways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FDEBD-DDBC-4105-9AF0-6D80D8DE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11049000" cy="3524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83000"/>
                <a:gridCol w="3683000"/>
                <a:gridCol w="3683000"/>
              </a:tblGrid>
              <a:tr h="587375">
                <a:tc>
                  <a:txBody>
                    <a:bodyPr/>
                    <a:lstStyle/>
                    <a:p>
                      <a:r>
                        <a:t>Challenge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happens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Training symptom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t>Ill-conditioning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Curvature differs strongly by direction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Zig-zag or slow progress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t>Local minima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 nearby downhill direction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Stops at a non-global solution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t>Plateaus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Very small gradient over a broad region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Long slow training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t>Saddle points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Downhill exists but gradient can be weak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Apparent stagnation</a:t>
                      </a:r>
                    </a:p>
                  </a:txBody>
                  <a:tcPr marL="91440" marR="91440" marT="45720" marB="45720"/>
                </a:tc>
              </a:tr>
              <a:tr h="587375">
                <a:tc>
                  <a:txBody>
                    <a:bodyPr/>
                    <a:lstStyle/>
                    <a:p>
                      <a:r>
                        <a:t>Flat regions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Objective barely changes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Updates have little visible effect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4362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D4377-2673-46CC-B34E-F4F3CF7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6ED17-8C0D-4763-B7C1-5A80BDD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Regularization and optimization solve different problems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41B18-2D1F-44D3-803C-B7FA0BFA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C8ABA-CBF4-4B89-BE55-A5BD1FE6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Regularization asks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B94A-1DA1-4329-AA91-08E5C33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Will the trained model generalize to unseen examples?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AC1D0-F44E-4D3A-8668-22D4455A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 asks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4DF82-11F6-46A5-AFE6-00F5625D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the training procedure find useful parameters efficiently?</a:t>
            </a:r>
          </a:p>
        </p:txBody>
      </p:sp>
    </p:spTree>
    <p:extLst>
      <p:ext uri="{BB962C8B-B14F-4D97-AF65-F5344CB8AC3E}">
        <p14:creationId xmlns:p14="http://schemas.microsoft.com/office/powerpoint/2010/main" val="9264763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40C6B-4AD7-43E7-A3C6-92A58F7D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FC061-C376-49D3-9033-0719110F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practical training workflow uses both ideas together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3B727-7717-487B-8E3D-6816F3C0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321B5-8FD3-4D95-9D28-3D53AE30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F31B9-5C59-4544-A5F9-44648DC4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914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5487B-00A6-43B6-8F22-2EA00BAC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98DB0-E9B6-4B93-B4E2-3822AFF3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Augment /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semi-supervise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7242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8E780-9F89-4855-A07B-04490570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881D0-1E03-4E18-8D20-C1CCE955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340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8E607-81AE-4E71-BAD8-AB97CA829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8FBC9-EED6-43B0-B56A-9D5FC86A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Regularized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3437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618F2-DCF9-4B65-B988-62BD55EF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233EDC-9FBA-4C14-A0F2-A6E3A0C7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Optimizer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535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0BF5E8-AE55-4B21-9F94-E3B7FF2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998FB-C177-43D8-8D72-C1E92A89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9925"/>
            <a:ext cx="1095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242ACA-192D-44B0-96CF-B7E5DB9F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training loop balances generalization pressure with optimization progress.</a:t>
            </a:r>
          </a:p>
        </p:txBody>
      </p:sp>
    </p:spTree>
    <p:extLst>
      <p:ext uri="{BB962C8B-B14F-4D97-AF65-F5344CB8AC3E}">
        <p14:creationId xmlns:p14="http://schemas.microsoft.com/office/powerpoint/2010/main" val="195102429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EB1AD-2EFB-483F-9EA2-F16C2839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D1802-4DF3-45F7-BCDB-A1C1E8D0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exam answer should separate examples from mechanisms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AAAA7-B7AE-4679-80FB-6A687F2E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8439D-DB23-48FB-A59F-FEE0F106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E139B-B544-4711-8AC7-B4CDA7E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L2 penalty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E31AD-C187-4B4A-ACF0-DAA6821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objective plus squared weight norm and explain weight decay.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05BCF4-AC33-460C-8649-035880FF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8F972-ACF2-4063-8F20-89BD6588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Augmentation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C4243-3CEB-436A-8487-21F34E43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Name label-preserving transformations and why they help generalization.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38428-BA44-48EC-B888-0F31A1A3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88C81-1B12-4B31-892B-506EA8C3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Semi-supervised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8316C-7506-4204-A7C6-1D903D2A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how unlabeled data supports representation or consistency.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272BA-0D30-4327-B615-0098099E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C289F-D817-4874-BFBD-B2CCF68F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F91832-72E4-47FB-B7BB-3CA431CB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Define each challenge and state its training symptom.</a:t>
            </a:r>
          </a:p>
        </p:txBody>
      </p:sp>
    </p:spTree>
    <p:extLst>
      <p:ext uri="{BB962C8B-B14F-4D97-AF65-F5344CB8AC3E}">
        <p14:creationId xmlns:p14="http://schemas.microsoft.com/office/powerpoint/2010/main" val="143763050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3D309-78C1-4DB1-9E93-11282FC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634FB-ED12-4384-BBDA-D0C192B0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3 vocabulary students must own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DC02E-5DCE-49EF-BDAD-4BA8A67E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8625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Any strategy intended to reduce generalization error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Parameter norm penalty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Extra objective term based on parameter size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L2 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Squared Euclidean weight penalty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Weight decay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Shrinkage effect of L2 regularization during updates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Dataset augmentation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Label-preserving expansion of training data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Semi-supervised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Learning from both labeled and unlabeled examples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Ill-conditioning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Poor curvature ratio across parameter directions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Saddle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Stationary point that is not a local minimum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93175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0A7AC-574F-4482-A338-99DA1B25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081F-3717-48B6-8262-010D4F26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activity: diagnose the training problem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BE508-DB91-4BD3-A985-09488EB4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AFAB4-D2A8-4C66-BD4F-A92257D5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15078-6FEB-4BB0-B510-F1D51B2A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95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a training curve where training accuracy rises but validation accuracy falls: identify overfitting and suggest regularization.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8E2EE-F022-4DB3-83E5-B5C5C614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CAEE8-BE8A-447F-811D-1880B145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a loss curve with long flat stretches: identify plateau or flat-region behavior.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55DBC-652E-476F-BA9D-30DFF0E4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D7113-461B-4E29-BF75-DE75D6CF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14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Show unstable zig-zag loss changes: discuss learning rate and ill-conditioning.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C8428-632D-4663-9C86-79E15FA2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2596-60CF-4393-B8E5-1888A956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students to name which Module 3 idea applies to each case.</a:t>
            </a:r>
          </a:p>
        </p:txBody>
      </p:sp>
    </p:spTree>
    <p:extLst>
      <p:ext uri="{BB962C8B-B14F-4D97-AF65-F5344CB8AC3E}">
        <p14:creationId xmlns:p14="http://schemas.microsoft.com/office/powerpoint/2010/main" val="59634654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19C0F-BB3D-4848-B725-E58B94C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DA22D-95F0-48AD-8385-A6E605CB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checklist: every Module 3 phrase is included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0FEEB-1F25-4324-919B-9CB2CBF3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321469">
                <a:tc>
                  <a:txBody>
                    <a:bodyPr/>
                    <a:lstStyle/>
                    <a:p>
                      <a:r>
                        <a:t>Syllabus phrase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Covered in slides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Regularization for Deep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Parameter Norm Penalties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L2 Parameter Regularization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5-8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Dataset Augmentation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9-11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Semi-Supervised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12-13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Optimization for Training Deep Models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15-16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Ill Conditioning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17-18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Local Minima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19-20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Plateaus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Saddle Points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/>
                </a:tc>
              </a:tr>
              <a:tr h="321469">
                <a:tc>
                  <a:txBody>
                    <a:bodyPr/>
                    <a:lstStyle/>
                    <a:p>
                      <a:r>
                        <a:t>Other Flat Regions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05854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9DFC4-ADCA-405C-870A-06CAAFE8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BFEBB-D0C0-4CE4-8777-9E0CA227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Prescribed textbook reference for Module 3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2D405-64F7-4369-8D1D-EFB4EECA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A218E-2D71-4F14-AB26-BB872A26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1F471-C546-48CC-961D-2949D081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reference: Goodfellow, Bengio, and Courville, Deep Learning, MIT Press, 2016.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A38ED-C77C-4102-BC8F-32F414AE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ADDDB-D20A-4268-B712-A2BDEF4B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textbook for regularization, L2 penalties, dataset augmentation, semi-supervised learning, and optimization challenges.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60960-274B-4EC7-A286-849E4F8A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F795E-14AF-4850-9681-6441E510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VTU syllabus as the boundary for what belongs in Module 3.</a:t>
            </a:r>
          </a:p>
        </p:txBody>
      </p:sp>
    </p:spTree>
    <p:extLst>
      <p:ext uri="{BB962C8B-B14F-4D97-AF65-F5344CB8AC3E}">
        <p14:creationId xmlns:p14="http://schemas.microsoft.com/office/powerpoint/2010/main" val="1769392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2026-08-12T07:02:14.3970000Z</dcterms:created>
  <dcterms:modified xsi:type="dcterms:W3CDTF">2026-08-12T07:02:14.3970000Z</dcterms:modified>
</coreProperties>
</file>