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0e573c97f14365" /><Relationship Type="http://schemas.openxmlformats.org/officeDocument/2006/relationships/extended-properties" Target="/docProps/app.xml" Id="Ra36af65c6031438f" /><Relationship Type="http://schemas.openxmlformats.org/officeDocument/2006/relationships/officeDocument" Target="/ppt/presentation.xml" Id="R15b021180c0443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7a3fa792b14b88"/>
  </p:sldMasterIdLst>
  <p:notesMasterIdLst>
    <p:notesMasterId xmlns:r="http://schemas.openxmlformats.org/officeDocument/2006/relationships" r:id="R171860a18ec148fa"/>
  </p:notesMasterIdLst>
  <p:sldIdLst>
    <p:sldId xmlns:r="http://schemas.openxmlformats.org/officeDocument/2006/relationships" id="256" r:id="Rec62059f13154423"/>
    <p:sldId xmlns:r="http://schemas.openxmlformats.org/officeDocument/2006/relationships" id="257" r:id="Rbcf86cc6bfee4d9c"/>
    <p:sldId xmlns:r="http://schemas.openxmlformats.org/officeDocument/2006/relationships" id="258" r:id="R39b40a529bbc4438"/>
    <p:sldId xmlns:r="http://schemas.openxmlformats.org/officeDocument/2006/relationships" id="259" r:id="R3e87742f2bf042b2"/>
    <p:sldId xmlns:r="http://schemas.openxmlformats.org/officeDocument/2006/relationships" id="260" r:id="R8d3c629e91824682"/>
    <p:sldId xmlns:r="http://schemas.openxmlformats.org/officeDocument/2006/relationships" id="261" r:id="Rb36d1c629d604b07"/>
    <p:sldId xmlns:r="http://schemas.openxmlformats.org/officeDocument/2006/relationships" id="262" r:id="Rad5eca5c6fdd4293"/>
    <p:sldId xmlns:r="http://schemas.openxmlformats.org/officeDocument/2006/relationships" id="263" r:id="Re618e5da6cd74069"/>
    <p:sldId xmlns:r="http://schemas.openxmlformats.org/officeDocument/2006/relationships" id="264" r:id="R2fd20ee6fe274789"/>
    <p:sldId xmlns:r="http://schemas.openxmlformats.org/officeDocument/2006/relationships" id="265" r:id="Ra5c2d3bc58d74a65"/>
    <p:sldId xmlns:r="http://schemas.openxmlformats.org/officeDocument/2006/relationships" id="266" r:id="R7de9ae114d564d1e"/>
    <p:sldId xmlns:r="http://schemas.openxmlformats.org/officeDocument/2006/relationships" id="267" r:id="R88f238a5067a4264"/>
    <p:sldId xmlns:r="http://schemas.openxmlformats.org/officeDocument/2006/relationships" id="268" r:id="Ref07467edace4c51"/>
    <p:sldId xmlns:r="http://schemas.openxmlformats.org/officeDocument/2006/relationships" id="269" r:id="R596e1b7de7d64aef"/>
    <p:sldId xmlns:r="http://schemas.openxmlformats.org/officeDocument/2006/relationships" id="270" r:id="R827178368aac4309"/>
    <p:sldId xmlns:r="http://schemas.openxmlformats.org/officeDocument/2006/relationships" id="271" r:id="R21f6b1f1c2c4450d"/>
    <p:sldId xmlns:r="http://schemas.openxmlformats.org/officeDocument/2006/relationships" id="272" r:id="R1fd0477c004549be"/>
    <p:sldId xmlns:r="http://schemas.openxmlformats.org/officeDocument/2006/relationships" id="273" r:id="R84016f3062c94cbd"/>
    <p:sldId xmlns:r="http://schemas.openxmlformats.org/officeDocument/2006/relationships" id="274" r:id="R391bf732cbcc40a5"/>
    <p:sldId xmlns:r="http://schemas.openxmlformats.org/officeDocument/2006/relationships" id="275" r:id="Rcd4d68d048dd46bd"/>
    <p:sldId xmlns:r="http://schemas.openxmlformats.org/officeDocument/2006/relationships" id="276" r:id="R9694e2432c6c44d6"/>
    <p:sldId xmlns:r="http://schemas.openxmlformats.org/officeDocument/2006/relationships" id="277" r:id="Re597fea79c6f44b7"/>
    <p:sldId xmlns:r="http://schemas.openxmlformats.org/officeDocument/2006/relationships" id="278" r:id="Rb9f62d625746434d"/>
    <p:sldId xmlns:r="http://schemas.openxmlformats.org/officeDocument/2006/relationships" id="279" r:id="R0bd5d47c73dc4932"/>
    <p:sldId xmlns:r="http://schemas.openxmlformats.org/officeDocument/2006/relationships" id="280" r:id="R5a61a3bb2d424ccd"/>
    <p:sldId xmlns:r="http://schemas.openxmlformats.org/officeDocument/2006/relationships" id="281" r:id="R70a24776225a48ca"/>
    <p:sldId xmlns:r="http://schemas.openxmlformats.org/officeDocument/2006/relationships" id="282" r:id="R8fcf3dda023441e9"/>
    <p:sldId xmlns:r="http://schemas.openxmlformats.org/officeDocument/2006/relationships" id="283" r:id="R1fc5039924c64ec6"/>
    <p:sldId xmlns:r="http://schemas.openxmlformats.org/officeDocument/2006/relationships" id="284" r:id="R75c19329d8fa4609"/>
    <p:sldId xmlns:r="http://schemas.openxmlformats.org/officeDocument/2006/relationships" id="285" r:id="R480f8a1bc57649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bada29a2b84071" /><Relationship Type="http://schemas.openxmlformats.org/officeDocument/2006/relationships/slideMaster" Target="/ppt/slideMasters/slideMaster1.xml" Id="R7c7a3fa792b14b88" /><Relationship Type="http://schemas.openxmlformats.org/officeDocument/2006/relationships/notesMaster" Target="/ppt/notesMasters/notesMaster1.xml" Id="R171860a18ec148fa" /><Relationship Type="http://schemas.openxmlformats.org/officeDocument/2006/relationships/presProps" Target="/ppt/presProps.xml" Id="Re80bffb8e46144a1" /><Relationship Type="http://schemas.openxmlformats.org/officeDocument/2006/relationships/tableStyles" Target="/ppt/tableStyles.xml" Id="Re3b729fb27e8420b" /><Relationship Type="http://schemas.openxmlformats.org/officeDocument/2006/relationships/slide" Target="/ppt/slides/slide1.xml" Id="Rec62059f13154423" /><Relationship Type="http://schemas.openxmlformats.org/officeDocument/2006/relationships/slide" Target="/ppt/slides/slide2.xml" Id="Rbcf86cc6bfee4d9c" /><Relationship Type="http://schemas.openxmlformats.org/officeDocument/2006/relationships/slide" Target="/ppt/slides/slide3.xml" Id="R39b40a529bbc4438" /><Relationship Type="http://schemas.openxmlformats.org/officeDocument/2006/relationships/slide" Target="/ppt/slides/slide4.xml" Id="R3e87742f2bf042b2" /><Relationship Type="http://schemas.openxmlformats.org/officeDocument/2006/relationships/slide" Target="/ppt/slides/slide5.xml" Id="R8d3c629e91824682" /><Relationship Type="http://schemas.openxmlformats.org/officeDocument/2006/relationships/slide" Target="/ppt/slides/slide6.xml" Id="Rb36d1c629d604b07" /><Relationship Type="http://schemas.openxmlformats.org/officeDocument/2006/relationships/slide" Target="/ppt/slides/slide7.xml" Id="Rad5eca5c6fdd4293" /><Relationship Type="http://schemas.openxmlformats.org/officeDocument/2006/relationships/slide" Target="/ppt/slides/slide8.xml" Id="Re618e5da6cd74069" /><Relationship Type="http://schemas.openxmlformats.org/officeDocument/2006/relationships/slide" Target="/ppt/slides/slide9.xml" Id="R2fd20ee6fe274789" /><Relationship Type="http://schemas.openxmlformats.org/officeDocument/2006/relationships/slide" Target="/ppt/slides/slide10.xml" Id="Ra5c2d3bc58d74a65" /><Relationship Type="http://schemas.openxmlformats.org/officeDocument/2006/relationships/slide" Target="/ppt/slides/slide11.xml" Id="R7de9ae114d564d1e" /><Relationship Type="http://schemas.openxmlformats.org/officeDocument/2006/relationships/slide" Target="/ppt/slides/slide12.xml" Id="R88f238a5067a4264" /><Relationship Type="http://schemas.openxmlformats.org/officeDocument/2006/relationships/slide" Target="/ppt/slides/slide13.xml" Id="Ref07467edace4c51" /><Relationship Type="http://schemas.openxmlformats.org/officeDocument/2006/relationships/slide" Target="/ppt/slides/slide14.xml" Id="R596e1b7de7d64aef" /><Relationship Type="http://schemas.openxmlformats.org/officeDocument/2006/relationships/slide" Target="/ppt/slides/slide15.xml" Id="R827178368aac4309" /><Relationship Type="http://schemas.openxmlformats.org/officeDocument/2006/relationships/slide" Target="/ppt/slides/slide16.xml" Id="R21f6b1f1c2c4450d" /><Relationship Type="http://schemas.openxmlformats.org/officeDocument/2006/relationships/slide" Target="/ppt/slides/slide17.xml" Id="R1fd0477c004549be" /><Relationship Type="http://schemas.openxmlformats.org/officeDocument/2006/relationships/slide" Target="/ppt/slides/slide18.xml" Id="R84016f3062c94cbd" /><Relationship Type="http://schemas.openxmlformats.org/officeDocument/2006/relationships/slide" Target="/ppt/slides/slide19.xml" Id="R391bf732cbcc40a5" /><Relationship Type="http://schemas.openxmlformats.org/officeDocument/2006/relationships/slide" Target="/ppt/slides/slide20.xml" Id="Rcd4d68d048dd46bd" /><Relationship Type="http://schemas.openxmlformats.org/officeDocument/2006/relationships/slide" Target="/ppt/slides/slide21.xml" Id="R9694e2432c6c44d6" /><Relationship Type="http://schemas.openxmlformats.org/officeDocument/2006/relationships/slide" Target="/ppt/slides/slide22.xml" Id="Re597fea79c6f44b7" /><Relationship Type="http://schemas.openxmlformats.org/officeDocument/2006/relationships/slide" Target="/ppt/slides/slide23.xml" Id="Rb9f62d625746434d" /><Relationship Type="http://schemas.openxmlformats.org/officeDocument/2006/relationships/slide" Target="/ppt/slides/slide24.xml" Id="R0bd5d47c73dc4932" /><Relationship Type="http://schemas.openxmlformats.org/officeDocument/2006/relationships/slide" Target="/ppt/slides/slide25.xml" Id="R5a61a3bb2d424ccd" /><Relationship Type="http://schemas.openxmlformats.org/officeDocument/2006/relationships/slide" Target="/ppt/slides/slide26.xml" Id="R70a24776225a48ca" /><Relationship Type="http://schemas.openxmlformats.org/officeDocument/2006/relationships/slide" Target="/ppt/slides/slide27.xml" Id="R8fcf3dda023441e9" /><Relationship Type="http://schemas.openxmlformats.org/officeDocument/2006/relationships/slide" Target="/ppt/slides/slide28.xml" Id="R1fc5039924c64ec6" /><Relationship Type="http://schemas.openxmlformats.org/officeDocument/2006/relationships/slide" Target="/ppt/slides/slide29.xml" Id="R75c19329d8fa4609" /><Relationship Type="http://schemas.openxmlformats.org/officeDocument/2006/relationships/slide" Target="/ppt/slides/slide30.xml" Id="R480f8a1bc57649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52507a1e3d4d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dfcaa9ac04543" /><Relationship Type="http://schemas.openxmlformats.org/officeDocument/2006/relationships/notesMaster" Target="/ppt/notesMasters/notesMaster1.xml" Id="R000a9c965a9c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399909fe304013" /><Relationship Type="http://schemas.openxmlformats.org/officeDocument/2006/relationships/notesMaster" Target="/ppt/notesMasters/notesMaster1.xml" Id="R7ad97c9c19994d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fa5205feb74a05" /><Relationship Type="http://schemas.openxmlformats.org/officeDocument/2006/relationships/notesMaster" Target="/ppt/notesMasters/notesMaster1.xml" Id="R43711911a2bb41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98b30957224092" /><Relationship Type="http://schemas.openxmlformats.org/officeDocument/2006/relationships/notesMaster" Target="/ppt/notesMasters/notesMaster1.xml" Id="R497c70a948b641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1b03149c514574" /><Relationship Type="http://schemas.openxmlformats.org/officeDocument/2006/relationships/notesMaster" Target="/ppt/notesMasters/notesMaster1.xml" Id="R14ed895752f54b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aa56bf8b1741dd" /><Relationship Type="http://schemas.openxmlformats.org/officeDocument/2006/relationships/notesMaster" Target="/ppt/notesMasters/notesMaster1.xml" Id="Rac81a969867547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e207b6a6014cdd" /><Relationship Type="http://schemas.openxmlformats.org/officeDocument/2006/relationships/notesMaster" Target="/ppt/notesMasters/notesMaster1.xml" Id="R86fb3efff73945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f1c7c1f6c44bb5" /><Relationship Type="http://schemas.openxmlformats.org/officeDocument/2006/relationships/notesMaster" Target="/ppt/notesMasters/notesMaster1.xml" Id="R2dd9c740c3fb43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a326da87134a32" /><Relationship Type="http://schemas.openxmlformats.org/officeDocument/2006/relationships/notesMaster" Target="/ppt/notesMasters/notesMaster1.xml" Id="Rca1ab4e49e1f48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6c47ccbe2f4ded" /><Relationship Type="http://schemas.openxmlformats.org/officeDocument/2006/relationships/notesMaster" Target="/ppt/notesMasters/notesMaster1.xml" Id="Rc0dc9406b41849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213b13ec9c44ed" /><Relationship Type="http://schemas.openxmlformats.org/officeDocument/2006/relationships/notesMaster" Target="/ppt/notesMasters/notesMaster1.xml" Id="Raea21d935e5b42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0081c389184c98" /><Relationship Type="http://schemas.openxmlformats.org/officeDocument/2006/relationships/notesMaster" Target="/ppt/notesMasters/notesMaster1.xml" Id="R80fadf9972b143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50c7beb7ab4826" /><Relationship Type="http://schemas.openxmlformats.org/officeDocument/2006/relationships/notesMaster" Target="/ppt/notesMasters/notesMaster1.xml" Id="R212dddbdedfb46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57d20b545c4626" /><Relationship Type="http://schemas.openxmlformats.org/officeDocument/2006/relationships/notesMaster" Target="/ppt/notesMasters/notesMaster1.xml" Id="R358f14c36b894e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38a9c369bd47a1" /><Relationship Type="http://schemas.openxmlformats.org/officeDocument/2006/relationships/notesMaster" Target="/ppt/notesMasters/notesMaster1.xml" Id="Rb7c5b7f50dff49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5b53d3267544db" /><Relationship Type="http://schemas.openxmlformats.org/officeDocument/2006/relationships/notesMaster" Target="/ppt/notesMasters/notesMaster1.xml" Id="R858b8a23056c46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3c94ee9af14948" /><Relationship Type="http://schemas.openxmlformats.org/officeDocument/2006/relationships/notesMaster" Target="/ppt/notesMasters/notesMaster1.xml" Id="R1ceebecd186348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8371642d8f4282" /><Relationship Type="http://schemas.openxmlformats.org/officeDocument/2006/relationships/notesMaster" Target="/ppt/notesMasters/notesMaster1.xml" Id="R3e5893a7d23041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9a0080c0f1490d" /><Relationship Type="http://schemas.openxmlformats.org/officeDocument/2006/relationships/notesMaster" Target="/ppt/notesMasters/notesMaster1.xml" Id="Rb4caa6299bb04c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07716f18494b9e" /><Relationship Type="http://schemas.openxmlformats.org/officeDocument/2006/relationships/notesMaster" Target="/ppt/notesMasters/notesMaster1.xml" Id="R0c85422e705a41a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7ac55ab8644d32" /><Relationship Type="http://schemas.openxmlformats.org/officeDocument/2006/relationships/notesMaster" Target="/ppt/notesMasters/notesMaster1.xml" Id="R5264fd4ef1a245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b75dc14d4c46bc" /><Relationship Type="http://schemas.openxmlformats.org/officeDocument/2006/relationships/notesMaster" Target="/ppt/notesMasters/notesMaster1.xml" Id="R10a55096dbd14f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729d786b78c4b48" /><Relationship Type="http://schemas.openxmlformats.org/officeDocument/2006/relationships/notesMaster" Target="/ppt/notesMasters/notesMaster1.xml" Id="R16553b481ac2495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88fb68b56b4ced" /><Relationship Type="http://schemas.openxmlformats.org/officeDocument/2006/relationships/notesMaster" Target="/ppt/notesMasters/notesMaster1.xml" Id="Rad4f7459ddaf4d4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2ac344b47704336" /><Relationship Type="http://schemas.openxmlformats.org/officeDocument/2006/relationships/notesMaster" Target="/ppt/notesMasters/notesMaster1.xml" Id="Re44127afc34a4b6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a4255c8bea4385" /><Relationship Type="http://schemas.openxmlformats.org/officeDocument/2006/relationships/notesMaster" Target="/ppt/notesMasters/notesMaster1.xml" Id="Re733a435d05a4d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6a51ae875834fe6" /><Relationship Type="http://schemas.openxmlformats.org/officeDocument/2006/relationships/notesMaster" Target="/ppt/notesMasters/notesMaster1.xml" Id="R564869bfb9aa4e6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73046648574810" /><Relationship Type="http://schemas.openxmlformats.org/officeDocument/2006/relationships/notesMaster" Target="/ppt/notesMasters/notesMaster1.xml" Id="R110e21923fdb4a9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7f968eeeb124e05" /><Relationship Type="http://schemas.openxmlformats.org/officeDocument/2006/relationships/notesMaster" Target="/ppt/notesMasters/notesMaster1.xml" Id="Re042743eff5f48e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ae1733c88974a99" /><Relationship Type="http://schemas.openxmlformats.org/officeDocument/2006/relationships/notesMaster" Target="/ppt/notesMasters/notesMaster1.xml" Id="R8b8ccc8657214a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 for Module 4, aligned to the local VTU syllabus and Goodfellow et al. convolutional networks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maps the first half of Module 4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completes the Module 4 syllabus checkpoint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The Convolution Operation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Mathematical form of a 2D convolution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Receptive field and parameter sharing are central to CNN motivation.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Motivation for convolutional neural networks.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Parameter sharing is a major motivation for CNNs.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hierarchy explains why deep CNNs are effective.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Pooling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explanation of max pooling.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Convolution and Pooling as an Infinitely Strong Prior.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Explains the benefit and limitation of the CNN prior.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variants of the basic convolution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Channel-wise convolution is part of convolution variants and data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variants of the basic convolution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Structured Outputs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 outputs include dense spatial predictions.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Data Types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types and layout influence CNN computation.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Efficient Convolution Algorithms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Practical interpretation of efficient convolution algorithms.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synthesis of CNN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Convolutional Networks and the History of Deep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perspective on why CNNs became central to deep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Exam-oriented synthesis for Module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Vocabulary review for all Module 4 topics.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activity aligned with convolution, data types, pooling, and priors.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verifies full Module 4 syllabus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reference slide with the prescribed textbook and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0938f6a5141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4d83186bc34f32" /><Relationship Type="http://schemas.openxmlformats.org/officeDocument/2006/relationships/slideLayout" Target="/ppt/slideLayouts/slideLayout1.xml" Id="Re3045d68d5b849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045d68d5b849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a49b04dc14c3e" /><Relationship Type="http://schemas.openxmlformats.org/officeDocument/2006/relationships/notesSlide" Target="/ppt/notesSlides/notesSlide1.xml" Id="R1f667235eb8b40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9bb215f2b4e2e" /><Relationship Type="http://schemas.openxmlformats.org/officeDocument/2006/relationships/notesSlide" Target="/ppt/notesSlides/notesSlide2.xml" Id="Rf738d638e3a844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267f7bf3d4920" /><Relationship Type="http://schemas.openxmlformats.org/officeDocument/2006/relationships/notesSlide" Target="/ppt/notesSlides/notesSlide3.xml" Id="Re0713b9f0c5447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8ae1759a14d3e" /><Relationship Type="http://schemas.openxmlformats.org/officeDocument/2006/relationships/notesSlide" Target="/ppt/notesSlides/notesSlide4.xml" Id="R764ef78aa1e84b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bca3bb89246c9" /><Relationship Type="http://schemas.openxmlformats.org/officeDocument/2006/relationships/notesSlide" Target="/ppt/notesSlides/notesSlide5.xml" Id="R51326d5f0e414e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dcc358ac947f9" /><Relationship Type="http://schemas.openxmlformats.org/officeDocument/2006/relationships/notesSlide" Target="/ppt/notesSlides/notesSlide6.xml" Id="R69dddb27fcf943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97950b5a246fc" /><Relationship Type="http://schemas.openxmlformats.org/officeDocument/2006/relationships/notesSlide" Target="/ppt/notesSlides/notesSlide7.xml" Id="Re5475f9a27df4a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9cd23e5694b17" /><Relationship Type="http://schemas.openxmlformats.org/officeDocument/2006/relationships/notesSlide" Target="/ppt/notesSlides/notesSlide8.xml" Id="Re881834c69ab42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ff01195ba426e" /><Relationship Type="http://schemas.openxmlformats.org/officeDocument/2006/relationships/notesSlide" Target="/ppt/notesSlides/notesSlide9.xml" Id="R8f13291cf4ff4e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a7944bf0942c8" /><Relationship Type="http://schemas.openxmlformats.org/officeDocument/2006/relationships/notesSlide" Target="/ppt/notesSlides/notesSlide10.xml" Id="R3022f712652d4f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1fde11b4a4355" /><Relationship Type="http://schemas.openxmlformats.org/officeDocument/2006/relationships/notesSlide" Target="/ppt/notesSlides/notesSlide11.xml" Id="R123b7f6c64eb48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8125d0d32456d" /><Relationship Type="http://schemas.openxmlformats.org/officeDocument/2006/relationships/notesSlide" Target="/ppt/notesSlides/notesSlide12.xml" Id="Rcfb3fcf5ab2941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7a7b1c42f484a" /><Relationship Type="http://schemas.openxmlformats.org/officeDocument/2006/relationships/notesSlide" Target="/ppt/notesSlides/notesSlide13.xml" Id="Rd29c84ba0ccb49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c3a926aea44fe" /><Relationship Type="http://schemas.openxmlformats.org/officeDocument/2006/relationships/notesSlide" Target="/ppt/notesSlides/notesSlide14.xml" Id="Ra95769bf96d742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ad7ad755b4544" /><Relationship Type="http://schemas.openxmlformats.org/officeDocument/2006/relationships/notesSlide" Target="/ppt/notesSlides/notesSlide15.xml" Id="R2054c14ec6114b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daeb48e364953" /><Relationship Type="http://schemas.openxmlformats.org/officeDocument/2006/relationships/notesSlide" Target="/ppt/notesSlides/notesSlide16.xml" Id="R4a777c090a0f45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d10499dcd461b" /><Relationship Type="http://schemas.openxmlformats.org/officeDocument/2006/relationships/notesSlide" Target="/ppt/notesSlides/notesSlide17.xml" Id="Rc3a63c12c94146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b3fd6d83b498f" /><Relationship Type="http://schemas.openxmlformats.org/officeDocument/2006/relationships/notesSlide" Target="/ppt/notesSlides/notesSlide18.xml" Id="R7fa8837bdec54a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fae18abda4c36" /><Relationship Type="http://schemas.openxmlformats.org/officeDocument/2006/relationships/notesSlide" Target="/ppt/notesSlides/notesSlide19.xml" Id="R4dc16dea5c2c4f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dc7ddfaa441a0" /><Relationship Type="http://schemas.openxmlformats.org/officeDocument/2006/relationships/notesSlide" Target="/ppt/notesSlides/notesSlide20.xml" Id="Rd4e62d03d1a74a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323cb23354f2e" /><Relationship Type="http://schemas.openxmlformats.org/officeDocument/2006/relationships/notesSlide" Target="/ppt/notesSlides/notesSlide21.xml" Id="R50d6a48d36754b1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ae4463d3d45d0" /><Relationship Type="http://schemas.openxmlformats.org/officeDocument/2006/relationships/notesSlide" Target="/ppt/notesSlides/notesSlide22.xml" Id="R48282c75c3a84f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ae073de6d4b44" /><Relationship Type="http://schemas.openxmlformats.org/officeDocument/2006/relationships/notesSlide" Target="/ppt/notesSlides/notesSlide23.xml" Id="Re99138b0046a47e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91c3e49444428" /><Relationship Type="http://schemas.openxmlformats.org/officeDocument/2006/relationships/notesSlide" Target="/ppt/notesSlides/notesSlide24.xml" Id="R8c357ba28ba049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c8a45be6b4180" /><Relationship Type="http://schemas.openxmlformats.org/officeDocument/2006/relationships/notesSlide" Target="/ppt/notesSlides/notesSlide25.xml" Id="R5817ae3722124f9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e0a9b002b42ff" /><Relationship Type="http://schemas.openxmlformats.org/officeDocument/2006/relationships/notesSlide" Target="/ppt/notesSlides/notesSlide26.xml" Id="R17c36e3f7df2420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a335ca6004f69" /><Relationship Type="http://schemas.openxmlformats.org/officeDocument/2006/relationships/notesSlide" Target="/ppt/notesSlides/notesSlide27.xml" Id="R0e0c1f26293e48c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110d970124282" /><Relationship Type="http://schemas.openxmlformats.org/officeDocument/2006/relationships/notesSlide" Target="/ppt/notesSlides/notesSlide28.xml" Id="Rf61397613785447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31962d3c841ff" /><Relationship Type="http://schemas.openxmlformats.org/officeDocument/2006/relationships/notesSlide" Target="/ppt/notesSlides/notesSlide29.xml" Id="R5a65d4464b1343f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337d44b114944" /><Relationship Type="http://schemas.openxmlformats.org/officeDocument/2006/relationships/notesSlide" Target="/ppt/notesSlides/notesSlide30.xml" Id="R140423bf6c0b4d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06D04B-7375-4E6F-BBF9-DC477BA4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BFA25-A1AA-4C9F-9068-FB8D751F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4: Convolutional Neural Networks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A5F54-0741-4886-9034-BD7AE95F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How convolution, pooling, architectural priors, variants, structured outputs, data types, efficient algorithms, and CNN history explain modern visual deep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6DD8F-02FA-4622-86E6-A21C5A6F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42950"/>
            <a:ext cx="31432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0F908-4D5F-49D2-8BBD-F0233638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D5240-B0B5-475E-A6D8-80A957D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19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06F4E-A9C8-48F6-9885-F2505B36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6E2F6-4C93-4AA7-AA75-DE701801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19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D789A-350E-4E08-B2AA-1200945A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19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6C319-2108-461F-9D27-2D4C5CF6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154F8-C02B-4F8B-B552-7111DB8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FC35E-4418-41CB-82AB-F8880F9B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43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54180-3402-4C73-9023-6E81F21A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3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A412C-D1B4-41B8-937E-3EBE679B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3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421BD-F1D1-4F64-A3C2-15E50B01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A6E12-E671-406F-851C-60E5703F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3E113-8476-4170-84B8-C3C3D0FD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CEC50-FE9B-4D04-97EB-8786C15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15A9E-4B31-41F5-BFE9-FF914FE9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79E4C-37E1-41EF-A888-960B0373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11F8A-3C29-4A94-9D0C-BF56DA21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90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7C497-2A0E-4E14-A82F-D480FBB9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30FCD-5189-475E-A54E-8FD1AC1E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90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B3F8E-0539-464A-9525-1F30BE12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90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6C19D-A040-4E76-8842-A6A6162B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50695-4477-46F8-AA8D-C8AC6369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58AE0-7F2B-45E9-8C83-3D47FFB5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3B3ACE-04F3-4C6D-A896-A6BA8F68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CFD43-90F4-4A2C-9562-08E9EA36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14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10039350" y="2428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87816A-99C0-4FBF-92D6-07FA6F10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2D059B-2535-4F78-BF71-EC59B45C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67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050AE3-2BEE-48C9-9FF0-E41DC97A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671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C03EDA-2D93-439F-8136-DB2D7694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671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6239E6-234F-4F5F-B194-E4A7022A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671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B0422-854A-43CE-A429-55C8D062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671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C42364-9031-4200-99EB-CA001B2D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672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BA4363-980D-4E89-AEBB-164EFF45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672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637589-37F5-4F4A-B512-CBA37139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672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E38D84-DD4C-45DF-96E0-6A13462C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0847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29E0B-546C-44CF-831F-150BA26C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9B7E4-66E9-49B5-8E16-1FF36C3D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4 begins with convolution, pooling, and priors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17B1E-3C9B-4F29-8AE5-2AE98C8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2047875"/>
          <a:ext xmlns:a="http://schemas.openxmlformats.org/drawingml/2006/main" cx="111633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21100"/>
                <a:gridCol w="3721100"/>
                <a:gridCol w="3721100"/>
              </a:tblGrid>
              <a:tr h="523875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Syllabus checkpoint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students should know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Convolution operation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Apply a small kernel across an input to build feature maps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Motivation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 locality, sharing, and hierarchy for image-like data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Summarize local neighborhoods and reduce sensitivity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Strong prior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Convolution and pooling encode assumptions about structure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Variants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Change stride, padding, channels, and convolution style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774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53FD3-3594-4D9D-820E-55E72F18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94F9A-3155-4D9C-9E50-6E0CE51C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4 then connects CNNs to outputs, data, efficiency, and history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65F59-CA19-466C-BA1D-26B63FEC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2143125"/>
          <a:ext xmlns:a="http://schemas.openxmlformats.org/drawingml/2006/main" cx="11163300" cy="2714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21100"/>
                <a:gridCol w="3721100"/>
                <a:gridCol w="3721100"/>
              </a:tblGrid>
              <a:tr h="542925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Syllabus checkpoint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students should know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Structured outputs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Predict maps, sequences, or aligned outputs, not only labels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Data types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 grids, images, audio, video, and other array-structured inputs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Efficient algorithms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Compute convolution faster through implementation choices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CNNs helped shape the modern deep learning wave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233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AE5F6-8958-49DB-B8BC-F4A41883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4054B-974C-4368-B2A4-2D85A244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convolution applies the same small filter across many locations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254ED-3C0D-456B-9CBF-3B72D75C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CEE0-834F-4734-A0F2-FE0AFCF5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5D614-077E-437B-97CD-0C6BF41B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kernel slides over an input array. At each location, it multiplies local input values by kernel weights and sums the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EDC96-4319-4955-B63B-50035DCA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A39C9-DB3F-456C-B3CC-85BF7172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repeated operation produces a feature map that marks where the learned pattern appears.</a:t>
            </a:r>
          </a:p>
        </p:txBody>
      </p:sp>
    </p:spTree>
    <p:extLst>
      <p:ext uri="{BB962C8B-B14F-4D97-AF65-F5344CB8AC3E}">
        <p14:creationId xmlns:p14="http://schemas.microsoft.com/office/powerpoint/2010/main" val="1193384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8BAC0-4311-4F74-8EDE-DCEA50FF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6EEEA-C53A-4AE8-91B0-0E7B8CB5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convolution operation is a weighted local sum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5E2EF-B808-4503-B2BE-523237D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EBC79-9766-424B-BBFF-8EE78DAC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AF83F-7D76-4215-9AAC-A3336C5B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S(i, j) = Σm Σn I(i+m, j+n) K(m, 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4BFBC-AD4A-4D6C-82B3-5ADF5D6C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FE791-1753-40F7-801D-F55E0A20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 is the input array.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49E74-4558-4C09-8783-13A3315B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A3816-1E6D-41DD-9C64-C9D166B7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 is the convolution kernel or filter.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02343-05D7-4C4D-9D9C-35D53EE6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828CD-E1DB-40C4-8C1B-1270864A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 is the output feature map at location (i, j).</a:t>
            </a:r>
          </a:p>
        </p:txBody>
      </p:sp>
    </p:spTree>
    <p:extLst>
      <p:ext uri="{BB962C8B-B14F-4D97-AF65-F5344CB8AC3E}">
        <p14:creationId xmlns:p14="http://schemas.microsoft.com/office/powerpoint/2010/main" val="1942448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656E4C-5B14-4646-94F7-8A718B85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5EFF4-66A5-4712-8B94-87934C85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kernel sees only a local receptive field at each position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67A18-1788-47FC-ADE0-CCAF7EAF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A7360-FEF2-4310-B13E-97B34819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FD59B-4441-43E7-8092-699854CE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383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25C9D-9046-40C6-A436-E126C88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383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CE496-F161-47DE-9E2D-323A8F9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383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2C4B9-F379-4B98-9EBB-2CE93D99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383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F27D2-A244-4802-92A8-F49EA8DB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95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505B7-5AB8-41FA-9D12-03CD5F3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95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05FCF-52A4-4B39-A4B8-18842FF4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95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4C39C-613F-4140-845D-945C87B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95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CCEC7-B51F-42AB-B574-EFFC9FFF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95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70B6D-7A9C-471A-942E-2281D2F7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527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5F67D-6077-4A38-B3DE-106C5F9E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527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6C29A-262A-4F2C-9E3D-D8A640C4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527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677C1-E10C-46FF-98C3-FAB4DBF7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527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C40EB-54D8-4C3C-965E-C966B882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527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4030D-F00C-4210-B557-EA09AA5E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99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88491-35EB-40CE-8503-B1BB163E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099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92EBD-7F09-4E6B-8CC5-57C35E58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99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8DCFC-79C4-4E23-A2D4-AA9774C4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99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052B4A-7EFD-4B33-B26B-85AF38A8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099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E5EF8-EE83-44F2-8197-F9F646B9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67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189B7-7560-4686-86A4-C9293FBD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67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C6E8D4-D910-4842-BC8A-727459CF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67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909D8-EE43-4F60-A7F5-0220A47E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67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DE8BDF-297F-4D05-B99A-ED47A676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671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417007-7775-455B-8EF3-F394F558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 patch</a:t>
            </a:r>
          </a:p>
        </p:txBody>
      </p:sp>
      <p:cxnSp>
        <p:nvCxnSpPr>
          <p:cNvPr id="79" name=""/>
          <p:cNvCxnSpPr/>
          <p:nvPr/>
        </p:nvCxnSpPr>
        <p:spPr>
          <a:xfrm xmlns:a="http://schemas.openxmlformats.org/drawingml/2006/main">
            <a:off x="3905250" y="33813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A533A-B45E-4ACA-9C24-0F663844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22137-8272-4AFF-89F4-527C0F4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536257-6E8E-41EB-A32B-67BBEA35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2041A-6F75-4DF5-8B65-72604017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E45900-53B4-41EF-80EF-50C5E7E4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DCE658-0642-4DA0-8B23-974905B4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6D29C5-16EC-4D1B-9E91-CAE36AB1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F4AF65-B787-4736-ADAA-17CF307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0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73F314-EBC8-4731-B231-39E4F391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DEA8CB-4094-4E28-B12A-398AF47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625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Kernel</a:t>
            </a:r>
          </a:p>
        </p:txBody>
      </p:sp>
      <p:cxnSp>
        <p:nvCxnSpPr>
          <p:cNvPr id="90" name=""/>
          <p:cNvCxnSpPr/>
          <p:nvPr/>
        </p:nvCxnSpPr>
        <p:spPr>
          <a:xfrm xmlns:a="http://schemas.openxmlformats.org/drawingml/2006/main">
            <a:off x="7029450" y="33813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DE335-CE5F-455D-9B28-EFB7CE0F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809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1A4084-EC75-4769-99FE-1E1910A2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99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B0365A-52CD-4237-B5C2-DD018E56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48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5AC130-3EE3-4743-8A8C-30B7190A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kernel is reused at the next spatial position.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7E7E9D-688F-43EA-BE08-46975A12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0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7EC63D-BC61-48A4-8344-8B65FD09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124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creates parameter sharing across the whole input.</a:t>
            </a:r>
          </a:p>
        </p:txBody>
      </p:sp>
    </p:spTree>
    <p:extLst>
      <p:ext uri="{BB962C8B-B14F-4D97-AF65-F5344CB8AC3E}">
        <p14:creationId xmlns:p14="http://schemas.microsoft.com/office/powerpoint/2010/main" val="1582285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30F3D-67A1-4D26-A50E-55516DC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6F5AB-BD22-4E6D-884D-5CDC0AF8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CNN motivation starts with three useful assumptions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B2C6E-16CB-4DF4-B3F8-4346538D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38ECF-BE58-4434-9C3C-B99B3BAE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BCE7B-5C9A-4671-851D-A4173454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3F50B-E11A-415A-AEB8-83C0B466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Nearby values are usually more related than distant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EF113-CC52-4CCC-BC07-14BCEBC4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CDE7B-FBC6-4E9D-85B6-2CAE8894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Parameter sharing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5723D-6C12-4690-80A7-AEB0B2B3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feature may be useful at many positions.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4A036-A9C0-4CF9-B20F-1D9E7179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A7FB4-6574-4159-BB2B-2578B5E7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Translation equivariance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B9184-807E-41FD-B73E-5839CC89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Moving the input moves the feature response.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44AD4-FE2D-4707-88EA-DF34C6F1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C92C4-2376-4A93-8500-46FF187D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Hierarchy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BC67D-457E-45C4-BFE2-A6E2378A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 features combine into larger patterns across layers.</a:t>
            </a:r>
          </a:p>
        </p:txBody>
      </p:sp>
    </p:spTree>
    <p:extLst>
      <p:ext uri="{BB962C8B-B14F-4D97-AF65-F5344CB8AC3E}">
        <p14:creationId xmlns:p14="http://schemas.microsoft.com/office/powerpoint/2010/main" val="169240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4FBA-6C40-4853-938B-D8BD74A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95208-59E9-4F18-9CF0-64B05521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Convolution dramatically reduces parameters compared with dense layers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2107C-50A9-4086-8BF2-17A5C418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4090F-B4ED-4D48-BD45-0A67AC3C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Dense connection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E1F8B-8F21-484D-856B-20971F63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input position can have a different weight into every output unit, which becomes expensive for images.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CCDF2-0669-4E77-BF1F-890A6DEC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Convolutional connection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DAD33-57B1-40A6-B4EE-F98C0E11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small kernel is shared across spatial locations, reducing parameter count and improving sample efficiency.</a:t>
            </a:r>
          </a:p>
        </p:txBody>
      </p:sp>
    </p:spTree>
    <p:extLst>
      <p:ext uri="{BB962C8B-B14F-4D97-AF65-F5344CB8AC3E}">
        <p14:creationId xmlns:p14="http://schemas.microsoft.com/office/powerpoint/2010/main" val="1304510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E7145-84C7-43B4-BBD5-5C8FB839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1A871-CACA-4E43-99CD-F139294D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CNN layers build a feature hierarchy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F82D3-789A-49AB-9EE1-80B09C1E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229E8-D9F9-4A5E-8072-665AF2F1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2075B-B571-4221-9975-5AC0E784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Edges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2619375" y="32861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689EF-0CE4-4270-9F4D-EDC2B08C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EAE89-1774-486D-9B9B-D65C89D6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Textures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5191125" y="32861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CB755-B5C5-44B5-8C2D-B4FB4670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1CC16-C149-4D92-97C0-BF3345B6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Parts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7762875" y="32861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C0C29-CAC5-4B35-B531-4A2B2700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147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E5B94-5A62-4A43-89FB-C8E05B67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5A879-CDA9-4491-AA74-B927FE3A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Early layers detect simple patterns; later layers combine them into task-level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16520121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6C18B-AEB2-4471-8427-317E31CD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DAEA3-5221-4E7A-AAC4-F0C5D9F3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Pooling summarizes local neighborhoods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F938C-0E49-4601-A861-4B525398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06680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56000"/>
                <a:gridCol w="3556000"/>
                <a:gridCol w="3556000"/>
              </a:tblGrid>
              <a:tr h="738188">
                <a:tc>
                  <a:txBody>
                    <a:bodyPr/>
                    <a:lstStyle/>
                    <a:p>
                      <a:r>
                        <a:t>Pooling type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Operation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Typical effect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t>Max pooling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Take the maximum value in a window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Keeps strongest feature response</a:t>
                      </a:r>
                    </a:p>
                  </a:txBody>
                  <a:tcPr marL="91440" marR="91440" marT="45720" marB="4572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t>Average pooling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Average values in a window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Smooths local evidence</a:t>
                      </a:r>
                    </a:p>
                  </a:txBody>
                  <a:tcPr marL="91440" marR="91440" marT="45720" marB="4572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t>Global pooling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Pool across the whole feature 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Converts map to compact vector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3307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3E1ABB-F63C-4D66-8926-458074BE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738A3-66C4-44A5-88D7-F6D4596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Max pooling keeps the strongest local activation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4F490-8268-40C6-BEA6-0F02D40F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24B7C-9D4D-48BE-9FF2-2B92B38E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383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6D772-A7E1-4CE8-91AC-E52B401C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383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87A1C-FB06-4FAE-B12B-FEEEF9B5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83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F71B8-591E-468A-9368-34FE44A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5786E-FDCA-4153-9267-596998F4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270A7-DCE2-42C5-A17B-F529FE2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14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9F516-289E-4655-AF66-83C9B3BF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14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1CDA0-D7D9-4F20-8A71-CA0E0605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2415A-897C-48E9-AD5A-AFE60834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90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F7517-5BD3-4010-81C0-794F2726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90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047C4-9FA3-4F0C-BF7E-DE8F1CC1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90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A4917-B930-4A03-B692-3DB54344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90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AE8F5-ABBF-4A4A-8D83-CE59F81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4822B-70C4-42A8-9C35-11CF6720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671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8F082-F713-42A8-AF78-1F470D02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FFE20-8C2C-400E-92FC-C9295E7C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671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72696-57AB-4024-9074-277DA8AA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29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Feature map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3714750" y="319087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8BCBC-87E8-4DCD-9FDC-8E7A0E1F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146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53A29-2389-496B-B3C8-C83657D2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146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AB4F1-7326-4555-9DC9-DBDC7B7A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670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4B2BF-FD8D-4B7C-9B02-79C48A74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670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D06F4-A8FB-4B64-BFE7-00D890C6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29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Pooled 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D4A881-BBDD-48E4-B5CD-D060683B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57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6E409-3FCC-4487-AD7F-74DE3A47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71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window becomes one summarized value.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B69CE3-85B7-4146-AFEF-C5E89F81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09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25C732-4288-4841-B041-28B0EF66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1242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representation becomes smaller.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59E6E9-CB14-41B7-8E59-759FD4EA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F33A24-8154-4DF6-A2E3-C5861436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6766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 translations can have less effect on the output.</a:t>
            </a:r>
          </a:p>
        </p:txBody>
      </p:sp>
    </p:spTree>
    <p:extLst>
      <p:ext uri="{BB962C8B-B14F-4D97-AF65-F5344CB8AC3E}">
        <p14:creationId xmlns:p14="http://schemas.microsoft.com/office/powerpoint/2010/main" val="3671393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93C38-B41E-40E4-AE09-F2B08EDA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5AE25-ED98-44B9-B380-45F09F2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Convolution and pooling act as an infinitely strong prior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28732-8BA5-41BE-9563-F7AF4C4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BEAEA-E7C1-410B-AE10-B335B6A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Prior from convolution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18FCD-51C2-401C-B728-37010BD9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network assumes useful features are local and that the same feature detector should be reused across positions.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B879D-1D11-41D5-BE67-DE5A5985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Prior from pooling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12D41-95CA-49DB-9C2B-DD128A86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network assumes exact feature position may matter less than whether the feature appears in a local region.</a:t>
            </a:r>
          </a:p>
        </p:txBody>
      </p:sp>
    </p:spTree>
    <p:extLst>
      <p:ext uri="{BB962C8B-B14F-4D97-AF65-F5344CB8AC3E}">
        <p14:creationId xmlns:p14="http://schemas.microsoft.com/office/powerpoint/2010/main" val="10979426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231C9-F816-433F-B1BC-473F1811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E6A62-954B-4777-A80E-55AD18C6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strong prior helps when the data match the assumption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1DF2-4D0A-4B24-B44C-D0828ABC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45DD6-9606-4509-A267-09D26A60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Helpful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8E12A-3343-46BA-85D2-A87B118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images, edges and textures can appear at many locations, so shared filters and pooling are useful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1E758-3704-420B-98F2-1B5DF38D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Risky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AC127-8669-4794-90E3-812F94CB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location-specific patterns are essential, too much sharing or pooling can remove information the task needs.</a:t>
            </a:r>
          </a:p>
        </p:txBody>
      </p:sp>
    </p:spTree>
    <p:extLst>
      <p:ext uri="{BB962C8B-B14F-4D97-AF65-F5344CB8AC3E}">
        <p14:creationId xmlns:p14="http://schemas.microsoft.com/office/powerpoint/2010/main" val="10184091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6EAD1-52C8-454D-A59A-50318088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E862B-70D0-4BAB-A97F-5CC98D2D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Basic convolution changes through stride and padding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C8A63-10A1-4C4B-99BA-89CA7EC6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628650">
                <a:tc>
                  <a:txBody>
                    <a:bodyPr/>
                    <a:lstStyle/>
                    <a:p>
                      <a:r>
                        <a:t>Variant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Effect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Stride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How far the filter moves each 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Controls output resolution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Padding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Extra values added around input borders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Controls border handling and output size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Valid 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padding beyond input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Output shrinks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Same 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Padding chosen to preserve spatial size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Output size stays similar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1743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63072-62EF-4E5A-8D69-0CC4F341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709C8-5B5E-4F69-AEDD-9BB8DAF3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Channels let convolution combine multiple feature planes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A5232-0F71-49D3-B76A-09CA4761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0AF81-E705-4C2B-9568-31249A4F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A6E94-6D7D-439A-8F68-489A8158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Images often have multiple input channels such as red, green, and blue.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1FE43-B67B-4636-914A-9CF35C74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E5DA9-C471-4E8F-A829-96632984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Intermediate CNN layers have many feature-map channels.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6763C-1AC8-4B19-95DD-EB8A85B8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6E7D0-0811-4A44-966E-FF40114E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convolution kernel spans input channels and produces one output feature map.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44BCD-DB54-4C14-8F72-CDAB82B7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6B62E-CBDC-448B-AB1C-0B88DB28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Multiple kernels produce multiple output channels.</a:t>
            </a:r>
          </a:p>
        </p:txBody>
      </p:sp>
    </p:spTree>
    <p:extLst>
      <p:ext uri="{BB962C8B-B14F-4D97-AF65-F5344CB8AC3E}">
        <p14:creationId xmlns:p14="http://schemas.microsoft.com/office/powerpoint/2010/main" val="17150239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7BF6E-449B-4CDC-A776-A5E1A83C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D4C6A-A10F-46D8-BE5C-CBA0342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CNN variants change how computation and sharing are organized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ABFED-87D3-4027-9959-8C314407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1163300" cy="3667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21100"/>
                <a:gridCol w="3721100"/>
                <a:gridCol w="3721100"/>
              </a:tblGrid>
              <a:tr h="611188">
                <a:tc>
                  <a:txBody>
                    <a:bodyPr/>
                    <a:lstStyle/>
                    <a:p>
                      <a:r>
                        <a:t>Variant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idea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Why use it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1D 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Slide along a sequence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Text, audio, signal data</a:t>
                      </a:r>
                    </a:p>
                  </a:txBody>
                  <a:tcPr marL="91440" marR="91440" marT="45720" marB="45720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2D 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Slide across height and width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Images and feature maps</a:t>
                      </a:r>
                    </a:p>
                  </a:txBody>
                  <a:tcPr marL="91440" marR="91440" marT="45720" marB="45720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3D 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Slide across spatial and temporal/depth axes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Video or volumetric data</a:t>
                      </a:r>
                    </a:p>
                  </a:txBody>
                  <a:tcPr marL="91440" marR="91440" marT="45720" marB="45720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Dilated 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Insert gaps inside the kernel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Larger receptive field without many more weights</a:t>
                      </a:r>
                    </a:p>
                  </a:txBody>
                  <a:tcPr marL="91440" marR="91440" marT="45720" marB="45720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Transposed 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Learned upsampling-style operation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Decoder and dense prediction tasks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000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C5236-DA48-4CBD-84EF-A726E4A3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1E8C9-3CC3-4A98-9B82-A632CBE2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Structured outputs predict more than one class label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4C7AD-38D2-4839-9B01-E5E15A81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8E4BB-8A09-4B49-8919-02678667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Ordinary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2D9E6-2FB8-4A4D-829F-44FB4ED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CNN maps an input image to one label, such as cat, car, or digit.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F884A-2763-4D82-AEAE-6F6659A3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FCA53-60F3-436F-85CD-E0B50C83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CNN may output a spatial map, sequence, bounding boxes, masks, or multiple labels aligned to the input.</a:t>
            </a:r>
          </a:p>
        </p:txBody>
      </p:sp>
    </p:spTree>
    <p:extLst>
      <p:ext uri="{BB962C8B-B14F-4D97-AF65-F5344CB8AC3E}">
        <p14:creationId xmlns:p14="http://schemas.microsoft.com/office/powerpoint/2010/main" val="19244866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88C8F2-7C7E-487A-881B-F7C402E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DEF31-777F-478A-83F4-24BFF40A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Dense prediction keeps spatial structure in the output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273DD-3771-4D42-966F-767A9139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4241A-2AA9-481B-8063-A1186FD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415C5-7940-4FD6-B300-68A4671C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image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3048000" y="33528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359AE-F294-4FCE-B36F-93DAE79D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190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828B0-9D9A-49E4-A5D0-06E5C0A8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03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CNN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feature extractor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6953250" y="33528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7195D-EBD2-45C0-9A88-F1C83396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0672C-673A-4CDF-A9B0-568B2AC9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D25B7-6B85-4B1A-B355-0E3D66E9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461FC-775A-423B-9C89-E07DC629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5A3EA-6D85-44ED-ADB4-A2529AD6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8A657-79E1-43B0-A8D6-1C90471D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B9E10-2655-4093-95DC-2739D7E5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2F9D6-2A63-43DF-B1BB-FB207685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F21C3-61E4-45B1-8F67-6AC3C3A5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3F823-CD75-4E82-ABB8-C18743A4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568EA-2CE2-4C00-A205-0ED0D1E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19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B5211-4018-49F8-BF09-A3ED74D8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219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C72A0-C18C-46A1-BAC0-EDEBA883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219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9BE20-2590-41E9-8D21-CFCFE398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219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3D154-D40B-4E5D-A3B8-2A8CF9B0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219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E932DD-B64B-4852-8607-31F31EB8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43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E9ADB7-0319-4783-94EE-A1EED75D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543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2FCA49-D0A6-484D-BA6B-A79225B6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43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F7242-76C9-4765-AFBD-A43A5CD8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543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D52B5-6F08-44D1-AAF5-FA4212DD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543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F7BD9-1433-4EEC-A3CC-327DF3DE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953EA1-125A-44E9-81FB-17FE9B51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B27FFF-FCC3-49D0-973D-0DC5184E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14A4DE-71C4-44E6-ADE5-60EC5C10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5240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15CC4F-FB42-4999-9D6B-6083B9C8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000E53-9EEF-4F76-B33A-E5222476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 map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D91AB9-ECA5-4E4F-B064-CA1DCB04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Segmentation and heatmaps are examples where the output has spatial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6962381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A3FCB-DEFD-4612-ABAD-9FBF21B6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5EFF1-177E-4542-B931-C3455433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CNNs can process several array-like data types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B1046-C987-44C2-990F-B7CAC4C5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611188">
                <a:tc>
                  <a:txBody>
                    <a:bodyPr/>
                    <a:lstStyle/>
                    <a:p>
                      <a:r>
                        <a:t>Data type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Typical structure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CNN interpretation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Height x width x channels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Spatial patterns and channels</a:t>
                      </a:r>
                    </a:p>
                  </a:txBody>
                  <a:tcPr marL="91440" marR="91440" marT="45720" marB="45720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Audio waveform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Time x channels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1D local temporal patterns</a:t>
                      </a:r>
                    </a:p>
                  </a:txBody>
                  <a:tcPr marL="91440" marR="91440" marT="45720" marB="45720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Spectrogram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Time x frequency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2D time-frequency patterns</a:t>
                      </a:r>
                    </a:p>
                  </a:txBody>
                  <a:tcPr marL="91440" marR="91440" marT="45720" marB="45720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Video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Time x height x width x channels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Spatiotemporal patterns</a:t>
                      </a:r>
                    </a:p>
                  </a:txBody>
                  <a:tcPr marL="91440" marR="91440" marT="45720" marB="45720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t>Volume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Depth x height x width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3D spatial patterns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2604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5817A-75C0-44B6-AC17-BDBD948E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7F85E-7CE7-4AE2-B9E7-B94AB2C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layout changes how convolution is implemented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91ABF-8E96-4DD2-81BD-8323E9F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2C987-6CC1-4EF1-8A7C-590AD743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Shape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47453-8BB8-43D5-99A1-21B92252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conceptual operation may be organized as channels-first, channels-last, batched tensors, or tiled memory layouts.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50CCF-623C-4948-8E4D-0C235D40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Hardware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742CD-1E1D-4DC4-9E43-26A33989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Efficient CNN implementations arrange data to reduce memory movement and exploit parallel matrix or tensor operations.</a:t>
            </a:r>
          </a:p>
        </p:txBody>
      </p:sp>
    </p:spTree>
    <p:extLst>
      <p:ext uri="{BB962C8B-B14F-4D97-AF65-F5344CB8AC3E}">
        <p14:creationId xmlns:p14="http://schemas.microsoft.com/office/powerpoint/2010/main" val="20856099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FC66F-498D-43C2-9755-A43EBBB0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493A2-75AD-403D-A06F-DD420991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Efficient convolution algorithms reduce repeated computation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27B68-91E4-497A-A374-E753BF9D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116330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21100"/>
                <a:gridCol w="3721100"/>
                <a:gridCol w="3721100"/>
              </a:tblGrid>
              <a:tr h="695325">
                <a:tc>
                  <a:txBody>
                    <a:bodyPr/>
                    <a:lstStyle/>
                    <a:p>
                      <a: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Idea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Why it helps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Direct 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Compute sliding dot products directly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Simple and general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im2col + matrix multiply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Rearrange patches into a matrix multiplication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Uses optimized GEMM routines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FFT-based 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 frequency-domain multiplication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Can help for large filters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Winograd-style methods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Reduce multiplications for small filters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Useful in many CNN workloads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2277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34529-FD8B-447B-A806-5A1CBA2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5CCC4-3823-46F8-A27C-6B99344C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Efficiency depends on kernel size, feature-map size, and hardware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4CCAD-6BE3-4602-A9A7-9542DCC7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F3F2B-6D08-488C-BF45-4B9BB6C4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7894A-3C87-4636-A4FF-44E8664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 kernels such as 3 x 3 are common because they are expressive and efficient.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09179-6735-4BD1-8CC0-A6542C1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11F67-93DB-4655-86C4-D85B0B6D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Large feature maps make memory movement a major cost.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C8409-6052-461C-928F-2E522F2F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B35D6-3F71-4326-AB65-EDAD4E35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Batches let hardware reuse computation patterns.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00945-EF48-4A0E-B98A-069416A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4839C-1B65-465C-A7A8-266E9A58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best algorithm can change across CPU, GPU, mobile, and accelerator settings.</a:t>
            </a:r>
          </a:p>
        </p:txBody>
      </p:sp>
    </p:spTree>
    <p:extLst>
      <p:ext uri="{BB962C8B-B14F-4D97-AF65-F5344CB8AC3E}">
        <p14:creationId xmlns:p14="http://schemas.microsoft.com/office/powerpoint/2010/main" val="16222406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F5AE1-CB44-49A4-B195-6E8FEAA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77BC8-14D3-4788-AC25-01838156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CNN pipeline stacks convolution, nonlinearity, pooling, and prediction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BFB4F-5874-44CF-99AF-536F49A0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21A05-1593-4BA4-A867-F875FB1C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3C4A6-590D-4A86-93E1-8808597D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9145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064C6-2773-48ED-9157-8A1F1672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24730-E442-4F53-8EE1-E895D0CF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3850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Convolution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372427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C8A0E-794D-42EC-97F4-93695BD9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55706-88C0-40AF-AC12-3816A8E5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Activation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5340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04081-A873-4EC3-8F7F-87B929AE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793DB-91BA-4828-BE56-FC20BCBA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Pooling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734377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1C58B-3F59-442F-B0C2-C290EE0F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A503B-387C-4354-B111-98D1DABA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Classifier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1535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CC64C-134C-4047-B1E1-A305AC45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0989D-80B9-401C-9B7A-AAB3E5E1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38500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63B533-5FF9-4E5A-9C36-CFF7F941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Actual networks repeat this pattern many times, building deeper feature hierarchies.</a:t>
            </a:r>
          </a:p>
        </p:txBody>
      </p:sp>
    </p:spTree>
    <p:extLst>
      <p:ext uri="{BB962C8B-B14F-4D97-AF65-F5344CB8AC3E}">
        <p14:creationId xmlns:p14="http://schemas.microsoft.com/office/powerpoint/2010/main" val="6083519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1D670-5A9C-47EF-AFAD-7C16E62D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D77A9-39A3-495A-8E85-7D7001CB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CNN history connects neural ideas to practical computer vision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619B2-3A25-4E01-A99B-68D9DBA7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628650">
                <a:tc>
                  <a:txBody>
                    <a:bodyPr/>
                    <a:lstStyle/>
                    <a:p>
                      <a:r>
                        <a:t>Period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Milestone idea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Early neural vision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 receptive fields and shared weights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Biological and computational inspiration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LeNet era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CNNs for handwritten digit recognition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Showed end-to-end feature learning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GPU/deep learning era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Larger datasets and faster computation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Made deeper CNNs practical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Modern CNNs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Very deep, residual, and efficient architectures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CNNs became a standard visual learning tool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4552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0D5D7-E5CB-44DA-AC53-CF36800D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15AF3-7F72-470C-A9EA-9915D12F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history of CNNs is also a history of scale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FFBDE-D8BB-4FC2-A403-0FB60424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F7CA4-C4E4-48D9-890A-8EA518F6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BA4A9-9EA8-4601-8378-FFEB6E55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core ideas are older than the modern deep learning boom.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143C3-CA35-423E-BBA9-A3E5FE92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0383F-C7D3-4FE0-BC6D-D1147BB7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Large labeled datasets made supervised visual learning more useful.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FF49B-4786-4C54-B7D8-F73BD628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99F71-3C11-492D-AC32-50CFE8C3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GPU computation made deeper and wider CNN training practical.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406E8-BB81-48AE-A1C8-62712EDD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5333F-3E26-4233-A39D-FD55FAF5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Architectural refinements improved trainability, accuracy,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7098472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DE9C5-19D3-4E62-B7E1-584E3EB4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EED44-ECF5-4D71-A914-F196CF99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good exam answer should name the CNN assumption behind the method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AEA35-C761-4C65-98D5-495E4635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B7270-2CCD-4541-B25C-659D2122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E08E8-BA93-4F34-B663-5516E760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Convolution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2A213-0CA7-4FC3-A5C6-A617E560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Locality and weight sharing.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78841-391C-479C-8D52-D11CCF33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6D1D3-A842-4A5D-B48C-DDC1AA58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9F333-5697-4C99-B23A-A0E3A841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invariance and compact representation.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19191-431E-42B7-8F08-63398CA4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BDAC0-5E73-4A5A-A274-E47D84FD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Variants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85C33-72C5-4E1B-80DF-516D4064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Stride, padding, channels, dimensionality, dilation, transposed convolution.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35E0D-0F62-4FED-A84B-1CC12C4E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BC302-66B7-4A7F-B2CD-52C46DB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Efficiency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DE789-BE98-40AE-9C8D-E5CFD74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Implementation matters because convolution dominates computation.</a:t>
            </a:r>
          </a:p>
        </p:txBody>
      </p:sp>
    </p:spTree>
    <p:extLst>
      <p:ext uri="{BB962C8B-B14F-4D97-AF65-F5344CB8AC3E}">
        <p14:creationId xmlns:p14="http://schemas.microsoft.com/office/powerpoint/2010/main" val="11211389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B05E2-D643-4DB1-A6D1-B4FD6975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D9AA4-4D92-49D4-96D8-9E15EF19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4 vocabulary students must own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620A3-A361-4C3F-B159-D015EF0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428625">
                <a:tc>
                  <a:txBody>
                    <a:bodyPr/>
                    <a:lstStyle/>
                    <a:p>
                      <a:r>
                        <a:t>Term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Kernel / filter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Small trainable array applied across the input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Feature map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Output array produced by a convolutional filter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Receptive 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Input region influencing one output value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Stride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Step size used when sliding the kernel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Padding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Border extension used before convolution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Pooling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 summarization operation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Channel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Feature plane or input component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Structured 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Output with internal organization, such as a map or sequence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2401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A9C62-42A4-4FF7-A84D-2C7D1990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26E57-FE9F-4846-953B-4F69465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 activity: design the first layer of a CNN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A940E-96F5-4C21-94A5-32A94941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BCCD9-E458-47C0-8C45-2E653183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5014F-1F29-48B3-8ADF-97F3FBD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an input type: grayscale image, RGB image, audio waveform, or spectrogram.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CDB1D-83EA-49D3-A5AC-7BFACCAD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D9670-87D4-4F9F-8F1B-1B5DF146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Pick kernel size, stride, padding, and number of output channels.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61AB2-E4AD-4E83-A6D4-43A9C390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30B3E-88CD-4045-8E9E-0418CF70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what prior your design assumes about the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C7319-C18F-4062-A7F3-E1044699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BB364-FE20-455F-93D6-F3357433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 how pooling would change feature-map size and invariance.</a:t>
            </a:r>
          </a:p>
        </p:txBody>
      </p:sp>
    </p:spTree>
    <p:extLst>
      <p:ext uri="{BB962C8B-B14F-4D97-AF65-F5344CB8AC3E}">
        <p14:creationId xmlns:p14="http://schemas.microsoft.com/office/powerpoint/2010/main" val="191390981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C653C-0EBF-4F5E-ACB4-D3CD620B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BC3E5-A906-4BA6-A4E6-5916BEF1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Coverage checklist: every Module 4 phrase is included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C9D1B-0E49-4608-9106-13C0CFFD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350693">
                <a:tc>
                  <a:txBody>
                    <a:bodyPr/>
                    <a:lstStyle/>
                    <a:p>
                      <a:r>
                        <a:t>Syllabus phrase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Covered in slides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Convolution neural networks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1-3, 26</a:t>
                      </a:r>
                    </a:p>
                  </a:txBody>
                  <a:tcPr marL="91440" marR="91440" marT="45720" marB="45720"/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The Convolution Operation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4-6</a:t>
                      </a:r>
                    </a:p>
                  </a:txBody>
                  <a:tcPr marL="91440" marR="91440" marT="45720" marB="45720"/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Motivation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7-9</a:t>
                      </a:r>
                    </a:p>
                  </a:txBody>
                  <a:tcPr marL="91440" marR="91440" marT="45720" marB="45720"/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Pooling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10-11</a:t>
                      </a:r>
                    </a:p>
                  </a:txBody>
                  <a:tcPr marL="91440" marR="91440" marT="45720" marB="45720"/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Convolution and Pooling as an Infinitely Strong Prior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12-13</a:t>
                      </a:r>
                    </a:p>
                  </a:txBody>
                  <a:tcPr marL="91440" marR="91440" marT="45720" marB="45720"/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Variants of the Basic Convolution Function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14-16</a:t>
                      </a:r>
                    </a:p>
                  </a:txBody>
                  <a:tcPr marL="91440" marR="91440" marT="45720" marB="45720"/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Structured Outputs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17-18</a:t>
                      </a:r>
                    </a:p>
                  </a:txBody>
                  <a:tcPr marL="91440" marR="91440" marT="45720" marB="45720"/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Data Types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19-20</a:t>
                      </a:r>
                    </a:p>
                  </a:txBody>
                  <a:tcPr marL="91440" marR="91440" marT="45720" marB="45720"/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Efficient Convolution Algorithms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21-22</a:t>
                      </a:r>
                    </a:p>
                  </a:txBody>
                  <a:tcPr marL="91440" marR="91440" marT="45720" marB="45720"/>
                </a:tc>
              </a:tr>
              <a:tr h="350693">
                <a:tc>
                  <a:txBody>
                    <a:bodyPr/>
                    <a:lstStyle/>
                    <a:p>
                      <a:r>
                        <a:t>Convolutional Networks and the History of Deep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24-25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1966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704E9-AE68-47F1-A546-176A5304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70264-3B79-4F04-9654-AD9700BD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Prescribed textbook reference for Module 4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E9543-A891-44C0-AB96-52D4F6C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C211C-87EE-4E35-91AE-78C6EC4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0DEA3-A868-4429-96BB-BF9C9D77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reference: Goodfellow, Bengio, and Courville, Deep Learning, MIT Press, 2016.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E0A6D-2814-41AC-87FD-1CF0AE03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4EA65-3AA4-4F0D-899A-9465B36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textbook for convolution operations, pooling, priors, variants, data types, efficient algorithms, and CNN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F24F3-16BF-483D-920A-4DB47FAB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C493D-361F-41FE-ABD7-DA0CDE77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VTU syllabus as the boundary for what belongs in Module 4.</a:t>
            </a:r>
          </a:p>
        </p:txBody>
      </p:sp>
    </p:spTree>
    <p:extLst>
      <p:ext uri="{BB962C8B-B14F-4D97-AF65-F5344CB8AC3E}">
        <p14:creationId xmlns:p14="http://schemas.microsoft.com/office/powerpoint/2010/main" val="1692967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2026-08-12T10:47:23.9550000Z</dcterms:created>
  <dcterms:modified xsi:type="dcterms:W3CDTF">2026-08-12T10:47:23.9550000Z</dcterms:modified>
</coreProperties>
</file>