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6de31f5974cca" /><Relationship Type="http://schemas.openxmlformats.org/officeDocument/2006/relationships/extended-properties" Target="/docProps/app.xml" Id="Rf5b0755de5744372" /><Relationship Type="http://schemas.openxmlformats.org/officeDocument/2006/relationships/officeDocument" Target="/ppt/presentation.xml" Id="R2fe35faa6bdc4f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42abd2d3948de"/>
  </p:sldMasterIdLst>
  <p:notesMasterIdLst>
    <p:notesMasterId xmlns:r="http://schemas.openxmlformats.org/officeDocument/2006/relationships" r:id="Ra855784f87aa4613"/>
  </p:notesMasterIdLst>
  <p:sldIdLst>
    <p:sldId xmlns:r="http://schemas.openxmlformats.org/officeDocument/2006/relationships" id="256" r:id="Rb1cbaf1c450a4e48"/>
    <p:sldId xmlns:r="http://schemas.openxmlformats.org/officeDocument/2006/relationships" id="257" r:id="Rd890ae9c9b714ebc"/>
    <p:sldId xmlns:r="http://schemas.openxmlformats.org/officeDocument/2006/relationships" id="258" r:id="R6c8d4752122c40ab"/>
    <p:sldId xmlns:r="http://schemas.openxmlformats.org/officeDocument/2006/relationships" id="259" r:id="R3895b424ee034dcc"/>
    <p:sldId xmlns:r="http://schemas.openxmlformats.org/officeDocument/2006/relationships" id="260" r:id="R3c774e482b3440a0"/>
    <p:sldId xmlns:r="http://schemas.openxmlformats.org/officeDocument/2006/relationships" id="261" r:id="R7468f8cfed23411e"/>
    <p:sldId xmlns:r="http://schemas.openxmlformats.org/officeDocument/2006/relationships" id="262" r:id="R7444a351499343dc"/>
    <p:sldId xmlns:r="http://schemas.openxmlformats.org/officeDocument/2006/relationships" id="263" r:id="Rfa404786595147d2"/>
    <p:sldId xmlns:r="http://schemas.openxmlformats.org/officeDocument/2006/relationships" id="264" r:id="R36e47fa5bb0d4686"/>
    <p:sldId xmlns:r="http://schemas.openxmlformats.org/officeDocument/2006/relationships" id="265" r:id="R30abb3807a394103"/>
    <p:sldId xmlns:r="http://schemas.openxmlformats.org/officeDocument/2006/relationships" id="266" r:id="Rb2e3ff889b964d62"/>
    <p:sldId xmlns:r="http://schemas.openxmlformats.org/officeDocument/2006/relationships" id="267" r:id="R0b260a80bd574663"/>
    <p:sldId xmlns:r="http://schemas.openxmlformats.org/officeDocument/2006/relationships" id="268" r:id="R325cb557d2764537"/>
    <p:sldId xmlns:r="http://schemas.openxmlformats.org/officeDocument/2006/relationships" id="269" r:id="R54243156ef3743ea"/>
    <p:sldId xmlns:r="http://schemas.openxmlformats.org/officeDocument/2006/relationships" id="270" r:id="R0b796bf7b92347e5"/>
    <p:sldId xmlns:r="http://schemas.openxmlformats.org/officeDocument/2006/relationships" id="271" r:id="R0afeb96d25334844"/>
    <p:sldId xmlns:r="http://schemas.openxmlformats.org/officeDocument/2006/relationships" id="272" r:id="R1e688c072dfd4b7b"/>
    <p:sldId xmlns:r="http://schemas.openxmlformats.org/officeDocument/2006/relationships" id="273" r:id="R1fb449bbcdd442bd"/>
    <p:sldId xmlns:r="http://schemas.openxmlformats.org/officeDocument/2006/relationships" id="274" r:id="R3e0e9eb24c7f48cc"/>
    <p:sldId xmlns:r="http://schemas.openxmlformats.org/officeDocument/2006/relationships" id="275" r:id="Rf63cf4f7d7d94177"/>
    <p:sldId xmlns:r="http://schemas.openxmlformats.org/officeDocument/2006/relationships" id="276" r:id="R8be80fbb4bf54062"/>
    <p:sldId xmlns:r="http://schemas.openxmlformats.org/officeDocument/2006/relationships" id="277" r:id="Re33ecd467cec4559"/>
    <p:sldId xmlns:r="http://schemas.openxmlformats.org/officeDocument/2006/relationships" id="278" r:id="Rc869a9931f1743e3"/>
    <p:sldId xmlns:r="http://schemas.openxmlformats.org/officeDocument/2006/relationships" id="279" r:id="Rdfe376574c12433c"/>
    <p:sldId xmlns:r="http://schemas.openxmlformats.org/officeDocument/2006/relationships" id="280" r:id="R3df48e2d084c46ad"/>
    <p:sldId xmlns:r="http://schemas.openxmlformats.org/officeDocument/2006/relationships" id="281" r:id="R24853a4b48f94e5b"/>
    <p:sldId xmlns:r="http://schemas.openxmlformats.org/officeDocument/2006/relationships" id="282" r:id="R058f2bb86dd54d52"/>
    <p:sldId xmlns:r="http://schemas.openxmlformats.org/officeDocument/2006/relationships" id="283" r:id="R7c550dcbc0914388"/>
    <p:sldId xmlns:r="http://schemas.openxmlformats.org/officeDocument/2006/relationships" id="284" r:id="R242760ee68814fbf"/>
    <p:sldId xmlns:r="http://schemas.openxmlformats.org/officeDocument/2006/relationships" id="285" r:id="R994e8c93e3bd4f87"/>
    <p:sldId xmlns:r="http://schemas.openxmlformats.org/officeDocument/2006/relationships" id="286" r:id="R9d7935fa74ff4d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0c37cb09a4bea" /><Relationship Type="http://schemas.openxmlformats.org/officeDocument/2006/relationships/slideMaster" Target="/ppt/slideMasters/slideMaster1.xml" Id="Rbaa42abd2d3948de" /><Relationship Type="http://schemas.openxmlformats.org/officeDocument/2006/relationships/notesMaster" Target="/ppt/notesMasters/notesMaster1.xml" Id="Ra855784f87aa4613" /><Relationship Type="http://schemas.openxmlformats.org/officeDocument/2006/relationships/presProps" Target="/ppt/presProps.xml" Id="Rf0ec2fd9b82a4f6d" /><Relationship Type="http://schemas.openxmlformats.org/officeDocument/2006/relationships/tableStyles" Target="/ppt/tableStyles.xml" Id="R43dc30f326ad44fe" /><Relationship Type="http://schemas.openxmlformats.org/officeDocument/2006/relationships/slide" Target="/ppt/slides/slide1.xml" Id="Rb1cbaf1c450a4e48" /><Relationship Type="http://schemas.openxmlformats.org/officeDocument/2006/relationships/slide" Target="/ppt/slides/slide2.xml" Id="Rd890ae9c9b714ebc" /><Relationship Type="http://schemas.openxmlformats.org/officeDocument/2006/relationships/slide" Target="/ppt/slides/slide3.xml" Id="R6c8d4752122c40ab" /><Relationship Type="http://schemas.openxmlformats.org/officeDocument/2006/relationships/slide" Target="/ppt/slides/slide4.xml" Id="R3895b424ee034dcc" /><Relationship Type="http://schemas.openxmlformats.org/officeDocument/2006/relationships/slide" Target="/ppt/slides/slide5.xml" Id="R3c774e482b3440a0" /><Relationship Type="http://schemas.openxmlformats.org/officeDocument/2006/relationships/slide" Target="/ppt/slides/slide6.xml" Id="R7468f8cfed23411e" /><Relationship Type="http://schemas.openxmlformats.org/officeDocument/2006/relationships/slide" Target="/ppt/slides/slide7.xml" Id="R7444a351499343dc" /><Relationship Type="http://schemas.openxmlformats.org/officeDocument/2006/relationships/slide" Target="/ppt/slides/slide8.xml" Id="Rfa404786595147d2" /><Relationship Type="http://schemas.openxmlformats.org/officeDocument/2006/relationships/slide" Target="/ppt/slides/slide9.xml" Id="R36e47fa5bb0d4686" /><Relationship Type="http://schemas.openxmlformats.org/officeDocument/2006/relationships/slide" Target="/ppt/slides/slide10.xml" Id="R30abb3807a394103" /><Relationship Type="http://schemas.openxmlformats.org/officeDocument/2006/relationships/slide" Target="/ppt/slides/slide11.xml" Id="Rb2e3ff889b964d62" /><Relationship Type="http://schemas.openxmlformats.org/officeDocument/2006/relationships/slide" Target="/ppt/slides/slide12.xml" Id="R0b260a80bd574663" /><Relationship Type="http://schemas.openxmlformats.org/officeDocument/2006/relationships/slide" Target="/ppt/slides/slide13.xml" Id="R325cb557d2764537" /><Relationship Type="http://schemas.openxmlformats.org/officeDocument/2006/relationships/slide" Target="/ppt/slides/slide14.xml" Id="R54243156ef3743ea" /><Relationship Type="http://schemas.openxmlformats.org/officeDocument/2006/relationships/slide" Target="/ppt/slides/slide15.xml" Id="R0b796bf7b92347e5" /><Relationship Type="http://schemas.openxmlformats.org/officeDocument/2006/relationships/slide" Target="/ppt/slides/slide16.xml" Id="R0afeb96d25334844" /><Relationship Type="http://schemas.openxmlformats.org/officeDocument/2006/relationships/slide" Target="/ppt/slides/slide17.xml" Id="R1e688c072dfd4b7b" /><Relationship Type="http://schemas.openxmlformats.org/officeDocument/2006/relationships/slide" Target="/ppt/slides/slide18.xml" Id="R1fb449bbcdd442bd" /><Relationship Type="http://schemas.openxmlformats.org/officeDocument/2006/relationships/slide" Target="/ppt/slides/slide19.xml" Id="R3e0e9eb24c7f48cc" /><Relationship Type="http://schemas.openxmlformats.org/officeDocument/2006/relationships/slide" Target="/ppt/slides/slide20.xml" Id="Rf63cf4f7d7d94177" /><Relationship Type="http://schemas.openxmlformats.org/officeDocument/2006/relationships/slide" Target="/ppt/slides/slide21.xml" Id="R8be80fbb4bf54062" /><Relationship Type="http://schemas.openxmlformats.org/officeDocument/2006/relationships/slide" Target="/ppt/slides/slide22.xml" Id="Re33ecd467cec4559" /><Relationship Type="http://schemas.openxmlformats.org/officeDocument/2006/relationships/slide" Target="/ppt/slides/slide23.xml" Id="Rc869a9931f1743e3" /><Relationship Type="http://schemas.openxmlformats.org/officeDocument/2006/relationships/slide" Target="/ppt/slides/slide24.xml" Id="Rdfe376574c12433c" /><Relationship Type="http://schemas.openxmlformats.org/officeDocument/2006/relationships/slide" Target="/ppt/slides/slide25.xml" Id="R3df48e2d084c46ad" /><Relationship Type="http://schemas.openxmlformats.org/officeDocument/2006/relationships/slide" Target="/ppt/slides/slide26.xml" Id="R24853a4b48f94e5b" /><Relationship Type="http://schemas.openxmlformats.org/officeDocument/2006/relationships/slide" Target="/ppt/slides/slide27.xml" Id="R058f2bb86dd54d52" /><Relationship Type="http://schemas.openxmlformats.org/officeDocument/2006/relationships/slide" Target="/ppt/slides/slide28.xml" Id="R7c550dcbc0914388" /><Relationship Type="http://schemas.openxmlformats.org/officeDocument/2006/relationships/slide" Target="/ppt/slides/slide29.xml" Id="R242760ee68814fbf" /><Relationship Type="http://schemas.openxmlformats.org/officeDocument/2006/relationships/slide" Target="/ppt/slides/slide30.xml" Id="R994e8c93e3bd4f87" /><Relationship Type="http://schemas.openxmlformats.org/officeDocument/2006/relationships/slide" Target="/ppt/slides/slide31.xml" Id="R9d7935fa74ff4d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204a5de4cb4d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0d0ce6bef94875" /><Relationship Type="http://schemas.openxmlformats.org/officeDocument/2006/relationships/notesMaster" Target="/ppt/notesMasters/notesMaster1.xml" Id="R7a7adceb0754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e6c12dd1934fae" /><Relationship Type="http://schemas.openxmlformats.org/officeDocument/2006/relationships/notesMaster" Target="/ppt/notesMasters/notesMaster1.xml" Id="Rd295cd1173284b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12c961fff4bc7" /><Relationship Type="http://schemas.openxmlformats.org/officeDocument/2006/relationships/notesMaster" Target="/ppt/notesMasters/notesMaster1.xml" Id="Ra65fbe734bf949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7d6022b0f34791" /><Relationship Type="http://schemas.openxmlformats.org/officeDocument/2006/relationships/notesMaster" Target="/ppt/notesMasters/notesMaster1.xml" Id="Rc79b3a6334f54d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4aae7dd81400e" /><Relationship Type="http://schemas.openxmlformats.org/officeDocument/2006/relationships/notesMaster" Target="/ppt/notesMasters/notesMaster1.xml" Id="Rb0a2a165bc9442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19a1813869406e" /><Relationship Type="http://schemas.openxmlformats.org/officeDocument/2006/relationships/notesMaster" Target="/ppt/notesMasters/notesMaster1.xml" Id="R42caa64db82443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71d4992fb44d75" /><Relationship Type="http://schemas.openxmlformats.org/officeDocument/2006/relationships/notesMaster" Target="/ppt/notesMasters/notesMaster1.xml" Id="Re89fc478f7dc4d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eb788869c34d3f" /><Relationship Type="http://schemas.openxmlformats.org/officeDocument/2006/relationships/notesMaster" Target="/ppt/notesMasters/notesMaster1.xml" Id="R105d0b6a881346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0b4c17c0224693" /><Relationship Type="http://schemas.openxmlformats.org/officeDocument/2006/relationships/notesMaster" Target="/ppt/notesMasters/notesMaster1.xml" Id="Rda6393f9d8a448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fbf8f475204325" /><Relationship Type="http://schemas.openxmlformats.org/officeDocument/2006/relationships/notesMaster" Target="/ppt/notesMasters/notesMaster1.xml" Id="R300215dd840e4b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a77cba97f84a15" /><Relationship Type="http://schemas.openxmlformats.org/officeDocument/2006/relationships/notesMaster" Target="/ppt/notesMasters/notesMaster1.xml" Id="Ra78f6c69c42241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04f402e31a4142" /><Relationship Type="http://schemas.openxmlformats.org/officeDocument/2006/relationships/notesMaster" Target="/ppt/notesMasters/notesMaster1.xml" Id="Rdef05501fc1e47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3f27ddb5ed4d5a" /><Relationship Type="http://schemas.openxmlformats.org/officeDocument/2006/relationships/notesMaster" Target="/ppt/notesMasters/notesMaster1.xml" Id="R152bd5fbb93343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dfe2cecb2b4e00" /><Relationship Type="http://schemas.openxmlformats.org/officeDocument/2006/relationships/notesMaster" Target="/ppt/notesMasters/notesMaster1.xml" Id="R646169e4919142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bfc87a811f4230" /><Relationship Type="http://schemas.openxmlformats.org/officeDocument/2006/relationships/notesMaster" Target="/ppt/notesMasters/notesMaster1.xml" Id="R307c0ddf459941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fa1b3b9da24ed1" /><Relationship Type="http://schemas.openxmlformats.org/officeDocument/2006/relationships/notesMaster" Target="/ppt/notesMasters/notesMaster1.xml" Id="R0af01965c5d349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a26a8962ba486c" /><Relationship Type="http://schemas.openxmlformats.org/officeDocument/2006/relationships/notesMaster" Target="/ppt/notesMasters/notesMaster1.xml" Id="R308c7fdf027b40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97643072e14dc9" /><Relationship Type="http://schemas.openxmlformats.org/officeDocument/2006/relationships/notesMaster" Target="/ppt/notesMasters/notesMaster1.xml" Id="R96a0dab7690c45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7d923a646942d8" /><Relationship Type="http://schemas.openxmlformats.org/officeDocument/2006/relationships/notesMaster" Target="/ppt/notesMasters/notesMaster1.xml" Id="Rb47b376d5f9743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672afac12443b9" /><Relationship Type="http://schemas.openxmlformats.org/officeDocument/2006/relationships/notesMaster" Target="/ppt/notesMasters/notesMaster1.xml" Id="R6d32a384e7f040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629ead559242c6" /><Relationship Type="http://schemas.openxmlformats.org/officeDocument/2006/relationships/notesMaster" Target="/ppt/notesMasters/notesMaster1.xml" Id="R5e17e28073f241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6180fe728346e7" /><Relationship Type="http://schemas.openxmlformats.org/officeDocument/2006/relationships/notesMaster" Target="/ppt/notesMasters/notesMaster1.xml" Id="R5f27e2e26d3e46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c8b59f14cee45f1" /><Relationship Type="http://schemas.openxmlformats.org/officeDocument/2006/relationships/notesMaster" Target="/ppt/notesMasters/notesMaster1.xml" Id="Re7d1476a0f664a9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7b7615aebe4887" /><Relationship Type="http://schemas.openxmlformats.org/officeDocument/2006/relationships/notesMaster" Target="/ppt/notesMasters/notesMaster1.xml" Id="R8dc2edbdee8c46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36664f100c49d2" /><Relationship Type="http://schemas.openxmlformats.org/officeDocument/2006/relationships/notesMaster" Target="/ppt/notesMasters/notesMaster1.xml" Id="R89dc4069e9ae4e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b059a806ee455b" /><Relationship Type="http://schemas.openxmlformats.org/officeDocument/2006/relationships/notesMaster" Target="/ppt/notesMasters/notesMaster1.xml" Id="R64cad43f1f9247c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eefab53974484d" /><Relationship Type="http://schemas.openxmlformats.org/officeDocument/2006/relationships/notesMaster" Target="/ppt/notesMasters/notesMaster1.xml" Id="Ra5c27386e3bd4d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957526dcfba48a9" /><Relationship Type="http://schemas.openxmlformats.org/officeDocument/2006/relationships/notesMaster" Target="/ppt/notesMasters/notesMaster1.xml" Id="R9b8b30142b6f487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65eea715b414c0c" /><Relationship Type="http://schemas.openxmlformats.org/officeDocument/2006/relationships/notesMaster" Target="/ppt/notesMasters/notesMaster1.xml" Id="R8c89f633be314d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d9843192cc34ce0" /><Relationship Type="http://schemas.openxmlformats.org/officeDocument/2006/relationships/notesMaster" Target="/ppt/notesMasters/notesMaster1.xml" Id="R7ca74f7f72034a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8fc4d91655a41ab" /><Relationship Type="http://schemas.openxmlformats.org/officeDocument/2006/relationships/notesMaster" Target="/ppt/notesMasters/notesMaster1.xml" Id="R8ae5e3985c1149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 for Module 1, aligned to the local VTU BCA701 syllabus and Haykin textbook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complete coverage map of Module 1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completes the Module 1 coverage map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 follows Haykin's engineering view of neural networks as massively parallel adaptive machines.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biological inspiration is framed at a high level, consistent with Haykin's introductory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syllabus topic Models of a Neuron: synaptic weights, summing junction, bias, and activation.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equation is the standard artificial neuron model used in Haykin-style neural network introductions.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Haykin covers activation functions as part of neuron models; the perceptron uses a hard limiting nonlinearity.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Neural Networks Viewed As Directed 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syllabus checkpoint Feedback, as described in neural network architectures.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Network Architectures from the syllabus and Haykin's architecture taxonomy.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prepares the perceptron material by explaining the architecture it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network architectures and connects Module 1 to later multilayer perceptron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Rosenblatt's Perceptron: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perceptron model and its binary decision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geometry is essential for understanding convergence and the Bayes classifier relation.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perceptron learning rule used in Haykin's perceptron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algorithmic flow supports the perceptron convergence theorem.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Perceptron Convergence Theorem at the concept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Important nuance for examination answers about convergence.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included to make the limits of the perceptron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Bayes classifier side of the syllabus relation.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Relation Between the Perceptron and Bayes Classifier for a Gaussian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comparison makes the syllabus relation explicit without treating the two classifiers as identical.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XOR point bridges Module 1 perceptron limitations into Module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turns Module 1 concepts into exam-ready answer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Vocabulary review based on all Module 1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 aligns with the syllabus teaching-learning process and reinforces perceptron geometry.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synthesis for the Module 1 narrative.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verifies the user's request not to miss any Module 1 topic.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reference slide with the prescribed textbook and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cdb008607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f194b718564af7" /><Relationship Type="http://schemas.openxmlformats.org/officeDocument/2006/relationships/slideLayout" Target="/ppt/slideLayouts/slideLayout1.xml" Id="Rbe99a776b26c44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9a776b26c44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118d3dd684a5e" /><Relationship Type="http://schemas.openxmlformats.org/officeDocument/2006/relationships/notesSlide" Target="/ppt/notesSlides/notesSlide1.xml" Id="R7e63de78668b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91b1bb4b245ce" /><Relationship Type="http://schemas.openxmlformats.org/officeDocument/2006/relationships/notesSlide" Target="/ppt/notesSlides/notesSlide2.xml" Id="Rf96e6fb0050744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1b9d3ba4941f5" /><Relationship Type="http://schemas.openxmlformats.org/officeDocument/2006/relationships/notesSlide" Target="/ppt/notesSlides/notesSlide3.xml" Id="R26f208de2d3848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15f690ee44da" /><Relationship Type="http://schemas.openxmlformats.org/officeDocument/2006/relationships/notesSlide" Target="/ppt/notesSlides/notesSlide4.xml" Id="R863b2a63e9234b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158bd2b904c8a" /><Relationship Type="http://schemas.openxmlformats.org/officeDocument/2006/relationships/notesSlide" Target="/ppt/notesSlides/notesSlide5.xml" Id="R2bc7b7bb05d640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8fbca74e4c29" /><Relationship Type="http://schemas.openxmlformats.org/officeDocument/2006/relationships/notesSlide" Target="/ppt/notesSlides/notesSlide6.xml" Id="Ra9c92db9d27e42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90a3b90554c7e" /><Relationship Type="http://schemas.openxmlformats.org/officeDocument/2006/relationships/notesSlide" Target="/ppt/notesSlides/notesSlide7.xml" Id="Rba303e4277934c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8594f22d248b4" /><Relationship Type="http://schemas.openxmlformats.org/officeDocument/2006/relationships/notesSlide" Target="/ppt/notesSlides/notesSlide8.xml" Id="R98ade1930c4c46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2674696b24e82" /><Relationship Type="http://schemas.openxmlformats.org/officeDocument/2006/relationships/notesSlide" Target="/ppt/notesSlides/notesSlide9.xml" Id="Rb3d0dc180d434f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bae84210a4255" /><Relationship Type="http://schemas.openxmlformats.org/officeDocument/2006/relationships/notesSlide" Target="/ppt/notesSlides/notesSlide10.xml" Id="R5be19f3d74d84b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c9dbe5d5b4adf" /><Relationship Type="http://schemas.openxmlformats.org/officeDocument/2006/relationships/notesSlide" Target="/ppt/notesSlides/notesSlide11.xml" Id="R37fa34c006724c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ab095a389472c" /><Relationship Type="http://schemas.openxmlformats.org/officeDocument/2006/relationships/notesSlide" Target="/ppt/notesSlides/notesSlide12.xml" Id="R690aa44349f741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962b5acc74a46" /><Relationship Type="http://schemas.openxmlformats.org/officeDocument/2006/relationships/notesSlide" Target="/ppt/notesSlides/notesSlide13.xml" Id="R746ba6b080b944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05ca295a44791" /><Relationship Type="http://schemas.openxmlformats.org/officeDocument/2006/relationships/notesSlide" Target="/ppt/notesSlides/notesSlide14.xml" Id="R5fb445b7761348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0e852ff8c4b18" /><Relationship Type="http://schemas.openxmlformats.org/officeDocument/2006/relationships/notesSlide" Target="/ppt/notesSlides/notesSlide15.xml" Id="R7021abcd6a204a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3041d572d487b" /><Relationship Type="http://schemas.openxmlformats.org/officeDocument/2006/relationships/notesSlide" Target="/ppt/notesSlides/notesSlide16.xml" Id="R743fd2a842384d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3259c5a234d18" /><Relationship Type="http://schemas.openxmlformats.org/officeDocument/2006/relationships/notesSlide" Target="/ppt/notesSlides/notesSlide17.xml" Id="Rf5d7f63a47aa49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49d1118e34893" /><Relationship Type="http://schemas.openxmlformats.org/officeDocument/2006/relationships/notesSlide" Target="/ppt/notesSlides/notesSlide18.xml" Id="R0d4c25dbe55348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689f4e9dd43f6" /><Relationship Type="http://schemas.openxmlformats.org/officeDocument/2006/relationships/notesSlide" Target="/ppt/notesSlides/notesSlide19.xml" Id="R6ecc19f3e10f48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12b7aa0d64d67" /><Relationship Type="http://schemas.openxmlformats.org/officeDocument/2006/relationships/notesSlide" Target="/ppt/notesSlides/notesSlide20.xml" Id="R9989e3eb39f042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338e515dd4bfc" /><Relationship Type="http://schemas.openxmlformats.org/officeDocument/2006/relationships/notesSlide" Target="/ppt/notesSlides/notesSlide21.xml" Id="R69508e2253e84c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dade3447e40fc" /><Relationship Type="http://schemas.openxmlformats.org/officeDocument/2006/relationships/notesSlide" Target="/ppt/notesSlides/notesSlide22.xml" Id="Ree53de88277043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11f08e8bd48de" /><Relationship Type="http://schemas.openxmlformats.org/officeDocument/2006/relationships/notesSlide" Target="/ppt/notesSlides/notesSlide23.xml" Id="R011fa59bc2b446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129225c1743d4" /><Relationship Type="http://schemas.openxmlformats.org/officeDocument/2006/relationships/notesSlide" Target="/ppt/notesSlides/notesSlide24.xml" Id="R9bb8fa972dc34b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9b5098b7c4b2b" /><Relationship Type="http://schemas.openxmlformats.org/officeDocument/2006/relationships/notesSlide" Target="/ppt/notesSlides/notesSlide25.xml" Id="R759fe16b731241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c6946224643fe" /><Relationship Type="http://schemas.openxmlformats.org/officeDocument/2006/relationships/notesSlide" Target="/ppt/notesSlides/notesSlide26.xml" Id="Rdf16288d46dd4a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3fea9fde64484" /><Relationship Type="http://schemas.openxmlformats.org/officeDocument/2006/relationships/notesSlide" Target="/ppt/notesSlides/notesSlide27.xml" Id="Re28d1b70aff144a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0859766534e54" /><Relationship Type="http://schemas.openxmlformats.org/officeDocument/2006/relationships/notesSlide" Target="/ppt/notesSlides/notesSlide28.xml" Id="R961a933959b74d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29bce85b947bb" /><Relationship Type="http://schemas.openxmlformats.org/officeDocument/2006/relationships/notesSlide" Target="/ppt/notesSlides/notesSlide29.xml" Id="Refb9a3b5e126460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efd90a4dc4e4e" /><Relationship Type="http://schemas.openxmlformats.org/officeDocument/2006/relationships/notesSlide" Target="/ppt/notesSlides/notesSlide30.xml" Id="R4903f803436f43e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600c9a0fa42e5" /><Relationship Type="http://schemas.openxmlformats.org/officeDocument/2006/relationships/notesSlide" Target="/ppt/notesSlides/notesSlide31.xml" Id="R6bbca085fc264d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D5869-ADE4-4F58-ADF3-C877EBC8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6882C-098B-46EE-91F3-F5E29991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1: Introduction to Neural Networks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A904B-C4C6-4071-9B9C-9D7310BB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Neuron models, directed graphs, feedback, architectures, Rosenblatt's perceptron, convergence, and the Bayes classifier relation.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40578-5FBB-4169-81FA-9D7BA06E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42950"/>
            <a:ext cx="3429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8001000" y="20002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17" name=""/>
          <p:cNvCxnSpPr/>
          <p:nvPr/>
        </p:nvCxnSpPr>
        <p:spPr>
          <a:xfrm xmlns:a="http://schemas.openxmlformats.org/drawingml/2006/main">
            <a:off x="10001250" y="2000250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>
            <a:off x="8001000" y="33813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19" name=""/>
          <p:cNvCxnSpPr/>
          <p:nvPr/>
        </p:nvCxnSpPr>
        <p:spPr>
          <a:xfrm xmlns:a="http://schemas.openxmlformats.org/drawingml/2006/main">
            <a:off x="8001000" y="2000250"/>
            <a:ext cx="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5E774-1BFE-4A6D-BAA0-49D45A77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288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89F1C-18C0-4714-9AE7-E25A6EE6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ACE6E-6B4E-4617-81AE-E8B8BC0C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5303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E866A-99CA-4718-8557-3CA51DD4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3265B-0275-45F1-A501-694956F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1 checkpoints start with neural-network basics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B3F6F-0D3B-449B-AF06-F4EBDB00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952625"/>
          <a:ext xmlns:a="http://schemas.openxmlformats.org/drawingml/2006/main" cx="11277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47625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Checkpoint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students should know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Introduction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neural networks are studied in deep learning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is a Neural Network?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Definition, units, weights, activation, learning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The Human Brain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Biological inspiration without overclaiming equivalence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Models of a Neuron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Synapses, adder, bias, activation function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Directed Graphs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Signals as nodes and directed edges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Feedback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Cycles, memory, dynamics, recurrent behavior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191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EB3E2-6459-4AF9-A725-F20BC22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9C49F-022B-4117-ACE7-DE4382A0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1 then builds the perceptron and classifier link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4787-8180-45A8-92CC-400B581B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2047875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500063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Checkpoint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students should know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Network Architectures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Feedforward, multilayer, recurrent organization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Rosenblatt's Perceptron: Introduction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Historical classifier and learning machine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Perceptron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 boundary and learning rule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Perceptron Convergence Theorem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Finite convergence for linearly separable data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Bayes Classifier Relation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Gaussian classifier link and linear boundaries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307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EA22F-B558-482D-B0AD-BE820408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D0259-567E-4B6F-B400-B52B6A4E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neural network is a weighted, adaptive signal-processing system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6F2FE-60B4-4C29-B450-80927C13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E878B-5B1C-4E54-BF74-C92817C1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FF622-98C9-426A-BB6D-36324FB5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neural network is built from simple processing units connected by weighted links. Each unit receives inputs, combines them, applies an activation function, and passes a signal forward or around a network.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3A701-8E1B-420A-A8A2-78D5376A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54577-7482-47B7-A407-C1B63C15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network does not need a hand-written rule for every case. It adjusts weights from examples so that its input-output mapping improves for a task.</a:t>
            </a:r>
          </a:p>
        </p:txBody>
      </p:sp>
    </p:spTree>
    <p:extLst>
      <p:ext uri="{BB962C8B-B14F-4D97-AF65-F5344CB8AC3E}">
        <p14:creationId xmlns:p14="http://schemas.microsoft.com/office/powerpoint/2010/main" val="2078237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7AE24-795E-4352-845C-499693AF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A0A75-2135-41F5-9B10-64501966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human brain supplies the metaphor, not a literal blueprint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0BE2-562E-4D27-BDAB-22344219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3B6EA-A763-44EE-A147-A46D144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68571-63F5-465A-9A00-58D2601A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Neurons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96D49-93D4-4AB2-BC7E-791CFEA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Information-processing cells inspire artificial processing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14E90-BA6E-459A-BC83-8D673DC6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9E2B3-438E-4868-8E3D-443AB84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Synapses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8B214-1112-4C51-8BC9-4D179912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Connection strength inspires numerical weights between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5DC58-8199-4650-999D-8891BA31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EFAE9-BFD6-49CC-91FF-32D3C796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Plasticity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75C54-DF3B-4F78-86FE-71D06003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suggests changing connection strengths from experience.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C39A8-AD28-41C4-90FF-30BB1D24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212C2-FAA2-44CE-A67C-8A71EEAB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Parallelism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FFF77-EB5D-45A5-973B-73592F95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Many simple units together can express complex behavior.</a:t>
            </a:r>
          </a:p>
        </p:txBody>
      </p:sp>
    </p:spTree>
    <p:extLst>
      <p:ext uri="{BB962C8B-B14F-4D97-AF65-F5344CB8AC3E}">
        <p14:creationId xmlns:p14="http://schemas.microsoft.com/office/powerpoint/2010/main" val="1242685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4BFF4-7265-491E-8D66-4B39BACA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29398-9420-4AD3-B762-7A56ECA0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artificial neuron has three essential operations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DF1EB-68C7-45EF-8BCB-CEDD6140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143000" y="342900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4286250" y="3429000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7239000" y="34290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AAD24-CD41-450E-8D18-A9F780E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619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8D78D-5C5B-4A38-B4B5-93A106F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4664F-1AF9-496A-9672-80D6673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619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4E0C8-5180-4A50-9A69-1ABC8486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1809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250DD-38C3-412C-9C65-9EF82E0B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x1, x2, 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BF76B-34EF-4714-81C0-C4D51A50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384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2842C-6F7B-4489-B36F-2125184D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Activation</a:t>
            </a:r>
          </a:p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φ(v)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4FE11-E3F8-4289-AEEC-7AFCFF71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76575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C33C2-E350-4063-8853-1EE72C6A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0A559-9910-4AC0-AE16-6DE4247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Weights scale inputs before summation.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17E2D-D36B-4FE8-9AFF-B28691E2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B7384-2224-417C-964F-4675E3F6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Bias shifts the activation threshold.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611F2-2AD7-4BCD-A565-C99B9FC2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CD21A-5120-488E-890B-88C4B10D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86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Activation function controls the neuron's output response.</a:t>
            </a:r>
          </a:p>
        </p:txBody>
      </p:sp>
    </p:spTree>
    <p:extLst>
      <p:ext uri="{BB962C8B-B14F-4D97-AF65-F5344CB8AC3E}">
        <p14:creationId xmlns:p14="http://schemas.microsoft.com/office/powerpoint/2010/main" val="668125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EF664-69B3-4820-A8B8-48F3D1BF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6C1CA-877F-47F2-8B07-6118C7D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neuron model is compact enough to write as one equation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53A00-C3F5-43C1-802E-C36A6DA3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BFA25-E016-43AE-86D8-8BA43AF1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BF37E-A354-4D39-B747-8D87F5FB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 = φ( Σ wi xi + b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C6D8B-1023-4928-91D6-17ACBDA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1F79E-4DFE-4BC9-9975-5966CE52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xi are input signals; wi are synaptic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1331D-B8BD-4D45-801B-E2AA1412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A30C5-43E9-4A99-98E6-ECAA5A38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 is the bias, equivalent to a weight connected to a constant input.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9267F-3B5B-4AA3-A3E5-9C8D600B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6DC3A-257B-49C2-A4D3-409B25D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φ is the activation function that introduces a controlled nonlinearity.</a:t>
            </a:r>
          </a:p>
        </p:txBody>
      </p:sp>
    </p:spTree>
    <p:extLst>
      <p:ext uri="{BB962C8B-B14F-4D97-AF65-F5344CB8AC3E}">
        <p14:creationId xmlns:p14="http://schemas.microsoft.com/office/powerpoint/2010/main" val="170354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F0E6A-6E0C-4B7D-8EBE-0E3B513F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E121B-0C76-4646-8DA5-51AE919F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Activation functions turn weighted sums into decisions or signals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0C1BD-4DA4-4F62-A308-A28BFD36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00100" y="2000250"/>
          <a:ext xmlns:a="http://schemas.openxmlformats.org/drawingml/2006/main" cx="105918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30600"/>
                <a:gridCol w="3530600"/>
                <a:gridCol w="3530600"/>
              </a:tblGrid>
              <a:tr h="685800"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Typical output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 in Module 1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Threshold /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 or 1, or -1 or +1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Classic perceptron decision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-1 or +1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Separates two classes by a hyperplane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Sigmoid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Smooth value between 0 and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Useful later for differentiable learning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Linear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Unbounded real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Useful as a comparison baseline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2452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FC1E8-EBB6-4B8A-A659-E46A3236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38C74-C777-4C0B-A585-8EFFC10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Viewing a neural network as a directed graph clarifies signal flow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14A1E-92BA-4C2D-9BFE-323E6165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0E373-AB78-4479-95ED-C569CED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7EBA3-C0E1-4FE7-9259-AEE0D06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ECA3E-D924-4F22-BAB3-2096E618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7FC8F-0EBD-4FC7-9B46-0016FDF6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38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2238375" y="2924175"/>
            <a:ext cx="20955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2238375" y="3686175"/>
            <a:ext cx="20955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5238750" y="368617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BE52D-035A-4421-890A-CD617515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622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20D48-8A21-473B-BA21-6A54D64E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862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9D799-DFD9-4777-8C82-0160358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528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neuron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9C040-6A96-4A83-97B7-B9B6F4C3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62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0B45F-ADED-44C0-8E71-708CEF8C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Nodes are processing units; directed edges carry weighted signals.</a:t>
            </a:r>
          </a:p>
        </p:txBody>
      </p:sp>
    </p:spTree>
    <p:extLst>
      <p:ext uri="{BB962C8B-B14F-4D97-AF65-F5344CB8AC3E}">
        <p14:creationId xmlns:p14="http://schemas.microsoft.com/office/powerpoint/2010/main" val="2133187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BBA46-BD0D-4EEA-8D56-25E3B95F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B5F69-2F78-4F47-A27E-10507435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introduces cycles, memory, and dynamics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9137E-E795-48EA-B0D8-E0DDFAEB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E142B-C38A-4458-88DC-E33A9EB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0587A-D258-49EF-9A3A-2B366648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95750" y="3209925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4" name=""/>
          <p:cNvCxnSpPr/>
          <p:nvPr/>
        </p:nvCxnSpPr>
        <p:spPr>
          <a:xfrm xmlns:a="http://schemas.openxmlformats.org/drawingml/2006/main">
            <a:off x="4095750" y="37338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6E353-FEC8-4A68-97AF-25CD08A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480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Unit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36C1D-A527-43FF-9221-C2D89213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Unit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6CBDF-7FD9-4365-A659-5C3D599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44158-392D-4F0C-828E-36BECE6F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Feedforward path: signals move from inputs toward 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50632-B0D8-4FD2-A27D-697798B0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1148C-B9CE-4F4C-AD11-E76ECB73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625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path: a later signal returns to an earlier unit or layer.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581F0-5892-4225-856E-E7673F41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D9C5E-B423-439B-8370-F6C1AC1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626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networks can represent state over time, but training and stability become harder.</a:t>
            </a:r>
          </a:p>
        </p:txBody>
      </p:sp>
    </p:spTree>
    <p:extLst>
      <p:ext uri="{BB962C8B-B14F-4D97-AF65-F5344CB8AC3E}">
        <p14:creationId xmlns:p14="http://schemas.microsoft.com/office/powerpoint/2010/main" val="531059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AC0AE-343B-4855-B087-69AB08FA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08FB6-8B10-4F28-861B-DBCC00F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Network architecture describes how neurons are arranged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C39B1-D476-4193-B113-D76D1597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85800">
                <a:tc>
                  <a:txBody>
                    <a:bodyPr/>
                    <a:lstStyle/>
                    <a:p>
                      <a: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Structure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Main idea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Single-layer feedforward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Input nodes connect directly to output neurons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Linear decision surfaces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Multilayer feedforward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or more hidden layers between input and 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Richer input-output mappings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Recurrent / feedback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Connections form cycles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State, temporal context, and dynamic behavior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Lattice / local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Units connect to nearby units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Spatial organization and neighborhood effects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665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E80AF-0083-451A-B6F1-C75B4CA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52E80-A4DF-4438-AF09-F1528AE5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Single-layer feedforward networks are the simplest classifiers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579FB-DAEC-4C62-8BAD-82E2515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62958-C138-47FE-8D29-AC92FAE6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5CDCD-81F6-498E-8C34-C9CFB66E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input layer distributes signals to output neurons. There is no hidden computation layer; the trainable weights sit on the links into the output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E9901-9842-4F17-9E2D-D374ED7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Consequence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56F65-E0F5-4886-AFC2-37876E19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decision boundary is linear in the input space. This is enough for separable problems, but not for problems requiring nonlinear boundaries.</a:t>
            </a:r>
          </a:p>
        </p:txBody>
      </p:sp>
    </p:spTree>
    <p:extLst>
      <p:ext uri="{BB962C8B-B14F-4D97-AF65-F5344CB8AC3E}">
        <p14:creationId xmlns:p14="http://schemas.microsoft.com/office/powerpoint/2010/main" val="940271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46BF5-1025-4357-ABA9-121EF2CA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A65D9-1D21-412E-A511-EF26BC1C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Multilayer feedforward networks add hidden representations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4C86A-6A3A-4A34-845E-4A0F3A55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ADD90-7DA4-41A5-B8CB-91474F0A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5CF2F-7310-4591-A02E-FA6F1591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3C792-26CE-4EE6-8DA9-28C83E3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6AB28-EDA9-41A4-B4A5-71B5FA5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E9EC7-81B4-48B2-BDCE-CDE68653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76172-F2EC-4709-9629-6F164F24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7DCD1-0721-4DF1-903D-53C4F766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14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DD878-0728-45CE-9800-41C566F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71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52610-93F3-4F9B-AE95-54259448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291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C2D75-7E5C-4E47-A832-937795FD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863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41015-0DDA-4F80-B867-DD9E6F7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813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F5181-ADDF-4E59-B9BD-CD3E2C24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33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2190750" y="3009900"/>
            <a:ext cx="3333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2190750" y="4010025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2190750" y="4867275"/>
            <a:ext cx="3333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191250" y="3009900"/>
            <a:ext cx="32861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191250" y="4629150"/>
            <a:ext cx="32861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F5A0B-1706-42C7-BE5A-5B5DE1BD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 units learn intermediate features, which is the basic idea that later becomes deep learning.</a:t>
            </a:r>
          </a:p>
        </p:txBody>
      </p:sp>
    </p:spTree>
    <p:extLst>
      <p:ext uri="{BB962C8B-B14F-4D97-AF65-F5344CB8AC3E}">
        <p14:creationId xmlns:p14="http://schemas.microsoft.com/office/powerpoint/2010/main" val="437436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1CF6B-C165-4331-96B2-B18D3C4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6EF62-F3B0-4C19-A091-8960CA2C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Rosenblatt's perceptron is a trainable binary classifier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38C31-F646-4D35-A43B-474D16B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AD778-057D-41E1-A6F4-E0361A58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580CD-0F16-4A51-B2B3-98C8965C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Historical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F1D6B-8C3A-4187-BDF6-FEB55954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Introduced as an early learning machine for pattern classification.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0F271-BDAA-4A4C-A13E-6F478EAC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B37A9-A232-46EC-8FDA-600A4376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C2B52-F219-4D01-8526-B71EB789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Feature vector x represents the pattern to be classified.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46D50-C71D-40C7-AF52-E31C7747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201D0-900D-4183-B2FB-72A236F8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F4E68-6D77-4312-B9E0-89741958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Weights are adjusted from labeled examples.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21196-8E1B-4667-8785-3B7EB40F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9E587-2F58-44AE-ACF9-D6A2EA7D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12DE1-4E6D-43C5-A291-7A384763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hard threshold chooses one of two classes.</a:t>
            </a:r>
          </a:p>
        </p:txBody>
      </p:sp>
    </p:spTree>
    <p:extLst>
      <p:ext uri="{BB962C8B-B14F-4D97-AF65-F5344CB8AC3E}">
        <p14:creationId xmlns:p14="http://schemas.microsoft.com/office/powerpoint/2010/main" val="1298329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D5414-EFA4-4A8F-B907-44495B7D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89F63-633F-4662-B4E5-1625DA2E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perceptron computes a weighted sum and applies a threshold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19731-D94B-4AB7-BFD5-008B3883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E1D63-2CB1-4CBD-9E2B-A7BD454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D9ADA-6456-44F4-B053-F4A59D98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 = sign(wᵀx + b)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C87F5-406C-408A-BEF1-722E6407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68CB6-C2C7-4D18-B194-499A404A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 is the weight vector and b is the bias.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91512-8CB4-442C-8150-B2CFBF6E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0A4C3-8F78-483C-BBA6-51223F1B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sign of the induced local field assigns the input to one of two classes.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1703D-F027-46C6-A353-9AE13B69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59922-CFA0-4A86-8758-130812D4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separating surface is wᵀx + b = 0.</a:t>
            </a:r>
          </a:p>
        </p:txBody>
      </p:sp>
    </p:spTree>
    <p:extLst>
      <p:ext uri="{BB962C8B-B14F-4D97-AF65-F5344CB8AC3E}">
        <p14:creationId xmlns:p14="http://schemas.microsoft.com/office/powerpoint/2010/main" val="4247164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BB24C-EC65-47E9-ACE2-CBB6EA9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8F55D-D545-4071-9D7E-CB25C72E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Geometrically, a perceptron draws a hyperplane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046AB-498C-42C7-98B3-42DBA26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CF8DC-8A56-40AB-8F8F-DE777F63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5715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428750" y="495300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1619250" y="2333625"/>
            <a:ext cx="0" cy="2762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2190750" y="2667000"/>
            <a:ext cx="3429000" cy="20955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03C14-64DC-4959-8C55-8FBEDEAF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975FA-624A-4AC5-8FEB-A757DE10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0CB6A-75F2-44E4-8ECC-023E8921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D9AEF-8F7D-4C45-958F-C64EF6FC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07DD3-F306-42B3-AE93-597A61E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86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6C999-18AA-4D25-87CE-BB6810AA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C7969-B30D-4DDF-8B1B-6D9BD5A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291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7C45F-E89A-49BB-A970-88253656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95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DB2B8-5C0E-44C1-9995-45387C5C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wᵀx + b =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9A263-8C98-481F-B8C1-F4914AE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66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4EF5F-BD60-4FC8-94FF-D91E53C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Points on one side map to class +1.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0B018-F276-421C-A403-396AB15D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A6644-EF93-4FEA-82B4-89BA73D4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956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Points on the other side map to class -1.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FBAC0-BE34-44CA-883C-C1B553E5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EBF74-A377-43D8-AD35-5B73451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099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two dimensions the hyperplane is a line; in higher dimensions it is a plane-like separator.</a:t>
            </a:r>
          </a:p>
        </p:txBody>
      </p:sp>
    </p:spTree>
    <p:extLst>
      <p:ext uri="{BB962C8B-B14F-4D97-AF65-F5344CB8AC3E}">
        <p14:creationId xmlns:p14="http://schemas.microsoft.com/office/powerpoint/2010/main" val="12173501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F4884-36E3-4BC2-B2D3-1205586C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C6CD8-77C7-4B78-9064-761C1B46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Perceptron learning changes weights only when a pattern is misclassified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22004-E2DE-4067-8E52-28CE62FF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5979A-8EBE-4F15-A66B-7B09A65D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D7773-A0AE-4772-8CE2-9654ADF0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w(new) = w(old) + η d 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9F4D5-DD6C-424B-86B9-5B17EDD4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26CA1-BE70-48E1-975F-0D1FD926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η is the learning-rate parameter.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F1D7C-A2BC-4D0D-9A4F-D9DA69AE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47D81-976A-45C7-9376-217821F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 is the desired class label, commonly +1 or -1.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7627B-DAAF-494C-890E-3752E3C5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701A8-CB6D-474B-AED4-ABB4E56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correction moves the separating hyperplane toward classifying x correctly.</a:t>
            </a:r>
          </a:p>
        </p:txBody>
      </p:sp>
    </p:spTree>
    <p:extLst>
      <p:ext uri="{BB962C8B-B14F-4D97-AF65-F5344CB8AC3E}">
        <p14:creationId xmlns:p14="http://schemas.microsoft.com/office/powerpoint/2010/main" val="21050276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B4FC5-95DC-4898-91E1-A72C16F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20264-1BEB-4801-8536-EAF1B443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training loop is simple but powerful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DEE32-C070-4032-A68D-C9E0F68C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489857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Initialize weights and bias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Start with a candidate classifier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Present one labeled example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Test current decision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Compute sign(wᵀx + b)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Predict class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Compare with 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Detect error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 on 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Move boundary toward correct classification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Repeat over examples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Converge when all are correctly classified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909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7F48A-5861-453B-AEA9-57DA5A5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DE275-741C-48BB-A60D-A1F63CD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convergence theorem needs linear separability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8ADE3-840E-4230-88D4-C8001C75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20B90-FF59-4B7D-9E7A-714EF9E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7C8E4-D045-463F-A700-B7C6C0C3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training set is linearly separable if at least one hyperplane can classify every training example correctly.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131D3-9F34-4815-B689-F30A157A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Guarantee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95618-B9F1-4D97-876C-6530A73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linearly separable data and a suitable fixed learning rate, the perceptron learning rule reaches a solution in a finite number of updates.</a:t>
            </a:r>
          </a:p>
        </p:txBody>
      </p:sp>
    </p:spTree>
    <p:extLst>
      <p:ext uri="{BB962C8B-B14F-4D97-AF65-F5344CB8AC3E}">
        <p14:creationId xmlns:p14="http://schemas.microsoft.com/office/powerpoint/2010/main" val="19215616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6D9D9-467D-4588-8D0F-432CB333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E1A74-454B-45A7-A376-501C5B91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Convergence is a statement about finding a separator, not about finding the best separator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1EE2C-A4F2-47D7-BA82-B87F16D6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3FB20-B8CA-49B5-8E2B-D77C1769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C9C6C-7029-4E2B-ADFD-A74321B3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theorem says the algorithm will stop if a separating hyperplane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7D225-3DB2-4130-A690-1D765D0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FB48F-F1A0-43D1-9B88-40926BE8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does not say the separator is unique.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17EDF-5BD2-48FD-8EF1-FF5BAD5A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CEE32-B6CB-4823-B624-E1F8CD79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does not maximize margin; different starting weights can reach different valid solutions.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CAF80-9A7D-4052-917A-417279CC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6E859-02DA-4CEC-8891-32575FE8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the data are not linearly separable, the basic perceptron can keep updating indefinitely.</a:t>
            </a:r>
          </a:p>
        </p:txBody>
      </p:sp>
    </p:spTree>
    <p:extLst>
      <p:ext uri="{BB962C8B-B14F-4D97-AF65-F5344CB8AC3E}">
        <p14:creationId xmlns:p14="http://schemas.microsoft.com/office/powerpoint/2010/main" val="13282005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7AE9F-0569-4CA0-AAAF-7EE9B09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02CCD-2E8A-4883-B447-CBD930D1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Nonseparable patterns reveal the perceptron's limitation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C3DE3-7099-4B76-ADF2-22573F40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92EF9-85A0-447A-9D42-DD565C1E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fails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688FB-5F91-4DB4-BBB0-5FDA61BA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two classes overlap or require a nonlinear boundary, no single hyperplane can classify all examples correctly.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ACBD5-791D-4D6D-B858-23E53AB1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E6BCB-FB39-49BE-9A2B-BD7C664E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limitation motivates multilayer networks and nonlinear representation learning in later modules.</a:t>
            </a:r>
          </a:p>
        </p:txBody>
      </p:sp>
    </p:spTree>
    <p:extLst>
      <p:ext uri="{BB962C8B-B14F-4D97-AF65-F5344CB8AC3E}">
        <p14:creationId xmlns:p14="http://schemas.microsoft.com/office/powerpoint/2010/main" val="18136185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FDF9B-E8F1-4733-846A-A889FD34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FDE11-DB85-4E07-BAAB-88CEE32D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Bayes classification provides the statistical gold standard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0E4BD-A90E-4120-92CE-4A1B3EC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9477F-7D0A-4AFE-8639-DBCC98D8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68DCC-331F-483E-94B1-96C97C0A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Bayes classification assigns an input to the class with the largest posterior probability.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9C04F-F145-472B-8738-252DC0B3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3DFB2-4C7C-4A4C-8DC5-5462C91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minimizes probability of classification error when the true class distributions are known.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57DB8-B02A-4B48-A8BC-0360092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6A615-7F70-4A5A-90A2-62AC4B9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Gaussian class-conditional densities, the decision boundary depends on means, covariance, and prior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1507044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DC469-AFD8-4B6F-A117-5D194266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C493C-0871-4D2B-9105-7ABD2E2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Gaussian environment can make the Bayes boundary linear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06A14-0DEF-4CE9-BD22-92BB20A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4A86D-26B1-4ECE-AFCB-645BF48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Equal covariance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94B90-7348-4C21-BD48-67DE8FF9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two Gaussian classes share the same covariance matrix, the Bayes decision boundary is linear in 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F948A-1542-4DFA-BFF4-52132CAF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Perceptron connection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3599E-E205-4998-BFBC-D4456779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perceptron also implements a linear boundary. Under this condition, its boundary form matches the Bayes classifier form.</a:t>
            </a:r>
          </a:p>
        </p:txBody>
      </p:sp>
    </p:spTree>
    <p:extLst>
      <p:ext uri="{BB962C8B-B14F-4D97-AF65-F5344CB8AC3E}">
        <p14:creationId xmlns:p14="http://schemas.microsoft.com/office/powerpoint/2010/main" val="12233291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20401-E56F-48C4-99DA-4D7658CE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F0E25-1D29-488E-9023-F50D38E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Perceptron and Bayes classifiers answer different questions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09048-7E5C-4FE8-92F1-5EACA93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23900" y="19526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81400"/>
                <a:gridCol w="3581400"/>
                <a:gridCol w="3581400"/>
              </a:tblGrid>
              <a:tr h="685800">
                <a:tc>
                  <a:txBody>
                    <a:bodyPr/>
                    <a:lstStyle/>
                    <a:p>
                      <a: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Perceptron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Bayes classifier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Input needed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Labeled examples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Class probability models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Decision 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sign(wᵀx + b)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largest posterior probability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Training goal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Find a separating hyperplane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Minimize expected classification error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Gaussian link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Linear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Linear if covariances are equal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2992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0BC35-82AE-4679-8B7E-9503133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92E89-BD7C-42EE-B7D5-D434954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Example: AND is linearly separable, XOR is not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4B67-8A91-410A-85E0-76C0DA8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009650" y="209550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87500"/>
                <a:gridCol w="1587500"/>
                <a:gridCol w="1587500"/>
              </a:tblGrid>
              <a:tr h="571500">
                <a:tc>
                  <a:txBody>
                    <a:bodyPr/>
                    <a:lstStyle/>
                    <a:p>
                      <a:r>
                        <a:t>Input pair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AND target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XOR target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0, 0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0, 1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1, 0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1, 1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A9986-DA14-466C-92DD-949E3103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66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5EE70-77EE-4A25-B322-7298A6E0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can be separated by one straight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34CAB-C9D0-4C73-A3B6-4A2CAC72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8733D-5F93-4093-BDA2-D8AF32CE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33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XOR cannot be separated by one straight boundary.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D9DFB-6F28-45B5-8A5A-C2355BE4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C2506-3CB2-4FAC-9496-8D0F86D3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86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is why Module 2 moves into multilayer perceptrons.</a:t>
            </a:r>
          </a:p>
        </p:txBody>
      </p:sp>
    </p:spTree>
    <p:extLst>
      <p:ext uri="{BB962C8B-B14F-4D97-AF65-F5344CB8AC3E}">
        <p14:creationId xmlns:p14="http://schemas.microsoft.com/office/powerpoint/2010/main" val="20802444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25836-8CD7-4D71-8A04-D1D3A48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D7F72-D62F-4422-9BA2-3FDF30DB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good exam answer separates terminology from theorem conditions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CFB83-35E3-4F9E-97F8-9C08D1EA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33A79-FB46-4E2F-8F38-D5DEBED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9E20C-42C6-4992-A05E-0463BE24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Neuron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97772-741B-4B95-8841-0564A00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weights, adder, bias, activation, and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C34FA-0ECB-4F85-BD68-0FD918AC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44272-3AEF-40E6-9ED3-CEBE123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Graph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CA379-9E19-4285-BF7C-58956634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nodes, directed edges, signal flow, and cycles.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FF9CE-F873-4E2E-9314-02D6401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37441-AFF8-4A17-9877-7DDCBC57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Convergence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D9109-28F2-405A-A51E-A117ACC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linear separability and finite updates clearly.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91452-681E-4BFA-8D3E-018BE524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0684C-6707-4931-AF5F-4E5CDE5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Bayes relation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40189-8D98-4CFC-BAD0-671030DE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Mention Gaussian distributions and the equal covariance linear-boundary case.</a:t>
            </a:r>
          </a:p>
        </p:txBody>
      </p:sp>
    </p:spTree>
    <p:extLst>
      <p:ext uri="{BB962C8B-B14F-4D97-AF65-F5344CB8AC3E}">
        <p14:creationId xmlns:p14="http://schemas.microsoft.com/office/powerpoint/2010/main" val="15647341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041C0-1EC9-48A8-B584-DC26133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5A5F1-D602-4CE1-8105-D5593092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1 vocabulary students must own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E5F00-A2F1-4F64-9EB1-07347DF5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428625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Synaptic weight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Trainable multiplier on an input signal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Bias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Offset that shifts the decision threshold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Activation function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Maps local field to output signal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Directed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Network representation with oriented signal edges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Feedback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Connection cycle that returns a signal to an earlier unit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Architecture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Pattern of neuron arrangement and connectivity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Hyperplane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Linear decision surface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Linear separability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Existence of a hyperplane that perfectly separates classes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6787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759C4-E383-47B8-B86F-8A60168F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BF608-FC7F-463E-B7D9-AB625C63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 activity: classify by moving the boundary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37FEB-D353-4819-96E8-2AC7A88C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A6BA7-A94E-46E6-96F9-081FE4B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2C2A9-5249-400F-9056-37D43407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Give students six labeled 2D points on the 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D34BC-390A-4ECA-A814-BE87C9E0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5043C-7D37-4A86-A710-2522F7E7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them to draw a line that separates the two classes.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0AFC4-7DE7-407A-B734-6C24E91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F4933-FA10-41BD-9087-95F20BD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Move one point so separation becomes impossible.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5ACC8-C52F-4CAF-A7C5-8657530D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65866-AADD-42A3-AB88-5ED01B8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failure case to motivate convergence conditions and multilayer networks.</a:t>
            </a:r>
          </a:p>
        </p:txBody>
      </p:sp>
    </p:spTree>
    <p:extLst>
      <p:ext uri="{BB962C8B-B14F-4D97-AF65-F5344CB8AC3E}">
        <p14:creationId xmlns:p14="http://schemas.microsoft.com/office/powerpoint/2010/main" val="4260921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34AF5-77B3-4069-AC65-E9BA88E8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23DF6-D460-4AAE-B530-D257C983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1 closes with a complete conceptual chain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300B-9528-4D8E-B781-D6F11D9E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57250" y="3429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3333750" y="3429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5810250" y="3429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8286750" y="3429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D131F-BD4B-4A2A-ABC6-2CC95D5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FAA81-A4F0-4ED9-88D8-7C60C4F5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Brain inspiration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FE645-B586-4D05-BA0D-1998C157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99C3B-AC95-4889-90DB-A95FDE28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194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Neuron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CFA61-F91B-4E95-AC71-E79D5425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091AC-3973-4A52-8F31-2823228C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Network 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41AFD-AC7A-4E7E-91C1-10EC8CA0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4781D-F521-4052-9702-71EC8C8E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Perceptron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9B382-EA5F-4044-97B2-A8237178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4D66B-715A-4337-A9B6-92AEEAEC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194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Bayes relation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ED9B7-4AFE-42E1-B3AD-B4958AE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module starts with inspiration, formalizes a neuron, organizes neurons as networks, trains the simplest classifier, and compares it with a probabilistic optimal classifier.</a:t>
            </a:r>
          </a:p>
        </p:txBody>
      </p:sp>
    </p:spTree>
    <p:extLst>
      <p:ext uri="{BB962C8B-B14F-4D97-AF65-F5344CB8AC3E}">
        <p14:creationId xmlns:p14="http://schemas.microsoft.com/office/powerpoint/2010/main" val="8395424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204DE-9DAB-45B7-8DA1-B5540DD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22E02-EFC6-42A1-B418-46D7B41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checklist: every syllabus phrase is included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8D81C-1144-44A2-9D6D-FD34CB89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325438">
                <a:tc>
                  <a:txBody>
                    <a:bodyPr/>
                    <a:lstStyle/>
                    <a:p>
                      <a:r>
                        <a:t>Syllabus phrase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Covered in slides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Introduction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1-4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What is a Neural Network?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The Human Brain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Models of a Neuron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6-8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Neural Networks Viewed As Directed Graphs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Feedback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Network Architectures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11-13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Rosenblatt's Perceptron: Introduction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Perceptron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15-18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The Perceptron Convergence Theorem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19-20</a:t>
                      </a:r>
                    </a:p>
                  </a:txBody>
                  <a:tcPr marL="91440" marR="91440" marT="45720" marB="45720"/>
                </a:tc>
              </a:tr>
              <a:tr h="325438">
                <a:tc>
                  <a:txBody>
                    <a:bodyPr/>
                    <a:lstStyle/>
                    <a:p>
                      <a:r>
                        <a:t>Relation Between Perceptron and Bayes Classifier for a Gaussian 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22-24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5269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85AB4-7892-406A-BDA5-F42E6EEB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2E1EC-5C51-4540-8BF0-C88AC91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Prescribed textbook reference for Module 1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BB47C-74BB-4BB6-9B64-AB3A97EC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9D14A-60BB-4BCB-BA71-27D0E8DA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2C6D3-DF55-40D6-A94A-4B108BD3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reference: Simon Haykin, Neural Networks and Learning Machines, 3/e, Pearson Education.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549E8-AD5E-4789-B249-E29E446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A27C2-34CC-459F-9335-C9F2BD5E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Haykin for neuron models, network architectures, perceptron learning, convergence theorem, and statistical classifier relation.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86AB8-6609-43B1-B9EA-75C306AA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A6295-28F4-457E-935A-7733CB8E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VTU syllabus as the boundary for what belongs in Module 1.</a:t>
            </a:r>
          </a:p>
        </p:txBody>
      </p:sp>
    </p:spTree>
    <p:extLst>
      <p:ext uri="{BB962C8B-B14F-4D97-AF65-F5344CB8AC3E}">
        <p14:creationId xmlns:p14="http://schemas.microsoft.com/office/powerpoint/2010/main" val="1421180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2026-08-12T04:55:37.7150000Z</dcterms:created>
  <dcterms:modified xsi:type="dcterms:W3CDTF">2026-08-12T04:55:37.7150000Z</dcterms:modified>
</coreProperties>
</file>