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de454c37fc40ba" /><Relationship Type="http://schemas.openxmlformats.org/officeDocument/2006/relationships/extended-properties" Target="/docProps/app.xml" Id="R58446e5a65e94484" /><Relationship Type="http://schemas.openxmlformats.org/officeDocument/2006/relationships/officeDocument" Target="/ppt/presentation.xml" Id="Rba5a1ef8cc02431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9c6f61516d14506"/>
  </p:sldMasterIdLst>
  <p:notesMasterIdLst>
    <p:notesMasterId xmlns:r="http://schemas.openxmlformats.org/officeDocument/2006/relationships" r:id="R6b83592b5c224305"/>
  </p:notesMasterIdLst>
  <p:sldIdLst>
    <p:sldId xmlns:r="http://schemas.openxmlformats.org/officeDocument/2006/relationships" id="256" r:id="Rcaf58002c2dc4a2f"/>
    <p:sldId xmlns:r="http://schemas.openxmlformats.org/officeDocument/2006/relationships" id="257" r:id="Rfa0655e172a8405d"/>
    <p:sldId xmlns:r="http://schemas.openxmlformats.org/officeDocument/2006/relationships" id="258" r:id="R7045a2aa64804d9c"/>
    <p:sldId xmlns:r="http://schemas.openxmlformats.org/officeDocument/2006/relationships" id="259" r:id="R0f3ad626e689471a"/>
    <p:sldId xmlns:r="http://schemas.openxmlformats.org/officeDocument/2006/relationships" id="260" r:id="R61621644bbad4d17"/>
    <p:sldId xmlns:r="http://schemas.openxmlformats.org/officeDocument/2006/relationships" id="261" r:id="Rab31bf9efdd047d2"/>
    <p:sldId xmlns:r="http://schemas.openxmlformats.org/officeDocument/2006/relationships" id="262" r:id="R0608d4e0cf3b4391"/>
    <p:sldId xmlns:r="http://schemas.openxmlformats.org/officeDocument/2006/relationships" id="263" r:id="Rde433c43adc249a0"/>
    <p:sldId xmlns:r="http://schemas.openxmlformats.org/officeDocument/2006/relationships" id="264" r:id="Rbad12a0deb7149c3"/>
    <p:sldId xmlns:r="http://schemas.openxmlformats.org/officeDocument/2006/relationships" id="265" r:id="Ra67afd29c5dd4c39"/>
    <p:sldId xmlns:r="http://schemas.openxmlformats.org/officeDocument/2006/relationships" id="266" r:id="R47afe4ecce674579"/>
    <p:sldId xmlns:r="http://schemas.openxmlformats.org/officeDocument/2006/relationships" id="267" r:id="R12e7b8cd059647b4"/>
    <p:sldId xmlns:r="http://schemas.openxmlformats.org/officeDocument/2006/relationships" id="268" r:id="R660099470a2644ed"/>
    <p:sldId xmlns:r="http://schemas.openxmlformats.org/officeDocument/2006/relationships" id="269" r:id="R92b9e463de984f0c"/>
    <p:sldId xmlns:r="http://schemas.openxmlformats.org/officeDocument/2006/relationships" id="270" r:id="R36d62c91359c4ba5"/>
    <p:sldId xmlns:r="http://schemas.openxmlformats.org/officeDocument/2006/relationships" id="271" r:id="R94bd598396a24d13"/>
    <p:sldId xmlns:r="http://schemas.openxmlformats.org/officeDocument/2006/relationships" id="272" r:id="R7085924e42a3436e"/>
    <p:sldId xmlns:r="http://schemas.openxmlformats.org/officeDocument/2006/relationships" id="273" r:id="Re4b8356c3fed4f13"/>
    <p:sldId xmlns:r="http://schemas.openxmlformats.org/officeDocument/2006/relationships" id="274" r:id="R16ba5c3fe6fa433b"/>
    <p:sldId xmlns:r="http://schemas.openxmlformats.org/officeDocument/2006/relationships" id="275" r:id="R34cacc58c674479a"/>
    <p:sldId xmlns:r="http://schemas.openxmlformats.org/officeDocument/2006/relationships" id="276" r:id="R78356c37987c4611"/>
    <p:sldId xmlns:r="http://schemas.openxmlformats.org/officeDocument/2006/relationships" id="277" r:id="R8c3fce3ea88d4404"/>
    <p:sldId xmlns:r="http://schemas.openxmlformats.org/officeDocument/2006/relationships" id="278" r:id="Rf70e603b3d4243ff"/>
    <p:sldId xmlns:r="http://schemas.openxmlformats.org/officeDocument/2006/relationships" id="279" r:id="Red3be4317bca48a3"/>
    <p:sldId xmlns:r="http://schemas.openxmlformats.org/officeDocument/2006/relationships" id="280" r:id="Refdaa8001e2c40c7"/>
    <p:sldId xmlns:r="http://schemas.openxmlformats.org/officeDocument/2006/relationships" id="281" r:id="R93417e2df6384507"/>
    <p:sldId xmlns:r="http://schemas.openxmlformats.org/officeDocument/2006/relationships" id="282" r:id="R9c58b5f0dffa486e"/>
    <p:sldId xmlns:r="http://schemas.openxmlformats.org/officeDocument/2006/relationships" id="283" r:id="R803cfedbebb44556"/>
    <p:sldId xmlns:r="http://schemas.openxmlformats.org/officeDocument/2006/relationships" id="284" r:id="Rdeff482bb4904d5c"/>
    <p:sldId xmlns:r="http://schemas.openxmlformats.org/officeDocument/2006/relationships" id="285" r:id="R345fdfd95e4c415f"/>
    <p:sldId xmlns:r="http://schemas.openxmlformats.org/officeDocument/2006/relationships" id="286" r:id="Rf115b459dc85461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15e7ecb89e4461" /><Relationship Type="http://schemas.openxmlformats.org/officeDocument/2006/relationships/slideMaster" Target="/ppt/slideMasters/slideMaster1.xml" Id="R19c6f61516d14506" /><Relationship Type="http://schemas.openxmlformats.org/officeDocument/2006/relationships/notesMaster" Target="/ppt/notesMasters/notesMaster1.xml" Id="R6b83592b5c224305" /><Relationship Type="http://schemas.openxmlformats.org/officeDocument/2006/relationships/presProps" Target="/ppt/presProps.xml" Id="R9bd6a9225c5a448e" /><Relationship Type="http://schemas.openxmlformats.org/officeDocument/2006/relationships/tableStyles" Target="/ppt/tableStyles.xml" Id="R2a9b8aac144e4a1e" /><Relationship Type="http://schemas.openxmlformats.org/officeDocument/2006/relationships/slide" Target="/ppt/slides/slide1.xml" Id="Rcaf58002c2dc4a2f" /><Relationship Type="http://schemas.openxmlformats.org/officeDocument/2006/relationships/slide" Target="/ppt/slides/slide2.xml" Id="Rfa0655e172a8405d" /><Relationship Type="http://schemas.openxmlformats.org/officeDocument/2006/relationships/slide" Target="/ppt/slides/slide3.xml" Id="R7045a2aa64804d9c" /><Relationship Type="http://schemas.openxmlformats.org/officeDocument/2006/relationships/slide" Target="/ppt/slides/slide4.xml" Id="R0f3ad626e689471a" /><Relationship Type="http://schemas.openxmlformats.org/officeDocument/2006/relationships/slide" Target="/ppt/slides/slide5.xml" Id="R61621644bbad4d17" /><Relationship Type="http://schemas.openxmlformats.org/officeDocument/2006/relationships/slide" Target="/ppt/slides/slide6.xml" Id="Rab31bf9efdd047d2" /><Relationship Type="http://schemas.openxmlformats.org/officeDocument/2006/relationships/slide" Target="/ppt/slides/slide7.xml" Id="R0608d4e0cf3b4391" /><Relationship Type="http://schemas.openxmlformats.org/officeDocument/2006/relationships/slide" Target="/ppt/slides/slide8.xml" Id="Rde433c43adc249a0" /><Relationship Type="http://schemas.openxmlformats.org/officeDocument/2006/relationships/slide" Target="/ppt/slides/slide9.xml" Id="Rbad12a0deb7149c3" /><Relationship Type="http://schemas.openxmlformats.org/officeDocument/2006/relationships/slide" Target="/ppt/slides/slide10.xml" Id="Ra67afd29c5dd4c39" /><Relationship Type="http://schemas.openxmlformats.org/officeDocument/2006/relationships/slide" Target="/ppt/slides/slide11.xml" Id="R47afe4ecce674579" /><Relationship Type="http://schemas.openxmlformats.org/officeDocument/2006/relationships/slide" Target="/ppt/slides/slide12.xml" Id="R12e7b8cd059647b4" /><Relationship Type="http://schemas.openxmlformats.org/officeDocument/2006/relationships/slide" Target="/ppt/slides/slide13.xml" Id="R660099470a2644ed" /><Relationship Type="http://schemas.openxmlformats.org/officeDocument/2006/relationships/slide" Target="/ppt/slides/slide14.xml" Id="R92b9e463de984f0c" /><Relationship Type="http://schemas.openxmlformats.org/officeDocument/2006/relationships/slide" Target="/ppt/slides/slide15.xml" Id="R36d62c91359c4ba5" /><Relationship Type="http://schemas.openxmlformats.org/officeDocument/2006/relationships/slide" Target="/ppt/slides/slide16.xml" Id="R94bd598396a24d13" /><Relationship Type="http://schemas.openxmlformats.org/officeDocument/2006/relationships/slide" Target="/ppt/slides/slide17.xml" Id="R7085924e42a3436e" /><Relationship Type="http://schemas.openxmlformats.org/officeDocument/2006/relationships/slide" Target="/ppt/slides/slide18.xml" Id="Re4b8356c3fed4f13" /><Relationship Type="http://schemas.openxmlformats.org/officeDocument/2006/relationships/slide" Target="/ppt/slides/slide19.xml" Id="R16ba5c3fe6fa433b" /><Relationship Type="http://schemas.openxmlformats.org/officeDocument/2006/relationships/slide" Target="/ppt/slides/slide20.xml" Id="R34cacc58c674479a" /><Relationship Type="http://schemas.openxmlformats.org/officeDocument/2006/relationships/slide" Target="/ppt/slides/slide21.xml" Id="R78356c37987c4611" /><Relationship Type="http://schemas.openxmlformats.org/officeDocument/2006/relationships/slide" Target="/ppt/slides/slide22.xml" Id="R8c3fce3ea88d4404" /><Relationship Type="http://schemas.openxmlformats.org/officeDocument/2006/relationships/slide" Target="/ppt/slides/slide23.xml" Id="Rf70e603b3d4243ff" /><Relationship Type="http://schemas.openxmlformats.org/officeDocument/2006/relationships/slide" Target="/ppt/slides/slide24.xml" Id="Red3be4317bca48a3" /><Relationship Type="http://schemas.openxmlformats.org/officeDocument/2006/relationships/slide" Target="/ppt/slides/slide25.xml" Id="Refdaa8001e2c40c7" /><Relationship Type="http://schemas.openxmlformats.org/officeDocument/2006/relationships/slide" Target="/ppt/slides/slide26.xml" Id="R93417e2df6384507" /><Relationship Type="http://schemas.openxmlformats.org/officeDocument/2006/relationships/slide" Target="/ppt/slides/slide27.xml" Id="R9c58b5f0dffa486e" /><Relationship Type="http://schemas.openxmlformats.org/officeDocument/2006/relationships/slide" Target="/ppt/slides/slide28.xml" Id="R803cfedbebb44556" /><Relationship Type="http://schemas.openxmlformats.org/officeDocument/2006/relationships/slide" Target="/ppt/slides/slide29.xml" Id="Rdeff482bb4904d5c" /><Relationship Type="http://schemas.openxmlformats.org/officeDocument/2006/relationships/slide" Target="/ppt/slides/slide30.xml" Id="R345fdfd95e4c415f" /><Relationship Type="http://schemas.openxmlformats.org/officeDocument/2006/relationships/slide" Target="/ppt/slides/slide31.xml" Id="Rf115b459dc8546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69d2dd6b68a49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26b75f3d8c409b" /><Relationship Type="http://schemas.openxmlformats.org/officeDocument/2006/relationships/notesMaster" Target="/ppt/notesMasters/notesMaster1.xml" Id="R5dfd7dc08a7e40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93381df4604817" /><Relationship Type="http://schemas.openxmlformats.org/officeDocument/2006/relationships/notesMaster" Target="/ppt/notesMasters/notesMaster1.xml" Id="R0ab27853997f4d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5da94a45ffe4809" /><Relationship Type="http://schemas.openxmlformats.org/officeDocument/2006/relationships/notesMaster" Target="/ppt/notesMasters/notesMaster1.xml" Id="R16502d304e1942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bf10d8beeb46fb" /><Relationship Type="http://schemas.openxmlformats.org/officeDocument/2006/relationships/notesMaster" Target="/ppt/notesMasters/notesMaster1.xml" Id="R8f070751ea09433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88b9e3b6014b10" /><Relationship Type="http://schemas.openxmlformats.org/officeDocument/2006/relationships/notesMaster" Target="/ppt/notesMasters/notesMaster1.xml" Id="R1948109aa0ef44b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60a0dc3d37944f0" /><Relationship Type="http://schemas.openxmlformats.org/officeDocument/2006/relationships/notesMaster" Target="/ppt/notesMasters/notesMaster1.xml" Id="R473273c0858d4e5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f0fa4fb34d4bdc" /><Relationship Type="http://schemas.openxmlformats.org/officeDocument/2006/relationships/notesMaster" Target="/ppt/notesMasters/notesMaster1.xml" Id="R7a9c787337dc49d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080eff65b0440e" /><Relationship Type="http://schemas.openxmlformats.org/officeDocument/2006/relationships/notesMaster" Target="/ppt/notesMasters/notesMaster1.xml" Id="Ra9e63b113e244d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2b94677908c48f8" /><Relationship Type="http://schemas.openxmlformats.org/officeDocument/2006/relationships/notesMaster" Target="/ppt/notesMasters/notesMaster1.xml" Id="R44f9f1033382483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5c58093e114e6e" /><Relationship Type="http://schemas.openxmlformats.org/officeDocument/2006/relationships/notesMaster" Target="/ppt/notesMasters/notesMaster1.xml" Id="R93d3a2673ce143e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eedadc70a247e6" /><Relationship Type="http://schemas.openxmlformats.org/officeDocument/2006/relationships/notesMaster" Target="/ppt/notesMasters/notesMaster1.xml" Id="R71f94ba252794d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969370f254c455b" /><Relationship Type="http://schemas.openxmlformats.org/officeDocument/2006/relationships/notesMaster" Target="/ppt/notesMasters/notesMaster1.xml" Id="R83110eee70b5407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7287a1fadd41e7" /><Relationship Type="http://schemas.openxmlformats.org/officeDocument/2006/relationships/notesMaster" Target="/ppt/notesMasters/notesMaster1.xml" Id="Rce6110cd9db44b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28ed19fa5c34333" /><Relationship Type="http://schemas.openxmlformats.org/officeDocument/2006/relationships/notesMaster" Target="/ppt/notesMasters/notesMaster1.xml" Id="Rcf09e60f3ac741b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5db79a071fb4810" /><Relationship Type="http://schemas.openxmlformats.org/officeDocument/2006/relationships/notesMaster" Target="/ppt/notesMasters/notesMaster1.xml" Id="Rbd4f98a282b2448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73dedcbed94e6a" /><Relationship Type="http://schemas.openxmlformats.org/officeDocument/2006/relationships/notesMaster" Target="/ppt/notesMasters/notesMaster1.xml" Id="R3aa85bfa0993499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b59b657b9e44a66" /><Relationship Type="http://schemas.openxmlformats.org/officeDocument/2006/relationships/notesMaster" Target="/ppt/notesMasters/notesMaster1.xml" Id="Rcbd3c330d432450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40920c10d0441cb" /><Relationship Type="http://schemas.openxmlformats.org/officeDocument/2006/relationships/notesMaster" Target="/ppt/notesMasters/notesMaster1.xml" Id="R02b5e300fa7641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7745a7b1d6945b0" /><Relationship Type="http://schemas.openxmlformats.org/officeDocument/2006/relationships/notesMaster" Target="/ppt/notesMasters/notesMaster1.xml" Id="R649cb0f36624497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f364b933c7f4c6d" /><Relationship Type="http://schemas.openxmlformats.org/officeDocument/2006/relationships/notesMaster" Target="/ppt/notesMasters/notesMaster1.xml" Id="R9fb1ecd24cfc4dd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147f44bf95496b" /><Relationship Type="http://schemas.openxmlformats.org/officeDocument/2006/relationships/notesMaster" Target="/ppt/notesMasters/notesMaster1.xml" Id="R96a5ed2fc9d940d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50fb72c840941f2" /><Relationship Type="http://schemas.openxmlformats.org/officeDocument/2006/relationships/notesMaster" Target="/ppt/notesMasters/notesMaster1.xml" Id="R0ecf3aa34aab4cf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402a1c2567d4558" /><Relationship Type="http://schemas.openxmlformats.org/officeDocument/2006/relationships/notesMaster" Target="/ppt/notesMasters/notesMaster1.xml" Id="R898f75cd03d94bd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7eb805b6a984f0c" /><Relationship Type="http://schemas.openxmlformats.org/officeDocument/2006/relationships/notesMaster" Target="/ppt/notesMasters/notesMaster1.xml" Id="Rfc598cb730524c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f988bba4fc8b4dc7" /><Relationship Type="http://schemas.openxmlformats.org/officeDocument/2006/relationships/notesMaster" Target="/ppt/notesMasters/notesMaster1.xml" Id="R6e1ec617c89c4a79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a45e7a8b1614641" /><Relationship Type="http://schemas.openxmlformats.org/officeDocument/2006/relationships/notesMaster" Target="/ppt/notesMasters/notesMaster1.xml" Id="R4e3bfedc56cc4b3a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0d6db0bfc42449a" /><Relationship Type="http://schemas.openxmlformats.org/officeDocument/2006/relationships/notesMaster" Target="/ppt/notesMasters/notesMaster1.xml" Id="Reac0477c650842c0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99193dc02f7400a" /><Relationship Type="http://schemas.openxmlformats.org/officeDocument/2006/relationships/notesMaster" Target="/ppt/notesMasters/notesMaster1.xml" Id="R9d4ed213f56f46b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70dbe5109ad4492b" /><Relationship Type="http://schemas.openxmlformats.org/officeDocument/2006/relationships/notesMaster" Target="/ppt/notesMasters/notesMaster1.xml" Id="R060884f258ba488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c6e3f2af2bd4db9" /><Relationship Type="http://schemas.openxmlformats.org/officeDocument/2006/relationships/notesMaster" Target="/ppt/notesMasters/notesMaster1.xml" Id="R23c49b87a6fe4bf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7e7aa53ef0840f7" /><Relationship Type="http://schemas.openxmlformats.org/officeDocument/2006/relationships/notesMaster" Target="/ppt/notesMasters/notesMaster1.xml" Id="R178d2b7871ba4a0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Title slide for Module 2, aligned to the local VTU BCA701 syllabus and Haykin textbook.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maps every phrase in Module 2 of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Multilayer Perceptrons: Introduction and links to Module 1 perceptron limitations.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Shows the layered architecture of an MLP and sets up backpropagation.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Layer-wise notation summarizes the MLP forward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Batch Learning and On-Line Learning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the objective viewpoint behind batch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online learning as pattern-by-pattern adaptation.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The Back-Propagation Algorithm at a high level.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First phase of backpropagation: forward computation.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Defines the output error signal in supervised learning.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Backpropagation computes hidden-layer local gradients using downstream error signals.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Standard backpropagation weight-correction form.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Summarizes the backpropagation algorithm in exam-ready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XOR Problem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Shows why the XOR problem motivates multilayer perceptrons.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heuristics for making backpropagation perform better: learning-rate choice.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Momentum is a common practical heuristic in Haykin-style backpropagation discussions.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weight initialization as a backpropagation performance heuristic.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Connects activation derivatives to practical backpropagation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Feature scaling and encoding are practical heuristics for improving backpropagation.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Validation and stopping criteria are part of practical backpropagation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Covers Back Propagation and Differentiation from the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Explains the link between differentiability and backpropagation.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Reinforces the chain-rule structure of multilayer backpropagation.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Exam-oriented synthesis of Module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Vocabulary review for all Module 2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activity aligned with the XOR and MLP introduction topics.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synthesis for Module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checklist verifies full Module 2 syllabus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Final reference slide with the prescribed textbook and syllabus.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Local syllabus PDF: public/Deep Learning/Nithin K — https:vtu.ac.in:pdf:2022_3to8:7cseaisyll.pdf</a:t>
            </a:r>
          </a:p>
          <a:p xmlns:a="http://schemas.openxmlformats.org/drawingml/2006/main">
            <a:r>
              <a:t>Simon Haykin, Neural Networks and Learning Machines, 3/e, Pearson Education, copyright 2016, ISBN 9789332570313. Pearson listing: https://www.pearsoned.co.in/prc/book/simon-haykin-neural-networks-learning-machines-3e--3/9789332570313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581d90272546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152d967fbc4c64" /><Relationship Type="http://schemas.openxmlformats.org/officeDocument/2006/relationships/slideLayout" Target="/ppt/slideLayouts/slideLayout1.xml" Id="R2f5f96d72fbe4fb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5f96d72fbe4f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6dde25a5c4617" /><Relationship Type="http://schemas.openxmlformats.org/officeDocument/2006/relationships/notesSlide" Target="/ppt/notesSlides/notesSlide1.xml" Id="R873a0fbe06f54f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07df1b6dd405a" /><Relationship Type="http://schemas.openxmlformats.org/officeDocument/2006/relationships/notesSlide" Target="/ppt/notesSlides/notesSlide2.xml" Id="R717f65c69f7149b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40a65f921e40cc" /><Relationship Type="http://schemas.openxmlformats.org/officeDocument/2006/relationships/notesSlide" Target="/ppt/notesSlides/notesSlide3.xml" Id="R0e65ead14ab041d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0acd17b1164435" /><Relationship Type="http://schemas.openxmlformats.org/officeDocument/2006/relationships/notesSlide" Target="/ppt/notesSlides/notesSlide4.xml" Id="Rf16aca14cc864c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0b461e66b4a36" /><Relationship Type="http://schemas.openxmlformats.org/officeDocument/2006/relationships/notesSlide" Target="/ppt/notesSlides/notesSlide5.xml" Id="Ra20d3dc82c904b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21e130ccdf4f81" /><Relationship Type="http://schemas.openxmlformats.org/officeDocument/2006/relationships/notesSlide" Target="/ppt/notesSlides/notesSlide6.xml" Id="Ra4451980f18b49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78012ea995495c" /><Relationship Type="http://schemas.openxmlformats.org/officeDocument/2006/relationships/notesSlide" Target="/ppt/notesSlides/notesSlide7.xml" Id="Rc933e6dbc9734ca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6fe1d5b8654ebf" /><Relationship Type="http://schemas.openxmlformats.org/officeDocument/2006/relationships/notesSlide" Target="/ppt/notesSlides/notesSlide8.xml" Id="R5a4ad8e6a2ca40e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202da515f7478b" /><Relationship Type="http://schemas.openxmlformats.org/officeDocument/2006/relationships/notesSlide" Target="/ppt/notesSlides/notesSlide9.xml" Id="R956b26d875a54a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9c20810ed449ea" /><Relationship Type="http://schemas.openxmlformats.org/officeDocument/2006/relationships/notesSlide" Target="/ppt/notesSlides/notesSlide10.xml" Id="Rba2637d1376241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daaa22fa24094" /><Relationship Type="http://schemas.openxmlformats.org/officeDocument/2006/relationships/notesSlide" Target="/ppt/notesSlides/notesSlide11.xml" Id="R2b7d824f39e04bc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b0d8c948fd41a0" /><Relationship Type="http://schemas.openxmlformats.org/officeDocument/2006/relationships/notesSlide" Target="/ppt/notesSlides/notesSlide12.xml" Id="Rb6166c3505894e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60e0734704c54" /><Relationship Type="http://schemas.openxmlformats.org/officeDocument/2006/relationships/notesSlide" Target="/ppt/notesSlides/notesSlide13.xml" Id="R8ee0d192b0574aa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24ac5b4b041fa" /><Relationship Type="http://schemas.openxmlformats.org/officeDocument/2006/relationships/notesSlide" Target="/ppt/notesSlides/notesSlide14.xml" Id="Rb33d9d1a7a114f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6d2676307943d3" /><Relationship Type="http://schemas.openxmlformats.org/officeDocument/2006/relationships/notesSlide" Target="/ppt/notesSlides/notesSlide15.xml" Id="Rcb489db7ae5542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d6980066fc46ff" /><Relationship Type="http://schemas.openxmlformats.org/officeDocument/2006/relationships/notesSlide" Target="/ppt/notesSlides/notesSlide16.xml" Id="Rb357e41f1b6644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2d6a49e914cba" /><Relationship Type="http://schemas.openxmlformats.org/officeDocument/2006/relationships/notesSlide" Target="/ppt/notesSlides/notesSlide17.xml" Id="Ra963bd04a00749c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fedcef53154748" /><Relationship Type="http://schemas.openxmlformats.org/officeDocument/2006/relationships/notesSlide" Target="/ppt/notesSlides/notesSlide18.xml" Id="R96df0083369f405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5e6ab332c948b4" /><Relationship Type="http://schemas.openxmlformats.org/officeDocument/2006/relationships/notesSlide" Target="/ppt/notesSlides/notesSlide19.xml" Id="R7f961be0ad444a2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5e8b3747349f2" /><Relationship Type="http://schemas.openxmlformats.org/officeDocument/2006/relationships/notesSlide" Target="/ppt/notesSlides/notesSlide20.xml" Id="Rbefaf0062f86406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5912e92fa54cfe" /><Relationship Type="http://schemas.openxmlformats.org/officeDocument/2006/relationships/notesSlide" Target="/ppt/notesSlides/notesSlide21.xml" Id="Ra87513fffa1040c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11ab44b4f4f25" /><Relationship Type="http://schemas.openxmlformats.org/officeDocument/2006/relationships/notesSlide" Target="/ppt/notesSlides/notesSlide22.xml" Id="Rdaceee4110f3406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d451c29d414f7e" /><Relationship Type="http://schemas.openxmlformats.org/officeDocument/2006/relationships/notesSlide" Target="/ppt/notesSlides/notesSlide23.xml" Id="R32014004d586482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17f116312e4422" /><Relationship Type="http://schemas.openxmlformats.org/officeDocument/2006/relationships/notesSlide" Target="/ppt/notesSlides/notesSlide24.xml" Id="R1d7af2dd95c0422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337245492498f" /><Relationship Type="http://schemas.openxmlformats.org/officeDocument/2006/relationships/notesSlide" Target="/ppt/notesSlides/notesSlide25.xml" Id="R88f2b7e853904fd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9b8d074c143ef" /><Relationship Type="http://schemas.openxmlformats.org/officeDocument/2006/relationships/notesSlide" Target="/ppt/notesSlides/notesSlide26.xml" Id="Rca968ce1085c4ad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17dbb240647ba" /><Relationship Type="http://schemas.openxmlformats.org/officeDocument/2006/relationships/notesSlide" Target="/ppt/notesSlides/notesSlide27.xml" Id="R4c78953bc29c43c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b905a5f3134956" /><Relationship Type="http://schemas.openxmlformats.org/officeDocument/2006/relationships/notesSlide" Target="/ppt/notesSlides/notesSlide28.xml" Id="R7cb491175ab4469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d99e7b08f4301" /><Relationship Type="http://schemas.openxmlformats.org/officeDocument/2006/relationships/notesSlide" Target="/ppt/notesSlides/notesSlide29.xml" Id="R6b440543d039403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b6a8ba33f4da2" /><Relationship Type="http://schemas.openxmlformats.org/officeDocument/2006/relationships/notesSlide" Target="/ppt/notesSlides/notesSlide30.xml" Id="R08b0e0c5379d44f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72f32377e4c91" /><Relationship Type="http://schemas.openxmlformats.org/officeDocument/2006/relationships/notesSlide" Target="/ppt/notesSlides/notesSlide31.xml" Id="R0b746a4afc8c41d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A8EA20-9D0B-4620-B7E2-C703106B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556B29-6631-48A8-843E-B093C381D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7810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2: Multilayer Perceptrons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ED532E-93F0-45EF-8E42-53E6641D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From single perceptrons to trainable hidden layers: batch learning, online learning, backpropagation, XOR, optimization heuristics, and differentiation.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A67958-C744-438E-BC20-8B7CE556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742950"/>
            <a:ext cx="333375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6CECB-0577-40DA-A05B-AED68DA6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907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4989BD-0925-49EC-941D-EE6FC03F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480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A0D35-116C-4601-9DD5-94C1013E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052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05FA82-6142-4516-86C8-5A2D1D3B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952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55F06E-527F-4707-B084-6F21ADE37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8098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33A310-8775-4572-9DB4-8EAE60F1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671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C72EF2-97F3-4E3E-B6DF-72BE12CB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24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431B52-2586-4D90-8C05-EC327612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7813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88AE5E-3D2F-4D03-9135-55AF4445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6385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8724900" y="2219325"/>
            <a:ext cx="6096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32" name=""/>
          <p:cNvCxnSpPr/>
          <p:nvPr/>
        </p:nvCxnSpPr>
        <p:spPr>
          <a:xfrm xmlns:a="http://schemas.openxmlformats.org/drawingml/2006/main">
            <a:off x="8724900" y="3076575"/>
            <a:ext cx="609600" cy="238125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9867900" y="3076575"/>
            <a:ext cx="6096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BB85D-85E3-42C7-A570-E20709AAD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94223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8F4783-225C-469D-AB4C-016B72F30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1BF8EB-2A38-4143-AD2F-A88169ED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2 has six syllabus checkpoints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9FC5A-FC49-4F81-B9F0-ABC9C290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533400" y="1952625"/>
          <a:ext xmlns:a="http://schemas.openxmlformats.org/drawingml/2006/main" cx="11125200" cy="3333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708400"/>
                <a:gridCol w="3708400"/>
                <a:gridCol w="3708400"/>
              </a:tblGrid>
              <a:tr h="476250">
                <a:tc>
                  <a:txBody>
                    <a:bodyPr/>
                    <a:lstStyle/>
                    <a:p>
                      <a:r>
                        <a:t>#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Checkpoint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What students should know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Multilayer Perceptrons: Introduction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hidden layers overcome single-layer limits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Batch Learning and On-Line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Two ways to update weights from data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Back-Propagation Algorithm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Forward pass, error signal, backward pass, weight update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XOR Problem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 nonlinear hidden representation is necessary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Backprop Heuristics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Practical choices that improve convergence and stability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Backpropagation and Differentiation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Chain rule view of learning in layered networks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33046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6E528-ADAE-44E6-96E6-CA3D4D59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295F1-7379-4C31-915D-34EBC20B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Multilayer perceptrons add hidden layers between input and output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0CC3F1-C227-44B8-A4A7-DCD20DB9A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34675F-883E-4FBB-8C65-D6DEF0299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changes from Module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A2241C-E339-4254-AC71-6E9F697C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single perceptron can only draw a linear boundary. An MLP adds hidden neurons so the network can build intermediate representations before making an output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C04CD5-2E5F-4387-A10B-00D75F52F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Why it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709926-6D45-479E-88A5-E7569125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 layers allow nonlinear input-output mappings, making the MLP a foundation for later deep neural networks.</a:t>
            </a:r>
          </a:p>
        </p:txBody>
      </p:sp>
    </p:spTree>
    <p:extLst>
      <p:ext uri="{BB962C8B-B14F-4D97-AF65-F5344CB8AC3E}">
        <p14:creationId xmlns:p14="http://schemas.microsoft.com/office/powerpoint/2010/main" val="11097050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9B85F4-E18A-4A7D-A2FE-AA509E54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2B1F42-A3B8-4EDA-9120-A8DCB972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 MLP is a directed, layered computation graph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4771C-3FA7-4792-A767-F462A8FDF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1564E7-0ABE-448D-BCBF-560A618B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90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 layer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FDBE7-70C9-4AE9-B042-E7ADCA2C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B689C2-DF86-4D3A-B9AD-B9CD4056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90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 layer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15030E-C89D-43BE-B8FB-3530E4C3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76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CDA5B6-8F25-41A9-9EE6-1425AFB8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33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A71EC1-B61C-4C77-BEE1-D92F5C00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591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8846C1-7F01-4047-BF02-B7450B71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6860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64756-81BA-4A37-A2AD-581AB47B5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433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867BFF-71CF-4B48-8048-747833331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4005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43F342-F6B4-4B47-AEA4-54007F10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578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4288">
            <a:solidFill>
              <a:srgbClr val="3D8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2697AB-8095-474B-8B1F-47CCB00E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29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9F9B9B-40CB-43E3-A1C3-54BEDBF4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815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39" name=""/>
          <p:cNvCxnSpPr/>
          <p:nvPr/>
        </p:nvCxnSpPr>
        <p:spPr>
          <a:xfrm xmlns:a="http://schemas.openxmlformats.org/drawingml/2006/main">
            <a:off x="2209800" y="2981325"/>
            <a:ext cx="33623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0" name=""/>
          <p:cNvCxnSpPr/>
          <p:nvPr/>
        </p:nvCxnSpPr>
        <p:spPr>
          <a:xfrm xmlns:a="http://schemas.openxmlformats.org/drawingml/2006/main">
            <a:off x="2209800" y="4029075"/>
            <a:ext cx="336232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1" name=""/>
          <p:cNvCxnSpPr/>
          <p:nvPr/>
        </p:nvCxnSpPr>
        <p:spPr>
          <a:xfrm xmlns:a="http://schemas.openxmlformats.org/drawingml/2006/main">
            <a:off x="2209800" y="4886325"/>
            <a:ext cx="3362325" cy="1905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2" name=""/>
          <p:cNvCxnSpPr/>
          <p:nvPr/>
        </p:nvCxnSpPr>
        <p:spPr>
          <a:xfrm xmlns:a="http://schemas.openxmlformats.org/drawingml/2006/main">
            <a:off x="6162675" y="2981325"/>
            <a:ext cx="3362325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cxnSp>
        <p:nvCxnSpPr>
          <p:cNvPr id="43" name=""/>
          <p:cNvCxnSpPr/>
          <p:nvPr/>
        </p:nvCxnSpPr>
        <p:spPr>
          <a:xfrm xmlns:a="http://schemas.openxmlformats.org/drawingml/2006/main">
            <a:off x="6162675" y="4676775"/>
            <a:ext cx="3362325" cy="8763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E840A9-28FE-4C4B-8656-3EAA150A3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1980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Signals flow forward; learning sends error information backward.</a:t>
            </a:r>
          </a:p>
        </p:txBody>
      </p:sp>
    </p:spTree>
    <p:extLst>
      <p:ext uri="{BB962C8B-B14F-4D97-AF65-F5344CB8AC3E}">
        <p14:creationId xmlns:p14="http://schemas.microsoft.com/office/powerpoint/2010/main" val="2161055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A4815-512B-4FCE-BD57-72EC8D0C5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3CE8E4-AA10-41C7-A39F-665BB8013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layer applies the same neuron logic to new learned features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3AC27-5D5B-4669-B4EF-2FE12EAE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D4F2E-977E-45FC-AB32-6F45C750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4DE4A-AB7B-4FA8-8273-0BAB4AA7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a(l) = φ( W(l) a(l-1) + b(l)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C0B2DD-811F-40A6-9817-B36FA72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3908D-37DF-41F3-9E68-5E267550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a(l-1) is the previous layer's activation vector.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2F1B8-AB58-439A-B81B-FA331CF5E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BCE33-C45E-464C-BA56-30AE85DF0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W(l) and b(l) are the trainable weights and biases for layer 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168E7A-5F28-4F9D-8241-CB4B0C2F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468036-7EA3-400D-9BEF-15EB9EE0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φ is applied to create the next layer's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1821650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CE7D3-EB71-432A-A0F5-F753820A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68773-B09B-4EB3-B089-8E8EBD698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and online learning differ in when weights are updated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FD1B9-0DCB-4325-AB5C-A001A2297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785813">
                <a:tc>
                  <a:txBody>
                    <a:bodyPr/>
                    <a:lstStyle/>
                    <a:p>
                      <a:r>
                        <a:t>Mode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Update timing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Strength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Trade-off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Batch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After accumulating error over the full training set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Stable gradient estimate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Can be slower per update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Online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After each training example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Fast adaptation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Noisier updates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t>Mini-batch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After a small group of examples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Common practical compromise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Adds batch-size choice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83888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6D811-EE85-4DC3-9017-6ACF1D1A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4DB8-A872-4154-B046-0938264D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learning views training as reducing total error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2FF14-7386-451F-98E9-F54DF9E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2C6E00-F78C-45C3-B8AB-5EA498CE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833225-19C4-4618-833D-A1F4D42F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Etotal = Σp 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1FE21B-8F35-4C7A-8BAD-3C38B50B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DB331-53B8-4625-A4C2-86D88E519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Each pattern p contributes an error term.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36C282-87BB-41AB-A18B-539EEC5C9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F639D6-B0F1-4888-87C7-0A99DC79A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Weights are adjusted after the aggregate error or gradient is computed.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9A1A67-8BCB-41D9-A99D-57D6D306E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D3DFE3-3CD9-4C0E-B1BC-FF5090E9E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updates are less noisy because they use the whole training set.</a:t>
            </a:r>
          </a:p>
        </p:txBody>
      </p:sp>
    </p:spTree>
    <p:extLst>
      <p:ext uri="{BB962C8B-B14F-4D97-AF65-F5344CB8AC3E}">
        <p14:creationId xmlns:p14="http://schemas.microsoft.com/office/powerpoint/2010/main" val="2781693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FBB3C0-F75B-4910-A938-9802B611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864B9B-C438-4CF3-9452-40BB1C791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Online learning updates immediately from each example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F41533-D05F-4152-A585-E1184CC1D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09A85-BEE3-4E36-BF41-59DC66664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C08B5-5FB7-407F-AC07-782B42BB1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 ← w + Δwp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A6A1D-72DC-4887-AB7B-8A8462E5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D971D3-5D14-4BC5-8A11-AF0E451E2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pattern is presented, prediction is made, error is computed, and weights are changed.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35A8C9-7B84-4BB4-A6D0-12A1B580B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DF5D2-0E98-4F37-A640-81BA3DE9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next example sees the newly updated network.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BCDA3-4D3C-4DDA-9D0D-7707757A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492AEA-BCD9-41CC-9A22-B6BA602B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update path can fluctuate, but learning can respond quickly.</a:t>
            </a:r>
          </a:p>
        </p:txBody>
      </p:sp>
    </p:spTree>
    <p:extLst>
      <p:ext uri="{BB962C8B-B14F-4D97-AF65-F5344CB8AC3E}">
        <p14:creationId xmlns:p14="http://schemas.microsoft.com/office/powerpoint/2010/main" val="70980152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C1BB0-6C96-41A9-B488-87860B93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586ECB-CF6D-4A76-B71F-33A8EDDB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Backpropagation is gradient descent made efficient for layered networks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378F2-2271-4E7C-BD3A-236C392E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8B1DA1-606E-4F2B-804F-C29365F0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7AB69C-38D9-4C30-A1F5-5DC45A07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Forward pass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F4759-E24C-4F33-9C2E-B093EFDC1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Compute activations from input to output.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BF29B8-830C-4626-979E-5A45E030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A86E1-2AC9-45EF-8C0D-76258CB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95A6A1-AC02-4707-99CE-9E99087A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 the difference between output and target.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CDD1BF-26CB-4F34-9BCB-6C02FC0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76A326-7A39-4128-9B13-317E97252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Backward pass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85019-4185-4139-A649-DC691A61A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Propagate error signals from output to hidden layers.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BD3CD0-FE95-47ED-B836-2CEE6CFC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678485-1C72-4958-9D7D-F071F6BB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82AC5F-E319-41A0-8956-34AA81CC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Adjust weights in the direction that reduces error.</a:t>
            </a:r>
          </a:p>
        </p:txBody>
      </p:sp>
    </p:spTree>
    <p:extLst>
      <p:ext uri="{BB962C8B-B14F-4D97-AF65-F5344CB8AC3E}">
        <p14:creationId xmlns:p14="http://schemas.microsoft.com/office/powerpoint/2010/main" val="14085083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9E26F-D9A7-4101-A2F5-122F681DF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1EB85-B96E-4A05-9E3B-1182714B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Backpropagation starts with a forward pass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86C138-0FF3-44F0-9EFE-69D5F8768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C80D06-47D6-4BD7-B774-9C71C022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07658-1852-4FD0-B6A6-254BB991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Present an input vector to the input layer.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BF510B-A2E3-4CF2-A400-A1B7D5B3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41E88-7E66-4B76-8037-0AB6B5E4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Compute weighted sums and activations layer by layer.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A5AAE5-42A1-48A4-962F-57A5A0243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6CF926-1A6C-4EA5-8737-86C660B9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Produce the network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C60CCC-9078-4279-A68F-B5896328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6A1EB9-6D5A-4552-A643-1782AE54B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Store intermediate activations because the backward pass needs them.</a:t>
            </a:r>
          </a:p>
        </p:txBody>
      </p:sp>
    </p:spTree>
    <p:extLst>
      <p:ext uri="{BB962C8B-B14F-4D97-AF65-F5344CB8AC3E}">
        <p14:creationId xmlns:p14="http://schemas.microsoft.com/office/powerpoint/2010/main" val="753626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5F5879-85C5-4BF2-8F63-54CD8C60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1856B-A14E-44A9-8C93-C1AC5C7F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output error tells the network what must change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B83122-76E4-4FCC-90FD-934D0E85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81FD30-F44E-4126-95DF-24D4FD43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A3F1EC-ADB7-447F-9F82-A5DF14A8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 = d - 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DA7CA-90CB-4D61-B9D6-42A4617A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26E9B-80CD-4D77-9BA8-B2699A14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 is the desired response for the training example.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CBE4D-4168-4BFB-B1AC-31B0C1556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942C2C-5DCF-4D3B-ABFE-2CBFF2C2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 is the network output.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C928B-FA63-4737-A752-43C2A1D3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258862-4951-4108-BA6C-4BAA87F5B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error signal is converted into gradients for the output-layer weights.</a:t>
            </a:r>
          </a:p>
        </p:txBody>
      </p:sp>
    </p:spTree>
    <p:extLst>
      <p:ext uri="{BB962C8B-B14F-4D97-AF65-F5344CB8AC3E}">
        <p14:creationId xmlns:p14="http://schemas.microsoft.com/office/powerpoint/2010/main" val="66153156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66013-9C90-477C-9FF4-333FC746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B30FF-DEBA-44DC-A750-D362F35D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backward pass assigns responsibility to earlier layers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C25D71-5DC5-4845-BF84-D3F9E0CB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2822D-5A68-4CF2-B7BD-A0858070A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1BF69E-57AD-42A4-AE5F-C939F8CE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δj = φ'(vj) Σk δk wkj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9A9D6-11D1-4BE8-BC64-43A1A4F4F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723D35-91B1-4458-A854-51EA7D902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 is the local gradient or error responsibility for a neuron.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B596F-004B-4C27-9C84-EF582B4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4D3C7A-7474-41CF-A7A0-E0D7A6E92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Output-layer errors are pushed backward through connection weights.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57F0C-4E98-488A-9DDF-DE46B2028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A2DE4B-039D-4B32-89B0-A16BA4BE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derivative of the activation controls how strongly a neuron can change.</a:t>
            </a:r>
          </a:p>
        </p:txBody>
      </p:sp>
    </p:spTree>
    <p:extLst>
      <p:ext uri="{BB962C8B-B14F-4D97-AF65-F5344CB8AC3E}">
        <p14:creationId xmlns:p14="http://schemas.microsoft.com/office/powerpoint/2010/main" val="4795464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B1C593-652D-4622-9AF0-BD2F8EF2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914AB1-475D-4F15-A82F-5A72D898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Weight updates use local information at each connection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03D1D-576A-4DA9-BDB4-769FF81FA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AC8024-88D4-41E3-BAAA-3950F6B2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C72B88-9D86-4F5C-B56E-4ED8452F0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Δwji = η δj yi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BCF75B-7510-47F3-9308-A339200FD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5207B5-D90C-423E-AA70-2363AFB2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η is the learning-rate parameter.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902F82-51C4-4F24-81D1-B1C8FCCBD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7C8B36-D7AE-4642-AA55-0E87C0F96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δj is the local gradient at the destination neuron.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46D2C2-2EF2-4E70-8259-422B0E039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7B4478-5C58-4D9F-A2CB-581FCD648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yi is the activation arriving from the source neuron.</a:t>
            </a:r>
          </a:p>
        </p:txBody>
      </p:sp>
    </p:spTree>
    <p:extLst>
      <p:ext uri="{BB962C8B-B14F-4D97-AF65-F5344CB8AC3E}">
        <p14:creationId xmlns:p14="http://schemas.microsoft.com/office/powerpoint/2010/main" val="43093126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27521B-58DA-4C67-8FA4-4D151C78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4EED7-F5C9-4911-AC83-6FE99239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Backpropagation can be read as a four-step algorithm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C2B88-B3FF-48C5-B44F-5A7A9D85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23900" y="2047875"/>
          <a:ext xmlns:a="http://schemas.openxmlformats.org/drawingml/2006/main" cx="10744200" cy="2952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3581400"/>
                <a:gridCol w="3581400"/>
                <a:gridCol w="3581400"/>
              </a:tblGrid>
              <a:tr h="590550">
                <a:tc>
                  <a:txBody>
                    <a:bodyPr/>
                    <a:lstStyle/>
                    <a:p>
                      <a:r>
                        <a:t>Step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Output of the step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Initialize weights and biases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Starting network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Forward propagate each input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Layer activations and output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Compute output error and local gradients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Error responsibility</a:t>
                      </a:r>
                    </a:p>
                  </a:txBody>
                  <a:tcPr marL="91440" marR="91440" marT="45720" marB="45720"/>
                </a:tc>
              </a:tr>
              <a:tr h="590550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Backpropagate gradients and update weights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Improved network parameters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2151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95DAA8-4671-4166-84E4-5DA86E4D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3AFB2F-E435-4455-ABAD-6E97F2EE8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XOR problem exposes why hidden layers are needed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50192-EAEB-440C-A4CA-CFEC65A8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15</a:t>
            </a:r>
          </a:p>
        </p:txBody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1047750" y="2190750"/>
          <a:ext xmlns:a="http://schemas.openxmlformats.org/drawingml/2006/main" cx="4095750" cy="2857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65250"/>
                <a:gridCol w="1365250"/>
                <a:gridCol w="1365250"/>
              </a:tblGrid>
              <a:tr h="571500">
                <a:tc>
                  <a:txBody>
                    <a:bodyPr/>
                    <a:lstStyle/>
                    <a:p>
                      <a:r>
                        <a:t>x1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x2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XOR target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C25865-3B90-4994-A36D-1F432F6A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669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9332A0-5EB6-4D06-AEA0-C173F96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3812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 single straight line separates the 1s from the 0s.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FCF2A-8323-42FB-917A-70A9E112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575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A3B0D7-46AF-4762-A6C5-14D23D79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hidden neurons can create two intermediate linear regions.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A33AB2-4659-412D-A0AC-D961B931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44C2DF-C810-4023-8D70-CEA32338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562350"/>
            <a:ext cx="419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output neuron combines those hidden regions to solve XOR.</a:t>
            </a:r>
          </a:p>
        </p:txBody>
      </p:sp>
    </p:spTree>
    <p:extLst>
      <p:ext uri="{BB962C8B-B14F-4D97-AF65-F5344CB8AC3E}">
        <p14:creationId xmlns:p14="http://schemas.microsoft.com/office/powerpoint/2010/main" val="15620071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5CC82-8532-4E9A-A074-2AF54DB70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77C923-46CF-44E9-89BB-13280744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hidden layer can turn XOR into a separable representation</a:t>
            </a:r>
          </a:p>
        </p:txBody>
      </p:sp>
      <p:cxnSp>
        <p:nvCxnSpPr>
          <p:cNvPr id="23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C197D-0BB7-468A-9BDB-8B532AA5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53ED-A8CC-4101-9D90-0191BC6E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323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cxnSp>
        <p:nvCxnSpPr>
          <p:cNvPr id="26" name=""/>
          <p:cNvCxnSpPr/>
          <p:nvPr/>
        </p:nvCxnSpPr>
        <p:spPr>
          <a:xfrm xmlns:a="http://schemas.openxmlformats.org/drawingml/2006/main">
            <a:off x="1428750" y="47625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cxnSp>
        <p:nvCxnSpPr>
          <p:cNvPr id="27" name=""/>
          <p:cNvCxnSpPr/>
          <p:nvPr/>
        </p:nvCxnSpPr>
        <p:spPr>
          <a:xfrm xmlns:a="http://schemas.openxmlformats.org/drawingml/2006/main">
            <a:off x="1619250" y="2571750"/>
            <a:ext cx="0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77777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07FAD3-F94F-4B60-98F7-5CA4B9423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238625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DEDE1-91F2-48E0-A8B5-2889D158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57500"/>
            <a:ext cx="190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91BEE-2558-4797-85C0-8B8C9B85A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575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E4E856-E92B-49B1-88A8-9C5FF6BF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2386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1952625" y="3000375"/>
            <a:ext cx="19050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cxnSp>
        <p:nvCxnSpPr>
          <p:cNvPr id="33" name=""/>
          <p:cNvCxnSpPr/>
          <p:nvPr/>
        </p:nvCxnSpPr>
        <p:spPr>
          <a:xfrm xmlns:a="http://schemas.openxmlformats.org/drawingml/2006/main">
            <a:off x="1952625" y="3429000"/>
            <a:ext cx="1905000" cy="76200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3D8DFF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DD9A15-F370-4382-B551-BE99FFEA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41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hidden boundaries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BB7E60-4829-494B-829D-9D294547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21313-F7BC-43E0-A551-D44644BC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76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hidden neuron can detect one half-space.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42FA5-BEE2-42DA-BA85-1C5E3BD64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52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57DD7-BF33-45A7-875D-F98BDB69C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0670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Another hidden neuron can detect a second half-space.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DED1C9-2D7A-4074-BA93-8C483099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026932-E38A-4554-9A26-91F97595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657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output layer combines hidden activations into the XOR answer.</a:t>
            </a:r>
          </a:p>
        </p:txBody>
      </p:sp>
    </p:spTree>
    <p:extLst>
      <p:ext uri="{BB962C8B-B14F-4D97-AF65-F5344CB8AC3E}">
        <p14:creationId xmlns:p14="http://schemas.microsoft.com/office/powerpoint/2010/main" val="71812388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E2179-54A5-449B-90D5-45E4F2FE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8AAB4-EF8C-4BBB-970B-65A1CF1F1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rate is the first backpropagation heuristic to tune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B2B71-59A7-4547-9F6F-8431628F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8C548-AB1D-4F6B-8D4E-9C342E78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 small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B8DAC9-868F-407A-B8E4-352FC91A5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is stable but slow. The error decreases gradually and may require many epochs.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5C5B26-62A2-43B0-814B-4DB909F6C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Too large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49A6B-7A9A-41F6-AD8A-BE22B9956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Updates can overshoot useful directions. Training may oscillate or diverge.</a:t>
            </a:r>
          </a:p>
        </p:txBody>
      </p:sp>
    </p:spTree>
    <p:extLst>
      <p:ext uri="{BB962C8B-B14F-4D97-AF65-F5344CB8AC3E}">
        <p14:creationId xmlns:p14="http://schemas.microsoft.com/office/powerpoint/2010/main" val="7523023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E8A7E3-74B1-47D2-8D2A-783B30BD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4CB48A-2A10-4E80-B4EA-DB4C4D504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Momentum smooths noisy updates and helps cross shallow regions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EC8329-C1EA-42FB-B628-108010B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03E1A0-80E3-4710-A5A9-D003EB545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98123F-1928-46AF-87A1-409F9E11A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Δw(t) = η δ y + α Δw(t-1)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D40C1-56FC-4C26-9F8A-368EC39D2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3F7659-07D8-4A3E-B38E-0F0C5883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η δ y is the current gradient-based correction.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19181-0670-41B8-8B4B-1181E860A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9849BA-1173-4510-8FD1-12780DEDE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α Δw(t-1) carries part of the previous correction forward.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65D0ED-C130-4CFF-8A24-F679C85DC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CCE42D-B599-43A3-9B73-97DC43709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Momentum can reduce zig-zag movement across narrow error surfaces.</a:t>
            </a:r>
          </a:p>
        </p:txBody>
      </p:sp>
    </p:spTree>
    <p:extLst>
      <p:ext uri="{BB962C8B-B14F-4D97-AF65-F5344CB8AC3E}">
        <p14:creationId xmlns:p14="http://schemas.microsoft.com/office/powerpoint/2010/main" val="33810896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037F7F-4D48-47CF-8FEA-B564E267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A5C17B-CB66-43CB-BD80-0FF45F03A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Initialization matters because symmetry blocks learning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EEEABD-0DDB-47FA-A7C7-7772B4D2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78B1A3-774A-4C48-BF66-7A43612EA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62D23B-E5C3-4A7F-A557-0B74BF02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If hidden neurons start with identical weights, they receive identical gradients.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E1865C-9E24-45C5-A75A-9C52BCCF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DDCD8A-ABB3-4A0A-AD0A-37BE0463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Small random weights break symmetry between neurons.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D8A375-3EF2-46D8-BE67-B930E8F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CC737B-B108-4140-99F1-08324BCA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Weights should not start so large that activations saturate.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78BE4C-3703-46F3-A931-BF3AABDDD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7BD035-1D93-49A8-BC49-2E4F74BB8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Good initialization keeps signals and gradients in useful ranges.</a:t>
            </a:r>
          </a:p>
        </p:txBody>
      </p:sp>
    </p:spTree>
    <p:extLst>
      <p:ext uri="{BB962C8B-B14F-4D97-AF65-F5344CB8AC3E}">
        <p14:creationId xmlns:p14="http://schemas.microsoft.com/office/powerpoint/2010/main" val="73227703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129905-4B90-4251-89D3-887D361B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4A101-4D3C-4981-82EC-079CD06E5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Activation saturation slows backpropagation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9F5C3B-59F3-4AEA-971D-AAA24BC1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5F996-FB6E-403C-983B-2E8C98B05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issue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854D77-439C-416A-BFE8-79EC266B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sigmoid-like functions, very large positive or negative inputs create nearly flat output regions.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1886AC-5541-4FFB-83F1-84F659DAE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effect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88540D-4F24-4F55-9435-EDB81163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When φ'(v) is close to zero, local gradients become small and weight updates lose strength.</a:t>
            </a:r>
          </a:p>
        </p:txBody>
      </p:sp>
    </p:spTree>
    <p:extLst>
      <p:ext uri="{BB962C8B-B14F-4D97-AF65-F5344CB8AC3E}">
        <p14:creationId xmlns:p14="http://schemas.microsoft.com/office/powerpoint/2010/main" val="21222088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386E0-6588-4141-864C-564FA4CE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04B6FE-5BCE-4747-BB6E-B5FB89CA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 scaling helps gradients behave consistently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7568C-9BC6-41D6-99C6-9F939C54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421F70-243F-4A94-8C80-817A3F7D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54D685-C240-413D-B41C-471B94FAD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Normalize or standardize input features before training.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EA06F3-A234-4E49-B63C-FBC53BF09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9A0A0-F553-48CF-97E0-92B63CFA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Avoid one feature numerically dominating the weighted sum.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9B30D-F914-47CB-B3C1-C52392F1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7CEBBA-7142-4E58-A4CE-23A76757E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Scaled data often permits more reliable learning-rate choices.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B8A62B-7866-4EC6-A360-D390EA3F2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8B97AF-2AD0-472D-87FA-72393CC13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 encoding should match the activation and loss function.</a:t>
            </a:r>
          </a:p>
        </p:txBody>
      </p:sp>
    </p:spTree>
    <p:extLst>
      <p:ext uri="{BB962C8B-B14F-4D97-AF65-F5344CB8AC3E}">
        <p14:creationId xmlns:p14="http://schemas.microsoft.com/office/powerpoint/2010/main" val="173831945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150487-FA84-452F-A832-3E85B5A63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EB70F5-DC6A-4F2C-89A9-0B298D1B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Stopping and validation prevent training from chasing noise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2EFB60-864F-4A24-A0F4-251FFAFE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F3590-EC5F-4FAC-8F63-788FFE54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Training error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E185E-A101-42D1-9C7F-D5CF97F7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Backpropagation can continue reducing error on the training set as weights adapt.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901F6-F35C-4777-B776-BDF270DE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Validation signal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A9C88D-1D2F-4365-82ED-547BF0237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separate validation set helps decide when additional training no longer improves generalization.</a:t>
            </a:r>
          </a:p>
        </p:txBody>
      </p:sp>
    </p:spTree>
    <p:extLst>
      <p:ext uri="{BB962C8B-B14F-4D97-AF65-F5344CB8AC3E}">
        <p14:creationId xmlns:p14="http://schemas.microsoft.com/office/powerpoint/2010/main" val="9566602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D8E7FD-B5AE-4B7D-9383-FF6ACFC58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F75A1D-EF5F-40E7-981D-77433A146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Backpropagation is repeated application of the chain rule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C0CE8E-02E8-4BF9-ADEB-136F4159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D961EE-4E56-446A-9BBE-3CA21038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33600"/>
            <a:ext cx="103251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E847A6-5944-43D2-8F06-67EAE176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419350"/>
            <a:ext cx="96678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∂E/∂w = (∂E/∂y)(∂y/∂v)(∂v/∂w)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575A8-C9E0-4B8C-B7EC-1A716F96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00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895AFF-DFBB-43F6-8187-07541E4BF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14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error depends on the output.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4C8FED-3A6E-4899-BA68-65851442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E868AE-73BF-4B53-8183-65CFC3A3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719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output depends on the neuron's local field.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1E3AA4-D95E-4AA3-BF78-7081B0A2A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14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EBD789-7AA8-4DB2-8F00-AF7A51E8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29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local field depends on the weight being updated.</a:t>
            </a:r>
          </a:p>
        </p:txBody>
      </p:sp>
    </p:spTree>
    <p:extLst>
      <p:ext uri="{BB962C8B-B14F-4D97-AF65-F5344CB8AC3E}">
        <p14:creationId xmlns:p14="http://schemas.microsoft.com/office/powerpoint/2010/main" val="1445275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F14ACD-C458-4FC4-91B1-15A0FA4A1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466BBD-3C94-43BC-B71C-A5967CE8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Differentiation explains why smooth activations help</a:t>
            </a:r>
          </a:p>
        </p:txBody>
      </p:sp>
      <p:cxnSp>
        <p:nvCxnSpPr>
          <p:cNvPr id="11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3DB992-C94C-4C5B-927B-EC052F8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BCC06A-9F40-46D4-9113-5A1F9123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Perceptron threshold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508C0-C733-4E62-B5DF-2A2A475F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hard threshold is not useful for gradient-based learning because it is not smoothly differentiable.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5CCB95-DD56-4D0D-8262-FB2BB17A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MLP activations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FCE473-5994-4026-9B50-D106AF6F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336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Differentiable nonlinear activations allow gradients to flow backward through layers.</a:t>
            </a:r>
          </a:p>
        </p:txBody>
      </p:sp>
    </p:spTree>
    <p:extLst>
      <p:ext uri="{BB962C8B-B14F-4D97-AF65-F5344CB8AC3E}">
        <p14:creationId xmlns:p14="http://schemas.microsoft.com/office/powerpoint/2010/main" val="39098503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25B2B-CB6D-466B-B65F-D8378FA9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44CD62-ED44-442D-99BF-3B7F04A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same chain-rule logic scales from one neuron to many layers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F2EF0-5E2F-4E7E-B51C-76C7CDBB2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70B28E-0F08-4A45-9863-0585BEC9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0CFBA-6DF1-41B6-824B-10F6498A5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an output neuron, compute the derivative of error with respect to its weights directly.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97CC14-5F7D-4CEC-9C5D-73128F40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B2B9C4-12A8-427D-A2D0-C082E675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 hidden neuron, multiply downstream error by the derivative of its activation.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6DC32C-27EA-4B8E-9ED3-A0587481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775938-1BA5-4F16-B9B6-28C224B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Repeat this layer by layer until every weight has a gradient.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FEBADA-DF0A-43BD-AF23-B6782B881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43D307-DDC5-4DF8-9B91-A94440C6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Update all trainable parameters using the chosen learning mode.</a:t>
            </a:r>
          </a:p>
        </p:txBody>
      </p:sp>
    </p:spTree>
    <p:extLst>
      <p:ext uri="{BB962C8B-B14F-4D97-AF65-F5344CB8AC3E}">
        <p14:creationId xmlns:p14="http://schemas.microsoft.com/office/powerpoint/2010/main" val="4592729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0DB9A9-59D9-4293-A084-57AFECCB3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B760F-86C5-451B-A170-1872651A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good exam answer should connect algorithm, geometry, and calculus</a:t>
            </a:r>
          </a:p>
        </p:txBody>
      </p:sp>
      <p:cxnSp>
        <p:nvCxnSpPr>
          <p:cNvPr id="19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E417C9-6A10-4C64-98B8-E4267E261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3884E7-F18F-410E-80D7-B7F2FAF3B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3BBA61-58EC-40A4-9E9C-747CCCD26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MLP need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7B8C2-B71F-45FD-82C7-19E92D4D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 layers address nonlinear tasks such as XOR.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75C52B-7A68-4F2C-930B-45A726C9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0025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99FF64-D5E9-4DFB-8316-59FDB3E70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098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Learning mode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E7C67-1411-4194-8DAE-1AAC1B985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47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Batch and online learning differ by update timing.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7E1D5-FD24-42F4-B55C-27E6869D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44320-7EC7-4D21-837E-0E3FB97BE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Backprop steps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C05EA6-8707-4189-A08F-21850AFC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Forward pass, error, backward pass, update.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58AED-F91A-4290-AA90-61077AB5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4762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D427D6-E84B-4314-8BCA-AE35AB5C8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2100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Differentiation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A39FDE-B98A-48E9-A204-0C3AC0D5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48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Local gradients come from the chain rule.</a:t>
            </a:r>
          </a:p>
        </p:txBody>
      </p:sp>
    </p:spTree>
    <p:extLst>
      <p:ext uri="{BB962C8B-B14F-4D97-AF65-F5344CB8AC3E}">
        <p14:creationId xmlns:p14="http://schemas.microsoft.com/office/powerpoint/2010/main" val="108809077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50F4F6-BD23-4950-9700-A28E4D09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A6A81-ED90-4955-AFC1-DF841B71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2 vocabulary students must own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E04C4-B405-4DC8-95AA-1607A92CF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27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1857375"/>
          <a:ext xmlns:a="http://schemas.openxmlformats.org/drawingml/2006/main" cx="10820400" cy="3857625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428625">
                <a:tc>
                  <a:txBody>
                    <a:bodyPr/>
                    <a:lstStyle/>
                    <a:p>
                      <a:r>
                        <a:t>Term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Meaning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Multilayer perceptron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Feedforward neural network with one or more hidden layers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Hidden layer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Intermediate representation layer between input and output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Epoch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One pass through the training set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Batch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 after accumulating information over all training examples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Online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Update after each example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Local gradient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Error responsibility used for backpropagation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Learning rate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Step-size parameter for weight updates</a:t>
                      </a:r>
                    </a:p>
                  </a:txBody>
                  <a:tcPr marL="91440" marR="91440" marT="45720" marB="45720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t>Momentum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Heuristic that adds part of the previous update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859617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A2DDAC-759F-48D0-A1EC-05237AAE7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0AF178-79FB-4840-9EB9-CA62D7CD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Mini activity: solve XOR with hidden features</a:t>
            </a:r>
          </a:p>
        </p:txBody>
      </p:sp>
      <p:cxnSp>
        <p:nvCxnSpPr>
          <p:cNvPr id="1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8073E-AB31-4081-9D90-2904D036F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49C054-B3A6-4FE8-8B6D-D1DAB52A5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288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78961-0E50-4136-9304-60588A41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431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Ask students to plot the four XOR points.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563CFB-4BCB-4014-8B49-BA4D22649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8570F0-D1D9-4127-8906-D8038FA9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527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Confirm that one straight line cannot separate the classes.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8AF50-0CAD-4045-A018-68EB91C5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480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95556-4A48-46D3-B8AA-898B7A57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623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Draw two hidden boundaries that isolate the positive cases.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20DFB8-2B5E-4EBC-930A-D4C12195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576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936673-48FC-44B8-8881-FC05874EA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7192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Explain how the output neuron combines hidden decisions.</a:t>
            </a:r>
          </a:p>
        </p:txBody>
      </p:sp>
    </p:spTree>
    <p:extLst>
      <p:ext uri="{BB962C8B-B14F-4D97-AF65-F5344CB8AC3E}">
        <p14:creationId xmlns:p14="http://schemas.microsoft.com/office/powerpoint/2010/main" val="163086149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FCFC5C-3559-48A3-925B-D32015C62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55368-7F62-40AF-B9C9-B77FB525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Module 2 closes with a complete training chain</a:t>
            </a:r>
          </a:p>
        </p:txBody>
      </p:sp>
      <p:cxnSp>
        <p:nvCxnSpPr>
          <p:cNvPr id="25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31624C-FFC7-4CBD-9006-8FFEC23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BAA31-26E4-409D-8057-9428D57CE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AC1121-BA2E-482C-9091-0C6BEC874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05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Input</a:t>
            </a:r>
          </a:p>
        </p:txBody>
      </p:sp>
      <p:cxnSp>
        <p:nvCxnSpPr>
          <p:cNvPr id="29" name=""/>
          <p:cNvCxnSpPr/>
          <p:nvPr/>
        </p:nvCxnSpPr>
        <p:spPr>
          <a:xfrm xmlns:a="http://schemas.openxmlformats.org/drawingml/2006/main">
            <a:off x="19526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48D91D-D05D-4BBC-99C0-D0A958FA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13850-A38C-425C-9391-78092EBE3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19450"/>
            <a:ext cx="105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Hidden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features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37623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E56D1-CFAD-4B83-B3E2-F690EFAC2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96194-10AE-488A-B63C-11184CE3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19450"/>
            <a:ext cx="105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Output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55721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6FB67C-4071-4B1B-9B7F-D3581AE3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0FAF0A-B96A-421B-A19A-37FF2339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19450"/>
            <a:ext cx="105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Loss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738187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2ABB0A-4983-4385-BE61-E299362ED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8436BF-FB5E-46A3-9D4B-4C5A04B32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19450"/>
            <a:ext cx="105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Gradients</a:t>
            </a:r>
          </a:p>
        </p:txBody>
      </p:sp>
      <p:cxnSp>
        <p:nvCxnSpPr>
          <p:cNvPr id="41" name=""/>
          <p:cNvCxnSpPr/>
          <p:nvPr/>
        </p:nvCxnSpPr>
        <p:spPr>
          <a:xfrm xmlns:a="http://schemas.openxmlformats.org/drawingml/2006/main">
            <a:off x="9191625" y="340995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0C3578-2F61-4EF1-B25A-B08A5408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52750"/>
            <a:ext cx="128587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D06BA5-6947-40A8-9A26-9B9DA0CA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219450"/>
            <a:ext cx="10572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Updated</a:t>
            </a:r>
          </a:p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weights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08CAC6-0B91-4DF1-A441-806AA52F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Forward computation creates predictions; backward differentiation makes learning possible.</a:t>
            </a:r>
          </a:p>
        </p:txBody>
      </p:sp>
    </p:spTree>
    <p:extLst>
      <p:ext uri="{BB962C8B-B14F-4D97-AF65-F5344CB8AC3E}">
        <p14:creationId xmlns:p14="http://schemas.microsoft.com/office/powerpoint/2010/main" val="40927412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A7309-690B-444B-BC03-42E510E85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709294-F756-48FA-B501-351DDE5DD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Coverage checklist: every Module 2 phrase is included</a:t>
            </a:r>
          </a:p>
        </p:txBody>
      </p:sp>
      <p:cxnSp>
        <p:nvCxnSpPr>
          <p:cNvPr id="8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C6AAD7-9B9F-42FF-9924-47C7C6DD4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30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85800" y="2047875"/>
          <a:ext xmlns:a="http://schemas.openxmlformats.org/drawingml/2006/main" cx="10820400" cy="32385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5410200"/>
                <a:gridCol w="5410200"/>
              </a:tblGrid>
              <a:tr h="462643">
                <a:tc>
                  <a:txBody>
                    <a:bodyPr/>
                    <a:lstStyle/>
                    <a:p>
                      <a:r>
                        <a:t>Syllabus phrase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Covered in slides</a:t>
                      </a:r>
                    </a:p>
                  </a:txBody>
                  <a:tcPr marL="91440" marR="91440" marT="45720" marB="45720">
                    <a:solidFill>
                      <a:srgbClr val="EDEDED"/>
                    </a:solidFill>
                  </a:tcPr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Multilayer Perceptrons: Introduction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1-5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Batch Learning and On-Line Learning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6-8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The Back-Propagation Algorithm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9-15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XOR Problem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16-17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Heuristics for Making Back-Propagation Perform Better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18-23</a:t>
                      </a:r>
                    </a:p>
                  </a:txBody>
                  <a:tcPr marL="91440" marR="91440" marT="45720" marB="45720"/>
                </a:tc>
              </a:tr>
              <a:tr h="462643">
                <a:tc>
                  <a:txBody>
                    <a:bodyPr/>
                    <a:lstStyle/>
                    <a:p>
                      <a:r>
                        <a:t>Back Propagation and Differentiation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24-26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8225343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942D91-8B2C-45EA-B865-0D4D6AD5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BCA701 Deep Learning | Module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0DF720-6B1D-454A-9754-9F1AE7EF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7700"/>
            <a:ext cx="1123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75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Prescribed textbook reference for Module 2</a:t>
            </a:r>
          </a:p>
        </p:txBody>
      </p:sp>
      <p:cxnSp>
        <p:nvCxnSpPr>
          <p:cNvPr id="13" name=""/>
          <p:cNvCxnSpPr/>
          <p:nvPr/>
        </p:nvCxnSpPr>
        <p:spPr>
          <a:xfrm xmlns:a="http://schemas.openxmlformats.org/drawingml/2006/main">
            <a:off x="400050" y="1438275"/>
            <a:ext cx="1139190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B8BCC4"/>
            </a:solidFill>
            <a:prstDash val="solid"/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1F832D-4178-44CE-8F0E-E4F6D57F8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86500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>
                <a:solidFill>
                  <a:srgbClr val="555B63"/>
                </a:solidFill>
                <a:latin typeface="Helvetica Neue"/>
                <a:ea typeface="Helvetica Neue"/>
                <a:cs typeface="Helvetica Neue"/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7A2EB-395F-46D8-B46E-A21D8B73D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DC0AAE-6640-4C2A-AC92-2F40CBB0F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907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Primary reference: Simon Haykin, Neural Networks and Learning Machines, 3/e, Pearson Education.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B6581-1741-4F0F-B535-CBFE3FE62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2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51D8A0-84BF-4410-8D9F-9CF596EC6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765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Haykin for MLP architecture, batch and online learning, backpropagation, XOR, heuristics, and differentiation.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11400-FA30-436A-B51B-7F2AAD07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48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044B25-97E9-4943-AF25-74584A1BB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000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Use the VTU syllabus as the boundary for what belongs in Module 2.</a:t>
            </a:r>
          </a:p>
        </p:txBody>
      </p:sp>
    </p:spTree>
    <p:extLst>
      <p:ext uri="{BB962C8B-B14F-4D97-AF65-F5344CB8AC3E}">
        <p14:creationId xmlns:p14="http://schemas.microsoft.com/office/powerpoint/2010/main" val="1910837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2026-08-12T05:24:37.6300000Z</dcterms:created>
  <dcterms:modified xsi:type="dcterms:W3CDTF">2026-08-12T05:24:37.6300000Z</dcterms:modified>
</coreProperties>
</file>