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815b0c7bfc455a" /><Relationship Type="http://schemas.openxmlformats.org/officeDocument/2006/relationships/extended-properties" Target="/docProps/app.xml" Id="R38952216f28d46c2" /><Relationship Type="http://schemas.openxmlformats.org/officeDocument/2006/relationships/officeDocument" Target="/ppt/presentation.xml" Id="R7341a71eeed247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5d99c707c64a9b"/>
  </p:sldMasterIdLst>
  <p:notesMasterIdLst>
    <p:notesMasterId xmlns:r="http://schemas.openxmlformats.org/officeDocument/2006/relationships" r:id="Rd32c90d278a74a96"/>
  </p:notesMasterIdLst>
  <p:sldIdLst>
    <p:sldId xmlns:r="http://schemas.openxmlformats.org/officeDocument/2006/relationships" id="256" r:id="Rd119195c876746ff"/>
    <p:sldId xmlns:r="http://schemas.openxmlformats.org/officeDocument/2006/relationships" id="257" r:id="R4f04d8cd7b494658"/>
    <p:sldId xmlns:r="http://schemas.openxmlformats.org/officeDocument/2006/relationships" id="258" r:id="R4d04d43d7c59456e"/>
    <p:sldId xmlns:r="http://schemas.openxmlformats.org/officeDocument/2006/relationships" id="259" r:id="R4f2bf157064a4738"/>
    <p:sldId xmlns:r="http://schemas.openxmlformats.org/officeDocument/2006/relationships" id="260" r:id="Re8c2e459548f4921"/>
    <p:sldId xmlns:r="http://schemas.openxmlformats.org/officeDocument/2006/relationships" id="261" r:id="R99f774f16b3a44d9"/>
    <p:sldId xmlns:r="http://schemas.openxmlformats.org/officeDocument/2006/relationships" id="262" r:id="R6585c8999982445b"/>
    <p:sldId xmlns:r="http://schemas.openxmlformats.org/officeDocument/2006/relationships" id="263" r:id="R2928189c331043a3"/>
    <p:sldId xmlns:r="http://schemas.openxmlformats.org/officeDocument/2006/relationships" id="264" r:id="Rd1573b3e15a040e2"/>
    <p:sldId xmlns:r="http://schemas.openxmlformats.org/officeDocument/2006/relationships" id="265" r:id="Rb95fc5316117401e"/>
    <p:sldId xmlns:r="http://schemas.openxmlformats.org/officeDocument/2006/relationships" id="266" r:id="R6473847ea4944a0f"/>
    <p:sldId xmlns:r="http://schemas.openxmlformats.org/officeDocument/2006/relationships" id="267" r:id="Rc4538cf6beac4ac2"/>
    <p:sldId xmlns:r="http://schemas.openxmlformats.org/officeDocument/2006/relationships" id="268" r:id="R30634b6a5c614203"/>
    <p:sldId xmlns:r="http://schemas.openxmlformats.org/officeDocument/2006/relationships" id="269" r:id="R6a9c0df5bc0d4fda"/>
    <p:sldId xmlns:r="http://schemas.openxmlformats.org/officeDocument/2006/relationships" id="270" r:id="R33bca5450d434f1e"/>
    <p:sldId xmlns:r="http://schemas.openxmlformats.org/officeDocument/2006/relationships" id="271" r:id="R0e82b227cdf74a88"/>
    <p:sldId xmlns:r="http://schemas.openxmlformats.org/officeDocument/2006/relationships" id="272" r:id="R24bac3a969f44cc3"/>
    <p:sldId xmlns:r="http://schemas.openxmlformats.org/officeDocument/2006/relationships" id="273" r:id="Ra5d1efd4efed43cb"/>
    <p:sldId xmlns:r="http://schemas.openxmlformats.org/officeDocument/2006/relationships" id="274" r:id="Rf1db98cfb61c45a2"/>
    <p:sldId xmlns:r="http://schemas.openxmlformats.org/officeDocument/2006/relationships" id="275" r:id="R56b2b196ac0c4ff6"/>
    <p:sldId xmlns:r="http://schemas.openxmlformats.org/officeDocument/2006/relationships" id="276" r:id="R91c7ea0acdf14dd0"/>
    <p:sldId xmlns:r="http://schemas.openxmlformats.org/officeDocument/2006/relationships" id="277" r:id="R820dc89edf3c4a3c"/>
    <p:sldId xmlns:r="http://schemas.openxmlformats.org/officeDocument/2006/relationships" id="278" r:id="R32eec0d064bb43a6"/>
    <p:sldId xmlns:r="http://schemas.openxmlformats.org/officeDocument/2006/relationships" id="279" r:id="R17eddcaab9284a06"/>
    <p:sldId xmlns:r="http://schemas.openxmlformats.org/officeDocument/2006/relationships" id="280" r:id="Re582b4aa18224279"/>
    <p:sldId xmlns:r="http://schemas.openxmlformats.org/officeDocument/2006/relationships" id="281" r:id="Ra2fca8eb2248403c"/>
    <p:sldId xmlns:r="http://schemas.openxmlformats.org/officeDocument/2006/relationships" id="282" r:id="Rfa32e67a2ce74a59"/>
    <p:sldId xmlns:r="http://schemas.openxmlformats.org/officeDocument/2006/relationships" id="283" r:id="R8c63e45b6b1c4557"/>
    <p:sldId xmlns:r="http://schemas.openxmlformats.org/officeDocument/2006/relationships" id="284" r:id="Ra4fe8cf6508d46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935fbeac9f4ce5" /><Relationship Type="http://schemas.openxmlformats.org/officeDocument/2006/relationships/slideMaster" Target="/ppt/slideMasters/slideMaster1.xml" Id="Rbc5d99c707c64a9b" /><Relationship Type="http://schemas.openxmlformats.org/officeDocument/2006/relationships/notesMaster" Target="/ppt/notesMasters/notesMaster1.xml" Id="Rd32c90d278a74a96" /><Relationship Type="http://schemas.openxmlformats.org/officeDocument/2006/relationships/presProps" Target="/ppt/presProps.xml" Id="R539577d9a5634d7b" /><Relationship Type="http://schemas.openxmlformats.org/officeDocument/2006/relationships/tableStyles" Target="/ppt/tableStyles.xml" Id="Re95e34d3c78f4e66" /><Relationship Type="http://schemas.openxmlformats.org/officeDocument/2006/relationships/slide" Target="/ppt/slides/slide1.xml" Id="Rd119195c876746ff" /><Relationship Type="http://schemas.openxmlformats.org/officeDocument/2006/relationships/slide" Target="/ppt/slides/slide2.xml" Id="R4f04d8cd7b494658" /><Relationship Type="http://schemas.openxmlformats.org/officeDocument/2006/relationships/slide" Target="/ppt/slides/slide3.xml" Id="R4d04d43d7c59456e" /><Relationship Type="http://schemas.openxmlformats.org/officeDocument/2006/relationships/slide" Target="/ppt/slides/slide4.xml" Id="R4f2bf157064a4738" /><Relationship Type="http://schemas.openxmlformats.org/officeDocument/2006/relationships/slide" Target="/ppt/slides/slide5.xml" Id="Re8c2e459548f4921" /><Relationship Type="http://schemas.openxmlformats.org/officeDocument/2006/relationships/slide" Target="/ppt/slides/slide6.xml" Id="R99f774f16b3a44d9" /><Relationship Type="http://schemas.openxmlformats.org/officeDocument/2006/relationships/slide" Target="/ppt/slides/slide7.xml" Id="R6585c8999982445b" /><Relationship Type="http://schemas.openxmlformats.org/officeDocument/2006/relationships/slide" Target="/ppt/slides/slide8.xml" Id="R2928189c331043a3" /><Relationship Type="http://schemas.openxmlformats.org/officeDocument/2006/relationships/slide" Target="/ppt/slides/slide9.xml" Id="Rd1573b3e15a040e2" /><Relationship Type="http://schemas.openxmlformats.org/officeDocument/2006/relationships/slide" Target="/ppt/slides/slide10.xml" Id="Rb95fc5316117401e" /><Relationship Type="http://schemas.openxmlformats.org/officeDocument/2006/relationships/slide" Target="/ppt/slides/slide11.xml" Id="R6473847ea4944a0f" /><Relationship Type="http://schemas.openxmlformats.org/officeDocument/2006/relationships/slide" Target="/ppt/slides/slide12.xml" Id="Rc4538cf6beac4ac2" /><Relationship Type="http://schemas.openxmlformats.org/officeDocument/2006/relationships/slide" Target="/ppt/slides/slide13.xml" Id="R30634b6a5c614203" /><Relationship Type="http://schemas.openxmlformats.org/officeDocument/2006/relationships/slide" Target="/ppt/slides/slide14.xml" Id="R6a9c0df5bc0d4fda" /><Relationship Type="http://schemas.openxmlformats.org/officeDocument/2006/relationships/slide" Target="/ppt/slides/slide15.xml" Id="R33bca5450d434f1e" /><Relationship Type="http://schemas.openxmlformats.org/officeDocument/2006/relationships/slide" Target="/ppt/slides/slide16.xml" Id="R0e82b227cdf74a88" /><Relationship Type="http://schemas.openxmlformats.org/officeDocument/2006/relationships/slide" Target="/ppt/slides/slide17.xml" Id="R24bac3a969f44cc3" /><Relationship Type="http://schemas.openxmlformats.org/officeDocument/2006/relationships/slide" Target="/ppt/slides/slide18.xml" Id="Ra5d1efd4efed43cb" /><Relationship Type="http://schemas.openxmlformats.org/officeDocument/2006/relationships/slide" Target="/ppt/slides/slide19.xml" Id="Rf1db98cfb61c45a2" /><Relationship Type="http://schemas.openxmlformats.org/officeDocument/2006/relationships/slide" Target="/ppt/slides/slide20.xml" Id="R56b2b196ac0c4ff6" /><Relationship Type="http://schemas.openxmlformats.org/officeDocument/2006/relationships/slide" Target="/ppt/slides/slide21.xml" Id="R91c7ea0acdf14dd0" /><Relationship Type="http://schemas.openxmlformats.org/officeDocument/2006/relationships/slide" Target="/ppt/slides/slide22.xml" Id="R820dc89edf3c4a3c" /><Relationship Type="http://schemas.openxmlformats.org/officeDocument/2006/relationships/slide" Target="/ppt/slides/slide23.xml" Id="R32eec0d064bb43a6" /><Relationship Type="http://schemas.openxmlformats.org/officeDocument/2006/relationships/slide" Target="/ppt/slides/slide24.xml" Id="R17eddcaab9284a06" /><Relationship Type="http://schemas.openxmlformats.org/officeDocument/2006/relationships/slide" Target="/ppt/slides/slide25.xml" Id="Re582b4aa18224279" /><Relationship Type="http://schemas.openxmlformats.org/officeDocument/2006/relationships/slide" Target="/ppt/slides/slide26.xml" Id="Ra2fca8eb2248403c" /><Relationship Type="http://schemas.openxmlformats.org/officeDocument/2006/relationships/slide" Target="/ppt/slides/slide27.xml" Id="Rfa32e67a2ce74a59" /><Relationship Type="http://schemas.openxmlformats.org/officeDocument/2006/relationships/slide" Target="/ppt/slides/slide28.xml" Id="R8c63e45b6b1c4557" /><Relationship Type="http://schemas.openxmlformats.org/officeDocument/2006/relationships/slide" Target="/ppt/slides/slide29.xml" Id="Ra4fe8cf6508d46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e906245f0246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8c00cb7b154925" /><Relationship Type="http://schemas.openxmlformats.org/officeDocument/2006/relationships/notesMaster" Target="/ppt/notesMasters/notesMaster1.xml" Id="Reed1f0d6bb0441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53b25df3254859" /><Relationship Type="http://schemas.openxmlformats.org/officeDocument/2006/relationships/notesMaster" Target="/ppt/notesMasters/notesMaster1.xml" Id="Rf09c701d47d348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d385443a344c03" /><Relationship Type="http://schemas.openxmlformats.org/officeDocument/2006/relationships/notesMaster" Target="/ppt/notesMasters/notesMaster1.xml" Id="R444b44f3eeef40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e67490b72d4f5f" /><Relationship Type="http://schemas.openxmlformats.org/officeDocument/2006/relationships/notesMaster" Target="/ppt/notesMasters/notesMaster1.xml" Id="R66740533560340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daaf4e08fb4a91" /><Relationship Type="http://schemas.openxmlformats.org/officeDocument/2006/relationships/notesMaster" Target="/ppt/notesMasters/notesMaster1.xml" Id="Rf4b0389a27ba42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af2837fef54a7c" /><Relationship Type="http://schemas.openxmlformats.org/officeDocument/2006/relationships/notesMaster" Target="/ppt/notesMasters/notesMaster1.xml" Id="Ra8b9291a11a449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f06911adb482a" /><Relationship Type="http://schemas.openxmlformats.org/officeDocument/2006/relationships/notesMaster" Target="/ppt/notesMasters/notesMaster1.xml" Id="R2ad03207525241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bc079f95094893" /><Relationship Type="http://schemas.openxmlformats.org/officeDocument/2006/relationships/notesMaster" Target="/ppt/notesMasters/notesMaster1.xml" Id="R73f07415d4d64e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15c43769e14667" /><Relationship Type="http://schemas.openxmlformats.org/officeDocument/2006/relationships/notesMaster" Target="/ppt/notesMasters/notesMaster1.xml" Id="Ra3fcfe98f99348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d073943ed94725" /><Relationship Type="http://schemas.openxmlformats.org/officeDocument/2006/relationships/notesMaster" Target="/ppt/notesMasters/notesMaster1.xml" Id="Rd6a29bebca4c4a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ced40200ca4eb9" /><Relationship Type="http://schemas.openxmlformats.org/officeDocument/2006/relationships/notesMaster" Target="/ppt/notesMasters/notesMaster1.xml" Id="R283e4ea9d48347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9bb5dc1e2d487a" /><Relationship Type="http://schemas.openxmlformats.org/officeDocument/2006/relationships/notesMaster" Target="/ppt/notesMasters/notesMaster1.xml" Id="R828bdf6518454a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c19333327d42b0" /><Relationship Type="http://schemas.openxmlformats.org/officeDocument/2006/relationships/notesMaster" Target="/ppt/notesMasters/notesMaster1.xml" Id="R41c1c3c4ecf743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0bcc6e402e4841" /><Relationship Type="http://schemas.openxmlformats.org/officeDocument/2006/relationships/notesMaster" Target="/ppt/notesMasters/notesMaster1.xml" Id="R8ba4ecaaf13f4b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74266d85344e24" /><Relationship Type="http://schemas.openxmlformats.org/officeDocument/2006/relationships/notesMaster" Target="/ppt/notesMasters/notesMaster1.xml" Id="Ra38c0f4406bf4f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08aba6eebe427d" /><Relationship Type="http://schemas.openxmlformats.org/officeDocument/2006/relationships/notesMaster" Target="/ppt/notesMasters/notesMaster1.xml" Id="R2bb95e35ee094b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8bc1b877524b4c" /><Relationship Type="http://schemas.openxmlformats.org/officeDocument/2006/relationships/notesMaster" Target="/ppt/notesMasters/notesMaster1.xml" Id="Ref8e991d736040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0ce442abc84e76" /><Relationship Type="http://schemas.openxmlformats.org/officeDocument/2006/relationships/notesMaster" Target="/ppt/notesMasters/notesMaster1.xml" Id="R51393c45f04949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44e7d14a38403b" /><Relationship Type="http://schemas.openxmlformats.org/officeDocument/2006/relationships/notesMaster" Target="/ppt/notesMasters/notesMaster1.xml" Id="Raedf48376e864c6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2578256e1245ca" /><Relationship Type="http://schemas.openxmlformats.org/officeDocument/2006/relationships/notesMaster" Target="/ppt/notesMasters/notesMaster1.xml" Id="R4954788247a74b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cccfe086d849a5" /><Relationship Type="http://schemas.openxmlformats.org/officeDocument/2006/relationships/notesMaster" Target="/ppt/notesMasters/notesMaster1.xml" Id="R2b9dc74c1092487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bb0356d05f54cd4" /><Relationship Type="http://schemas.openxmlformats.org/officeDocument/2006/relationships/notesMaster" Target="/ppt/notesMasters/notesMaster1.xml" Id="R594fd31b385e4be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5b0d53ba05e4ffa" /><Relationship Type="http://schemas.openxmlformats.org/officeDocument/2006/relationships/notesMaster" Target="/ppt/notesMasters/notesMaster1.xml" Id="R37a9034bbfdd444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afe69b7ade47bf" /><Relationship Type="http://schemas.openxmlformats.org/officeDocument/2006/relationships/notesMaster" Target="/ppt/notesMasters/notesMaster1.xml" Id="Ra9afb8a468ef42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2d5e00060f743fe" /><Relationship Type="http://schemas.openxmlformats.org/officeDocument/2006/relationships/notesMaster" Target="/ppt/notesMasters/notesMaster1.xml" Id="Re889fee7b8c14d6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a7b914c1144494a" /><Relationship Type="http://schemas.openxmlformats.org/officeDocument/2006/relationships/notesMaster" Target="/ppt/notesMasters/notesMaster1.xml" Id="R2486abe24024438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7f9cf198a5f4b84" /><Relationship Type="http://schemas.openxmlformats.org/officeDocument/2006/relationships/notesMaster" Target="/ppt/notesMasters/notesMaster1.xml" Id="Rf9a9d8409b444e1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75a0740fbd24048" /><Relationship Type="http://schemas.openxmlformats.org/officeDocument/2006/relationships/notesMaster" Target="/ppt/notesMasters/notesMaster1.xml" Id="R4745ca806214471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f95a6feddb546e3" /><Relationship Type="http://schemas.openxmlformats.org/officeDocument/2006/relationships/notesMaster" Target="/ppt/notesMasters/notesMaster1.xml" Id="R77758b1015c840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 for Module 5, aligned to the local VTU syllabus and Goodfellow et al. sequence modeling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maps every phrase in Module 5 of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Introduces Sequence Modeling and why recurrent/recursive models are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Unfolding Computational 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 for a basic recurrent state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recurrent networks uses backpropagation through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Recurrent Neural Networks.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patterns clarify how RNN outputs are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Introduces the motivation for gated RNNs and LSTMs.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Bidirectional RNNs.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Use-case framing for bidirectional RNNs.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Encoder-Decoder Sequence-to-Sequence Architectures.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Examples for sequence-to-sequence modeling.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Deep Recurrent Networks.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Explains what deep recurrent networks can mean in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Recursive Neural Networks.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Explains the use and computation of recursive neural networks.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The Long Short-Term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explanation of LSTM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LSTM and gated RNNs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Other Gated RNNs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across all Module 5 model families.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Practical training concerns for recurrent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Exam-oriented synthesis for Module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Vocabulary review for all Module 5 topics.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activity aligned with all Module 5 model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synthesis for Module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verifies full Module 5 syllabus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reference slide with the prescribed textbook and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97ae5722a47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21d2e6700649e0" /><Relationship Type="http://schemas.openxmlformats.org/officeDocument/2006/relationships/slideLayout" Target="/ppt/slideLayouts/slideLayout1.xml" Id="R8e7d84a0ba2548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7d84a0ba2548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f757405d341fc" /><Relationship Type="http://schemas.openxmlformats.org/officeDocument/2006/relationships/notesSlide" Target="/ppt/notesSlides/notesSlide1.xml" Id="R91c482ebfbdf48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1fd0c08b84b59" /><Relationship Type="http://schemas.openxmlformats.org/officeDocument/2006/relationships/notesSlide" Target="/ppt/notesSlides/notesSlide2.xml" Id="Rc17513b618eb43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3e81578d645b9" /><Relationship Type="http://schemas.openxmlformats.org/officeDocument/2006/relationships/notesSlide" Target="/ppt/notesSlides/notesSlide3.xml" Id="R2e54180f6ad14a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d8176e8e24c3c" /><Relationship Type="http://schemas.openxmlformats.org/officeDocument/2006/relationships/notesSlide" Target="/ppt/notesSlides/notesSlide4.xml" Id="Rea007322ef3b47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94dbcffd74382" /><Relationship Type="http://schemas.openxmlformats.org/officeDocument/2006/relationships/notesSlide" Target="/ppt/notesSlides/notesSlide5.xml" Id="R316d9fafdb5547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f099c36034eea" /><Relationship Type="http://schemas.openxmlformats.org/officeDocument/2006/relationships/notesSlide" Target="/ppt/notesSlides/notesSlide6.xml" Id="R84bf9045848149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034859cc64d14" /><Relationship Type="http://schemas.openxmlformats.org/officeDocument/2006/relationships/notesSlide" Target="/ppt/notesSlides/notesSlide7.xml" Id="R1710a2cb903145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707f136ac4f13" /><Relationship Type="http://schemas.openxmlformats.org/officeDocument/2006/relationships/notesSlide" Target="/ppt/notesSlides/notesSlide8.xml" Id="R35e7ff6b0d3c4c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c940e3f92481e" /><Relationship Type="http://schemas.openxmlformats.org/officeDocument/2006/relationships/notesSlide" Target="/ppt/notesSlides/notesSlide9.xml" Id="Rbc12359403144c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38aec34204ac0" /><Relationship Type="http://schemas.openxmlformats.org/officeDocument/2006/relationships/notesSlide" Target="/ppt/notesSlides/notesSlide10.xml" Id="R728dbc0aaecf4a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f6aaceb9c4814" /><Relationship Type="http://schemas.openxmlformats.org/officeDocument/2006/relationships/notesSlide" Target="/ppt/notesSlides/notesSlide11.xml" Id="R52ba38a7303a47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f7fee337341ee" /><Relationship Type="http://schemas.openxmlformats.org/officeDocument/2006/relationships/notesSlide" Target="/ppt/notesSlides/notesSlide12.xml" Id="Ra718b5435a4b48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95c9eabb840ce" /><Relationship Type="http://schemas.openxmlformats.org/officeDocument/2006/relationships/notesSlide" Target="/ppt/notesSlides/notesSlide13.xml" Id="Rc450372222134e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65f37d9494abe" /><Relationship Type="http://schemas.openxmlformats.org/officeDocument/2006/relationships/notesSlide" Target="/ppt/notesSlides/notesSlide14.xml" Id="R321324cbb51a4c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1ef8eae404736" /><Relationship Type="http://schemas.openxmlformats.org/officeDocument/2006/relationships/notesSlide" Target="/ppt/notesSlides/notesSlide15.xml" Id="R7e63d827b2084a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eedf04ab54867" /><Relationship Type="http://schemas.openxmlformats.org/officeDocument/2006/relationships/notesSlide" Target="/ppt/notesSlides/notesSlide16.xml" Id="R62ce237e2df249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eccaa0b194146" /><Relationship Type="http://schemas.openxmlformats.org/officeDocument/2006/relationships/notesSlide" Target="/ppt/notesSlides/notesSlide17.xml" Id="R096eb722a59c44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520999ed44a4c" /><Relationship Type="http://schemas.openxmlformats.org/officeDocument/2006/relationships/notesSlide" Target="/ppt/notesSlides/notesSlide18.xml" Id="R1c6bc732055c40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59200f97a4709" /><Relationship Type="http://schemas.openxmlformats.org/officeDocument/2006/relationships/notesSlide" Target="/ppt/notesSlides/notesSlide19.xml" Id="R3a23abd8109645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4fcf4491b45eb" /><Relationship Type="http://schemas.openxmlformats.org/officeDocument/2006/relationships/notesSlide" Target="/ppt/notesSlides/notesSlide20.xml" Id="R928f3f23e4ff49a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497bc4c884808" /><Relationship Type="http://schemas.openxmlformats.org/officeDocument/2006/relationships/notesSlide" Target="/ppt/notesSlides/notesSlide21.xml" Id="Raf05ee50a0cf4ea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5da8aba534354" /><Relationship Type="http://schemas.openxmlformats.org/officeDocument/2006/relationships/notesSlide" Target="/ppt/notesSlides/notesSlide22.xml" Id="Ra0f0180d52a14df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c6efbca244c05" /><Relationship Type="http://schemas.openxmlformats.org/officeDocument/2006/relationships/notesSlide" Target="/ppt/notesSlides/notesSlide23.xml" Id="R75762c5b714e48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dccb887764c1b" /><Relationship Type="http://schemas.openxmlformats.org/officeDocument/2006/relationships/notesSlide" Target="/ppt/notesSlides/notesSlide24.xml" Id="Rda11524e1c894fa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bbb263ee641bc" /><Relationship Type="http://schemas.openxmlformats.org/officeDocument/2006/relationships/notesSlide" Target="/ppt/notesSlides/notesSlide25.xml" Id="R9c6c67884e3e4e4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e287e07f34975" /><Relationship Type="http://schemas.openxmlformats.org/officeDocument/2006/relationships/notesSlide" Target="/ppt/notesSlides/notesSlide26.xml" Id="R476ad1847ea7451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cf7e0ab2143d6" /><Relationship Type="http://schemas.openxmlformats.org/officeDocument/2006/relationships/notesSlide" Target="/ppt/notesSlides/notesSlide27.xml" Id="R1ca3291f0458483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f89d842e8482c" /><Relationship Type="http://schemas.openxmlformats.org/officeDocument/2006/relationships/notesSlide" Target="/ppt/notesSlides/notesSlide28.xml" Id="Re9a73e52e5c2439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6354460dc4a24" /><Relationship Type="http://schemas.openxmlformats.org/officeDocument/2006/relationships/notesSlide" Target="/ppt/notesSlides/notesSlide29.xml" Id="Reac410abba6646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42AC6-CCE5-455F-A85C-A30D973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209A4-3B18-43F7-99EB-EEF3B4F6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5: Sequence Modeling with Recurrent and Recursive Nets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592CC-8B0E-40BB-AA97-40CF0094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Unfolded computational graphs, RNNs, bidirectional models, encoder-decoder sequence architectures, deep recurrent stacks, recursive neural networks, LSTMs, and gated RNNs.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CB84F-523F-438E-9BA7-5BB50082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42950"/>
            <a:ext cx="31432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24FAA-4D67-4748-99B5-E2E3E5ED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6E895-EFA4-44E3-BA73-9EB9D179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57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h1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9220200" y="2781300"/>
            <a:ext cx="190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6E921-D31D-4B62-B922-C59D02ED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91865-6D62-4DDC-B4A1-0C11FA35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57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h2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0077450" y="2781300"/>
            <a:ext cx="190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250A1-2733-4628-A227-5D75A25F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1F208-5F25-4FF2-897D-B77D86BC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57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h3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8810625" y="21717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9667875" y="21717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10525125" y="21717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1500C-8E93-488C-86D5-216C193D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x1     x2     x3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3C9AA-4256-4BC5-9656-EE511131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4081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45939-14E6-4BBA-B0C6-8BFD9D1A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D36A6-46AD-4F74-9CD4-2D4CA00F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5 is about learning from order, context, and structure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06658-248B-4A0A-898E-A4190BF5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14350" y="1857375"/>
          <a:ext xmlns:a="http://schemas.openxmlformats.org/drawingml/2006/main" cx="111633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21100"/>
                <a:gridCol w="3721100"/>
                <a:gridCol w="3721100"/>
              </a:tblGrid>
              <a:tr h="476250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Syllabus checkpoint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What students should know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Unfolding computational graphs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Represent recurrence across time steps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Recurrent neural networks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 hidden state to process sequences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Bidirectional RNNs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 both past and future context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Encoder-decoder sequence-to-sequence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Map one sequence into another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Deep recurrent networks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Stack recurrence for richer temporal representations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Recursive neural networks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Process tree-structured inputs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LSTM and other gated RNNs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 gates to manage long-range information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509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9D6C4-BCBD-47B4-ADA9-CD544C00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86F13-E910-45AC-AE94-467EA00A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Sequence models handle inputs where order changes meaning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77BD9-D568-49AD-9823-3A76724E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955D1-9122-4B76-85A3-CB7ACEBA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7DC78-F684-4E8D-AB41-FE560938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9B742-F8E7-4CF9-97D7-444E8672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Word order changes meaning and sentiment.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948C6-6FB3-46A4-886B-8A1D1008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BDF2F-713B-44CD-A70B-62490EBF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Speech and 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171BF-B047-4E54-BFE9-B41F7ACC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Signals unfold over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64076-C82A-4DBD-A1D3-013F7B7A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59DCB-CBA7-42D8-A0EF-A229F82C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Time series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EA797-6AC3-465C-B852-87718B55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Forecasts depend on earlier values.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13719-CB8C-45BD-974F-9D5E3256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76F7C-5F88-4317-90CA-12B87216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Structured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19AB6-00A7-46B3-9E2E-87365645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Trees and nested objects carry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187824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FF776-B944-4D94-AD19-5D9FE018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F67F8-1EA2-4BF4-8810-D3EDA299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computational graph can be unfolded through time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A8F61-403D-4CE5-B6F4-968557AF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761DE-826B-4F70-8610-700C02F8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3517E-F98F-4FF3-8DFF-C667D125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38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2457450" y="31623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ECB06-812E-47F3-AB5F-B07C287E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961A3-CE1D-4EDF-B6CF-2211E446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38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267200" y="31623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EBA9C-8500-492B-B911-D4EA9825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02DDC-6ED2-42CE-A7E0-B39764D1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38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6076950" y="31623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FEB9E-165C-455E-A5B3-04145B23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C4090-05D9-424D-A404-769E3A25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38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026C3-5F22-444A-A4D6-AD05FEB2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43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x1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2038350" y="24288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D9F2B-6757-4728-B7D7-68C2D073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x2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3848100" y="24288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78EDF0-9A59-4655-AEA2-533B0BBD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43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x3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5657850" y="24288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F60C03-E8AD-4683-AF06-3E104215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x4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7467600" y="24288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2038350" y="34671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27414-FEA5-4F15-AC0E-CCDB6E02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62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y1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3848100" y="34671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970E9-782F-4F7D-8CFD-1BEC3A40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62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y2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5657850" y="34671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6B5866-E0A0-4247-B334-5E18DFED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62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y3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7467600" y="34671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403AD5-328C-4BFD-AB47-6B4D4AC5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BF73BB-B504-4464-8393-43A3E96E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recurrent computation is reused at each time step.</a:t>
            </a:r>
          </a:p>
        </p:txBody>
      </p:sp>
    </p:spTree>
    <p:extLst>
      <p:ext uri="{BB962C8B-B14F-4D97-AF65-F5344CB8AC3E}">
        <p14:creationId xmlns:p14="http://schemas.microsoft.com/office/powerpoint/2010/main" val="1735497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33514-38B5-4733-AA10-E5C13F35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0CDD5-6CCA-4F74-B1C7-58E2CA6C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Unfolding makes parameter sharing visible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2C458-5418-48BE-9AA6-2548E512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04DA8-61D9-4CF8-994A-5CF38339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9BC4F-024A-42BA-93D3-4F4D7BF4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h(t) = φ( Wxh x(t) + Whh h(t-1) + b 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01BDF-E42E-4D67-8B1A-6D687A36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2F435-A0E7-4899-A0F5-A24E4E5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Wxh maps the current input into hidden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59B98-D80A-4961-B655-251145AF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45236-193E-402F-83AD-FBCAE856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Whh carries information from the previous hidden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4FCAE-F3EE-4869-8909-6332BC8F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C16C6-CF45-47D3-9F24-BD0E0D8B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weights are reused across sequence positions.</a:t>
            </a:r>
          </a:p>
        </p:txBody>
      </p:sp>
    </p:spTree>
    <p:extLst>
      <p:ext uri="{BB962C8B-B14F-4D97-AF65-F5344CB8AC3E}">
        <p14:creationId xmlns:p14="http://schemas.microsoft.com/office/powerpoint/2010/main" val="1916070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BC2B6-0860-4A2C-BFC9-27C68799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0D608-54A3-4CA9-AF49-9A30F7B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Backpropagation through time trains unfolded recurrent graphs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E60FF-2A14-418A-9741-7C98A3F5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89392-845C-4A2C-9410-1859B0B8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Forward through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2A731-5AD3-4FBA-9C51-B4B6C31F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RNN reads sequence elements one by one, updating hidden state and producing outputs.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B94DA-9829-48DD-8471-8447DD0F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Backward through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AD1A5-0F3F-4CA0-A844-BDD4EB4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Errors are propagated backward across the unfolded graph so shared recurrent weights receive accumulated gradients.</a:t>
            </a:r>
          </a:p>
        </p:txBody>
      </p:sp>
    </p:spTree>
    <p:extLst>
      <p:ext uri="{BB962C8B-B14F-4D97-AF65-F5344CB8AC3E}">
        <p14:creationId xmlns:p14="http://schemas.microsoft.com/office/powerpoint/2010/main" val="1214569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826D2-DA64-4525-927C-D6FC195B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8B3B6-2FDC-461E-9739-D0AFE9DA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Recurrent neural networks keep a hidden state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62579-E0CF-4A7D-A041-2BAD3FC7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D8456-8D24-4B5C-99D0-F648FF2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Memory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F42AF-58FA-446A-A3EA-2C48826A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hidden state acts as a summary of previous inputs, allowing the model to condition current predictions on earlier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B16D3-672B-4D97-A736-0D0C6BDB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C6E8C-17E2-418E-968A-81B6927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RNNs are used for language modeling, tagging, sentiment analysis, speech, forecasting, and other sequence tasks.</a:t>
            </a:r>
          </a:p>
        </p:txBody>
      </p:sp>
    </p:spTree>
    <p:extLst>
      <p:ext uri="{BB962C8B-B14F-4D97-AF65-F5344CB8AC3E}">
        <p14:creationId xmlns:p14="http://schemas.microsoft.com/office/powerpoint/2010/main" val="2070093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B5377-BBFF-493B-97DC-13E481B6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BE93D-F959-4919-B47F-1EE1AEA6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RNN input-output patterns depend on the task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367A1-9D55-49AC-94F7-54BD8892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83000"/>
                <a:gridCol w="3683000"/>
                <a:gridCol w="3683000"/>
              </a:tblGrid>
              <a:tr h="603250">
                <a:tc>
                  <a:txBody>
                    <a:bodyPr/>
                    <a:lstStyle/>
                    <a:p>
                      <a:r>
                        <a:t>Pattern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Example task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Output behavior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One-to-one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Fixed input classification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One prediction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Many-to-one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Sentiment classification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One prediction after reading a sequence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One-to-many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Caption generation from an image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Generate a sequence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Many-to-many aligned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Part-of-speech tagging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One output per input step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Many-to-many unaligned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Translation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Output sequence length can differ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1417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D7604-8519-4E70-8FF8-CC0A6F25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B2431-B4C5-4FB5-99E6-AC8310D9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Standard RNNs struggle with long-range dependencies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378A7-150C-407E-A19E-BCC34B5F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7B672-A59F-4C76-B31E-88CC9539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AAA74-3A12-4803-B7D7-47691C30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Gradients repeatedly pass through recurrent connections across many time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00417-33E9-4AB2-8776-07A86BC3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3693D-77E9-4A7D-8B7E-0ED569AE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They can shrink, making early information hard to learn from.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1DCCC-DAD3-45AB-91F1-BD6EB7F1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AEB39-E67D-4723-9EE2-B55DE52C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They can also grow, causing unstable updates.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B4D98-B9DF-422F-BB19-A5886AAE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1EACB-883B-49A7-9ED8-75AF3E68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Gated RNNs such as LSTMs were designed to manage these problems better.</a:t>
            </a:r>
          </a:p>
        </p:txBody>
      </p:sp>
    </p:spTree>
    <p:extLst>
      <p:ext uri="{BB962C8B-B14F-4D97-AF65-F5344CB8AC3E}">
        <p14:creationId xmlns:p14="http://schemas.microsoft.com/office/powerpoint/2010/main" val="7182936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F0DF67-DD2D-4071-9C13-3E7E7532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32882-F921-4D2E-8A1E-8EA27C73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Bidirectional RNNs use context from both directions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FD185-BE31-4DAB-A6DE-5DA2FC01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9222E-0CF8-4B4C-B5C1-3D7D7A0E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76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39F3F-28F8-46AE-924D-D4DF547D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57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D892F-8E37-4F0B-89C3-3D9A9FC2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C202C-06A1-4AB5-9330-AF85292C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957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←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2838450" y="2781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3524250" y="40195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0DF61-00E5-4C88-A269-A1FF5306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526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x1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2419350" y="22193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493EB-7D39-4036-A61A-449A6863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368D9-421B-45F0-909C-00D4F7F6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57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AE387-F89C-4B3E-883E-7A85E378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2C6E4-0A76-45ED-8DAE-95610F37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957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←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362450" y="2781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5048250" y="40195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D0587-3904-408A-80EB-B6DE59C6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x2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3943350" y="22193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7DAFD-2F1F-42D7-A808-157A0818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325F5-9551-44EA-AD9A-C35DAF1F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57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C3AF9-2161-4A12-A8E1-E304B12A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1475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02A4D5-960E-4464-990E-B24D3B93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957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←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5886450" y="2781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>
            <a:off x="6572250" y="40195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2E7EA-AF4D-47A4-B24B-A07A5311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526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x3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5467350" y="22193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38F7AC-614D-46C9-950F-BB6F3508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0564C5-5E5D-4A6E-A5B2-5FF6CB88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57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1DCABA-29E6-4280-ACFC-67E808D2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E25535-AF25-4CE5-BF34-C4078795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957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F91288-CAC0-49DD-A50B-6BF29292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x4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6991350" y="22193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AED5D4-037E-49B9-A513-A839A493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Forward state reads left to right; backward state reads right to left.</a:t>
            </a:r>
          </a:p>
        </p:txBody>
      </p:sp>
    </p:spTree>
    <p:extLst>
      <p:ext uri="{BB962C8B-B14F-4D97-AF65-F5344CB8AC3E}">
        <p14:creationId xmlns:p14="http://schemas.microsoft.com/office/powerpoint/2010/main" val="3336832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C2E12-4108-48E2-82A0-127F9753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67C1D-B6EC-4E34-9C7B-0DC7A26D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Bidirectional context helps when the full sequence is available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C601D-76FE-4098-85F9-98F26834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034C0-B974-4E3B-A47F-194AF8A7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it helps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27636-AEBB-4269-9F2D-DBD85C6F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prediction at position t can use information from earlier and later positions, not only the past.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C9FDC-D7EB-4DF3-A759-94F3FBC3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Where it fits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37403-B74D-4C29-AEE3-DD8EC7A0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Bidirectional RNNs are useful for tagging, sequence labeling, and text understanding tasks where the whole input sequence is known.</a:t>
            </a:r>
          </a:p>
        </p:txBody>
      </p:sp>
    </p:spTree>
    <p:extLst>
      <p:ext uri="{BB962C8B-B14F-4D97-AF65-F5344CB8AC3E}">
        <p14:creationId xmlns:p14="http://schemas.microsoft.com/office/powerpoint/2010/main" val="14401702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3612D-5D2C-496F-A1A3-0E782A75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E3407-BB76-4A5B-9DEF-649BA060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Encoder-decoder models map one sequence into another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2F5E6-BCED-46D6-9DCF-4B9DC2F2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4D68C-EE45-48D8-AAB2-4E23D3EA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80ACA-38B0-4632-A0F1-9260A4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670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sequence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3333750" y="33051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DF5E0-E588-40D4-840C-748148EA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095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01AFA-8E69-4803-9A5D-8E2632AA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289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Encoder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6858000" y="33051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81400-88B6-4450-ACAD-9BBD45D5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B389C-80C2-4A22-A198-EA335DAE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670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35444-FD72-4ADA-9517-12106B5D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0537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encoder summarizes the source sequence; the decoder generates the target sequence.</a:t>
            </a:r>
          </a:p>
        </p:txBody>
      </p:sp>
    </p:spTree>
    <p:extLst>
      <p:ext uri="{BB962C8B-B14F-4D97-AF65-F5344CB8AC3E}">
        <p14:creationId xmlns:p14="http://schemas.microsoft.com/office/powerpoint/2010/main" val="16520190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394A8-0AC1-4CD4-909F-B5AD84DF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A178D-FE41-4D24-8525-226EAC08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Sequence-to-sequence architecture supports unequal lengths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11B77-CC45-48DD-B2A3-CF9D0AFB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23900" y="2047875"/>
          <a:ext xmlns:a="http://schemas.openxmlformats.org/drawingml/2006/main" cx="107442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81400"/>
                <a:gridCol w="3581400"/>
                <a:gridCol w="3581400"/>
              </a:tblGrid>
              <a:tr h="628650">
                <a:tc>
                  <a:txBody>
                    <a:bodyPr/>
                    <a:lstStyle/>
                    <a:p>
                      <a: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Input sequence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Output sequence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Machine translation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Words in source language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Words in target language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Summarization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Long document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Short summary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Question answering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Question and 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Answer tokens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Speech recognition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Audio frames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Text characters or words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73902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D227DD-43B3-4EC0-BF4F-463B4717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BC6DA-C0F4-4783-8C93-DD95A7E3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Deep recurrent networks stack sequence processing layers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AF886-4818-415D-8C39-C1C90FCF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93BAC-D6DA-4AB4-9E25-EF328261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F6826-8915-450F-A846-4ABBB658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8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86CD8-5ED5-4007-A0B2-620292D6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3D7E8-84B7-4A0E-9CD8-3CA31C73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38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h2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2647950" y="42100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2647950" y="3162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2228850" y="34671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26EFA-DB06-426C-8449-4935FDCB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8CA6A-0C26-4E24-9C6D-9FE4283A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8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5DD39-D8F7-4B31-8CAC-30886236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FCBEA-F901-472F-B46B-4E09EAB9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38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h2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171950" y="42100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4171950" y="3162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3752850" y="34671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E7E28-98AB-46FF-8392-2031AF60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525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2518D-7D28-4DE7-BEA0-A708E7F5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8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3CB16-7A5F-486C-937A-0A13CEC9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EFF58-F215-474F-A30B-4C0E6FF2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38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h2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5695950" y="42100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5695950" y="3162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5276850" y="34671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265A61-8569-4F6A-A74D-EE418179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2A53E-73CB-42A1-8FB0-DD8B65F0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8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696851-73BD-49BC-B119-23BB9C15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838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FD756-EDDF-4641-B29D-10666A73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38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h2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6800850" y="34671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7D23E1-0BE2-4A8E-A3D0-09D7A7EF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958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Lower recurrent layers process raw temporal patterns; higher layers learn more abstract temporal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20001442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2DE5C-E398-464E-8482-0CCFBFB6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F121B-853F-4FAC-93CB-B40150D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Depth can mean stacked layers, recurrence depth, or both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706F0-316C-482C-A563-FDD784EB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105537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17900"/>
                <a:gridCol w="3517900"/>
                <a:gridCol w="3517900"/>
              </a:tblGrid>
              <a:tr h="738188">
                <a:tc>
                  <a:txBody>
                    <a:bodyPr/>
                    <a:lstStyle/>
                    <a:p>
                      <a:r>
                        <a:t>Depth type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Effect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t>Stacked recurrent layers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Multiple RNN layers at each time 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Richer representations</a:t>
                      </a:r>
                    </a:p>
                  </a:txBody>
                  <a:tcPr marL="91440" marR="91440" marT="45720" marB="45720"/>
                </a:tc>
              </a:tr>
              <a:tr h="738188">
                <a:tc>
                  <a:txBody>
                    <a:bodyPr/>
                    <a:lstStyle/>
                    <a:p>
                      <a:r>
                        <a:t>Temporal depth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Repeated recurrence across many time steps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Longer sequence modeling</a:t>
                      </a:r>
                    </a:p>
                  </a:txBody>
                  <a:tcPr marL="91440" marR="91440" marT="45720" marB="45720"/>
                </a:tc>
              </a:tr>
              <a:tr h="738188">
                <a:tc>
                  <a:txBody>
                    <a:bodyPr/>
                    <a:lstStyle/>
                    <a:p>
                      <a:r>
                        <a:t>Transition depth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More computation inside each recurrent 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More expressive state update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8018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7FE77-E65F-4261-A618-1D0A2E3A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01CDB-6BA6-4BA1-8F51-1CC1035A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Recursive neural networks process tree structures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D9B7E-1AB7-480B-9822-2C67394E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D8E7C-3886-4001-A15B-5C25E6FB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8572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716CC-F198-40B1-B222-E2950C48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44F3D-A8A6-41BD-BD72-C52AAEB2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8572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20348-A982-45D1-8F09-11507121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8572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F1187-91F5-4C03-B8EB-78F04A56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8572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9A00B-FF3F-4B7F-AFD9-69C08DAA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62500"/>
            <a:ext cx="8572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429125" y="2667000"/>
            <a:ext cx="100012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6286500" y="2333625"/>
            <a:ext cx="5715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3571875" y="4000500"/>
            <a:ext cx="4286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4857750" y="4000500"/>
            <a:ext cx="4286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C978A-132D-494D-B3C2-A6E9F08B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578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Unlike an RNN over a line of time steps, a recursive net composes representations according to a tree.</a:t>
            </a:r>
          </a:p>
        </p:txBody>
      </p:sp>
    </p:spTree>
    <p:extLst>
      <p:ext uri="{BB962C8B-B14F-4D97-AF65-F5344CB8AC3E}">
        <p14:creationId xmlns:p14="http://schemas.microsoft.com/office/powerpoint/2010/main" val="14707562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FC2A6-CB00-474C-8EE4-066667A3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78CB1-0988-4C58-A07F-74ECFA2F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Recursive nets fit compositional structure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CF2A7-372C-4C8F-8617-F0B4AEB8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E6803-238E-47DB-AD09-D6F50F84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Where they help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45D94-8C9C-4CD7-9C02-F5D7CFEB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They can model parse trees, expression trees, hierarchical documents, and nested structures.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DC438-327B-437A-8C54-E37742D7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3B167-6D91-4ADD-8A3C-1EE30D4B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Child representations are combined to form a parent representation, and this repeats upward through the tree.</a:t>
            </a:r>
          </a:p>
        </p:txBody>
      </p:sp>
    </p:spTree>
    <p:extLst>
      <p:ext uri="{BB962C8B-B14F-4D97-AF65-F5344CB8AC3E}">
        <p14:creationId xmlns:p14="http://schemas.microsoft.com/office/powerpoint/2010/main" val="16672898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D7277-938A-4DC2-A860-3719EB4D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36791-087B-4C27-B0BC-D5DD44DC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LSTMs add a memory cell and gates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CFDEA-2AF8-4CA9-BBDC-AB347070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B4775-82D3-43E4-87FA-17DB354E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C4B54-C515-4961-8B10-42E9D00E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Cell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091DE-E471-4999-A90C-AC07D7BD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path designed to carry information over many time steps.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2853B-3600-456B-ADAA-7EFD8CC6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62341-281A-4DC3-9F0E-F2B236E0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687FA-D32C-4E52-9B9C-86723D85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Controls how much new information enters memory.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FDB71-60D2-4D15-B926-98957470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347D4-6FD3-4456-8D5C-955CA2E8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Forget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AD72A-5183-4922-981F-31F8FAEB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Controls how much old information is retained.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B6B72-1795-47FE-9D95-823268DC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9F56C-A693-428B-8A43-90D755AB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49FFD-99FC-4A41-B6FE-0CA2CEE7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Controls how much memory influences the hidden output.</a:t>
            </a:r>
          </a:p>
        </p:txBody>
      </p:sp>
    </p:spTree>
    <p:extLst>
      <p:ext uri="{BB962C8B-B14F-4D97-AF65-F5344CB8AC3E}">
        <p14:creationId xmlns:p14="http://schemas.microsoft.com/office/powerpoint/2010/main" val="20947139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CD0E7-F90B-4730-B2B7-A4212639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16ABE-8FF1-493D-99C7-8F13F245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LSTM gates regulate write, keep, and read operations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2F204-BA66-4D46-9A52-F3232FB4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66C9A-5687-49F9-A9B5-11C97E84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790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5E066-1A19-41B6-93DF-E10A515F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cell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52AC2-0EB5-43E5-9B25-1AFFB082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90750"/>
            <a:ext cx="9525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D2B26-5D58-4E55-98E6-281F344C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00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forget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2571750" y="28194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1D494-DB52-42BC-A8F2-E3F7ED7D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9525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EDC0C-CA21-4D82-9E3C-D6EB0EFE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00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143500" y="28194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CB240-FA2C-4C18-B0F1-05EACFB3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9525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2DB1B-917D-4A44-A6FA-EDEB1E0E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00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7715250" y="28194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1143000" y="3381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9429750" y="3381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89572-EA91-41E3-B105-69633297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Gates are learned functions that decide how information moves through memory.</a:t>
            </a:r>
          </a:p>
        </p:txBody>
      </p:sp>
    </p:spTree>
    <p:extLst>
      <p:ext uri="{BB962C8B-B14F-4D97-AF65-F5344CB8AC3E}">
        <p14:creationId xmlns:p14="http://schemas.microsoft.com/office/powerpoint/2010/main" val="9120894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6D8E9-071C-40ED-B0D8-CAB491B3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000B5-9DE6-4473-AC57-AAA715AB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Gated RNNs reduce the long-dependency problem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024F9-117A-47DC-9CD9-CB4A6BC5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9BB39-AF04-4AE5-8A27-00FC9D6C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Plain RNN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3A34F-748E-467B-958E-97710AC3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Repeated multiplication through many time steps can weaken or destabilize gradient signals.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C6A0B-DE86-4E90-BEAF-7F031308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Gated RNN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9213E-C668-4887-9745-68D25AA4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Gates create controlled paths for remembering, forgetting, and exposing information, making long-range dependency learning easier.</a:t>
            </a:r>
          </a:p>
        </p:txBody>
      </p:sp>
    </p:spTree>
    <p:extLst>
      <p:ext uri="{BB962C8B-B14F-4D97-AF65-F5344CB8AC3E}">
        <p14:creationId xmlns:p14="http://schemas.microsoft.com/office/powerpoint/2010/main" val="10167190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8EDBA-0DDF-46F3-9A22-7B6F5C1A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8EE0F-2E8A-490B-89CC-A7D36229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Other gated RNNs simplify the same idea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C29DD-4EB1-4900-A7C6-FE2A5974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81050" y="2095500"/>
          <a:ext xmlns:a="http://schemas.openxmlformats.org/drawingml/2006/main" cx="10629900" cy="3000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43300"/>
                <a:gridCol w="3543300"/>
                <a:gridCol w="3543300"/>
              </a:tblGrid>
              <a:tr h="750094">
                <a:tc>
                  <a:txBody>
                    <a:bodyPr/>
                    <a:lstStyle/>
                    <a:p>
                      <a:r>
                        <a:t>Model family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Gate idea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Main intuition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t>LSTM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Input, forget, and output gates plus cell state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Explicit memory control</a:t>
                      </a:r>
                    </a:p>
                  </a:txBody>
                  <a:tcPr marL="91440" marR="91440" marT="45720" marB="45720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t>GRU-style gated RNN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Update and reset-style gates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Fewer gates with similar goal</a:t>
                      </a:r>
                    </a:p>
                  </a:txBody>
                  <a:tcPr marL="91440" marR="91440" marT="45720" marB="45720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t>Other gated variants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Different gate arrangements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Balance memory, computation, and trainability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0826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048B7-5A19-4F0B-8C2F-325775AA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1E8F0-4C49-45B2-9905-3E538BF5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 the sequence model by available context and structure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7DC40-9F9D-421D-81E0-2B1915D4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83000"/>
                <a:gridCol w="3683000"/>
                <a:gridCol w="3683000"/>
              </a:tblGrid>
              <a:tr h="603250">
                <a:tc>
                  <a:txBody>
                    <a:bodyPr/>
                    <a:lstStyle/>
                    <a:p>
                      <a:r>
                        <a:t>Need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Useful model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Only past 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Standard RNN / LSTM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Processes sequence left to right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Past and future 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Bidirectional RNN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Uses both directions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Input sequence to output sequence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Encoder-decoder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Separates reading and generation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Hierarchical structure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Recursive neural network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Follows tree composition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Long-range memory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LSTM or gated RNN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Controls information flow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990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ADE2E-5484-4A1A-9B8F-B9773519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409EE-79E0-44FB-BADA-59049BD9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Training sequence models requires care over time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7DCEE-5709-437B-982A-72C492CC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D437B-4086-4BDF-A6D0-22E59394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D7D6F-3665-49EB-88B1-B88D12FC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Backpropagation through time can be computationally expensive for long sequences.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02903-A33C-4B62-97D5-FF62EF9A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78F36-EC86-4E42-85F8-277C0D7C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Gradients may vanish or explode across many recurrent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D2D2C-3B3F-4E0E-B719-EF56675A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E7323-4A26-41E5-A112-064B5DFF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Truncating the time horizon trades efficiency for limited long-range credit assignment.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990AB-A86E-4FDB-BC47-B066F2F0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FBE69-6DB9-49F8-A0F7-89E7E7C4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Gating, careful initialization, clipping, and batching are common practical aids.</a:t>
            </a:r>
          </a:p>
        </p:txBody>
      </p:sp>
    </p:spTree>
    <p:extLst>
      <p:ext uri="{BB962C8B-B14F-4D97-AF65-F5344CB8AC3E}">
        <p14:creationId xmlns:p14="http://schemas.microsoft.com/office/powerpoint/2010/main" val="14034361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24307-78ED-4326-9783-EBC93212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02ECB-5A45-41C8-A4C8-D2FE655D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good exam answer should identify the flow of information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9EAC9-5E5E-4138-85EA-BEE07830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0FEAF-0CF2-4170-A2DE-C3AD6242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F48FD-5433-498C-A61D-F2E80ED1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Unfolded 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6CD36-0A05-4A61-8BEA-FE7C5DE6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recurrent computation repeated over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D610E-77A8-4DD7-907C-E03DE4CF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79068-D56D-4D25-9C72-72C3BB94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Bidirectional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F2965-E65B-4BB3-A9AF-6322F138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Forward and backward context are combined.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27D6D-5DBA-47DA-87E2-35A08E41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615CD-1CE4-442D-AF73-C3ED878E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Encoder-decoder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61F95-4C36-4036-8534-E9A512BC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network reads; another generates.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57CBA-5510-4AEC-8A1E-0FA0926A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1BAB4-6509-4BDA-84BB-DA49D20F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LSTM gates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84120-259F-4815-8A24-E9B2CCC8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Memory is controlled by learned gates.</a:t>
            </a:r>
          </a:p>
        </p:txBody>
      </p:sp>
    </p:spTree>
    <p:extLst>
      <p:ext uri="{BB962C8B-B14F-4D97-AF65-F5344CB8AC3E}">
        <p14:creationId xmlns:p14="http://schemas.microsoft.com/office/powerpoint/2010/main" val="2517305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C0B5D-53F3-484F-88D9-1FBE18F3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67353-7BFB-4CFD-B167-D1E7E34E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5 vocabulary students must own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6DD22-F0C2-413E-8ADC-4DC37944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428625">
                <a:tc>
                  <a:txBody>
                    <a:bodyPr/>
                    <a:lstStyle/>
                    <a:p>
                      <a:r>
                        <a:t>Term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Sequence modeling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Learning from ordered inputs or outputs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Hidden state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Internal summary carried across time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Unfolding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Expanding recurrence into a time-indexed graph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BPTT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Backpropagation through the unfolded time graph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Bidirectional RNN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RNN with forward and backward sequence passes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Encoder-decoder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Architecture that maps an input sequence to an output sequence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Recursive network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Neural model over tree-structured data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Learned controller for information flow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5049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BFFC7-2D2A-4CC9-8D8D-29EB0C34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22E62-33AD-427E-ACB7-B4A5B56A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 activity: match task to sequence architecture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1E9DF-72CD-4F99-B447-7F6C20B1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70023-29CC-42FA-8FD3-205E4E1F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2D9C6-0BED-4D65-9B7C-41EA37A5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Sentiment of a review: many-to-one RNN or LSTM.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4DE5A-4FE7-471E-94ED-49B5A041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33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7BCB8-759B-4D68-A650-AD8ABCC7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Part-of-speech tagging: bidirectional aligned sequence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6E9CE-850A-431C-BB74-C669D9C6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C33EB-DF90-4A12-8B57-0220A78B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Translation: encoder-decoder sequence-to-sequence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BA154-A268-4F62-9C17-BBA9C23F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FFE4E-161F-448D-B585-486EA05B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Parsing expression trees: recursive neural network.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C8370-1336-4EDE-AA06-A3DC6688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34553-F148-409E-BC36-406DB0FA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Long time-series dependency: LSTM or another gated RNN.</a:t>
            </a:r>
          </a:p>
        </p:txBody>
      </p:sp>
    </p:spTree>
    <p:extLst>
      <p:ext uri="{BB962C8B-B14F-4D97-AF65-F5344CB8AC3E}">
        <p14:creationId xmlns:p14="http://schemas.microsoft.com/office/powerpoint/2010/main" val="173568760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C63A6-8EBF-479C-9AF9-B55F26CF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AAF63-3583-4682-8F70-F3B83133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5 closes with a complete sequence-modeling chain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CB33A-708A-410F-BB4D-40682BAA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84AF7-9ED0-4A72-85D2-B9F8234E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4AE88-3DF8-41EB-A44F-C710243A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Sequence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191452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A0279-3B71-4147-9D21-B7E939CC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A9E99-307D-4235-8C89-DD6618A4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09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Unfolded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graph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372427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17827-5114-4456-8FF8-93DF463A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D278B-AF8B-4999-A4A2-BC926DBD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9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Hidden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53402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4C9A0-3BBC-44C7-9B5C-6A21F2BE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3F75A-F602-4D50-8FC5-81867A3E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734377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F776C-72A6-444B-93AE-A41F183A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96CF9-2EF4-4CF0-A0B4-6AE79849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Memory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gates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915352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BC20D-3F5C-4C75-85CE-7B568F95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E2503-4E1C-489F-A102-C231C6DE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09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0CB53-BFC9-417C-998D-966331B3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57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module moves from representing time to choosing architectures that preserve useful context.</a:t>
            </a:r>
          </a:p>
        </p:txBody>
      </p:sp>
    </p:spTree>
    <p:extLst>
      <p:ext uri="{BB962C8B-B14F-4D97-AF65-F5344CB8AC3E}">
        <p14:creationId xmlns:p14="http://schemas.microsoft.com/office/powerpoint/2010/main" val="4526097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43A26-F8DB-4619-A6FC-6FC80440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5103E-70F3-4DB2-BD46-4A553976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Coverage checklist: every Module 5 phrase is included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E6634-5925-42B3-9AA9-2BE0D99A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371475">
                <a:tc>
                  <a:txBody>
                    <a:bodyPr/>
                    <a:lstStyle/>
                    <a:p>
                      <a:r>
                        <a:t>Syllabus phrase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Covered in slides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t>Sequence Modeling: Recurrent and Recursive Nets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1-3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t>Unfolding Computational Graphs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4-6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t>Recurrent Neural Networks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7-9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t>Bidirectional RNNs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10-11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t>Encoder-Decoder Sequence-to-Sequence Architectures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12-13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t>Deep Recurrent Networks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14-15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t>Recursive Neural Networks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16-17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t>The Long Short-Term Memory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18-20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t>Other Gated RNNs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6715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8AD04-DB71-4E7D-B2C8-D3423FC2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C33FF-1754-4F48-BF4B-5ABE9915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Prescribed textbook reference for Module 5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5552F-656A-4AFF-9A8D-F5AA8E33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83C5F-DE80-4FD7-9E1A-2FAB16DC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E56CB-4927-4E8D-A1D7-9754D17C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Primary reference: Goodfellow, Bengio, and Courville, Deep Learning, MIT Press, 2016.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188A8-EF54-4C3E-AA4B-13348BA4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C8EFE-A9F4-4A39-A4FF-52CDDDE9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textbook for computational graph unfolding, RNNs, bidirectional RNNs, sequence-to-sequence architectures, deep recurrent nets, recursive nets, LSTMs, and gated RNNs.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662A5-8608-4907-9132-C4E52622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F2658-9391-492F-9217-DD3CDF63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VTU syllabus as the boundary for what belongs in Module 5.</a:t>
            </a:r>
          </a:p>
        </p:txBody>
      </p:sp>
    </p:spTree>
    <p:extLst>
      <p:ext uri="{BB962C8B-B14F-4D97-AF65-F5344CB8AC3E}">
        <p14:creationId xmlns:p14="http://schemas.microsoft.com/office/powerpoint/2010/main" val="98421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2026-08-12T10:52:17.6770000Z</dcterms:created>
  <dcterms:modified xsi:type="dcterms:W3CDTF">2026-08-12T10:52:17.6770000Z</dcterms:modified>
</coreProperties>
</file>