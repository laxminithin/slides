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14 contact hours and 16 teaching units, and that all of it exists to answer one question: A switch closes. What does every voltage and current in the circuit do between that instant and settling — and how much of it can I write down without solving anything?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"A switch closes. What does every voltage and current in the circuit do between that insta…" to look like?
Animation instructions: Module title block fades in first, then the textbook panel slides in from the right, then the five arc beats appear left to right one at a time.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capacitor relates current to the rate of change of its voltage, i = C·dv/dt, which means current flows only while the voltage is changing. Then add the part they are examined on - Capacitor voltage is continuous because a jump would need infinite current — that single fact fixes the t = 0+ value.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"capacitance" constrain here, and what would break if it did not hold?
Animation instructions: the symbol and relation fade in, the v(t) curve draws through the dashed switching line, then i(t) draws showing its step, then the red impossible-jump inset appears, then the two right-hand badges drop in.
Transition style: Fade
[Sources] VTU BEC303 Network Analysis syllabus, 2025 scheme, Module 3: Transient Behavior and Initial Conditions. TB1 as listed by the syllabus: W. H. Hayt, J. E. Kemmerly and S. M. Durbin, Engineering Circuit Analysis, McGraw-Hill / Tata McGraw-Hill, 8th ed., 2012; Ch. 7, pp. 217-225.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i = C·dv/dt for every capacitor - and check everyone has written it before moving on. At the cost panel, translate it: The continuity rule is free information and should always be extracted before any equation is written.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7, pp. 217-225.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 µF capacitor charged to 5 V is suddenly connected across a 1 kΩ resistor at t = 0. Work at the pace of the slowest note-taker and land hard on the result: Voltage is continuous at 5 V while current jumps from 0 to 5 mA — exactly the asymmetry the element definition predicts.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7, pp. 217-225.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inductor relates voltage to the rate of change of its current, v = L·di/dt, so voltage appears only while the current is changing. Then add the part they are examined on - Inductor current is continuous because a jump would need infinite voltage — and the arc across an opening switch is that phy…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"inductance" constrain here, and what would break if it did not hold?
Animation instructions: symbol and relation fade in, i(t) draws through the dashed line, v(t) draws showing its step, then the switch-arc inset flashes, then the two badges drop in.
Transition style: Fade
[Sources] VTU BEC303 Network Analysis syllabus, 2025 scheme, Module 3: Transient Behavior and Initial Conditions. TB1 as listed by the syllabus: W. H. Hayt, J. E. Kemmerly and S. M. Durbin, Engineering Circuit Analysis, McGraw-Hill / Tata McGraw-Hill, 8th ed., 2012; Ch. 7, pp. 225-235.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v = L·di/dt for every inductor - and check everyone has written it before moving on. At the cost panel, translate it: The arc problem is an engineering consequence, not a modelling artefact — real designs add a diode.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7, pp. 225-235.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2 H inductor carrying 3 A in a DC loop is suddenly switched to a 100 Ω resistor at t = 0. Work at the pace of the slowest note-taker and land hard on the result: The current is continuous at 3 A but the voltage jumps to 300 V — three times the original supply would typically be, which is wh…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7, pp. 225-235.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Switching analysis is made routine by replacing each storage element with a resistive equivalent valid at the instant in question. Then add the part they are examined on - Two resistive snapshots — one at t = 0+ and one at t = ∞ — give you the endpoints of every transient for free.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"equivalent at t=0+" constrain here, and what would break if it did not hold?
Animation instructions: the grid outline draws, the four cells populate row by row, then the three circuit snapshots appear left to right with the substitution animating in each.
Transition style: Fade
[Sources] VTU BEC303 Network Analysis syllabus, 2025 scheme, Module 3: Transient Behavior and Initial Conditions. TB1 as listed by the syllabus: W. H. Hayt, J. E. Kemmerly and S. M. Durbin, Engineering Circuit Analysis, McGraw-Hill / Tata McGraw-Hill, 8th ed., 2012; Ch. 7, pp. 217-247.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Solve the circuit for t &lt; 0 in DC steady state to obtain v_C(0−) and i_L(0−) - and check everyone has written it before moving on. At the cost panel, translate it: Far cheaper than solving the differential equation, and it supplies the boundary conditions the equation would need anyway.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7, pp. 217-247.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12 V source, 4 kΩ in series, and a 1 µF capacitor to ground; the switch closes at t = 0 with the capacitor initially uncharged. Work at the pace of the slowest note-taker and land hard on the result: Current falls from 3 mA to 0 while the capacitor voltage rises from 0 to 12 V — both endpoints obtained without a differential eq…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7, pp. 217-247.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full initial-condition procedure has three stages. Then add the part they are examined on - Only two quantities survive the switch; everything else at t = 0+ is computed from them by ordinary resistive analysis.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 = 0−" constrain here, and what would break if it did not hold?
Animation instructions: stages light up left to right; at stage 2 the two surviving tokens pass through while the rejected ones visibly bounce; stage 3 fans out its outputs; stage 4 appears last.
Transition style: Fade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Redraw the circuit as it stood for t &lt; 0 and solve it in DC steady state - and check everyone has written it before moving on. At the cost panel, translate it: Each stage is purely resistive, so the total cost is far below a direct differential solution.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20 V source with 5 Ω and a 2 H inductor in series has been closed for a long time; at t = 0 a 15 Ω resistor is switched in series with th… Work at the pace of the slowest note-taker and land hard on the result: The current holds at 4 A but the inductor voltage jumps to −60 V and the current begins falling at 30 A/s.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Final conditions describe the circuit once all transients have decayed, which for a DC excitation means every derivative is zero. Then add the part they are examined on - Final condition means the transient has died, not that the circuit has stopped — under AC excitation the steady state is its…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"steady state" constrain here, and what would break if it did not hold?
Animation instructions: the shared axis draws, the DC curve traces and flattens with its inset appearing, then the AC curve traces and settles into oscillation with its inset appearing, then the 5τ line drops last.
Transition style: Fade
[Sources] VTU BEC303 Network Analysis syllabus, 2025 scheme, Module 3: Transient Behavior and Initial Conditions. TB1 as listed by the syllabus: W. H. Hayt, J. E. Kemmerly and S. M. Durbin, Engineering Circuit Analysis, McGraw-Hill / Tata McGraw-Hill, 8th ed., 2012; Ch. 8, pp. 275-282.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excitation type — DC, AC, or none - and check everyone has written it before moving on. At the cost panel, translate it: Always cheaper than integrating the transient forward in time.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275-282.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12 V source with 4 kΩ and a capacitor to ground; then the same circuit driven by 12·cos(1000t) V with C = 1 µF. Work at the pace of the slowest note-taker and land hard on the result: The DC case settles at a constant 12 V; the AC case settles into a continuing 2.91 V sinusoid lagging by 75.96°.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275-282.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With its source removed, an RL loop obeys L·di/dt + R·i = 0, whose solution is i(t) = i(0)·e^(−Rt/L). Then add the part they are examined on - Two numbers, i(0) and τ = L/R, determine the entire source-free RL response for all time.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"natural response" constrain here, and what would break if it did not hold?
Animation instructions: the curve draws left to right, then the five dashed lines drop in sequence with their percentage labels, then the initial tangent sweeps down to the axis, then the side box with the two comparison curves fades in.
Transition style: Fade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i_L(0−) from the DC steady state before switching - and check everyone has written it before moving on. At the cost panel, translate it: Settling to within 1 % takes about 5τ, which is the standard engineering rule.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L = 2 H carrying 4 A at t = 0, discharging through a total of 20 Ω. Work at the pace of the slowest note-taker and land hard on the result: The current falls from 4 A to 27 mA in half a second, and the 5τ rule correctly predicts that the circuit is essentially settled…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261-268.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exponential e^(−t/τ) has three properties worth knowing by heart. Then add the part they are examined on - The decay has no memory of where it started — every τ removes the same fraction, which is why a semilog plot straightens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"1/e rule" constrain here, and what would break if it did not hold?
Animation instructions: panel 1 draws its curve then its tangent; panel 2 highlights the two intervals in turn and then the double arrow connects them; panel 3 morphs the curve into the straight line and the slope annotation appears.
Transition style: Fade
[Sources] VTU BEC303 Network Analysis syllabus, 2025 scheme, Module 3: Transient Behavior and Initial Conditions. TB1 as listed by the syllabus: W. H. Hayt, J. E. Kemmerly and S. M. Durbin, Engineering Circuit Analysis, McGraw-Hill / Tata McGraw-Hill, 8th ed., 2012; Ch. 8, pp. 268-272.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Read the initial value from the trace - and check everyone has written it before moving on. At the cost panel, translate it: The semilog fit is the robust method when measurement noise is present.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268-272.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measured decay falls from 10 V to 3.68 V in 4 ms. Work at the pace of the slowest note-taker and land hard on the result: τ = 4 ms and the circuit is settled by 20 ms — both read directly off the trace without knowing R or C at all.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268-272.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charged capacitor discharging through a resistor obeys RC·dv/dt + v = 0, giving v(t) = v(0)·e^(−t/RC) with time constant τ = RC. Then add the part they are examined on - RC and RL are duals: swap v for i and R for 1/R and every result maps across.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"τ = RC" constrain here, and what would break if it did not hold?
Animation instructions: the mirror line draws, the left side builds top to bottom, then each right-side item appears as its tie line sweeps across, then the footer note fades in.
Transition style: Fade
[Sources] VTU BEC303 Network Analysis syllabus, 2025 scheme, Module 3: Transient Behavior and Initial Conditions. TB1 as listed by the syllabus: W. H. Hayt, J. E. Kemmerly and S. M. Durbin, Engineering Circuit Analysis, McGraw-Hill / Tata McGraw-Hill, 8th ed., 2012; Ch. 8, pp. 272-275.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v_C(0−) from the DC steady state before switching - and check everyone has written it before moving on. At the cost panel, translate it: Identical cost structure to the RL case by duality.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272-275.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 µF capacitor charged to 5 V discharges through 1 kΩ. Work at the pace of the slowest note-taker and land hard on the result: τ = 10 ms, initial current 5 mA, and the full 125 µJ ends up in the resistor no matter what value R takes.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272-275.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unit step u(t) is zero for t &lt; 0 and one for t &gt; 0, and it exists so that a switching event can be written into an equation instead of described in wo… Then add the part they are examined on - The step turns a switch into algebra, and any pulse is just two steps with opposite signs.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"unit step u(t)" constrain here, and what would break if it did not hold?
Animation instructions: plot 1 draws, plot 2 draws in its own colour, then the two are shown sliding together to form plot 3 which fills in as a shaded rectangle, then the switch-to-expression arrows appear on the right.
Transition style: Fade
[Sources] VTU BEC303 Network Analysis syllabus, 2025 scheme, Module 3: Transient Behavior and Initial Conditions. TB1 as listed by the syllabus: W. H. Hayt, J. E. Kemmerly and S. M. Durbin, Engineering Circuit Analysis, McGraw-Hill / Tata McGraw-Hill, 8th ed., 2012; Ch. 8, pp. 282-286.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each switch closure as a step at the appropriate time - and check everyone has written it before moving on. At the cost panel, translate it: Superposition of steps is far cheaper than piecewise integration across intervals.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282-286.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5 V pulse of width 3 ms applied to an RC circuit with τ = 1 ms, initially uncharged. Work at the pace of the slowest note-taker and land hard on the result: The capacitor charges to 4.75 V during the pulse and then decays from that value — obtained entirely by superposing two step resp…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282-286.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complete response of a driven first-order circuit is the sum of two parts. Then add the part they are examined on - Write the whole response first, then apply the initial condition to the total — never to the natural part alone.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"natural response" constrain here, and what would break if it did not hold?
Animation instructions: plots 1 and 2 draw, the plus and equals signs appear, plot 3 draws as a visible point-by-point sum of the two above, then the green callout lands on plot 3 and the red crossed callout appears on plot 1.
Transition style: Fade
[Sources] VTU BEC303 Network Analysis syllabus, 2025 scheme, Module 3: Transient Behavior and Initial Conditions. TB1 as listed by the syllabus: W. H. Hayt, J. E. Kemmerly and S. M. Durbin, Engineering Circuit Analysis, McGraw-Hill / Tata McGraw-Hill, 8th ed., 2012; Ch. 8, pp. 286-295.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the final value i(∞) — this is the forced response for a DC drive - and check everyone has written it before moving on. At the cost panel, translate it: The general first-order formula x(t) = x(∞) + [x(0+) − x(∞)]·e^(−t/τ) covers every DC-driven case.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286-295.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20 V source switched onto a series 5 Ω and 2 H at t = 0, with zero initial current. Work at the pace of the slowest note-taker and land hard on the result: i(t) = 4(1 − e^(−2.5t)) A, rising from zero to 4 A with the current at one time constant being 2.53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286-295.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driven RC circuit charges as v(t) = v(∞) + [v(0+) − v(∞)]·e^(−t/RC), the same general form as the RL case. Then add the part they are examined on - An RC delay is set by RC and a logarithm of the threshold ratio, which makes it cheap, adjustable and only moderately precis…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"charging curve" constrain here, and what would break if it did not hold?
Animation instructions: the curve draws toward its asymptote, the threshold line slides in, the crossing point flashes, the vertical delay line drops, the LED lights, then the formula and sensitivity table fade in.
Transition style: Fade
[Sources] VTU BEC303 Network Analysis syllabus, 2025 scheme, Module 3: Transient Behavior and Initial Conditions. TB1 as listed by the syllabus: W. H. Hayt, J. E. Kemmerly and S. M. Durbin, Engineering Circuit Analysis, McGraw-Hill / Tata McGraw-Hill, 8th ed., 2012; Ch. 8, pp. 295-300.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supply voltage and the input threshold - and check everyone has written it before moving on. At the cost panel, translate it: Tolerance stack-up, not the algebra, is what makes this a design problem.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295-300.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5 V supply, a logic threshold of 2.5 V, and a required delay of 100 ms. Work at the pace of the slowest note-taker and land hard on the result: R = 15 kΩ with C = 10 µF gives 104 ms against a 100 ms target — a 4 % error from component rounding alone, before tolerance is co…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295-300.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a circuit is switched more than once, each interval is solved as a separate first-order problem, and the final value reached in one interval becomes… Then add the part they are examined on - Each interval hands its actual end value — not its asymptote — to the next as an initial condition.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"multiple switching instants" constrain here, and what would break if it did not hold?
Animation instructions: interval 1 curve draws, the red ghost asymptote appears then dims, the green handover dot flashes, interval 2 draws from that dot, the same for interval 3, then the three circuit thumbnails appear beneath.
Transition style: Fade
[Sources] VTU BEC303 Network Analysis syllabus, 2025 scheme, Module 3: Transient Behavior and Initial Conditions. TB1 as listed by the syllabus: W. H. Hayt, J. E. Kemmerly and S. M. Durbin, Engineering Circuit Analysis, McGraw-Hill / Tata McGraw-Hill, 8th ed., 2012; Ch. 8, pp. 300-306.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Divide the timeline at every switching instant - and check everyone has written it before moving on. At the cost panel, translate it: Cost is linear in the number of intervals; the risk is that one carried-forward error propagates through all of them.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8, pp. 300-306.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An RC circuit with τ = 1 ms charges from 0 toward 10 V for 2 ms, then the source is removed and it discharges through the same R. Work at the pace of the slowest note-taker and land hard on the result: The discharge starts from 8.65 V; assuming a full 10 V would overstate every subsequent value by 16 %.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8, pp. 300-306.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parallel RLC circuit with no source obeys a second-order differential equation whose characteristic roots are s = −α ± √(α² − ω₀²), where α = 1/(2RC) is… Then add the part they are examined on - Compare α with ω₀ before writing anything else; that one comparison determines the entire form of the answer.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"second order" constrain here, and what would break if it did not hold?
Animation instructions: the number line draws with its three zones shading in turn, then each of the three plots draws left to right, then the three root forms type in beneath.
Transition style: Fade
[Sources] VTU BEC303 Network Analysis syllabus, 2025 scheme, Module 3: Transient Behavior and Initial Conditions. TB1 as listed by the syllabus: W. H. Hayt, J. E. Kemmerly and S. M. Durbin, Engineering Circuit Analysis, McGraw-Hill / Tata McGraw-Hill, 8th ed., 2012; Ch. 9, pp. 321-334.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α = 1/(2RC) for a parallel circuit - and check everyone has written it before moving on. At the cost panel, translate it: The classification costs two square roots and saves choosing the wrong solution form entirely.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9, pp. 321-334.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parallel RLC with R = 500 Ω, L = 10 mH, C = 1 µF, source-free. Work at the pace of the slowest note-taker and land hard on the result: Underdamped, ringing at 9950 rad/s inside a decaying envelope e^(−1000t) — so about ten oscillations before the envelope falls to…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9, pp. 321-334.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α = ω₀ the characteristic equation has a repeated root and the solution takes the special form (A₁ + A₂t)·e^(−αt); the extra factor of t is required… Then add the part they are examined on - Critical damping is the fastest settling without overshoot — and the repeated root is why it needs a t·e^(−αt) term.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"repeated root" constrain here, and what would break if it did not hold?
Animation instructions: grey curve draws, green curve draws and its settling marker drops, blue curve draws with its overshoot peak flashing and the envelope appearing as dashes, then the side box slides in with the highlight landing last.
Transition style: Fade
[Sources] VTU BEC303 Network Analysis syllabus, 2025 scheme, Module 3: Transient Behavior and Initial Conditions. TB1 as listed by the syllabus: W. H. Hayt, J. E. Kemmerly and S. M. Durbin, Engineering Circuit Analysis, McGraw-Hill / Tata McGraw-Hill, 8th ed., 2012; Ch. 9, pp. 334-345.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Classify the response by comparing α and ω₀ - and check everyone has written it before moving on. At the cost panel, translate it: Forgetting the t factor in the critical case produces a solution that cannot satisfy two independent initial conditions.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9, pp. 334-345.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critically damped circuit with α = 1000 s⁻¹, v(0+) = 10 V and dv/dt(0+) = 0. Work at the pace of the slowest note-taker and land hard on the result: v(t) = (10 + 10000t)·e^(−1000t) V — the response initially rises slightly before decaying, which the simple exponential form coul…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9, pp. 334-345.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series RLC is the dual of the parallel case: α = R/(2L) rather than 1/(2RC), while ω₀ = 1/√(LC) is unchanged. Then add the part they are examined on - Series and parallel RLC differ only in α — but the direction in which R damps them is opposite, and that trips people consta…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"series α = R/2L" constrain here, and what would break if it did not hold?
Animation instructions: left panel draws with its formula and its arrow sweeping to the flat curve, right panel draws with its arrow sweeping to the ringing curve, then the central warning badge flashes, then the shared strip slides up.
Transition style: Fade
[Sources] VTU BEC303 Network Analysis syllabus, 2025 scheme, Module 3: Transient Behavior and Initial Conditions. TB1 as listed by the syllabus: W. H. Hayt, J. E. Kemmerly and S. M. Durbin, Engineering Circuit Analysis, McGraw-Hill / Tata McGraw-Hill, 8th ed., 2012; Ch. 9, pp. 345-359.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topology as series or parallel - and check everyone has written it before moving on. At the cost panel, translate it: Two initial conditions are always required for a second-order circuit — one is never enough.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9, pp. 345-359.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RLC with R = 40 Ω, L = 10 mH, C = 1 µF, driven by a 10 V step with zero initial conditions. Work at the pace of the slowest note-taker and land hard on the result: Underdamped with ω_d = 9798 rad/s; applying v_C(0+) = 0 gives B₁ = −10, and the zero initial current then fixes B₂.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9, pp. 345-359.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a sinusoidal source is switched onto a reactive circuit, the complete response is again natural plus forced, but the forced part is now a sinusoid ob… Then add the part they are examined on - Under AC excitation the transient is a decaying offset on a steady sinusoid, and its size is set by when in the cycle you sw…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"AC transient" constrain here, and what would break if it did not hold?
Animation instructions: left plot draws with its small offset, right plot draws with the large offset envelope appearing first and the one-sided waveform filling in under it, the 2× marker flashes, then the lossless strip fades in.
Transition style: Fade
[Sources] VTU BEC303 Network Analysis syllabus, 2025 scheme, Module 3: Transient Behavior and Initial Conditions. TB1 as listed by the syllabus: W. H. Hayt, J. E. Kemmerly and S. M. Durbin, Engineering Circuit Analysis, McGraw-Hill / Tata McGraw-Hill, 8th ed., 2012; Ch. 9, pp. 359-361.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the forced response by phasor analysis at the source frequency - and check everyone has written it before moving on. At the cost panel, translate it: Worst-case design requires evaluating the switching angle that maximises the offset, not an arbitrary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3: Transient Behavior and Initial Conditions. TB1 as listed by the syllabus: W. H. Hayt, J. E. Kemmerly and S. M. Durbin, Engineering Circuit Analysis, McGraw-Hill / Tata McGraw-Hill, 8th ed., 2012; Ch. 9, pp. 359-361.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 = 10 Ω, L = 20 mH switched onto 100·cos(377t) V at the instant the voltage is zero. Work at the pace of the slowest note-taker and land hard on the result: i(t) = 7.99·cos(377t − 37°) + 4.81·e^(−t/0.002) A — a substantial one-sided offset that dies away in about 10 ms.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3: Transient Behavior and Initial Conditions. TB1 as listed by the syllabus: W. H. Hayt, J. E. Kemmerly and S. M. Durbin, Engineering Circuit Analysis, McGraw-Hill / Tata McGraw-Hill, 8th ed., 2012; Ch. 9, pp. 359-361.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BEC303 Network Analysis syllabus, 2025 scheme, Module 3: Transient Behavior and Initial Conditions, 14 hours, Hayt 8e Ch. 7 (7.1, 7.2, 7.7), Ch. 8 (8.1–8.9), Ch. 9 (9.1–9.7), Ch. 10 (10.1–10.7), pp. 217–247, 261–361 and 371–406. TB1: W. H. Hayt, J. E. Kemmerly and S. M. Durbin, Engineering Circuit Analysis, McGraw-Hill / Tata McGraw-Hill, 8th ed., 2012.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Analysis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3 asks: A switch closes. What does every voltage and current in the circuit do between that instant and settling —…</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Transient Behavior and Initial Conditions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14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Engineering Circuit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 H. Hayt, J. E. Kemmerly and S. M. Durbin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McGraw-Hill / Tata McGraw-Hill, 8th edition, 2012</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Hayt 8e Ch. 7 (7.1, 7.2, 7.7), Ch. 8 (8.1–8.9), Ch. 9 (9.1–9.7), Ch. 10 (10.1–10.7), pp. 217–247, 261–361 and 371–406</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Mesh &amp; Nodal Analysis   •   Network Theorems   •   Transient Response   •   Laplace / s-Domain   •   Two-Port Networks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Storage elements resist instant change   →   Two continuity rules fix t=0+   →   One time constant sets the pace   →   Second order adds damping choice   →   Natural plus forced equals complete</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A switch closes. What does every voltage and current in the circuit do between that instant and settling — and how much of it can I write down without solving anything?</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Storage elements resist instant change</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Two continuity rules fix t=0+</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One time constant sets the pace</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Second order adds damping choice</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Natural plus forced equals complete</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the syllabus-listed Hayt 8e sections. The organising idea is that the two continuity rules — inductor current and capacitor voltage cannot jump — plus the DC limits at t = ∞ give three of the four things needed for any first-order answer without solving a differential equation at all. Second-order circuits are then presented as the same programme with a damping classification in front of it. Sequentially switched circuits are included because they are where students discover that the final condition of one interval is the initial condition of the next.</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CO3</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capacitor: v-i relation, energy and continuity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217-225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CO3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inductor: v-i relation, energy and continuity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225-235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CO3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Representing elements under switching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217-247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CO3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Evaluating initial conditions at t = 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261-268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CO3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Evaluating final conditions at t = ∞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275-282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CO3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source-free RL circuit and the time constant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261-268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CO3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Properties of the exponential response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268-272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CO3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source-free RC circuit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272-275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CO3 / L3</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unit-step function and switched sources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282-286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CO3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Driven RL circuits: natural and forced response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286-295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CO3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Driven RC circuits and the power-ON delay case study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295-300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CO3 / L5</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Sequentially switched circuits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300-306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CO3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source-free parallel RLC and damping classification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9, pp. 321-334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CO3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Critically damped and underdamped responses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9, pp. 334-345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CO3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source-free series RLC and the complete second-order response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9, pp. 345-359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CO3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Transients under AC excitation and the lossless LC circuit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9, pp. 359-361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CO3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capacitor: v-i relation, energy and continuity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capacitor: v-i relation, energy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capacitor relates current to the rate of change of its voltage, i = C·dv/dt, which means current flows only while the voltage is changing. Integrating gives v(t) = v(0) + (1/C)∫i dt, so the capacitor voltage is the accumulated history of its current and therefore cannot jump — a discontinuity in v would demand infinite current. Its stored energy is w = ½Cv², always non-negative, so the capacitor returns energy but never dissipates it. In DC steady state dv/dt is zero, so the current is zero and the capacitor behaves as an open circuit, which is the fact that supplies half of every final-condition calculation.</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capacitance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 = C·dv/dt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stored energy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voltage continuity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DC open circuit</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Capacitor voltage is continuous because a jump would need infinite current — that single fact fixes the t = 0+ value.</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capacitor symbol with the relation i = C·dv/dt printed beside it and an arrow showing current only while a small v-versus-t ramp is rising. Centre: two stacked waveform panels — the upper shows a smoot…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217-225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L2  |  visual id: capacitor-continuity-panel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capacitor: v-i relation, energy and continuity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capacitor: v-i relation, energy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 = C·dv/dt for every capacitor</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any switching instant, carry v(0−) forward to v(0+) unchanged</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Allow the capacitor current to step discontinuously</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DC steady state, replace the capacitor by an open circuit</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stored energy as ½Cv² from the voltage, never from the current</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the continuity rule needs no computation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integration per interval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integration per switching interval in a sequentially switched circuit</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continuity rule is free information and should always be extracted before any equation is written.</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217-225   |   CO3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capacitor: v-i relation, energy and continuity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capacitor: v-i relation, energy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 µF capacitor charged to 5 V is suddenly connected across a 1 kΩ resistor at t =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v(0−) = 5 V, so by continuity v(0+) = 5 V</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resistor now sees 5 V, so i(0+) = 5/1000 = 5 mA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Before the switch, i(0−)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Stored energy at t = 0: w = ½ × 10e−6 × 25 = 125 µJ</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Voltage is continuous at 5 V while current jumps from 0 to 5 mA — exactly the asymmetry the element definition predicts.</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C dv/dt,  v(t) = v(0) + (1/C)∫i dt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v(0+) = v(0−) = 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i(0+) = 5/1k = 5 mA   (jumps),  w = ½Cv² = 125 µJ</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the capacitor current is also continuous, by analogy with the voltage. Only the voltage is constrained; the current is free to step, and in a switched circuit it almost always does.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217-225   |   CO3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inductor: v-i relation, energy and continuity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inductor: v-i relation, energy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inductor relates voltage to the rate of change of its current, v = L·di/dt, so voltage appears only while the current is changing. Integrating gives i(t) = i(0) + (1/L)∫v dt, so the inductor current is the accumulated history of its voltage and cannot jump — a discontinuity would demand infinite voltage, which is precisely why opening an inductive circuit produces an arc. Stored energy is w = ½Li², again non-negative and recoverable. In DC steady state di/dt is zero, so no voltage appears and the inductor behaves as a short circuit, supplying the other half of every final-condition calculation.</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inductance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 = L·di/dt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flux linkage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current continuity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DC short circuit</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Inductor current is continuous because a jump would need infinite voltage — and the arc across an opening switch is that physics made visible.</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an inductor coil symbol with v = L·di/dt printed beside it. Centre: two stacked waveform panels — the upper shows a continuous i(t) through a vertical dashed switching line at t = 0, the lower shows v(t)…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225-235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L2  |  visual id: inductor-continuity-panel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inductor: v-i relation, energy and continuity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inductor: v-i relation, energy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v = L·di/dt for every inductor</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any switching instant, carry i(0−) forward to i(0+) unchanged</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Allow the inductor voltage to step discontinuously</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DC steady state, replace the inductor by a short circuit</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Provide a freewheeling path before opening any inductive branch</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the continuity rule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integration per interval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per switching interval</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arc problem is an engineering consequence, not a modelling artefact — real designs add a diode.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225-235   |   CO3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inductor: v-i relation, energy and continuity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inductor: v-i relation, energy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2 H inductor carrying 3 A in a DC loop is suddenly switched to a 100 Ω resistor at t =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i(0−) = 3 A, so by continuity i(0+) = 3 A</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resistor must carry that same 3 A immediately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v(0+) = 3 × 100 = 300 V across the resistor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Stored energy: w = ½ × 2 × 9 = 9 J</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current is continuous at 3 A but the voltage jumps to 300 V — three times the original supply would typically be, which is why inductive switching destroys unprotected contacts.</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L di/dt,  i(t) = i(0) + (1/L)∫v dt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i(0+) = i(0−) = 3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v(0+) = 3·100 = 300 V  (jumps),  w = ½Li² = 9 J</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an inductor as an open circuit immediately after switching because "no current has had time to build up". The opposite is true: whatever current was flowing keeps flowing, and the inductor acts momentarily as a current source of value i(0−).</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225-235   |   CO3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Representing elements under switching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Representing elements under switching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Switching analysis is made routine by replacing each storage element with a resistive equivalent valid at the instant in question. At t = 0+, a capacitor with initial voltage V₀ is drawn as an ideal voltage source of V₀ — a short if V₀ = 0 — and an inductor with initial current I₀ is drawn as an ideal current source of I₀ — an open if I₀ = 0. At t = ∞ under DC excitation, the capacitor becomes an open circuit and the inductor a short. Each replacement turns a differential-equation problem into a purely resistive one that can be solved by the Module 1 methods, which is why initial and final conditions can be found without ever writing the differential equation. Circuit simulators encode exactly these models internally.</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equivalent at t=0+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equivalent at 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initial-condition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simulation model</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resistive snapshots — one at t = 0+ and one at t = ∞ — give you the endpoints of every transient for free.</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two-column, two-row grid. Column headers: "t = 0+" and "t = ∞ (DC)". Row 1 "Capacitor": left cell shows a battery symbol labelled V₀ with a note "short if V₀ = 0", right cell shows a break in the wire labell…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217-247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switching-equivalents-table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Representing elements under switching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Representing elements under switching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circuit for t &lt; 0 in DC steady state to obtain v_C(0−) and i_L(0−)</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continuity to get v_C(0+) and i_L(0+)</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at t = 0+ with capacitors as V₀ sources and inductors as I₀ sources</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that resistive circuit for every other initial value</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at t = ∞ with capacitors open and inductors short</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that resistive circuit for every final value</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trivial resistive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three resistive solves — before, at 0+, and at ∞</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three solves per switching interval</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Far cheaper than solving the differential equation, and it supplies the boundary conditions the equation would need anyway.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217-247   |   CO3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Representing elements under switching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Representing elements under switching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12 V source, 4 kΩ in series, and a 1 µF capacitor to ground; the switch closes at t = 0 with the capacitor initially uncharged.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&lt; 0: capacitor uncharged, so v_C(0−) =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 0+: capacitor replaced by a short, so v_C(0+) = 0 and i(0+) = 12/4000 = 3 mA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 ∞: capacitor replaced by an open, so i(∞)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v_C(∞) = 12 V since no current means no drop across the 4 kΩ</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Current falls from 3 mA to 0 while the capacitor voltage rises from 0 to 12 V — both endpoints obtained without a differential equation.</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t=0+ : C → short (V₀=0)  ⇒ i = 12/4k = 3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  : C → open          ⇒ i = 0, v_C = 12 V</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the t = ∞ equivalents at t = 0+, opening the capacitor immediately after the switch closes. That gives zero initial current, which is exactly backwards — an uncharged capacitor is a short at the first instant, not an open.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7, pp. 217-247   |   CO3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initial conditions at t = 0+</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initial conditions at t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full initial-condition procedure has three stages. First, solve the circuit at t = 0− in DC steady state to find v_C(0−) and i_L(0−) — these are the only two quantities that carry across the switching instant. Second, apply continuity to get v_C(0+) and i_L(0+). Third, redraw at t = 0+ with the storage elements replaced by their initial-condition sources and solve the resulting resistive circuit for every other quantity, all of which may have jumped. For a second-order problem a fourth stage is needed: the derivatives at 0+ are obtained from the element laws themselves, i_C(0+)/C giving dv_C/dt and v_L(0+)/L giving di_L/dt.</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 = 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 = 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continuity rules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derivative initial conditions</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Only two quantities survive the switch; everything else at t = 0+ is computed from them by ordinary resistive analysis.</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four-stage horizontal pipeline with arrows. Stage 1 box "t = 0− DC solve" outputs two tokens labelled v_C(0−) and i_L(0−). Stage 2 box "continuity" passes only those two tokens through a narrow gate, with al…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initial-conditions-pipeline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initial conditions at t = 0+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initial conditions at t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the circuit as it stood for t &lt; 0 and solve it in DC steady state</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v_C(0−) for every capacitor and i_L(0−) for every inductor</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v_C(0+) = v_C(0−) and i_L(0+) = i_L(0−)</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at t = 0+ with the new switch position and initial-condition sources</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that resistive circuit for all remaining voltages and currents</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second order, compute the derivatives from i_C(0+)/C and v_L(0+)/L</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resistive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solves plus two derivative evaluations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solve per storage element in a chained network</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Each stage is purely resistive, so the total cost is far below a direct differential solution.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   |   CO3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initial conditions at t = 0+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initial conditions at t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20 V source with 5 Ω and a 2 H inductor in series has been closed for a long time; at t = 0 a 15 Ω resistor is switched in series with the inductor.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 0−: inductor is a short in DC, so i_L(0−) = 20/5 = 4 A</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Continuity: i_L(0+) = 4 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 0+: the loop now has 5 + 15 = 20 Ω carrying 4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KVL: v_L(0+) = 20 − 4 × 20 = −60 V, so di_L/dt(0+) = −60/2 = −30 A/s</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current holds at 4 A but the inductor voltage jumps to −60 V and the current begins falling at 30 A/s.</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i_L(0−) = 20/5 = 4 A  ⇒ i_L(0+) = 4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v_L(0+) = 20 − 4(20) = −60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di_L/dt(0+) = v_L(0+)/L = −30 A/s</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carry a resistor current or a node voltage across the switching instant along with the state variables. Only capacitor voltage and inductor current are continuous; every other quantity must be recomputed at t = 0+ from the new topology.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   |   CO3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final conditions at t = ∞</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final conditions at t =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Final conditions describe the circuit once all transients have decayed, which for a DC excitation means every derivative is zero. Capacitors become open circuits, inductors become short circuits, and what remains is a purely resistive network solved by ordinary means. For a sinusoidal excitation the final condition is not a constant but an AC steady state, found by phasor analysis at the source frequency — the transient decays and leaves the forced sinusoidal response behind. The distinction matters because students trained only on DC switching will wrongly report a final value of zero for a circuit that settles into a continuing oscillation.</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steady state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DC final value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 steady state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settled response</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Final condition means the transient has died, not that the circuit has stopped — under AC excitation the steady state is itself a waveform.</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stacked time plots sharing a common time axis with a shaded "transient" band on the left third. Upper plot "DC excitation": the response rises and flattens to a horizontal line labelled "constant final val…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275-282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final-condition-two-cases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final conditions at t = ∞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final conditions at t =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excitation type — DC, AC, or none</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DC, replace capacitors by opens and inductors by shorts</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remaining resistive network for all final values</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AC, convert to impedances at the source frequency</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phasor circuit for the steady-state waveform</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source-free circuit, the final value of every quantity is zero</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resistive solve for DC</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resistive or one phasor 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phasor solve per frequency present</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Always cheaper than integrating the transient forward in time.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275-282   |   CO3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Evaluating final conditions at t = ∞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Evaluating final conditions at t = ∞</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12 V source with 4 kΩ and a capacitor to ground; then the same circuit driven by 12·cos(1000t) V with C = 1 µF.</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DC case: C is open, so i(∞) = 0 and v_C(∞) = 12 V</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 case: Z_C = 1/(j·1000·1e−6) = −j1000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Z_total = 4000 − j1000 = 4123∠−14.04°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V_C = 12∠0° × 1000∠−90°/4123∠−14.04° = 2.91∠−75.96° V</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DC case settles at a constant 12 V; the AC case settles into a continuing 2.91 V sinusoid lagging by 75.96°.</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DC : C open  ⇒ v_C(∞) = 12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AC : Z_C = −j1000, v_C(t) = 2.91 cos(1000t − 75.96°) V</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report "final value = 0" for any circuit whose transient decays. Zero is correct only for a source-free circuit; a driven circuit settles into whatever its forced response is, which under AC excitation is a sinusoid of constant amplitude.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275-282   |   CO3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RL circuit and the time constant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RL circuit and the 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With its source removed, an RL loop obeys L·di/dt + R·i = 0, whose solution is i(t) = i(0)·e^(−Rt/L). The quantity τ = L/R has units of seconds and is the time constant: it is the time for the current to fall to 1/e, about 36.8 %, of its initial value. The entire response is fixed by two numbers — the initial current and τ — and nothing else about the circuit matters. Physically the inductor's stored energy ½Li² is being dissipated in R, so a larger R drains it faster and a larger L stores more and lasts longer.</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natural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 constant τ = L/R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exponential decay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 energy</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numbers, i(0) and τ = L/R, determine the entire source-free RL response for all time.</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decaying exponential curve of i(t) from i(0) to zero. Vertical dashed lines at t = τ, 2τ, 3τ, 4τ, 5τ, each meeting the curve at a dot annotated with the remaining percentage: 36.8 %, 13.5 %, 5.0 %, 1.8 %, 0.…</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rl-decay-tau</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RL circuit and the time constant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RL circuit and the 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i_L(0−) from the DC steady state before switching</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continuity: i(0+) = i(0−)</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resistance R seen by the inductor after switching</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τ = L/R</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i(t) = i(0)·e^(−t/τ)</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any other quantity from this current by Ohm's law or v = L·di/dt</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R and i(0) are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resistive solve for R plus one for i(0)</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Thévenin reduction to find the R seen by the inductor</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Settling to within 1 % takes about 5τ, which is the standard engineering rule.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   |   CO3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RL circuit and the time constant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RL circuit and the 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 = 2 H carrying 4 A at t = 0, discharging through a total of 20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τ = L/R = 2/20 = 0.1 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 4·e^(−t/0.1) = 4·e^(−10t) 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0.1 s: i = 4 × 0.368 = 1.47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0.5 s = 5τ: i = 4 × 0.0067 = 27 mA, i.e. 0.7 % remaining</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current falls from 4 A to 27 mA in half a second, and the 5τ rule correctly predicts that the circuit is essentially settled by then.</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τ = L/R = 2/20 = 0.1 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i(t) = 4 e^{−10t}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i(τ) = 1.47 A,  i(5τ) = 27 mA</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resistance that was in the circuit before switching. τ depends on the resistance the inductor sees after switching, which is frequently a different network entirely — and getting it wrong scales the whole time axis.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261-268   |   CO3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exponential response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exponential response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exponential e^(−t/τ) has three properties worth knowing by heart. Its initial tangent reaches zero at exactly t = τ, which gives a graphical way to read a time constant off an oscilloscope trace. It falls to 36.8 %, 13.5 %, 5 %, 1.8 % and 0.7 % at one through five time constants, so 5τ is the conventional settling criterion. And it is memoryless in the sense that the fractional decay over any interval depends only on the interval length, not on where that interval starts — the current always falls to 36.8 % of whatever it was, one time constant later. Plotted on a logarithmic vertical axis the decay becomes a straight line whose slope is −1/τ, which is how time constants are extracted from measured data.</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1/e rule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 slope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5τ settling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memoryless decay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semilog straight line</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decay has no memory of where it started — every τ removes the same fraction, which is why a semilog plot straightens it.</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linked panels. Panel 1 "Initial tangent": the decay curve with a straight tangent from the start point meeting the axis at τ. Panel 2 "Memoryless": the same curve with two equal-width shaded intervals at…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268-272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exponential-properties-triple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exponential response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exponential response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initial value from the trace</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Draw the tangent at t = 0 and find where it meets the axis — that is τ</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Alternatively find the time to fall to 36.8 % of the initial value</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Alternatively plot on a logarithmic axis and take the slope as −1/τ</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5τ as the settling time for a 1 % criterion</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graphical reading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least-squares fit on a semilog plot for n samples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with noise rejection</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semilog fit is the robust method when measurement noise is present.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268-272   |   CO3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exponential response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exponential response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measured decay falls from 10 V to 3.68 V in 4 ms.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3.68/10 = 0.368, which is exactly 1/e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Therefore 4 ms is one time constant, τ = 4 ms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Settling to 1 % requires about 5τ = 20 ms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Value after 8 ms (2τ) = 10 × 0.135 = 1.35 V</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τ = 4 ms and the circuit is settled by 20 ms — both read directly off the trace without knowing R or C at all.</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v(τ)/v(0) = 1/e = 0.368</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 ms → τ = 4 ms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settle ≈ 5τ = 20 ms,  v(2τ) = 1.35 V</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describe the response as finishing at 5τ. It never reaches zero exactly; 5τ is a 0.7 % convention, and in a precision circuit — a 12-bit converter, say — settling to half an LSB requires closer to 9τ.</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268-272   |   CO3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RC circuit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RC circuit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charged capacitor discharging through a resistor obeys RC·dv/dt + v = 0, giving v(t) = v(0)·e^(−t/RC) with time constant τ = RC. The structure is the exact dual of the RL case: where the inductor kept its current and needed a small R to last, the capacitor keeps its voltage and needs a large R to last. All the exponential properties carry across unchanged. The total energy dissipated over all time equals the energy initially stored, ½Cv(0)², regardless of the value of R — R sets how fast the energy leaves, never how much.</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τ = RC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capacitor discharge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duality with RL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energy dissipation</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RC and RL are duals: swap v for i and R for 1/R and every result maps across.</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vertical mirror line down the centre. Left side "RC": a capacitor discharging through R, with the equation RC·dv/dt + v = 0, τ = RC, and a decaying v(t) curve. Right side "RL": an inductor decaying through 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272-275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rc-rl-duality-mirror</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RC circuit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RC circuit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v_C(0−) from the DC steady state before switching</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continuity: v(0+) = v(0−)</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resistance R the capacitor sees after switching</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τ = RC</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v(t) = v(0)·e^(−t/τ)</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current from i = −C·dv/dt or from v/R</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R and v(0) are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resistive solve for 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Thévenin reduction seen from the capacitor terminals</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Identical cost structure to the RL case by duality.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272-275   |   CO3  |  Bloom L3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RC circuit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RC circuit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 µF capacitor charged to 5 V discharges through 1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τ = RC = 1000 × 10e−6 = 10 ms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v(t) = 5·e^(−t/0.01) V</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 v/R = 5e^(−100t)/1000 = 5·e^(−100t) mA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dissipated over all time = ½ × 10e−6 × 25 = 125 µJ</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τ = 10 ms, initial current 5 mA, and the full 125 µJ ends up in the resistor no matter what value R takes.</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τ = RC = 1k · 10µ = 10 ms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v(t) = 5 e^{−100t} V,  i(t) = 5 e^{−100t}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 dt = ½Cv(0)² = 125 µJ</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a larger resistor to dissipate more total energy because it has more resistance. The total is fixed by the stored energy alone; a larger R simply spreads the same joules over a longer time at lower power.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272-275   |   CO3  |  Bloom L3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unit-step function and switched sources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unit-step function and switched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unit step u(t) is zero for t &lt; 0 and one for t &gt; 0, and it exists so that a switching event can be written into an equation instead of described in words. A source that turns on at t = 0 is written V·u(t); one that turns on at t = t₀ is V·u(t − t₀). A rectangular pulse of width T is the difference of two steps, u(t) − u(t − T), which lets a pulse response be obtained by superposition of two step responses rather than by piecewise integration. The step is also the integral of the impulse and the derivative of the ramp, which places it in the middle of the singularity-function family used throughout Module 4.</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unit step 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delayed step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pulse as a difference of steps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switch equivalence</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step turns a switch into algebra, and any pulse is just two steps with opposite signs.</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stacked time plots sharing an axis. Plot 1: u(t), a clean rising step at t = 0 held at 1. Plot 2: −u(t − T), a falling step at t = T held at −1, drawn in a second colour. Plot 3: their sum, a rectangular…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282-286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step-pulse-construction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unit-step function and switched sources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unit-step function and switched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each switch closure as a step at the appropriate time</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 source active only between t₁ and t₂ as u(t − t₁) − u(t − t₂)</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pulse response, find the step response first</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Superpose a delayed and negated copy of the step response</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the constructed waveform is zero where the physical source is off</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step response reused twice for a pulse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step response per distinct switching level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k step responses for a k-level staircase input</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Superposition of steps is far cheaper than piecewise integration across intervals.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282-286   |   CO3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unit-step function and switched sources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unit-step function and switched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5 V pulse of width 3 ms applied to an RC circuit with τ = 1 ms, initially uncharged.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written as 5[u(t) − u(t − 0.003)]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 response: v(t) = 5(1 − e^(−t/0.001)) for the rising step</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3 ms = 3τ the capacitor has reached 5(1 − 0.0498) = 4.75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After 3 ms the second step applies: v(t) = 4.75·e^(−(t−0.003)/0.001)</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capacitor charges to 4.75 V during the pulse and then decays from that value — obtained entirely by superposing two step responses.</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v_in = 5[u(t) − u(t−3ms)]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0 &lt; t &lt; 3ms : v = 5(1 − e^{−t/τ})  ⇒ v(3ms) = 4.75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 &gt; 3ms     : v = 4.75 e^{−(t−3ms)/τ}</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restart the second interval from the full 5 V rather than from the 4.75 V actually reached. The final condition of one interval is the initial condition of the next, and a pulse shorter than about 5τ never reaches the full value.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282-286   |   CO3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RL circuits: natural and forced response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RL circuits: natural and force…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complete response of a driven first-order circuit is the sum of two parts. The natural response is the source-free solution, an exponential of the form A·e^(−t/τ) whose shape is set by the circuit and whose amplitude A is set by the initial condition. The forced response is whatever the circuit settles into under the continuing excitation, a constant for a DC drive and a sinusoid for an AC drive. Only after both parts have been written is the initial condition applied, to fix A — applying it to the natural response alone is the single most common error, because at t = 0+ the forced response is generally not zero and contributes to the total.</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natural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forced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complete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superposition of responses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whole response first, then apply the initial condition to the total — never to the natural part alone.</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time plots stacked vertically with a plus sign between the first two and an equals sign before the third. Plot 1 "Natural: A·e^(−t/τ)" shows a decaying exponential starting at A. Plot 2 "Forced: i(∞)" sh…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286-295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natural-plus-forced-stack</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RL circuits: natural and forced response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RL circuits: natural and force…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final value i(∞) — this is the forced response for a DC drive</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τ from the resistance seen by the inductor after switching</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i(t) = i(∞) + A·e^(−t/τ)</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i(0+) from the continuity rule</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 = 0 in the complete expression and solve for A = i(0+) − i(∞)</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A back to obtain the final answer</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using the shortcut formula</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resistive solves plus one algebraic step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phasor solve for the forced part under AC excitation</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general first-order formula x(t) = x(∞) + [x(0+) − x(∞)]·e^(−t/τ) covers every DC-driven case.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286-295   |   CO3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RL circuits: natural and forced response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RL circuits: natural and force…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20 V source switched onto a series 5 Ω and 2 H at t = 0, with zero initial current.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Forced: i(∞) = 20/5 = 4 A</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τ = L/R = 2/5 = 0.4 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 4 + A·e^(−t/0.4)</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i(0+) = 0 ⇒ 0 = 4 + A ⇒ A = −4</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i(t) = 4(1 − e^(−2.5t)) A, rising from zero to 4 A with the current at one time constant being 2.53 A.</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x(t) = x(∞) + [x(0+) − x(∞)]·e^{−t/τ}</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i(t) = 4 + (0 − 4)e^{−t/0.4} = 4(1 − e^{−2.5t}) A</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set the natural response amplitude equal to the initial value, writing i(t) = 4 + 0·e^(−t/τ) when i(0) = 0. A is the difference between the initial and final values, not the initial value itself.</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286-295   |   CO3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RC circuits and the power-ON delay case study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RC circuits and the power-ON 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driven RC circuit charges as v(t) = v(∞) + [v(0+) − v(∞)]·e^(−t/RC), the same general form as the RL case. Its most common engineering use is as a deliberate delay: a comparator or logic input has a threshold V_th, and the RC charges toward the supply until it crosses that threshold, at which point the indicator turns on. Solving the charging equation for time gives t_delay = −RC·ln(1 − V_th/V_supply), which shows that the delay scales linearly with RC and depends only logarithmically on the threshold ratio. The design consequence is that supply tolerance and threshold tolerance both shift the delay, so a precision delay needs either a tight threshold or a different technique altogether.</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charging curve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threshold crossing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delay design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indicator circuit</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RC delay is set by RC and a logarithm of the threshold ratio, which makes it cheap, adjustable and only moderately precise.</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charging curve rising from 0 toward a horizontal asymptote labelled V_supply. A horizontal dashed line at V_th crosses the curve, and a vertical dashed line drops from the crossing to the time axis labelled…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295-300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L5  |  visual id: rc-delay-threshold</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RC circuits and the power-ON delay case study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RC circuits and the power-ON 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supply voltage and the input threshold</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capacitor first, from available values and leakage limits</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required RC from t_delay = −RC·ln(1 − V_th/V_supply)</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for R and choose the nearest standard value</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Recompute the actual delay with the chosen R and C</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delay spread over the supply and threshold tolerances</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one logarithm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design pass plus one tolerance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iteration when standard component values shift the delay outside specification</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Tolerance stack-up, not the algebra, is what makes this a design problem.</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295-300   |   CO3  |  Bloom L5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Driven RC circuits and the power-ON delay case study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Driven RC circuits and the power-ON 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5 V supply, a logic threshold of 2.5 V, and a required delay of 100 ms.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V_th/V_supply = 0.5, so ln(1 − 0.5) = −0.693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 = 0.693·RC ⇒ RC = 0.1/0.693 = 0.1443 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C = 10 µF, giving R = 0.1443/10e−6 = 14.43 kΩ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Nearest standard 5 % value is 15 kΩ, giving an actual delay of 0.693 × 15000 × 10e−6 = 104 ms</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 = 15 kΩ with C = 10 µF gives 104 ms against a 100 ms target — a 4 % error from component rounding alone, before tolerance is considered.</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 = −RC·ln(1 − V_th/V_s)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0.1 = 0.693·RC ⇒ RC = 144.3 ms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10 µF ⇒ R = 14.43 kΩ → use 15 kΩ (t = 104 ms)</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 = RC as the delay, assuming the threshold sits at 63 % of the supply. That is true only for one specific threshold ratio; at a 50 % threshold the delay is 0.693·RC, a 31 % difference.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295-300   |   CO3  |  Bloom L5</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Sequentially switched circuits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Sequentially switched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a circuit is switched more than once, each interval is solved as a separate first-order problem, and the final value reached in one interval becomes the initial condition of the next. The critical case is incomplete settling: if an interval is shorter than about 5τ the response does not reach its asymptote, and carrying the asymptotic value forward instead of the actual value corrupts every subsequent interval. Each interval may also have its own time constant, because the resistance seen by the storage element changes with the switch position. The general approach is therefore bookkeeping rather than new theory, but the bookkeeping is where the errors live.</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multiple switching instants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interval chaining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incomplete settling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piecewise response</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interval hands its actual end value — not its asymptote — to the next as an initial condition.</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time axis divided into three shaded intervals by two vertical switching lines at t₁ and t₂. The response curve is drawn piecewise, with each segment starting exactly where the previous one ended, and…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300-306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sequential-intervals-chain</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Sequentially switched circuits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Sequentially switched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the timeline at every switching instant</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first interval, find the initial condition from the pre-switch steady state</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Determine τ for that interval from the resistance then in circuit</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response and evaluate it at the end of the interval</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that value as the initial condition for the next interval</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recomputing τ whenever the topology changes</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for k intervals with the same τ</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with a resistive solve per interval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solves plus O(k) evaluations for k switchings</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Cost is linear in the number of intervals; the risk is that one carried-forward error propagates through all of them.</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300-306   |   CO3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Sequentially switched circuits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Sequentially switched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RC circuit with τ = 1 ms charges from 0 toward 10 V for 2 ms, then the source is removed and it discharges through the same 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Interval 1: v(t) = 10(1 − e^(−t/0.001))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2 ms = 2τ: v = 10(1 − 0.1353) = 8.65 V, not 10 V</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Interval 2 initial condition: v(0+) = 8.65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Interval 2: v(t) = 8.65·e^(−(t−0.002)/0.001)</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discharge starts from 8.65 V; assuming a full 10 V would overstate every subsequent value by 16 %.</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interval 1: v = 10(1 − e^{−t/τ}), v(2τ) = 8.65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interval 2: v = 8.65 e^{−(t−2τ)/τ}</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(using 10 V here → 16% error)</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each interval starts fresh from the supply value or from zero. The handover value is whatever the previous interval actually reached, and for intervals shorter than 5τ that is never the asymptote.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8, pp. 300-306   |   CO3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parallel RLC and damping classification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parallel RLC and damp…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parallel RLC circuit with no source obeys a second-order differential equation whose characteristic roots are s = −α ± √(α² − ω₀²), where α = 1/(2RC) is the neper frequency and ω₀ = 1/√(LC) is the resonant frequency. The discriminant decides everything: α &gt; ω₀ gives two real roots and an overdamped response that decays without oscillating; α = ω₀ gives a repeated root and the critically damped response, the fastest possible without overshoot; α &lt; ω₀ gives complex roots and an underdamped response that rings at ω_d = √(ω₀² − α²). Nothing else about the circuit changes the shape of the response — the three cases are exhaustive.</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second order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neper frequency α</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resonant frequency ω₀</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characteristic equation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damping ratio</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α with ω₀ before writing anything else; that one comparison determines the entire form of the answer.</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Top: a number line with ω₀ marked at the centre and α varying along it, with three labelled zones — "α &gt; ω₀ overdamped", "α = ω₀ critically damped", "α &lt; ω₀ underdamped". Below, three time plots side by side,…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321-334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damping-three-cases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parallel RLC and damping classification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parallel RLC and damp…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α = 1/(2RC) for a parallel circuit</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ω₀ = 1/√(LC)</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α with ω₀ to classify the response</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appropriate solution form for that case</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two constants from v(0+) and dv/dt(0+)</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the result decays for all positive R</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classification from two formulas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classification plus a 2×2 solve for the constants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full initial-condition pipeline to obtain the derivative at 0+</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classification costs two square roots and saves choosing the wrong solution form entirely.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321-334   |   CO3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parallel RLC and damping classification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parallel RLC and damp…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parallel RLC with R = 500 Ω, L = 10 mH, C = 1 µF, source-free.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α = 1/(2RC) = 1/(2 × 500 × 1e−6) = 1000 s⁻¹</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ω₀ = 1/√(LC) = 1/√(1e−2 × 1e−6) = 10000 rad/s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α &lt; ω₀, so the response is underdamped</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ω_d = √(10000² − 1000²) = 9950 rad/s</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Underdamped, ringing at 9950 rad/s inside a decaying envelope e^(−1000t) — so about ten oscillations before the envelope falls to 37 %.</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α = 1/(2RC) = 1000 s⁻¹,  ω₀ = 1/√(LC) = 10000 rad/s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α &lt; ω₀ ⇒ underdamped,  ω_d = √(ω₀²−α²) = 9950 rad/s</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series formula α = R/(2L) for a parallel circuit. The two expressions are duals and give wildly different numbers for the same components, which flips the damping classification and produces a solution of the wrong shape.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321-334   |   CO3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Critically damped and underdamped responses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Critically damped and underdamped res…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α = ω₀ the characteristic equation has a repeated root and the solution takes the special form (A₁ + A₂t)·e^(−αt); the extra factor of t is required because two independent solutions are needed and e^(−αt) alone supplies only one. This is the fastest decay achievable without overshoot, which is why servo and instrumentation designers aim for it. When α &lt; ω₀ the roots are complex and the solution is e^(−αt)(B₁cos ω_d t + B₂sin ω_d t), an oscillation at the damped frequency ω_d = √(ω₀² − α²) inside an exponential envelope. Overshoot grows as α falls, and in the limit α → 0 the circuit becomes a lossless oscillator that never settles.</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repeated root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t·e^(−αt) term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damped natural frequency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envelope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overshoot</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Critical damping is the fastest settling without overshoot — and the repeated root is why it needs a t·e^(−αt) term.</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set of axes carrying three overlaid step responses normalised to the same final value: an overdamped curve in grey rising slowly, a critically damped curve in green reaching the final value fastest wi…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334-345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critical-vs-underdamped-overlay</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Critically damped and underdamped responses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Critically damped and underdamped res…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Classify the response by comparing α and ω₀</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critically damped case write (A₁ + A₂t)·e^(−αt)</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underdamped case compute ω_d and write e^(−αt)(B₁cos ω_d t + B₂sin ω_d t)</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value at t = 0+ to get the first constant</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derivative at t = 0+ to get the second</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Sanity-check that the response decays and has the expected number of oscillations</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the two initial conditions are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2×2 linear solve for the constants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full initial-condition pipeline to obtain the derivative</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Forgetting the t factor in the critical case produces a solution that cannot satisfy two independent initial conditions.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334-345   |   CO3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Critically damped and underdamped responses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Critically damped and underdamped res…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critically damped circuit with α = 1000 s⁻¹, v(0+) = 10 V and dv/dt(0+) =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v(t) = (A₁ + A₂t)·e^(−1000t)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0: A₁ = 10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Differentiate: dv/dt = A₂e^(−αt) − α(A₁ + A₂t)e^(−αt)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 = 0: 0 = A₂ − 1000 × 10 ⇒ A₂ = 10000</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v(t) = (10 + 10000t)·e^(−1000t) V — the response initially rises slightly before decaying, which the simple exponential form could never have represented.</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v(t) = (A₁ + A₂t)e^{−αt}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v(0)=10 ⇒ A₁=10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v̇(0)=0 ⇒ A₂ = αA₁ = 10000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v(t) = (10 + 10000t)e^{−1000t} V</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omit the t factor and write A·e^(−αt) for the critically damped case. With only one constant the solution cannot match both the initial value and the initial derivative, and the answer will silently satisfy only one of them.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334-345   |   CO3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series RLC and the complete second-order response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series RLC and the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series RLC is the dual of the parallel case: α = R/(2L) rather than 1/(2RC), while ω₀ = 1/√(LC) is unchanged. Everything else — the three damping cases, the solution forms, the role of ω_d — transfers directly. Note the reversal: increasing R damps a series circuit more but a parallel circuit less, because in series the resistance is in the current path while in parallel it is a bypass. The complete driven response is the forced response plus the natural response, exactly as in the first-order case, and the two natural-response constants are found by applying both the value and the derivative at t = 0+ to the complete expression, not to the natural part alone.</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series α = R/2L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duality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complete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forced plus natural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two initial conditions</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Series and parallel RLC differ only in α — but the direction in which R damps them is opposite, and that trips people constantly.</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"Series RLC": R, L and C in a loop, with α = R/(2L) printed and an arrow labelled "R ↑ ⇒ more damping" pointing toward a flatter response curve. Right panel "Parallel RLC": R, L and C across a commo…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345-359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series-parallel-alpha-contrast</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series RLC and the complete second-orde…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series RLC and the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topology as series or parallel</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α = R/(2L) for series, α = 1/(2RC) for parallel</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ω₀ = 1/√(LC) and classify the damping</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forced response from the DC or AC final condition</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appropriate natural-response form with two unknown constants</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x(0+) and dx/dt(0+) to the complete expression to find both constants</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classification plus a 2×2 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initial-condition pipeline plus a 2×2 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phasor solve for the forced part under AC excitation</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Two initial conditions are always required for a second-order circuit — one is never enough.</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345-359   |   CO3  |  Bloom L4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source-free series RLC and the complete second-orde…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source-free series RLC and the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RLC with R = 40 Ω, L = 10 mH, C = 1 µF, driven by a 10 V step with zero initial conditions.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α = R/(2L) = 40/0.02 = 2000 s⁻¹</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ω₀ = 1/√(1e−2 × 1e−6) = 10000 rad/s, so α &lt; ω₀: underdamped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ω_d = √(10000² − 2000²) = 9798 rad/s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Forced: v_C(∞) = 10 V; complete: v_C = 10 + e^(−2000t)(B₁cos ω_d t + B₂sin ω_d t)</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Underdamped with ω_d = 9798 rad/s; applying v_C(0+) = 0 gives B₁ = −10, and the zero initial current then fixes B₂.</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series: α = R/2L = 2000 s⁻¹,  ω₀ = 10000 rad/s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underdamped, ω_d = 9798 rad/s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v_C = 10 + e^{−2000t}(B₁cos ω_d t + B₂sin ω_d t),  B₁ = −10</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only the initial value and leave the second constant undetermined, or guess it as zero. A second-order circuit needs two independent initial conditions, and the second one comes from the element law: i_C(0+)/C for a capacitor voltage or v_L(0+)/L for an inductor current.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345-359   |   CO3  |  Bloom L4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Transients under AC excitation and the lossless LC circuit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Transients under AC excitation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a sinusoidal source is switched onto a reactive circuit, the complete response is again natural plus forced, but the forced part is now a sinusoid obtained by phasor analysis at the source frequency rather than a constant. The natural part decays as before, so the total shows a decaying offset riding on a steady sinusoid. The size of that offset depends on the switching angle: closing an inductive circuit at a voltage zero produces the largest transient because the forced current at that instant is at its peak and the natural response must cancel a large mismatch, which is why transformer inrush is worst at a zero crossing. The lossless LC circuit is the limiting case R = 0, where α = 0 and the natural response never decays at all.</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 transient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switching angle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phasor forced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lossless oscillation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worst-case inrush</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Under AC excitation the transient is a decaying offset on a steady sinusoid, and its size is set by when in the cycle you switched.</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side-by-side time plots of current after switching an inductive circuit onto an AC supply. Left plot "switch at voltage peak": the current starts near its steady-state value and the response is almost imme…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359-361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L5  |  visual id: ac-switching-angle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Transients under AC excitation and the lossless LC circ…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Transients under AC excitation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forced response by phasor analysis at the source frequency</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forced phasor back to a time-domain sinusoid</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natural response form with unknown constants and the circuit τ or α</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continuity rules at the switching instant to the complete expression</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for the constants, noting that they depend on the switching angle</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R = 0, recognise that the natural term persists indefinitely</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phasor solve plus one algebraic step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phasor solve plus a first- or second-order constant fit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second-order fit with two switching-angle-dependent constants</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Worst-case design requires evaluating the switching angle that maximises the offset, not an arbitrary one.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359-361   |   CO3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Transients under AC excitation and the lossless LC circ…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Transients under AC excitation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 = 10 Ω, L = 20 mH switched onto 100·cos(377t) V at the instant the voltage is zero.</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 10 + j377 × 0.02 = 10 + j7.54 = 12.52∠37.0°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Forced: i_ss(t) = (100/12.52)·cos(377t − 37.0°) = 7.99·cos(377t − 37.0°) 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Switching at a voltage zero means 377t = −90°, at which i_ss = 7.99·cos(−127°) = −4.81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Continuity requires i(0+) = 0, so the natural term must be +4.81 A, decaying with τ = L/R = 2 ms</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i(t) = 7.99·cos(377t − 37°) + 4.81·e^(−t/0.002) A — a substantial one-sided offset that dies away in about 10 ms.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 = 10 + j7.54 = 12.52∠37°</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i_ss = 7.99 cos(377t − 37°)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i(0+) = 0 ⇒ natural = +4.81 A, τ = L/R = 2 ms</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the AC transient is negligible because "the circuit reaches steady state quickly". The offset can nearly double the first peak, which is exactly the case protective fuses and inrush limiters are sized for.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9, pp. 359-361   |   CO3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Capacitor voltage is continuous because a jump would need infinite current — that single fact fixes the t = 0+ value.</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Inductor current is continuous because a jump would need infinite voltage — and the arc across an opening switch is that physics made visible.</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resistive snapshots — one at t = 0+ and one at t = ∞ — give you the endpoints of every transient for free.</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Only two quantities survive the switch; everything else at t = 0+ is computed from them by ordinary resistive analysis.</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Final condition means the transient has died, not that the circuit has stopped — under AC excitation the steady state is itself a waveform.</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numbers, i(0) and τ = L/R, determine the entire source-free RL response for all time.</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decay has no memory of where it started — every τ removes the same fraction, which is why a semilog plot straightens it.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RC and RL are duals: swap v for i and R for 1/R and every result maps across.</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step turns a switch into algebra, and any pulse is just two steps with opposite signs.</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whole response first, then apply the initial condition to the total — never to the natural part alone.</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RC delay is set by RC and a logarithm of the threshold ratio, which makes it cheap, adjustable and only moderately precise.</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interval hands its actual end value — not its asymptote — to the next as an initial condition.</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α with ω₀ before writing anything else; that one comparison determines the entire form of the answer.</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Critical damping is the fastest settling without overshoot — and the repeated root is why it needs a t·e^(−αt) term.</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Series and parallel RLC differ only in α — but the direction in which R damps them is opposite, and that trips people constantly.</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Under AC excitation the transient is a decaying offset on a steady sinusoid, and its size is set by when in the cycle you switched.</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33%, L3-L4 58%, L5-L6 9%</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3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assignments/Module_3_Assignment.pdf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3 — Initial conditions, time constants and second-order response</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&lt;USN&gt;_BEC303_Assignment3.pdf,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 initial and final conditions (6); Time constants and response forms (6); Sequential and AC switching analysis (4); Verification, plots and engineering commentary (4). Attainment: CO3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2026-09-11T19:47:51Z</dcterms:created>
  <dcterms:modified xsi:type="dcterms:W3CDTF">2026-09-11T19:47:51Z</dcterms:modified>
</cp:coreProperties>
</file>