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Open by putting the whole module on one page. Tell them this is 14 contact hours and 16 teaching units, and that all of it exists to answer one question: Can I replace calculus with algebra — solve the whole transient, initial conditions included, without ever writing a differential equation? Name the prescribed textbook out loud and say which chapters they will be living in, so nobody is reading the wrong book by week two.
Pause cue: Pause after reading the driving question aloud, before naming the textbook.
Pointing cue: Point at the module title block, then at the textbook panel, then run a finger along the five-beat arc.
Question to ask students: Ask: before we start, what do you already expect the answer to "Can I replace calculus with algebra — solve the whole transient, initial conditions inclu…" to look like?
Animation instructions: Module title block fades in first, then the textbook panel slides in from the right, then the five arc beats appear left to right one at a time.
Transition style: Fade
[Sources] VTU BEC303 Network Analysis syllabus, 2025 scheme, Module 4: Laplace Transformation and Applications, 14 hours, Hayt 8e Ch. 14 (14.3–14.7), Ch. 15 (15.1–15.8), pp. 540–564 and 571–610; waveform and network synthesis from syllabus TB2 §6.8. TB1: W. H. Hayt, J. E. Kemmerly and S. M. Durbin, Engineering Circuit Analysis, McGraw-Hill / Tata McGraw-Hill, 8th ed., 2012.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map before the territory. Read the driving question once more, then walk the five beats across the slide and say in one sentence what changes between each beat and the next. Finish on the scope paragraph, because knowing what a module does not cover saves more marks than anything else on this slide.
Pause cue: Pause for four or five seconds after the five beats appear, before moving to scope.
Pointing cue: Point at the driving question panel, then at each numbered beat in turn, then at the scope paragraph.
Question to ask students: Ask: which of these five beats do you expect to find hardest, and why that one?
Animation instructions: The driving question panel fades in, then the five numbered beats appear left to right one at a time, then the scope paragraph fades in beneath them.
Transition style: Fade
[Sources] VTU BEC303 Network Analysis syllabus, 2025 scheme, Module 4: Laplace Transformation and Applications, 14 hours, Hayt 8e Ch. 14 (14.3–14.7), Ch. 15 (15.1–15.8), pp. 540–564 and 571–610; waveform and network synthesis from syllabus TB2 §6.8. TB1: W. H. Hayt, J. E. Kemmerly and S. M. Durbin, Engineering Circuit Analysis, McGraw-Hill / Tata McGraw-Hill, 8th ed., 2012.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BEC303 Network Analysis syllabus, 2025 scheme, Module 4: Laplace Transformation and Applications, 14 hours, Hayt 8e Ch. 14 (14.3–14.7), Ch. 15 (15.1–15.8), pp. 540–564 and 571–610; waveform and network synthesis from syllabus TB2 §6.8. TB1: W. H. Hayt, J. E. Kemmerly and S. M. Durbin, Engineering Circuit Analysis, McGraw-Hill / Tata McGraw-Hill, 8th ed., 2012.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BEC303 Network Analysis syllabus, 2025 scheme, Module 4: Laplace Transformation and Applications, 14 hours, Hayt 8e Ch. 14 (14.3–14.7), Ch. 15 (15.1–15.8), pp. 540–564 and 571–610; waveform and network synthesis from syllabus TB2 §6.8. TB1: W. H. Hayt, J. E. Kemmerly and S. M. Durbin, Engineering Circuit Analysis, McGraw-Hill / Tata McGraw-Hill, 8th ed., 2012.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one-sided Laplace transform is F(s) = ∫₀^∞ f(t)·e^(−st) dt, where s = σ + jω is a complex frequency. Then add the part they are examined on - The e^(−σt) kernel buys convergence, and taking the lower limit at 0− is what lets initial conditions ride into the algebra.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"one-sided transform" constrain here, and what would break if it did not hold?
Animation instructions: the integral types in, then arrow 1 and its label, then arrow 2 with its convergence inset animating the product, then arrow 3 with the s-plane and the ROC shading in last.
Transition style: Fade
[Sources] VTU BEC303 Network Analysis syllabus, 2025 scheme, Module 4: Laplace Transformation and Applications. TB1 as listed by the syllabus: W. H. Hayt, J. E. Kemmerly and S. M. Durbin, Engineering Circuit Analysis, McGraw-Hill / Tata McGraw-Hill, 8th ed., 2012; Ch. 14, pp. 540-543.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the time function, valid for t ≥ 0 - and check everyone has written it before moving on. At the cost panel, translate it: In circuit work the integral is almost never evaluated directly; the table plus the theorems do the work.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TB1 as listed by the syllabus: W. H. Hayt, J. E. Kemmerly and S. M. Durbin, Engineering Circuit Analysis, McGraw-Hill / Tata McGraw-Hill, 8th ed., 2012; Ch. 14, pp. 540-543.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f(t) = e^(−at)·u(t). Work at the pace of the slowest note-taker and land hard on the result: F(s) = 1/(s + a) with a region of convergence Re{s} &gt; −a; the pole at s = −a is exactly the decay rate of the original function.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TB1 as listed by the syllabus: W. H. Hayt, J. E. Kemmerly and S. M. Durbin, Engineering Circuit Analysis, McGraw-Hill / Tata McGraw-Hill, 8th ed., 2012; Ch. 14, pp. 540-543.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small table covers almost every circuit problem. Then add the part they are examined on - Integrating in time divides by s, and damping in time shifts s — two patterns that generate most of the table.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"impulse δ(t)" constrain here, and what would break if it did not hold?
Animation instructions: the five time sketches draw top to bottom, then each transform appears beside its sketch, then the vertical integration arrow sweeps down the first three, then the s-shift arrow animates across the last pair.
Transition style: Fade
[Sources] VTU BEC303 Network Analysis syllabus, 2025 scheme, Module 4: Laplace Transformation and Applications. TB1 as listed by the syllabus: W. H. Hayt, J. E. Kemmerly and S. M. Durbin, Engineering Circuit Analysis, McGraw-Hill / Tata McGraw-Hill, 8th ed., 2012; Ch. 14, pp. 543-546.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Express the time function as a sum of standard forms - and check everyone has written it before moving on. At the cost panel, translate it: Decomposition into standard forms is the whole skill; the lookups are trivial.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TB1 as listed by the syllabus: W. H. Hayt, J. E. Kemmerly and S. M. Durbin, Engineering Circuit Analysis, McGraw-Hill / Tata McGraw-Hill, 8th ed., 2012; Ch. 14, pp. 543-546.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f(t) = 3 − 2e^(−5t) + 4t, for t ≥ 0. Work at the pace of the slowest note-taker and land hard on the result: F(s) = 3/s − 2/(s+5) + 4/s², with poles at s = 0 (double) and s = −5, matching the ramp and the decay in the original.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TB1 as listed by the syllabus: W. H. Hayt, J. E. Kemmerly and S. M. Durbin, Engineering Circuit Analysis, McGraw-Hill / Tata McGraw-Hill, 8th ed., 2012; Ch. 14, pp. 543-546.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An s-domain answer is normally a ratio of polynomials, and the inverse transform is obtained by splitting that ratio into terms that appear in the table. Then add the part they are examined on - Every inverse transform in circuit work is table lookup plus bookkeeping — the bookkeeping is partial fractions.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"partial fraction expansion" constrain here, and what would break if it did not hold?
Animation instructions: F(s) slides into the splitter, the three pipes extend in turn with their expressions typing in, then each pipe's time-domain sketch draws at the far right.
Transition style: Fade
[Sources] VTU BEC303 Network Analysis syllabus, 2025 scheme, Module 4: Laplace Transformation and Applications. TB1 as listed by the syllabus: W. H. Hayt, J. E. Kemmerly and S. M. Durbin, Engineering Circuit Analysis, McGraw-Hill / Tata McGraw-Hill, 8th ed., 2012; Ch. 14, pp. 546-553.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Factor the denominator to locate every pole - and check everyone has written it before moving on. At the cost panel, translate it: Improper fractions must be reduced by long division first, or the impulse term is lost.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TB1 as listed by the syllabus: W. H. Hayt, J. E. Kemmerly and S. M. Durbin, Engineering Circuit Analysis, McGraw-Hill / Tata McGraw-Hill, 8th ed., 2012; Ch. 14, pp. 546-553.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F(s) = (s + 4)/(s(s + 2)). Work at the pace of the slowest note-taker and land hard on the result: f(t) = 2 − e^(−2t) for t ≥ 0; the check f(0) = 1 matches the initial-value theorem applied to the original F(s).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TB1 as listed by the syllabus: W. H. Hayt, J. E. Kemmerly and S. M. Durbin, Engineering Circuit Analysis, McGraw-Hill / Tata McGraw-Hill, 8th ed., 2012; Ch. 14, pp. 546-553.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Five theorems do almost all the work. Then add the part they are examined on - The differentiation theorem is why the s-domain handles initial conditions for free — the f(0−) term is the initial conditio…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"linearity" constrain here, and what would break if it did not hold?
Animation instructions: slots light up top to bottom, each with its small animation — the waveform sliding for slot 2, the envelope wrapping for slot 3 — and the green box on slot 4 pulsing twice at the end.
Transition style: Fade
[Sources] VTU BEC303 Network Analysis syllabus, 2025 scheme, Module 4: Laplace Transformation and Applications. TB1 as listed by the syllabus: W. H. Hayt, J. E. Kemmerly and S. M. Durbin, Engineering Circuit Analysis, McGraw-Hill / Tata McGraw-Hill, 8th ed., 2012; Ch. 14, pp. 553-561.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Decompose the expression into standard functions and operations - and check everyone has written it before moving on. At the cost panel, translate it: For an mth derivative, m initial-condition terms appear, which is exactly the number a differential equation of that order needs.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TB1 as listed by the syllabus: W. H. Hayt, J. E. Kemmerly and S. M. Durbin, Engineering Circuit Analysis, McGraw-Hill / Tata McGraw-Hill, 8th ed., 2012; Ch. 14, pp. 553-561.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Transform the equation 2·di/dt + 6i = 12·u(t), with i(0−) = 3 A. Work at the pace of the slowest note-taker and land hard on the result: I(s) = (3s + 6)/(s(s + 3)); the initial condition of 3 A entered as the −6 term without any separate boundary-condition step.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TB1 as listed by the syllabus: W. H. Hayt, J. E. Kemmerly and S. M. Durbin, Engineering Circuit Analysis, McGraw-Hill / Tata McGraw-Hill, 8th ed., 2012; Ch. 14, pp. 553-561.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initial-value theorem states f(0+) = lim(s→∞) s·F(s), and the final-value theorem states f(∞) = lim(s→0) s·F(s). Then add the part they are examined on - Both theorems are free checks, but the final-value theorem lies confidently when a pole is not strictly in the left half pla…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"initial-value theorem" constrain here, and what would break if it did not hold?
Animation instructions: left gauge needle sweeps to its reading with its time plot, then the right gauge sweeps, then the red banner slides up and the s-plane inset shades in three stages: green LHP, red axis, red RHP.
Transition style: Fade
[Sources] VTU BEC303 Network Analysis syllabus, 2025 scheme, Module 4: Laplace Transformation and Applications. TB1 as listed by the syllabus: W. H. Hayt, J. E. Kemmerly and S. M. Durbin, Engineering Circuit Analysis, McGraw-Hill / Tata McGraw-Hill, 8th ed., 2012; Ch. 14, pp. 561-564.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Form s·F(s) - and check everyone has written it before moving on. At the cost panel, translate it: The pole check is the only part with any cost, and skipping it is what makes the theorem dangerous.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TB1 as listed by the syllabus: W. H. Hayt, J. E. Kemmerly and S. M. Durbin, Engineering Circuit Analysis, McGraw-Hill / Tata McGraw-Hill, 8th ed., 2012; Ch. 14, pp. 561-564.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F(s) = (3s + 6)/(s(s + 3)) from the previous unit. Work at the pace of the slowest note-taker and land hard on the result: The current starts at 3 A and settles at 2 A, both read directly from F(s) without any inverse transform.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TB1 as listed by the syllabus: W. H. Hayt, J. E. Kemmerly and S. M. Durbin, Engineering Circuit Analysis, McGraw-Hill / Tata McGraw-Hill, 8th ed., 2012; Ch. 14, pp. 561-564.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Applying the differentiation and integration theorems to the element laws gives the s-domain impedances directly: a resistor is R, an inductor is sL and a… Then add the part they are examined on - Replace R, L and C by R, sL and 1/sC and every DC technique you own becomes a full transient solver.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"generalised impedance" constrain here, and what would break if it did not hold?
Animation instructions: table rows fill in left to right, then the generalisation arrow sweeps from column 2 to column 3, then the s-plane point appears with its projections, then the two mini circuits fade in.
Transition style: Fade
[Sources] VTU BEC303 Network Analysis syllabus, 2025 scheme, Module 4: Laplace Transformation and Applications. TB1 as listed by the syllabus: W. H. Hayt, J. E. Kemmerly and S. M. Durbin, Engineering Circuit Analysis, McGraw-Hill / Tata McGraw-Hill, 8th ed., 2012; Ch. 15, pp. 571-578.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Replace every resistor by R - and check everyone has written it before moving on. At the cost panel, translate it: The cost moves from repeated numeric solves to a single symbolic one.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TB1 as listed by the syllabus: W. H. Hayt, J. E. Kemmerly and S. M. Durbin, Engineering Circuit Analysis, McGraw-Hill / Tata McGraw-Hill, 8th ed., 2012; Ch. 15, pp. 571-578.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series R = 1 kΩ and C = 1 µF driven by a 10 V step, capacitor initially uncharged. Work at the pace of the slowest note-taker and land hard on the result: i(t) = 10·e^(−1000t) mA, with the pole at s = −1000 corresponding exactly to τ = RC = 1 ms.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TB1 as listed by the syllabus: W. H. Hayt, J. E. Kemmerly and S. M. Durbin, Engineering Circuit Analysis, McGraw-Hill / Tata McGraw-Hill, 8th ed., 2012; Ch. 15, pp. 571-578.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initial-condition terms produced by the differentiation theorem can be drawn as sources rather than carried as algebra. Then add the part they are examined on - Initial conditions become sources, so the s-domain circuit needs one solve where the time domain needed three.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"initial-condition generator" constrain here, and what would break if it did not hold?
Animation instructions: the grid outline draws, the four cells populate row by row with the source symbols snapping into place, then the column divider label appears, then the banner slides up.
Transition style: Fade
[Sources] VTU BEC303 Network Analysis syllabus, 2025 scheme, Module 4: Laplace Transformation and Applications. TB1 as listed by the syllabus: W. H. Hayt, J. E. Kemmerly and S. M. Durbin, Engineering Circuit Analysis, McGraw-Hill / Tata McGraw-Hill, 8th ed., 2012; Ch. 15, pp. 571-578.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Find v_C(0−) and i_L(0−) from the pre-switching steady state - and check everyone has written it before moving on. At the cost panel, translate it: Replaces the three-stage time-domain pipeline with a single pass.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TB1 as listed by the syllabus: W. H. Hayt, J. E. Kemmerly and S. M. Durbin, Engineering Circuit Analysis, McGraw-Hill / Tata McGraw-Hill, 8th ed., 2012; Ch. 15, pp. 571-578.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An inductor L = 2 H carrying 3 A at t = 0−, in series with 6 Ω and a 12 V step. Work at the pace of the slowest note-taker and land hard on the result: i(t) = 2 + e^(−3t) A, starting at 3 A and settling at 2 A — both endpoints matching the value theorems applied earlier.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TB1 as listed by the syllabus: W. H. Hayt, J. E. Kemmerly and S. M. Durbin, Engineering Circuit Analysis, McGraw-Hill / Tata McGraw-Hill, 8th ed., 2012; Ch. 15, pp. 571-578.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Nodal and mesh analysis proceed in the s-domain exactly as in DC, with conductances replaced by admittances Y(s) and resistances by impedances Z(s). Then add the part they are examined on - One symbolic nodal solve in s replaces the whole natural-plus-forced-plus-initial-condition assembly.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"s-domain nodal analysis" constrain here, and what would break if it did not hold?
Animation instructions: circuit fades in, matrix entries populate one by one, the green initial-condition terms land in the right-hand vector last, then V(s) appears, then the decomposition strip peels into its three labelled parts.
Transition style: Fade
[Sources] VTU BEC303 Network Analysis syllabus, 2025 scheme, Module 4: Laplace Transformation and Applications. TB1 as listed by the syllabus: W. H. Hayt, J. E. Kemmerly and S. M. Durbin, Engineering Circuit Analysis, McGraw-Hill / Tata McGraw-Hill, 8th ed., 2012; Ch. 15, pp. 578-585.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Transform every source and replace every element by its s-domain impedance - and check everyone has written it before moving on. At the cost panel, translate it: Prefer reducing the network before solving; polynomial arithmetic punishes unnecessary nodes.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TB1 as listed by the syllabus: W. H. Hayt, J. E. Kemmerly and S. M. Durbin, Engineering Circuit Analysis, McGraw-Hill / Tata McGraw-Hill, 8th ed., 2012; Ch. 15, pp. 578-585.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10/s V source through R = 2 Ω to a node with L = 1 H to ground, inductor initially unenergised. Work at the pace of the slowest note-taker and land hard on the result: v(t) = 10·e^(−2t) V; a single symbolic solve produced the complete transient with no separate initial-condition step.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TB1 as listed by the syllabus: W. H. Hayt, J. E. Kemmerly and S. M. Durbin, Engineering Circuit Analysis, McGraw-Hill / Tata McGraw-Hill, 8th ed., 2012; Ch. 15, pp. 578-585.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Every theorem from Module 2 transfers into the s-domain with resistance replaced by Z(s). Then add the part they are examined on - In the s-domain, sources at different frequencies stop being a special case — they are just different rational terms.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"Z_th(s)" constrain here, and what would break if it did not hold?
Animation instructions: each row's DC form appears, the arrow sweeps right, the s-domain form appears; after row 3 completes, the green badge pops in and pulses.
Transition style: Fade
[Sources] VTU BEC303 Network Analysis syllabus, 2025 scheme, Module 4: Laplace Transformation and Applications. TB1 as listed by the syllabus: W. H. Hayt, J. E. Kemmerly and S. M. Durbin, Engineering Circuit Analysis, McGraw-Hill / Tata McGraw-Hill, 8th ed., 2012; Ch. 15, pp. 585-588.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Transform the network into the s-domain including initial-condition sources - and check everyone has written it before moving on. At the cost panel, translate it: The payoff is larger than in DC, because each avoided solve is a symbolic one.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TB1 as listed by the syllabus: W. H. Hayt, J. E. Kemmerly and S. M. Durbin, Engineering Circuit Analysis, McGraw-Hill / Tata McGraw-Hill, 8th ed., 2012; Ch. 15, pp. 585-588.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10/s source in series with 1 Ω and 1 H; find the s-domain Thévenin equivalent at the inductor terminals. Work at the pace of the slowest note-taker and land hard on the result: I(s) = 10/(s(s+1)), which inverts to i(t) = 10(1 − e^(−t)) A — the familiar rising exponential, obtained through a two-element eq…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TB1 as listed by the syllabus: W. H. Hayt, J. E. Kemmerly and S. M. Durbin, Engineering Circuit Analysis, McGraw-Hill / Tata McGraw-Hill, 8th ed., 2012; Ch. 15, pp. 585-588.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transfer function H(s) is the ratio of an output transform to an input transform with all initial conditions set to zero, H(s) = Y(s)/X(s). Then add the part they are examined on - Poles are the circuit's natural frequencies and zeros are what it blocks — together they are the circuit, independent of any…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"transfer function H(s)" constrain here, and what would break if it did not hold?
Animation instructions: axes draw, the pole crosses appear, the zero circle appears, then the α and ω_d construction lines extend, then the time response draws, then the two curved mapping arrows sweep across from pole to envelope and from pole to ringing period.
Transition style: Fade
[Sources] VTU BEC303 Network Analysis syllabus, 2025 scheme, Module 4: Laplace Transformation and Applications. TB1 as listed by the syllabus: W. H. Hayt, J. E. Kemmerly and S. M. Durbin, Engineering Circuit Analysis, McGraw-Hill / Tata McGraw-Hill, 8th ed., 2012; Ch. 15, pp. 588-589.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Set all initial conditions to zero - and check everyone has written it before moving on. At the cost panel, translate it: The pole-zero plot is the cheapest complete summary of a linear circuit that exists.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TB1 as listed by the syllabus: W. H. Hayt, J. E. Kemmerly and S. M. Durbin, Engineering Circuit Analysis, McGraw-Hill / Tata McGraw-Hill, 8th ed., 2012; Ch. 15, pp. 588-589.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series RC low-pass with R = 1 kΩ, C = 1 µF, output taken across C. Work at the pace of the slowest note-taker and land hard on the result: H(s) = 1000/(s + 1000): a single pole at −1000 rad/s, which is simultaneously the reciprocal of τ and the −3 dB cutoff frequency.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TB1 as listed by the syllabus: W. H. Hayt, J. E. Kemmerly and S. M. Durbin, Engineering Circuit Analysis, McGraw-Hill / Tata McGraw-Hill, 8th ed., 2012; Ch. 15, pp. 588-589.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three standard responses are related by integration, because their inputs are. Then add the part they are examined on - Impulse, step and ramp responses are one function integrated repeatedly — compute one and the others follow by dividing by 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"impulse response h(t)" constrain here, and what would break if it did not hold?
Animation instructions: stage 1 builds — spike, block, decaying response — then the integration arrow sweeps to stage 2 which builds, then again to stage 3; finally the three transforms type in along the bottom.
Transition style: Fade
[Sources] VTU BEC303 Network Analysis syllabus, 2025 scheme, Module 4: Laplace Transformation and Applications. TB1 as listed by the syllabus: W. H. Hayt, J. E. Kemmerly and S. M. Durbin, Engineering Circuit Analysis, McGraw-Hill / Tata McGraw-Hill, 8th ed., 2012; Ch. 14, pp. 543-546.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Obtain H(s) for the circuit with zero initial conditions - and check everyone has written it before moving on. At the cost panel, translate it: The ramp introduces a double pole at the origin, which needs the repeated-pole expansion rule.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TB1 as listed by the syllabus: W. H. Hayt, J. E. Kemmerly and S. M. Durbin, Engineering Circuit Analysis, McGraw-Hill / Tata McGraw-Hill, 8th ed., 2012; Ch. 14, pp. 543-546.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H(s) = 1000/(s + 1000) from the RC low-pass. Work at the pace of the slowest note-taker and land hard on the result: Impulse response 1000e^(−1000t) and step response 1 − e^(−1000t), each the derivative and integral of the other as required.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TB1 as listed by the syllabus: W. H. Hayt, J. E. Kemmerly and S. M. Durbin, Engineering Circuit Analysis, McGraw-Hill / Tata McGraw-Hill, 8th ed., 2012; Ch. 14, pp. 543-546.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Waveform synthesis is the practice of writing an arbitrary piecewise-linear waveform as a sum of shifted steps, ramps and impulses, so that its transform… Then add the part they are examined on - Add a step at every jump and a ramp at every slope change, and the transform writes itself.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"piecewise waveform" constrain here, and what would break if it did not hold?
Animation instructions: the target waveform draws, then each component appears in turn with its marker flashing on the target, then the components visibly stack and sum to reproduce the target, then the transform expression types in.
Transition style: Fade
[Sources] VTU BEC303 Network Analysis syllabus, 2025 scheme, Module 4: Laplace Transformation and Applications. Assigned by the syllabus to TB2: K. Channa Venkatesh and D. Ganesh Rao, Network Analysis - A Simplified Approach, Cengage India, 2nd ed., 2012; TB2 §6.8.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Sketch the waveform and mark every jump and every slope change - and check everyone has written it before moving on. At the cost panel, translate it: A waveform that is not piecewise linear needs a different decomposition entirely.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Assigned by the syllabus to TB2: K. Channa Venkatesh and D. Ganesh Rao, Network Analysis - A Simplified Approach, Cengage India, 2nd ed., 2012; TB2 §6.8.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triangular pulse rising from 0 to 1 over 0 ≤ t ≤ 1 and falling back to 0 over 1 ≤ t ≤ 2. Work at the pace of the slowest note-taker and land hard on the result: F(s) = (1 − 2e^(−s) + e^(−2s))/s² = (1 − e^(−s))²/s², a compact form that would be tedious to obtain by direct integration.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Assigned by the syllabus to TB2: K. Channa Venkatesh and D. Ganesh Rao, Network Analysis - A Simplified Approach, Cengage India, 2nd ed., 2012; TB2 §6.8. TB2 was NOT supplied in this environment, so this unit is aligned to the verbatim syllabus headings, cites only the chapter the syllabus gives, and claims no page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Convolution is the time-domain operation corresponding to multiplication in the s-domain: if Y(s) = H(s)·X(s) then y(t) = ∫₀^t h(τ)·x(t − τ) dτ. Then add the part they are examined on - Convolution is what multiplication in s means physically — the present output is a weighted memory of past inputs.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"convolution integral" constrain here, and what would break if it did not hold?
Animation instructions: track 1 draws, track 2 appears flipped at the far left, then slides right in steps with the overlap shading and the arrow plotting a new point on track 3 at each step, then the side note appears once the output curve is complete.
Transition style: Fade
[Sources] VTU BEC303 Network Analysis syllabus, 2025 scheme, Module 4: Laplace Transformation and Applications. TB1 as listed by the syllabus: W. H. Hayt, J. E. Kemmerly and S. M. Durbin, Engineering Circuit Analysis, McGraw-Hill / Tata McGraw-Hill, 8th ed., 2012; Ch. 15, pp. 589-598.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Obtain the impulse response h(t) - and check everyone has written it before moving on. At the cost panel, translate it: The s-domain route converts an O(n²) integral into a polynomial multiplication, which is the entire point.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TB1 as listed by the syllabus: W. H. Hayt, J. E. Kemmerly and S. M. Durbin, Engineering Circuit Analysis, McGraw-Hill / Tata McGraw-Hill, 8th ed., 2012; Ch. 15, pp. 589-598.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h(t) = e^(−t)·u(t) convolved with x(t) = u(t). Work at the pace of the slowest note-taker and land hard on the result: y(t) = 1 − e^(−t), confirmed by both routes — and the s-domain route took one line against three.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TB1 as listed by the syllabus: W. H. Hayt, J. E. Kemmerly and S. M. Durbin, Engineering Circuit Analysis, McGraw-Hill / Tata McGraw-Hill, 8th ed., 2012; Ch. 15, pp. 589-598.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pole position on the s-plane encodes both the transient and the frequency behaviour of a circuit, and the first-order low-pass filter is the clearest de… Then add the part they are examined on - Pole distance from the origin is bandwidth and is also the reciprocal of settling time — the two are the same number seen tw…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"s-plane geometry" constrain here, and what would break if it did not hold?
Animation instructions: s-plane and pole draw, the distance arrow extends, the upper panel builds with its −3 dB marker, the lower panel builds with its rise-time marker, the connecting strip types in, then the ghosted far pole slides in and both panels visibly stretch and compress in sync.
Transition style: Fade
[Sources] VTU BEC303 Network Analysis syllabus, 2025 scheme, Module 4: Laplace Transformation and Applications. TB1 as listed by the syllabus: W. H. Hayt, J. E. Kemmerly and S. M. Durbin, Engineering Circuit Analysis, McGraw-Hill / Tata McGraw-Hill, 8th ed., 2012; Ch. 15, pp. 598-602.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Find the transfer function of the first-order network - and check everyone has written it before moving on. At the cost panel, translate it: For higher-order filters the same reading applies approximately to the dominant pole.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TB1 as listed by the syllabus: W. H. Hayt, J. E. Kemmerly and S. M. Durbin, Engineering Circuit Analysis, McGraw-Hill / Tata McGraw-Hill, 8th ed., 2012; Ch. 15, pp. 598-602.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An RC low-pass with R = 1 kΩ and C = 1 µF. Work at the pace of the slowest note-taker and land hard on the result: f_c = 159.2 Hz and t_rise = 2.2 ms, and their product is 0.35 exactly as the relationship predicts.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TB1 as listed by the syllabus: W. H. Hayt, J. E. Kemmerly and S. M. Durbin, Engineering Circuit Analysis, McGraw-Hill / Tata McGraw-Hill, 8th ed., 2012; Ch. 15, pp. 598-602.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poles of a network function are its natural frequencies, and their positions on the s-plane classify the natural response completely. Then add the part they are examined on - Real part sets how fast it dies, imaginary part sets how fast it rings, and anything not in the left half plane does not set…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"natural frequencies" constrain here, and what would break if it did not hold?
Animation instructions: axes draw, then each region's pole marker and its inset sketch appear in order from far-left to right-half-plane, with the amber and red tags landing last, then the radial damping-ratio lines sweep in.
Transition style: Fade
[Sources] VTU BEC303 Network Analysis syllabus, 2025 scheme, Module 4: Laplace Transformation and Applications. TB1 as listed by the syllabus: W. H. Hayt, J. E. Kemmerly and S. M. Durbin, Engineering Circuit Analysis, McGraw-Hill / Tata McGraw-Hill, 8th ed., 2012; Ch. 15, pp. 602-606.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Find the denominator of the network function - and check everyone has written it before moving on. At the cost panel, translate it: The pole closest to the jω axis dominates the long-term response and often justifies a first-order approximation.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TB1 as listed by the syllabus: W. H. Hayt, J. E. Kemmerly and S. M. Durbin, Engineering Circuit Analysis, McGraw-Hill / Tata McGraw-Hill, 8th ed., 2012; Ch. 15, pp. 602-606.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network with poles at s = −2000 and s = −100 ± j400. Work at the pace of the slowest note-taker and land hard on the result: The response is dominated by a lightly damped 400 rad/s ringing lasting about 50 ms, with the fast −2000 pole contributing only a…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TB1 as listed by the syllabus: W. H. Hayt, J. E. Kemmerly and S. M. Durbin, Engineering Circuit Analysis, McGraw-Hill / Tata McGraw-Hill, 8th ed., 2012; Ch. 15, pp. 602-606.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Synthesis runs the analysis map backwards: given a desired H(s), find a network that produces it. Then add the part they are examined on - Synthesis is analysis reversed plus a realisability test — and the trap is that cascaded passive sections load each other.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"synthesis" constrain here, and what would break if it did not hold?
Animation instructions: the analysis lane animates left to right, then the synthesis lane animates right to left and pauses at the realisability gate which flashes, then the unbuffered cascade appears with its red warning, then the buffered version appears with its green tick.
Transition style: Fade
[Sources] VTU BEC303 Network Analysis syllabus, 2025 scheme, Module 4: Laplace Transformation and Applications. TB1 as listed by the syllabus: W. H. Hayt, J. E. Kemmerly and S. M. Durbin, Engineering Circuit Analysis, McGraw-Hill / Tata McGraw-Hill, 8th ed., 2012; Ch. 15, pp. 606-610.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the target H(s) in factored form - and check everyone has written it before moving on. At the cost panel, translate it: The verification step is not optional — loading errors are invisible until the circuit is analysed forward again.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4: Laplace Transformation and Applications. TB1 as listed by the syllabus: W. H. Hayt, J. E. Kemmerly and S. M. Durbin, Engineering Circuit Analysis, McGraw-Hill / Tata McGraw-Hill, 8th ed., 2012; Ch. 15, pp. 606-610.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Realise H(s) = 1000/(s + 1000) as a passive RC network. Work at the pace of the slowest note-taker and land hard on the result: R = 1 kΩ with C = 1 µF realises the target exactly, and forward analysis confirms it — but cascading a second identical section w…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4: Laplace Transformation and Applications. TB1 as listed by the syllabus: W. H. Hayt, J. E. Kemmerly and S. M. Durbin, Engineering Circuit Analysis, McGraw-Hill / Tata McGraw-Hill, 8th ed., 2012; Ch. 15, pp. 606-610.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BEC303 Network Analysis syllabus, 2025 scheme, Module 4: Laplace Transformation and Applications, 14 hours, Hayt 8e Ch. 14 (14.3–14.7), Ch. 15 (15.1–15.8), pp. 540–564 and 571–610; waveform and network synthesis from syllabus TB2 §6.8. TB1: W. H. Hayt, J. E. Kemmerly and S. M. Durbin, Engineering Circuit Analysis, McGraw-Hill / Tata McGraw-Hill, 8th ed., 2012.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BEC303 Network Analysis syllabus, 2025 scheme, Module 4: Laplace Transformation and Applications, 14 hours, Hayt 8e Ch. 14 (14.3–14.7), Ch. 15 (15.1–15.8), pp. 540–564 and 571–610; waveform and network synthesis from syllabus TB2 §6.8. TB1: W. H. Hayt, J. E. Kemmerly and S. M. Durbin, Engineering Circuit Analysis, McGraw-Hill / Tata McGraw-Hill, 8th ed., 2012.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BEC303 Network Analysis syllabus, 2025 scheme, Module 4: Laplace Transformation and Applications, 14 hours, Hayt 8e Ch. 14 (14.3–14.7), Ch. 15 (15.1–15.8), pp. 540–564 and 571–610; waveform and network synthesis from syllabus TB2 §6.8. TB1: W. H. Hayt, J. E. Kemmerly and S. M. Durbin, Engineering Circuit Analysis, McGraw-Hill / Tata McGraw-Hill, 8th ed., 2012.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by telling them exactly where the assessment lives and what it tests. Name the two files, say the mark split out loud, and read the Bloom spread so they understand that roughly a quarter of the paper is not recall at all. Then read the integrity line word for word, because ambiguity there costs students more than any technical error in this module.
Pause cue: Pause after the Bloom spread and before the integrity statement.
Pointing cue: Point at the quiz panel, then the assignment panel, then the integrity line at the bottom.
Question to ask students: Ask: which course outcome do you feel least ready on, and which unit would you reread tonight to fix it?
Animation instructions: Quiz panel fades in from the left, then the assignment panel from the right, then the pointers strip appears, then the integrity line fades in last.
Transition style: Fade
[Sources] VTU BEC303 Network Analysis syllabus, 2025 scheme, Module 4: Laplace Transformation and Applications, 14 hours, Hayt 8e Ch. 14 (14.3–14.7), Ch. 15 (15.1–15.8), pp. 540–564 and 571–610; waveform and network synthesis from syllabus TB2 §6.8. TB1: W. H. Hayt, J. E. Kemmerly and S. M. Durbin, Engineering Circuit Analysis, McGraw-Hill / Tata McGraw-Hill, 8th ed., 2012. Assessment counts: 20 MCQs, 13 descriptive questions, 13 assignment items.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Network Analysis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Module 4 asks: Can I replace calculus with algebra — solve the whole transient, initial conditions included, without ever…</a:t>
            </a:r>
            <a:endParaRPr lang="en-US" sz="1100" dirty="0"/>
          </a:p>
        </p:txBody>
      </p:sp>
      <p:sp>
        <p:nvSpPr>
          <p:cNvPr id="4" name="shape-1-2"/>
          <p:cNvSpPr/>
          <p:nvPr/>
        </p:nvSpPr>
        <p:spPr>
          <a:xfrm>
            <a:off x="552450" y="1266825"/>
            <a:ext cx="990600" cy="47625"/>
          </a:xfrm>
          <a:prstGeom prst="rect">
            <a:avLst/>
          </a:prstGeom>
          <a:solidFill>
            <a:srgbClr val="0F6FC6"/>
          </a:solidFill>
          <a:ln/>
        </p:spPr>
      </p:sp>
      <p:sp>
        <p:nvSpPr>
          <p:cNvPr id="5" name="shape-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01</a:t>
            </a:r>
            <a:endParaRPr lang="en-US" sz="900" dirty="0"/>
          </a:p>
        </p:txBody>
      </p:sp>
      <p:sp>
        <p:nvSpPr>
          <p:cNvPr id="9" name="shape-1-7"/>
          <p:cNvSpPr/>
          <p:nvPr/>
        </p:nvSpPr>
        <p:spPr>
          <a:xfrm>
            <a:off x="742950" y="1600200"/>
            <a:ext cx="5334000" cy="2038350"/>
          </a:xfrm>
          <a:prstGeom prst="rect">
            <a:avLst/>
          </a:prstGeom>
          <a:solidFill>
            <a:srgbClr val="FFFFFF"/>
          </a:solidFill>
          <a:ln w="12700">
            <a:solidFill>
              <a:srgbClr val="D7DEE8"/>
            </a:solidFill>
            <a:prstDash val="solid"/>
          </a:ln>
        </p:spPr>
      </p:sp>
      <p:sp>
        <p:nvSpPr>
          <p:cNvPr id="10" name="text"/>
          <p:cNvSpPr/>
          <p:nvPr/>
        </p:nvSpPr>
        <p:spPr>
          <a:xfrm>
            <a:off x="933450" y="1771650"/>
            <a:ext cx="49530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4</a:t>
            </a:r>
            <a:endParaRPr lang="en-US" sz="1100" dirty="0"/>
          </a:p>
          <a:p>
            <a:pPr algn="l" indent="0" marL="0">
              <a:lnSpc>
                <a:spcPct val="105000"/>
              </a:lnSpc>
              <a:buNone/>
            </a:pPr>
            <a:r>
              <a:rPr lang="en-US" sz="2600" b="1" dirty="0">
                <a:solidFill>
                  <a:srgbClr val="12203A"/>
                </a:solidFill>
                <a:latin typeface="Segoe UI" pitchFamily="34" charset="0"/>
                <a:ea typeface="Segoe UI" pitchFamily="34" charset="-122"/>
                <a:cs typeface="Segoe UI" pitchFamily="34" charset="-120"/>
              </a:rPr>
              <a:t>Laplace Transformation and Applications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14 contact hours  |  16 teaching units  |  56 slides</a:t>
            </a:r>
            <a:endParaRPr lang="en-US" sz="1100" dirty="0"/>
          </a:p>
        </p:txBody>
      </p:sp>
      <p:sp>
        <p:nvSpPr>
          <p:cNvPr id="11" name="shape-1-9"/>
          <p:cNvSpPr/>
          <p:nvPr/>
        </p:nvSpPr>
        <p:spPr>
          <a:xfrm>
            <a:off x="6572250" y="1600200"/>
            <a:ext cx="4762500" cy="2038350"/>
          </a:xfrm>
          <a:prstGeom prst="rect">
            <a:avLst/>
          </a:prstGeom>
          <a:solidFill>
            <a:srgbClr val="F1F5FA"/>
          </a:solidFill>
          <a:ln w="12700">
            <a:solidFill>
              <a:srgbClr val="D7DEE8"/>
            </a:solidFill>
            <a:prstDash val="solid"/>
          </a:ln>
        </p:spPr>
      </p:sp>
      <p:sp>
        <p:nvSpPr>
          <p:cNvPr id="12" name="text"/>
          <p:cNvSpPr/>
          <p:nvPr/>
        </p:nvSpPr>
        <p:spPr>
          <a:xfrm>
            <a:off x="6781800" y="1771650"/>
            <a:ext cx="43434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PRESCRIBED TEXTBOOK</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Engineering Circuit Analysis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 H. Hayt, J. E. Kemmerly and S. M. Durbin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McGraw-Hill / Tata McGraw-Hill, 8th edition, 2012</a:t>
            </a:r>
            <a:endParaRPr lang="en-US" sz="1100" dirty="0"/>
          </a:p>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Hayt 8e Ch. 14 (14.3–14.7), Ch. 15 (15.1–15.8), pp. 540–564 and 571–610; waveform and network synthesis from syllabus TB2 §6.8</a:t>
            </a:r>
            <a:endParaRPr lang="en-US" sz="1100" dirty="0"/>
          </a:p>
        </p:txBody>
      </p:sp>
      <p:sp>
        <p:nvSpPr>
          <p:cNvPr id="13" name="text"/>
          <p:cNvSpPr/>
          <p:nvPr/>
        </p:nvSpPr>
        <p:spPr>
          <a:xfrm>
            <a:off x="742950" y="3810000"/>
            <a:ext cx="10572750" cy="2476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Mesh &amp; Nodal Analysis   •   Network Theorems   •   Transient Response   •   Laplace / s-Domain   •   Two-Port Networks</a:t>
            </a:r>
            <a:endParaRPr lang="en-US" sz="1100" dirty="0"/>
          </a:p>
        </p:txBody>
      </p:sp>
      <p:sp>
        <p:nvSpPr>
          <p:cNvPr id="14" name="text"/>
          <p:cNvSpPr/>
          <p:nvPr/>
        </p:nvSpPr>
        <p:spPr>
          <a:xfrm>
            <a:off x="742950" y="4133850"/>
            <a:ext cx="10572750" cy="533400"/>
          </a:xfrm>
          <a:prstGeom prst="rect">
            <a:avLst/>
          </a:prstGeom>
          <a:noFill/>
          <a:ln/>
        </p:spPr>
        <p:txBody>
          <a:bodyPr wrap="square" lIns="0" tIns="0" rIns="0" bIns="0" rtlCol="0" anchor="t">
            <a:normAutofit/>
          </a:bodyPr>
          <a:lstStyle/>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Transform turns calculus algebraic   →   Initial conditions become sources   →   Impedance generalises to s   →   Poles predict the response shape   →   Synthesis runs the map backwards</a:t>
            </a:r>
            <a:endParaRPr lang="en-US" sz="1300" dirty="0"/>
          </a:p>
        </p:txBody>
      </p:sp>
      <p:sp>
        <p:nvSpPr>
          <p:cNvPr id="15" name="text"/>
          <p:cNvSpPr/>
          <p:nvPr/>
        </p:nvSpPr>
        <p:spPr>
          <a:xfrm>
            <a:off x="742950" y="4838700"/>
            <a:ext cx="1057275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EC · Semester 3 · BEC303 · generated for Phase 2 conversion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this module is actually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question, five beats, and the scope it does not cover.</a:t>
            </a:r>
            <a:endParaRPr lang="en-US" sz="1100" dirty="0"/>
          </a:p>
        </p:txBody>
      </p:sp>
      <p:sp>
        <p:nvSpPr>
          <p:cNvPr id="4" name="shape-2-2"/>
          <p:cNvSpPr/>
          <p:nvPr/>
        </p:nvSpPr>
        <p:spPr>
          <a:xfrm>
            <a:off x="552450" y="1266825"/>
            <a:ext cx="990600" cy="47625"/>
          </a:xfrm>
          <a:prstGeom prst="rect">
            <a:avLst/>
          </a:prstGeom>
          <a:solidFill>
            <a:srgbClr val="0F6FC6"/>
          </a:solidFill>
          <a:ln/>
        </p:spPr>
      </p:sp>
      <p:sp>
        <p:nvSpPr>
          <p:cNvPr id="5" name="shape-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Overview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02</a:t>
            </a:r>
            <a:endParaRPr lang="en-US" sz="900" dirty="0"/>
          </a:p>
        </p:txBody>
      </p:sp>
      <p:sp>
        <p:nvSpPr>
          <p:cNvPr id="9" name="shape-2-7"/>
          <p:cNvSpPr/>
          <p:nvPr/>
        </p:nvSpPr>
        <p:spPr>
          <a:xfrm>
            <a:off x="552450" y="1524000"/>
            <a:ext cx="11087100" cy="800100"/>
          </a:xfrm>
          <a:prstGeom prst="rect">
            <a:avLst/>
          </a:prstGeom>
          <a:solidFill>
            <a:srgbClr val="FDF3EC"/>
          </a:solidFill>
          <a:ln w="12700">
            <a:solidFill>
              <a:srgbClr val="D7DEE8"/>
            </a:solidFill>
            <a:prstDash val="solid"/>
          </a:ln>
        </p:spPr>
      </p:sp>
      <p:sp>
        <p:nvSpPr>
          <p:cNvPr id="10" name="text"/>
          <p:cNvSpPr/>
          <p:nvPr/>
        </p:nvSpPr>
        <p:spPr>
          <a:xfrm>
            <a:off x="742950" y="1676400"/>
            <a:ext cx="10668000" cy="590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DRIVING QUESTION</a:t>
            </a:r>
            <a:endParaRPr lang="en-US" sz="1100" dirty="0"/>
          </a:p>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Can I replace calculus with algebra — solve the whole transient, initial conditions included, without ever writing a differential equation?</a:t>
            </a:r>
            <a:endParaRPr lang="en-US" sz="1100" dirty="0"/>
          </a:p>
        </p:txBody>
      </p:sp>
      <p:sp>
        <p:nvSpPr>
          <p:cNvPr id="11" name="shape-2-9"/>
          <p:cNvSpPr/>
          <p:nvPr/>
        </p:nvSpPr>
        <p:spPr>
          <a:xfrm>
            <a:off x="552450" y="2552700"/>
            <a:ext cx="2076450" cy="1162050"/>
          </a:xfrm>
          <a:prstGeom prst="rect">
            <a:avLst/>
          </a:prstGeom>
          <a:solidFill>
            <a:srgbClr val="F1F5FA"/>
          </a:solidFill>
          <a:ln w="12700">
            <a:solidFill>
              <a:srgbClr val="D7DEE8"/>
            </a:solidFill>
            <a:prstDash val="solid"/>
          </a:ln>
        </p:spPr>
      </p:sp>
      <p:sp>
        <p:nvSpPr>
          <p:cNvPr id="12" name="text"/>
          <p:cNvSpPr/>
          <p:nvPr/>
        </p:nvSpPr>
        <p:spPr>
          <a:xfrm>
            <a:off x="7048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Transform turns calculus algebraic</a:t>
            </a:r>
            <a:endParaRPr lang="en-US" sz="1100" dirty="0"/>
          </a:p>
        </p:txBody>
      </p:sp>
      <p:sp>
        <p:nvSpPr>
          <p:cNvPr id="13" name="shape-2-11"/>
          <p:cNvSpPr/>
          <p:nvPr/>
        </p:nvSpPr>
        <p:spPr>
          <a:xfrm>
            <a:off x="2781300" y="2552700"/>
            <a:ext cx="2076450" cy="1162050"/>
          </a:xfrm>
          <a:prstGeom prst="rect">
            <a:avLst/>
          </a:prstGeom>
          <a:solidFill>
            <a:srgbClr val="F1F5FA"/>
          </a:solidFill>
          <a:ln w="12700">
            <a:solidFill>
              <a:srgbClr val="D7DEE8"/>
            </a:solidFill>
            <a:prstDash val="solid"/>
          </a:ln>
        </p:spPr>
      </p:sp>
      <p:sp>
        <p:nvSpPr>
          <p:cNvPr id="14" name="text"/>
          <p:cNvSpPr/>
          <p:nvPr/>
        </p:nvSpPr>
        <p:spPr>
          <a:xfrm>
            <a:off x="29337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Initial conditions become sources</a:t>
            </a:r>
            <a:endParaRPr lang="en-US" sz="1100" dirty="0"/>
          </a:p>
        </p:txBody>
      </p:sp>
      <p:sp>
        <p:nvSpPr>
          <p:cNvPr id="15" name="shape-2-13"/>
          <p:cNvSpPr/>
          <p:nvPr/>
        </p:nvSpPr>
        <p:spPr>
          <a:xfrm>
            <a:off x="5010150" y="2552700"/>
            <a:ext cx="2076450" cy="1162050"/>
          </a:xfrm>
          <a:prstGeom prst="rect">
            <a:avLst/>
          </a:prstGeom>
          <a:solidFill>
            <a:srgbClr val="F1F5FA"/>
          </a:solidFill>
          <a:ln w="12700">
            <a:solidFill>
              <a:srgbClr val="D7DEE8"/>
            </a:solidFill>
            <a:prstDash val="solid"/>
          </a:ln>
        </p:spPr>
      </p:sp>
      <p:sp>
        <p:nvSpPr>
          <p:cNvPr id="16" name="text"/>
          <p:cNvSpPr/>
          <p:nvPr/>
        </p:nvSpPr>
        <p:spPr>
          <a:xfrm>
            <a:off x="51625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Impedance generalises to s</a:t>
            </a:r>
            <a:endParaRPr lang="en-US" sz="1100" dirty="0"/>
          </a:p>
        </p:txBody>
      </p:sp>
      <p:sp>
        <p:nvSpPr>
          <p:cNvPr id="17" name="shape-2-15"/>
          <p:cNvSpPr/>
          <p:nvPr/>
        </p:nvSpPr>
        <p:spPr>
          <a:xfrm>
            <a:off x="7239000" y="2552700"/>
            <a:ext cx="2076450" cy="1162050"/>
          </a:xfrm>
          <a:prstGeom prst="rect">
            <a:avLst/>
          </a:prstGeom>
          <a:solidFill>
            <a:srgbClr val="F1F5FA"/>
          </a:solidFill>
          <a:ln w="12700">
            <a:solidFill>
              <a:srgbClr val="D7DEE8"/>
            </a:solidFill>
            <a:prstDash val="solid"/>
          </a:ln>
        </p:spPr>
      </p:sp>
      <p:sp>
        <p:nvSpPr>
          <p:cNvPr id="18" name="text"/>
          <p:cNvSpPr/>
          <p:nvPr/>
        </p:nvSpPr>
        <p:spPr>
          <a:xfrm>
            <a:off x="73914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Poles predict the response shape</a:t>
            </a:r>
            <a:endParaRPr lang="en-US" sz="1100" dirty="0"/>
          </a:p>
        </p:txBody>
      </p:sp>
      <p:sp>
        <p:nvSpPr>
          <p:cNvPr id="19" name="shape-2-17"/>
          <p:cNvSpPr/>
          <p:nvPr/>
        </p:nvSpPr>
        <p:spPr>
          <a:xfrm>
            <a:off x="9467850" y="2552700"/>
            <a:ext cx="2076450" cy="1162050"/>
          </a:xfrm>
          <a:prstGeom prst="rect">
            <a:avLst/>
          </a:prstGeom>
          <a:solidFill>
            <a:srgbClr val="F1F5FA"/>
          </a:solidFill>
          <a:ln w="12700">
            <a:solidFill>
              <a:srgbClr val="D7DEE8"/>
            </a:solidFill>
            <a:prstDash val="solid"/>
          </a:ln>
        </p:spPr>
      </p:sp>
      <p:sp>
        <p:nvSpPr>
          <p:cNvPr id="20" name="text"/>
          <p:cNvSpPr/>
          <p:nvPr/>
        </p:nvSpPr>
        <p:spPr>
          <a:xfrm>
            <a:off x="96202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Synthesis runs the map backwards</a:t>
            </a:r>
            <a:endParaRPr lang="en-US" sz="1100" dirty="0"/>
          </a:p>
        </p:txBody>
      </p:sp>
      <p:sp>
        <p:nvSpPr>
          <p:cNvPr id="21" name="text"/>
          <p:cNvSpPr/>
          <p:nvPr/>
        </p:nvSpPr>
        <p:spPr>
          <a:xfrm>
            <a:off x="552450" y="3867150"/>
            <a:ext cx="11087100" cy="12954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SCOPE AND PROVENANCE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Built from the syllabus-listed Hayt 8e sections plus the syllabus-listed TB2 section for waveform and network synthesis. The through-line is that the s-domain does in one pass what Module 3 did in several: the natural and forced responses, the initial conditions and the steady state all emerge from one algebraic solution. Pole locations are introduced early and used repeatedly, so that by the case study students can read settling time and bandwidth off a pole position without computing a response at all.</a:t>
            </a:r>
            <a:endParaRPr lang="en-US" sz="1100" dirty="0"/>
          </a:p>
        </p:txBody>
      </p:sp>
      <p:sp>
        <p:nvSpPr>
          <p:cNvPr id="22" name="text"/>
          <p:cNvSpPr/>
          <p:nvPr/>
        </p:nvSpPr>
        <p:spPr>
          <a:xfrm>
            <a:off x="552450" y="5257800"/>
            <a:ext cx="571500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Course outcomes exercised: CO4</a:t>
            </a:r>
            <a:endParaRPr lang="en-US" sz="1000" dirty="0"/>
          </a:p>
        </p:txBody>
      </p:sp>
      <p:sp>
        <p:nvSpPr>
          <p:cNvPr id="23" name="text"/>
          <p:cNvSpPr/>
          <p:nvPr/>
        </p:nvSpPr>
        <p:spPr>
          <a:xfrm>
            <a:off x="6286500" y="5257800"/>
            <a:ext cx="5353050" cy="209550"/>
          </a:xfrm>
          <a:prstGeom prst="rect">
            <a:avLst/>
          </a:prstGeom>
          <a:noFill/>
          <a:ln/>
        </p:spPr>
        <p:txBody>
          <a:bodyPr wrap="square" lIns="0" tIns="0" rIns="0" bIns="0" rtlCol="0" anchor="t">
            <a:normAutofit/>
          </a:bodyPr>
          <a:lstStyle/>
          <a:p>
            <a:pPr algn="r" indent="0" marL="0">
              <a:lnSpc>
                <a:spcPct val="105000"/>
              </a:lnSpc>
              <a:buNone/>
            </a:pPr>
            <a:r>
              <a:rPr lang="en-US" sz="1000" dirty="0">
                <a:solidFill>
                  <a:srgbClr val="5A6478"/>
                </a:solidFill>
                <a:latin typeface="Segoe UI" pitchFamily="34" charset="0"/>
                <a:ea typeface="Segoe UI" pitchFamily="34" charset="-122"/>
                <a:cs typeface="Segoe UI" pitchFamily="34" charset="-120"/>
              </a:rPr>
              <a:t>Assessment: 20 MCQs + 13 descriptive questions + 13 assignment items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Every unit against its chapter and pages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1-9 of 16, with the deck slides that teach each one.</a:t>
            </a:r>
            <a:endParaRPr lang="en-US" sz="1100" dirty="0"/>
          </a:p>
        </p:txBody>
      </p:sp>
      <p:sp>
        <p:nvSpPr>
          <p:cNvPr id="4" name="shape-3-2"/>
          <p:cNvSpPr/>
          <p:nvPr/>
        </p:nvSpPr>
        <p:spPr>
          <a:xfrm>
            <a:off x="552450" y="1266825"/>
            <a:ext cx="990600" cy="47625"/>
          </a:xfrm>
          <a:prstGeom prst="rect">
            <a:avLst/>
          </a:prstGeom>
          <a:solidFill>
            <a:srgbClr val="0F6FC6"/>
          </a:solidFill>
          <a:ln/>
        </p:spPr>
      </p:sp>
      <p:sp>
        <p:nvSpPr>
          <p:cNvPr id="5" name="shape-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03</a:t>
            </a:r>
            <a:endParaRPr lang="en-US" sz="900" dirty="0"/>
          </a:p>
        </p:txBody>
      </p:sp>
      <p:sp>
        <p:nvSpPr>
          <p:cNvPr id="9" name="shape-3-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Definition of the Laplace transform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14, pp. 540-543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 6, 7  —  CO4 / L2</a:t>
            </a:r>
            <a:endParaRPr lang="en-US" sz="1100" dirty="0"/>
          </a:p>
        </p:txBody>
      </p:sp>
      <p:sp>
        <p:nvSpPr>
          <p:cNvPr id="12" name="shape-3-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Transforms of simple time functions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14, pp. 543-546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8, 9, 10  —  CO4 / L2</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Inverse transform by partial fractions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14, pp. 546-553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11, 12, 13  —  CO4 / L3</a:t>
            </a:r>
            <a:endParaRPr lang="en-US" sz="1100" dirty="0"/>
          </a:p>
        </p:txBody>
      </p:sp>
      <p:sp>
        <p:nvSpPr>
          <p:cNvPr id="15" name="shape-3-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Basic theorems: linearity, shifting, differentiation and integration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14, pp. 553-561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14, 15, 16  —  CO4 / L3</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Initial-value and final-value theorems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14, pp. 561-564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17, 18, 19  —  CO4 / L4</a:t>
            </a:r>
            <a:endParaRPr lang="en-US" sz="1100" dirty="0"/>
          </a:p>
        </p:txBody>
      </p:sp>
      <p:sp>
        <p:nvSpPr>
          <p:cNvPr id="18" name="shape-3-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Z(s) and Y(s): impedance in the s-domain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15, pp. 571-578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20, 21, 22  —  CO4 / L3</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Initial conditions as sources in the s-domain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15, pp. 571-578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23, 24, 25  —  CO4 / L4</a:t>
            </a:r>
            <a:endParaRPr lang="en-US" sz="1100" dirty="0"/>
          </a:p>
        </p:txBody>
      </p:sp>
      <p:sp>
        <p:nvSpPr>
          <p:cNvPr id="21" name="shape-3-19"/>
          <p:cNvSpPr/>
          <p:nvPr/>
        </p:nvSpPr>
        <p:spPr>
          <a:xfrm>
            <a:off x="552450" y="5200650"/>
            <a:ext cx="11087100" cy="438150"/>
          </a:xfrm>
          <a:prstGeom prst="rect">
            <a:avLst/>
          </a:prstGeom>
          <a:solidFill>
            <a:srgbClr val="F1F5FA"/>
          </a:solidFill>
          <a:ln/>
        </p:spPr>
      </p:sp>
      <p:sp>
        <p:nvSpPr>
          <p:cNvPr id="22" name="text"/>
          <p:cNvSpPr/>
          <p:nvPr/>
        </p:nvSpPr>
        <p:spPr>
          <a:xfrm>
            <a:off x="685800" y="5238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Nodal and mesh analysis in the s-domain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15, pp. 578-585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26, 27, 28  —  CO4 / L4</a:t>
            </a:r>
            <a:endParaRPr lang="en-US" sz="1100" dirty="0"/>
          </a:p>
        </p:txBody>
      </p:sp>
      <p:sp>
        <p:nvSpPr>
          <p:cNvPr id="23" name="text"/>
          <p:cNvSpPr/>
          <p:nvPr/>
        </p:nvSpPr>
        <p:spPr>
          <a:xfrm>
            <a:off x="685800" y="571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Thévenin, Norton and superposition in the s-domain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15, pp. 585-588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29, 30, 31  —  CO4 / L4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Syllabus mapping,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10-16 of 16, with the deck slides that teach each one.</a:t>
            </a:r>
            <a:endParaRPr lang="en-US" sz="1100" dirty="0"/>
          </a:p>
        </p:txBody>
      </p:sp>
      <p:sp>
        <p:nvSpPr>
          <p:cNvPr id="4" name="shape-4-2"/>
          <p:cNvSpPr/>
          <p:nvPr/>
        </p:nvSpPr>
        <p:spPr>
          <a:xfrm>
            <a:off x="552450" y="1266825"/>
            <a:ext cx="990600" cy="47625"/>
          </a:xfrm>
          <a:prstGeom prst="rect">
            <a:avLst/>
          </a:prstGeom>
          <a:solidFill>
            <a:srgbClr val="0F6FC6"/>
          </a:solidFill>
          <a:ln/>
        </p:spPr>
      </p:sp>
      <p:sp>
        <p:nvSpPr>
          <p:cNvPr id="5" name="shape-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04</a:t>
            </a:r>
            <a:endParaRPr lang="en-US" sz="900" dirty="0"/>
          </a:p>
        </p:txBody>
      </p:sp>
      <p:sp>
        <p:nvSpPr>
          <p:cNvPr id="9" name="shape-4-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Transfer functions, poles and zeros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15, pp. 588-589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32, 33, 34  —  CO4 / L4</a:t>
            </a:r>
            <a:endParaRPr lang="en-US" sz="1100" dirty="0"/>
          </a:p>
        </p:txBody>
      </p:sp>
      <p:sp>
        <p:nvSpPr>
          <p:cNvPr id="12" name="shape-4-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Step, ramp and impulse responses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14, pp. 543-546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35, 36, 37  —  CO4 / L4</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Waveform synthesis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TB2 §6.8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38, 39, 40  —  CO4 / L4</a:t>
            </a:r>
            <a:endParaRPr lang="en-US" sz="1100" dirty="0"/>
          </a:p>
        </p:txBody>
      </p:sp>
      <p:sp>
        <p:nvSpPr>
          <p:cNvPr id="15" name="shape-4-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Convolution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15, pp. 589-598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41, 42, 43  —  CO4 / L5</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complex-frequency plane and the first-order filter pole case study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15, pp. 598-602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44, 45, 46  —  CO4 / L5</a:t>
            </a:r>
            <a:endParaRPr lang="en-US" sz="1100" dirty="0"/>
          </a:p>
        </p:txBody>
      </p:sp>
      <p:sp>
        <p:nvSpPr>
          <p:cNvPr id="18" name="shape-4-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Natural response and the s-plane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15, pp. 602-606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47, 48, 49  —  CO4 / L5</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Network synthesis: realising a specified H(s)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15, pp. 606-610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50, 51, 52  —  CO4 / L5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Definition of the Laplace transform</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2"/>
          <p:cNvSpPr/>
          <p:nvPr/>
        </p:nvSpPr>
        <p:spPr>
          <a:xfrm>
            <a:off x="552450" y="1266825"/>
            <a:ext cx="990600" cy="47625"/>
          </a:xfrm>
          <a:prstGeom prst="rect">
            <a:avLst/>
          </a:prstGeom>
          <a:solidFill>
            <a:srgbClr val="0F6FC6"/>
          </a:solidFill>
          <a:ln/>
        </p:spPr>
      </p:sp>
      <p:sp>
        <p:nvSpPr>
          <p:cNvPr id="5" name="shape-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Definition of the Laplace transform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05</a:t>
            </a:r>
            <a:endParaRPr lang="en-US" sz="900" dirty="0"/>
          </a:p>
        </p:txBody>
      </p:sp>
      <p:sp>
        <p:nvSpPr>
          <p:cNvPr id="9" name="shape-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one-sided Laplace transform is F(s) = ∫₀^∞ f(t)·e^(−st) dt, where s = σ + jω is a complex frequency. The decaying kernel e^(−σt) is what makes the integral converge for functions that grow, which is why the Laplace transform handles ramps and growing exponentials that the Fourier transform cannot. The lower limit is taken at 0− so that an impulse at the origin is fully captured and so that initial conditions enter the algebra automatically. The transform is linear and one-to-one on its region of convergence, which is what allows an answer found in the s-domain to be carried back uniquely to the time domain.</a:t>
            </a:r>
            <a:endParaRPr lang="en-US" sz="1100" dirty="0"/>
          </a:p>
        </p:txBody>
      </p:sp>
      <p:sp>
        <p:nvSpPr>
          <p:cNvPr id="11" name="shape-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one-sided transform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complex frequency 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region of convergence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kernel e^(−st)</a:t>
            </a:r>
            <a:endParaRPr lang="en-US" sz="1100" dirty="0"/>
          </a:p>
        </p:txBody>
      </p:sp>
      <p:sp>
        <p:nvSpPr>
          <p:cNvPr id="13" name="shape-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e^(−σt) kernel buys convergence, and taking the lower limit at 0− is what lets initial conditions ride into the algebra.</a:t>
            </a:r>
            <a:endParaRPr lang="en-US" sz="1100" dirty="0"/>
          </a:p>
        </p:txBody>
      </p:sp>
      <p:sp>
        <p:nvSpPr>
          <p:cNvPr id="15" name="shape-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Centre: the integral F(s) = ∫₀^∞ f(t)e^(−st)dt typeset large, with three callout arrows. Arrow 1 points at the lower limit and reads "0−: captures impulses and initial conditions". Arrow 2 points at e^(−st) an…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540-543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L2  |  visual id: laplace-integral-anatomy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Definition of the Laplace transform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6-2"/>
          <p:cNvSpPr/>
          <p:nvPr/>
        </p:nvSpPr>
        <p:spPr>
          <a:xfrm>
            <a:off x="552450" y="1266825"/>
            <a:ext cx="990600" cy="47625"/>
          </a:xfrm>
          <a:prstGeom prst="rect">
            <a:avLst/>
          </a:prstGeom>
          <a:solidFill>
            <a:srgbClr val="0F6FC6"/>
          </a:solidFill>
          <a:ln/>
        </p:spPr>
      </p:sp>
      <p:sp>
        <p:nvSpPr>
          <p:cNvPr id="5" name="shape-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Definition of the Laplace transform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06</a:t>
            </a:r>
            <a:endParaRPr lang="en-US" sz="900" dirty="0"/>
          </a:p>
        </p:txBody>
      </p:sp>
      <p:sp>
        <p:nvSpPr>
          <p:cNvPr id="9" name="shape-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time function, valid for t ≥ 0</a:t>
            </a:r>
            <a:endParaRPr lang="en-US" sz="1100" dirty="0"/>
          </a:p>
        </p:txBody>
      </p:sp>
      <p:sp>
        <p:nvSpPr>
          <p:cNvPr id="11" name="shape-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by the kernel e^(−st)</a:t>
            </a:r>
            <a:endParaRPr lang="en-US" sz="1100" dirty="0"/>
          </a:p>
        </p:txBody>
      </p:sp>
      <p:sp>
        <p:nvSpPr>
          <p:cNvPr id="13" name="shape-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Integrate from 0− to ∞</a:t>
            </a:r>
            <a:endParaRPr lang="en-US" sz="1100" dirty="0"/>
          </a:p>
        </p:txBody>
      </p:sp>
      <p:sp>
        <p:nvSpPr>
          <p:cNvPr id="15" name="shape-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values of σ for which the integral converges</a:t>
            </a:r>
            <a:endParaRPr lang="en-US" sz="1100" dirty="0"/>
          </a:p>
        </p:txBody>
      </p:sp>
      <p:sp>
        <p:nvSpPr>
          <p:cNvPr id="17" name="shape-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Report F(s) together with its region of convergence</a:t>
            </a:r>
            <a:endParaRPr lang="en-US" sz="1100" dirty="0"/>
          </a:p>
        </p:txBody>
      </p:sp>
      <p:sp>
        <p:nvSpPr>
          <p:cNvPr id="19" name="shape-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a table rather than the integral for standard functions</a:t>
            </a:r>
            <a:endParaRPr lang="en-US" sz="1100" dirty="0"/>
          </a:p>
        </p:txBody>
      </p:sp>
      <p:sp>
        <p:nvSpPr>
          <p:cNvPr id="21" name="shape-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by table lookup</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integration by parts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repeated integration by parts for t^n terms</a:t>
            </a:r>
            <a:endParaRPr lang="en-US" sz="1100" dirty="0"/>
          </a:p>
        </p:txBody>
      </p:sp>
      <p:sp>
        <p:nvSpPr>
          <p:cNvPr id="23" name="shape-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In circuit work the integral is almost never evaluated directly; the table plus the theorems do the work.</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540-543   |   CO4  |  Bloom L2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Definition of the Laplace transform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7-2"/>
          <p:cNvSpPr/>
          <p:nvPr/>
        </p:nvSpPr>
        <p:spPr>
          <a:xfrm>
            <a:off x="552450" y="1266825"/>
            <a:ext cx="990600" cy="47625"/>
          </a:xfrm>
          <a:prstGeom prst="rect">
            <a:avLst/>
          </a:prstGeom>
          <a:solidFill>
            <a:srgbClr val="0F6FC6"/>
          </a:solidFill>
          <a:ln/>
        </p:spPr>
      </p:sp>
      <p:sp>
        <p:nvSpPr>
          <p:cNvPr id="5" name="shape-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Definition of the Laplace transform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07</a:t>
            </a:r>
            <a:endParaRPr lang="en-US" sz="900" dirty="0"/>
          </a:p>
        </p:txBody>
      </p:sp>
      <p:sp>
        <p:nvSpPr>
          <p:cNvPr id="9" name="shape-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f(t) = e^(−at)·u(t).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F(s) = ∫₀^∞ e^(−at)·e^(−st) dt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Combine exponents: ∫₀^∞ e^(−(s+a)t) dt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Integrate: [−e^(−(s+a)t)/(s+a)]₀^∞</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Re{s} &gt; −a the upper limit vanishes, leaving 1/(s + a)</a:t>
            </a:r>
            <a:endParaRPr lang="en-US" sz="1100" dirty="0"/>
          </a:p>
        </p:txBody>
      </p:sp>
      <p:sp>
        <p:nvSpPr>
          <p:cNvPr id="15" name="shape-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F(s) = 1/(s + a) with a region of convergence Re{s} &gt; −a; the pole at s = −a is exactly the decay rate of the original function.</a:t>
            </a:r>
            <a:endParaRPr lang="en-US" sz="1100" dirty="0"/>
          </a:p>
        </p:txBody>
      </p:sp>
      <p:sp>
        <p:nvSpPr>
          <p:cNvPr id="17" name="shape-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F(s) = ∫₀⁻^∞ f(t)e^{−st}dt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f(t) = e^{−at}u(t) ⇒ F(s) = 1/(s+a),  Re{s} &gt; −a</a:t>
            </a:r>
            <a:endParaRPr lang="en-US" sz="1000" dirty="0"/>
          </a:p>
        </p:txBody>
      </p:sp>
      <p:sp>
        <p:nvSpPr>
          <p:cNvPr id="19" name="shape-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take the lower limit at 0+ out of habit. At 0+ an impulse at the origin is excluded and the differentiation theorem loses its f(0−) term, which is precisely the term that carries the initial condition.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540-543   |   CO4  |  Bloom L2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Transforms of simple time functions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8-2"/>
          <p:cNvSpPr/>
          <p:nvPr/>
        </p:nvSpPr>
        <p:spPr>
          <a:xfrm>
            <a:off x="552450" y="1266825"/>
            <a:ext cx="990600" cy="47625"/>
          </a:xfrm>
          <a:prstGeom prst="rect">
            <a:avLst/>
          </a:prstGeom>
          <a:solidFill>
            <a:srgbClr val="0F6FC6"/>
          </a:solidFill>
          <a:ln/>
        </p:spPr>
      </p:sp>
      <p:sp>
        <p:nvSpPr>
          <p:cNvPr id="5" name="shape-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Transforms of simple time functions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08</a:t>
            </a:r>
            <a:endParaRPr lang="en-US" sz="900" dirty="0"/>
          </a:p>
        </p:txBody>
      </p:sp>
      <p:sp>
        <p:nvSpPr>
          <p:cNvPr id="9" name="shape-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small table covers almost every circuit problem. The impulse transforms to 1, the step to 1/s, the ramp to 1/s², t^n to n!/s^(n+1), the exponential e^(−at) to 1/(s + a), the sinusoid sin ωt to ω/(s² + ω²) and cos ωt to s/(s² + ω²). The pattern is worth noticing rather than memorising blindly: each integration in time adds a factor of 1/s, which is why the step, ramp and parabola form a 1/s, 1/s², 1/s³ sequence. Multiplying a time function by e^(−at) shifts every s in its transform to s + a, which turns the plain sinusoid pair into the damped sinusoid pair used for underdamped responses.</a:t>
            </a:r>
            <a:endParaRPr lang="en-US" sz="1100" dirty="0"/>
          </a:p>
        </p:txBody>
      </p:sp>
      <p:sp>
        <p:nvSpPr>
          <p:cNvPr id="11" name="shape-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impulse δ(t)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step u(t)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ramp t·u(t)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exponential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damped sinusoid</a:t>
            </a:r>
            <a:endParaRPr lang="en-US" sz="1100" dirty="0"/>
          </a:p>
        </p:txBody>
      </p:sp>
      <p:sp>
        <p:nvSpPr>
          <p:cNvPr id="13" name="shape-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Integrating in time divides by s, and damping in time shifts s — two patterns that generate most of the table.</a:t>
            </a:r>
            <a:endParaRPr lang="en-US" sz="1100" dirty="0"/>
          </a:p>
        </p:txBody>
      </p:sp>
      <p:sp>
        <p:nvSpPr>
          <p:cNvPr id="15" name="shape-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column: five time-domain sketches stacked — impulse spike, unit step, ramp, decaying exponential, damped sinusoid. Right column: their transforms 1, 1/s, 1/s², 1/(s+a), ω/((s+a)²+ω²). Between the first th…</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543-546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L2  |  visual id: transform-table-ladder</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Transforms of simple time functions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9-2"/>
          <p:cNvSpPr/>
          <p:nvPr/>
        </p:nvSpPr>
        <p:spPr>
          <a:xfrm>
            <a:off x="552450" y="1266825"/>
            <a:ext cx="990600" cy="47625"/>
          </a:xfrm>
          <a:prstGeom prst="rect">
            <a:avLst/>
          </a:prstGeom>
          <a:solidFill>
            <a:srgbClr val="0F6FC6"/>
          </a:solidFill>
          <a:ln/>
        </p:spPr>
      </p:sp>
      <p:sp>
        <p:nvSpPr>
          <p:cNvPr id="5" name="shape-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Transforms of simple time functions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09</a:t>
            </a:r>
            <a:endParaRPr lang="en-US" sz="900" dirty="0"/>
          </a:p>
        </p:txBody>
      </p:sp>
      <p:sp>
        <p:nvSpPr>
          <p:cNvPr id="9" name="shape-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Express the time function as a sum of standard forms</a:t>
            </a:r>
            <a:endParaRPr lang="en-US" sz="1100" dirty="0"/>
          </a:p>
        </p:txBody>
      </p:sp>
      <p:sp>
        <p:nvSpPr>
          <p:cNvPr id="11" name="shape-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Look up each standard transform</a:t>
            </a:r>
            <a:endParaRPr lang="en-US" sz="1100" dirty="0"/>
          </a:p>
        </p:txBody>
      </p:sp>
      <p:sp>
        <p:nvSpPr>
          <p:cNvPr id="13" name="shape-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linearity to combine them</a:t>
            </a:r>
            <a:endParaRPr lang="en-US" sz="1100" dirty="0"/>
          </a:p>
        </p:txBody>
      </p:sp>
      <p:sp>
        <p:nvSpPr>
          <p:cNvPr id="15" name="shape-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the s-shift rule for any factor of e^(−at)</a:t>
            </a:r>
            <a:endParaRPr lang="en-US" sz="1100" dirty="0"/>
          </a:p>
        </p:txBody>
      </p:sp>
      <p:sp>
        <p:nvSpPr>
          <p:cNvPr id="17" name="shape-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the 1/s rule for any integration in time</a:t>
            </a:r>
            <a:endParaRPr lang="en-US" sz="1100" dirty="0"/>
          </a:p>
        </p:txBody>
      </p:sp>
      <p:sp>
        <p:nvSpPr>
          <p:cNvPr id="19" name="shape-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the result against a known limiting case</a:t>
            </a:r>
            <a:endParaRPr lang="en-US" sz="1100" dirty="0"/>
          </a:p>
        </p:txBody>
      </p:sp>
      <p:sp>
        <p:nvSpPr>
          <p:cNvPr id="21" name="shape-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single lookup</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O(k) for a k-term sum</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O(k) plus repeated shift applications</a:t>
            </a:r>
            <a:endParaRPr lang="en-US" sz="1100" dirty="0"/>
          </a:p>
        </p:txBody>
      </p:sp>
      <p:sp>
        <p:nvSpPr>
          <p:cNvPr id="23" name="shape-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Decomposition into standard forms is the whole skill; the lookups are trivial.</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543-546   |   CO4  |  Bloom L2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Transforms of simple time functions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0-2"/>
          <p:cNvSpPr/>
          <p:nvPr/>
        </p:nvSpPr>
        <p:spPr>
          <a:xfrm>
            <a:off x="552450" y="1266825"/>
            <a:ext cx="990600" cy="47625"/>
          </a:xfrm>
          <a:prstGeom prst="rect">
            <a:avLst/>
          </a:prstGeom>
          <a:solidFill>
            <a:srgbClr val="0F6FC6"/>
          </a:solidFill>
          <a:ln/>
        </p:spPr>
      </p:sp>
      <p:sp>
        <p:nvSpPr>
          <p:cNvPr id="5" name="shape-1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Transforms of simple time functions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10</a:t>
            </a:r>
            <a:endParaRPr lang="en-US" sz="900" dirty="0"/>
          </a:p>
        </p:txBody>
      </p:sp>
      <p:sp>
        <p:nvSpPr>
          <p:cNvPr id="9" name="shape-1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f(t) = 3 − 2e^(−5t) + 4t, for t ≥ 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Constant 3 is 3·u(t), transforming to 3/s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−2e^(−5t) transforms to −2/(s + 5)</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4t transforms to 4/s²</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By linearity F(s) = 3/s − 2/(s + 5) + 4/s²</a:t>
            </a:r>
            <a:endParaRPr lang="en-US" sz="1100" dirty="0"/>
          </a:p>
        </p:txBody>
      </p:sp>
      <p:sp>
        <p:nvSpPr>
          <p:cNvPr id="15" name="shape-1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F(s) = 3/s − 2/(s+5) + 4/s², with poles at s = 0 (double) and s = −5, matching the ramp and the decay in the original.</a:t>
            </a:r>
            <a:endParaRPr lang="en-US" sz="1100" dirty="0"/>
          </a:p>
        </p:txBody>
      </p:sp>
      <p:sp>
        <p:nvSpPr>
          <p:cNvPr id="17" name="shape-1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u(t) → 1/s,   t·u(t) → 1/s²,   e^{−at} → 1/(s+a)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 = 3 − 2e^{−5t} + 4t  ⇒  F(s) = 3/s − 2/(s+5) + 4/s²</a:t>
            </a:r>
            <a:endParaRPr lang="en-US" sz="1000" dirty="0"/>
          </a:p>
        </p:txBody>
      </p:sp>
      <p:sp>
        <p:nvSpPr>
          <p:cNvPr id="19" name="shape-1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transform a constant as if it existed for all time and write 3 → 3. The one-sided transform assumes the function starts at t = 0, so a constant is really a step and transforms to 3/s.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543-546   |   CO4  |  Bloom L2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Inverse transform by partial fractions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1-2"/>
          <p:cNvSpPr/>
          <p:nvPr/>
        </p:nvSpPr>
        <p:spPr>
          <a:xfrm>
            <a:off x="552450" y="1266825"/>
            <a:ext cx="990600" cy="47625"/>
          </a:xfrm>
          <a:prstGeom prst="rect">
            <a:avLst/>
          </a:prstGeom>
          <a:solidFill>
            <a:srgbClr val="0F6FC6"/>
          </a:solidFill>
          <a:ln/>
        </p:spPr>
      </p:sp>
      <p:sp>
        <p:nvSpPr>
          <p:cNvPr id="5" name="shape-1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Inverse transform by partial fractions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11</a:t>
            </a:r>
            <a:endParaRPr lang="en-US" sz="900" dirty="0"/>
          </a:p>
        </p:txBody>
      </p:sp>
      <p:sp>
        <p:nvSpPr>
          <p:cNvPr id="9" name="shape-1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An s-domain answer is normally a ratio of polynomials, and the inverse transform is obtained by splitting that ratio into terms that appear in the table. For distinct real poles each term is a residue over (s − p), and the residue is found by covering up that factor and evaluating the rest at s = p. Repeated poles need an extra term per repetition, with the highest-power residue found by the cover-up rule and the lower ones by differentiation. Complex poles always come in conjugate pairs for a real circuit, and the cleanest route is to keep the pair together as a quadratic and match it to the damped sine and cosine forms rather than expanding into complex residues.</a:t>
            </a:r>
            <a:endParaRPr lang="en-US" sz="1100" dirty="0"/>
          </a:p>
        </p:txBody>
      </p:sp>
      <p:sp>
        <p:nvSpPr>
          <p:cNvPr id="11" name="shape-1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partial fraction expansion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distinct poles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repeated poles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complex pole pair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residue</a:t>
            </a:r>
            <a:endParaRPr lang="en-US" sz="1100" dirty="0"/>
          </a:p>
        </p:txBody>
      </p:sp>
      <p:sp>
        <p:nvSpPr>
          <p:cNvPr id="13" name="shape-1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Every inverse transform in circuit work is table lookup plus bookkeeping — the bookkeeping is partial fractions.</a:t>
            </a:r>
            <a:endParaRPr lang="en-US" sz="1100" dirty="0"/>
          </a:p>
        </p:txBody>
      </p:sp>
      <p:sp>
        <p:nvSpPr>
          <p:cNvPr id="15" name="shape-1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single rational function F(s) = N(s)/D(s) enters a splitter box on the left. Three output pipes emerge on the right, each labelled by pole type. Pipe 1 "distinct real" outputs K/(s − p) with a cover-up hand…</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546-553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L3  |  visual id: partial-fraction-splitter</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Inverse transform by partial fractions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2-2"/>
          <p:cNvSpPr/>
          <p:nvPr/>
        </p:nvSpPr>
        <p:spPr>
          <a:xfrm>
            <a:off x="552450" y="1266825"/>
            <a:ext cx="990600" cy="47625"/>
          </a:xfrm>
          <a:prstGeom prst="rect">
            <a:avLst/>
          </a:prstGeom>
          <a:solidFill>
            <a:srgbClr val="0F6FC6"/>
          </a:solidFill>
          <a:ln/>
        </p:spPr>
      </p:sp>
      <p:sp>
        <p:nvSpPr>
          <p:cNvPr id="5" name="shape-1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Inverse transform by partial fractions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12</a:t>
            </a:r>
            <a:endParaRPr lang="en-US" sz="900" dirty="0"/>
          </a:p>
        </p:txBody>
      </p:sp>
      <p:sp>
        <p:nvSpPr>
          <p:cNvPr id="9" name="shape-1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Factor the denominator to locate every pole</a:t>
            </a:r>
            <a:endParaRPr lang="en-US" sz="1100" dirty="0"/>
          </a:p>
        </p:txBody>
      </p:sp>
      <p:sp>
        <p:nvSpPr>
          <p:cNvPr id="11" name="shape-1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numerator degree is lower than the denominator; divide out first if not</a:t>
            </a:r>
            <a:endParaRPr lang="en-US" sz="1100" dirty="0"/>
          </a:p>
        </p:txBody>
      </p:sp>
      <p:sp>
        <p:nvSpPr>
          <p:cNvPr id="13" name="shape-1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one term per distinct pole and one extra term per repetition</a:t>
            </a:r>
            <a:endParaRPr lang="en-US" sz="1100" dirty="0"/>
          </a:p>
        </p:txBody>
      </p:sp>
      <p:sp>
        <p:nvSpPr>
          <p:cNvPr id="15" name="shape-1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each residue by the cover-up rule, using differentiation for repeated poles</a:t>
            </a:r>
            <a:endParaRPr lang="en-US" sz="1100" dirty="0"/>
          </a:p>
        </p:txBody>
      </p:sp>
      <p:sp>
        <p:nvSpPr>
          <p:cNvPr id="17" name="shape-1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Keep complex conjugate pairs as a real quadratic</a:t>
            </a:r>
            <a:endParaRPr lang="en-US" sz="1100" dirty="0"/>
          </a:p>
        </p:txBody>
      </p:sp>
      <p:sp>
        <p:nvSpPr>
          <p:cNvPr id="19" name="shape-1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Look up each term and sum the time functions</a:t>
            </a:r>
            <a:endParaRPr lang="en-US" sz="1100" dirty="0"/>
          </a:p>
        </p:txBody>
      </p:sp>
      <p:sp>
        <p:nvSpPr>
          <p:cNvPr id="21" name="shape-1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for n distinct real poles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cover-up evaluations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O(m²) derivative evaluations for a pole of multiplicity m</a:t>
            </a:r>
            <a:endParaRPr lang="en-US" sz="1100" dirty="0"/>
          </a:p>
        </p:txBody>
      </p:sp>
      <p:sp>
        <p:nvSpPr>
          <p:cNvPr id="23" name="shape-1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Improper fractions must be reduced by long division first, or the impulse term is lost.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546-553   |   CO4  |  Bloom L3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Inverse transform by partial fractions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3-2"/>
          <p:cNvSpPr/>
          <p:nvPr/>
        </p:nvSpPr>
        <p:spPr>
          <a:xfrm>
            <a:off x="552450" y="1266825"/>
            <a:ext cx="990600" cy="47625"/>
          </a:xfrm>
          <a:prstGeom prst="rect">
            <a:avLst/>
          </a:prstGeom>
          <a:solidFill>
            <a:srgbClr val="0F6FC6"/>
          </a:solidFill>
          <a:ln/>
        </p:spPr>
      </p:sp>
      <p:sp>
        <p:nvSpPr>
          <p:cNvPr id="5" name="shape-1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Inverse transform by partial fractions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13</a:t>
            </a:r>
            <a:endParaRPr lang="en-US" sz="900" dirty="0"/>
          </a:p>
        </p:txBody>
      </p:sp>
      <p:sp>
        <p:nvSpPr>
          <p:cNvPr id="9" name="shape-1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F(s) = (s + 4)/(s(s + 2)).</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F(s) = A/s + B/(s + 2)</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Cover up s and evaluate at s = 0: A = (0 + 4)/(0 + 2) = 2</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Cover up (s + 2) and evaluate at s = −2: B = (−2 + 4)/(−2) = −1</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F(s) = 2/s − 1/(s + 2)</a:t>
            </a:r>
            <a:endParaRPr lang="en-US" sz="1100" dirty="0"/>
          </a:p>
        </p:txBody>
      </p:sp>
      <p:sp>
        <p:nvSpPr>
          <p:cNvPr id="15" name="shape-1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f(t) = 2 − e^(−2t) for t ≥ 0; the check f(0) = 1 matches the initial-value theorem applied to the original F(s).</a:t>
            </a:r>
            <a:endParaRPr lang="en-US" sz="1100" dirty="0"/>
          </a:p>
        </p:txBody>
      </p:sp>
      <p:sp>
        <p:nvSpPr>
          <p:cNvPr id="17" name="shape-1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F(s) = (s+4)/(s(s+2)) = A/s + B/(s+2)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 = (s+4)/(s+2)|_{s=0} = 2,   B = (s+4)/s|_{s=−2} = −1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f(t) = 2 − e^{−2t}</a:t>
            </a:r>
            <a:endParaRPr lang="en-US" sz="1000" dirty="0"/>
          </a:p>
        </p:txBody>
      </p:sp>
      <p:sp>
        <p:nvSpPr>
          <p:cNvPr id="19" name="shape-1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expand a fraction whose numerator degree equals or exceeds the denominator degree without dividing first. The quotient contributes a constant that inverse-transforms to an impulse, and skipping it silently deletes a real part of the response.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546-553   |   CO4  |  Bloom L3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Basic theorems: linearity, shifting, differentiation and integration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4-2"/>
          <p:cNvSpPr/>
          <p:nvPr/>
        </p:nvSpPr>
        <p:spPr>
          <a:xfrm>
            <a:off x="552450" y="1266825"/>
            <a:ext cx="990600" cy="47625"/>
          </a:xfrm>
          <a:prstGeom prst="rect">
            <a:avLst/>
          </a:prstGeom>
          <a:solidFill>
            <a:srgbClr val="0F6FC6"/>
          </a:solidFill>
          <a:ln/>
        </p:spPr>
      </p:sp>
      <p:sp>
        <p:nvSpPr>
          <p:cNvPr id="5" name="shape-1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Basic theorems: linearity, shifting,…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14</a:t>
            </a:r>
            <a:endParaRPr lang="en-US" sz="900" dirty="0"/>
          </a:p>
        </p:txBody>
      </p:sp>
      <p:sp>
        <p:nvSpPr>
          <p:cNvPr id="9" name="shape-1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Five theorems do almost all the work. Linearity lets a sum be transformed term by term. The time-shift theorem says f(t − a)·u(t − a) transforms to e^(−as)·F(s), which is how delayed pulses are handled. The frequency-shift theorem says e^(−at)f(t) transforms to F(s + a), which generates every damped form. The differentiation theorem, df/dt → s·F(s) − f(0−), is the crucial one for circuits: it converts a derivative into multiplication by s and deposits the initial condition directly into the algebra. The integration theorem, ∫f dt → F(s)/s, does the reverse and generates the capacitor and inductor s-domain models.</a:t>
            </a:r>
            <a:endParaRPr lang="en-US" sz="1100" dirty="0"/>
          </a:p>
        </p:txBody>
      </p:sp>
      <p:sp>
        <p:nvSpPr>
          <p:cNvPr id="11" name="shape-1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linearity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time shift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frequency shift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differentiation theorem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integration theorem</a:t>
            </a:r>
            <a:endParaRPr lang="en-US" sz="1100" dirty="0"/>
          </a:p>
        </p:txBody>
      </p:sp>
      <p:sp>
        <p:nvSpPr>
          <p:cNvPr id="13" name="shape-1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differentiation theorem is why the s-domain handles initial conditions for free — the f(0−) term is the initial condition.</a:t>
            </a:r>
            <a:endParaRPr lang="en-US" sz="1100" dirty="0"/>
          </a:p>
        </p:txBody>
      </p:sp>
      <p:sp>
        <p:nvSpPr>
          <p:cNvPr id="15" name="shape-1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console panel with five labelled slots arranged vertically. Slot 1 "Linearity": a·f + b·g ↔ a·F + b·G. Slot 2 "Time shift": f(t−a)u(t−a) ↔ e^(−as)F(s), with a small waveform sliding right and an e^(−as) tag…</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553-561</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L3  |  visual id: five-theorems-console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Basic theorems: linearity, shifting, differentiation an…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5-2"/>
          <p:cNvSpPr/>
          <p:nvPr/>
        </p:nvSpPr>
        <p:spPr>
          <a:xfrm>
            <a:off x="552450" y="1266825"/>
            <a:ext cx="990600" cy="47625"/>
          </a:xfrm>
          <a:prstGeom prst="rect">
            <a:avLst/>
          </a:prstGeom>
          <a:solidFill>
            <a:srgbClr val="0F6FC6"/>
          </a:solidFill>
          <a:ln/>
        </p:spPr>
      </p:sp>
      <p:sp>
        <p:nvSpPr>
          <p:cNvPr id="5" name="shape-1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Basic theorems: linearity, shifting,…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15</a:t>
            </a:r>
            <a:endParaRPr lang="en-US" sz="900" dirty="0"/>
          </a:p>
        </p:txBody>
      </p:sp>
      <p:sp>
        <p:nvSpPr>
          <p:cNvPr id="9" name="shape-1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Decompose the expression into standard functions and operations</a:t>
            </a:r>
            <a:endParaRPr lang="en-US" sz="1100" dirty="0"/>
          </a:p>
        </p:txBody>
      </p:sp>
      <p:sp>
        <p:nvSpPr>
          <p:cNvPr id="11" name="shape-1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linearity to split sums</a:t>
            </a:r>
            <a:endParaRPr lang="en-US" sz="1100" dirty="0"/>
          </a:p>
        </p:txBody>
      </p:sp>
      <p:sp>
        <p:nvSpPr>
          <p:cNvPr id="13" name="shape-1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the time-shift theorem to any delayed term</a:t>
            </a:r>
            <a:endParaRPr lang="en-US" sz="1100" dirty="0"/>
          </a:p>
        </p:txBody>
      </p:sp>
      <p:sp>
        <p:nvSpPr>
          <p:cNvPr id="15" name="shape-1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the frequency-shift theorem to any e^(−at) factor</a:t>
            </a:r>
            <a:endParaRPr lang="en-US" sz="1100" dirty="0"/>
          </a:p>
        </p:txBody>
      </p:sp>
      <p:sp>
        <p:nvSpPr>
          <p:cNvPr id="17" name="shape-1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each derivative using s·F(s) − f(0−)</a:t>
            </a:r>
            <a:endParaRPr lang="en-US" sz="1100" dirty="0"/>
          </a:p>
        </p:txBody>
      </p:sp>
      <p:sp>
        <p:nvSpPr>
          <p:cNvPr id="19" name="shape-1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each integral using F(s)/s</a:t>
            </a:r>
            <a:endParaRPr lang="en-US" sz="1100" dirty="0"/>
          </a:p>
        </p:txBody>
      </p:sp>
      <p:sp>
        <p:nvSpPr>
          <p:cNvPr id="21" name="shape-1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per theorem application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O(k) for k terms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O(k·m) for m-fold derivatives</a:t>
            </a:r>
            <a:endParaRPr lang="en-US" sz="1100" dirty="0"/>
          </a:p>
        </p:txBody>
      </p:sp>
      <p:sp>
        <p:nvSpPr>
          <p:cNvPr id="23" name="shape-1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For an mth derivative, m initial-condition terms appear, which is exactly the number a differential equation of that order needs.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553-561   |   CO4  |  Bloom L3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Basic theorems: linearity, shifting, differentiation an…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6-2"/>
          <p:cNvSpPr/>
          <p:nvPr/>
        </p:nvSpPr>
        <p:spPr>
          <a:xfrm>
            <a:off x="552450" y="1266825"/>
            <a:ext cx="990600" cy="47625"/>
          </a:xfrm>
          <a:prstGeom prst="rect">
            <a:avLst/>
          </a:prstGeom>
          <a:solidFill>
            <a:srgbClr val="0F6FC6"/>
          </a:solidFill>
          <a:ln/>
        </p:spPr>
      </p:sp>
      <p:sp>
        <p:nvSpPr>
          <p:cNvPr id="5" name="shape-1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Basic theorems: linearity, shifting,…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16</a:t>
            </a:r>
            <a:endParaRPr lang="en-US" sz="900" dirty="0"/>
          </a:p>
        </p:txBody>
      </p:sp>
      <p:sp>
        <p:nvSpPr>
          <p:cNvPr id="9" name="shape-1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Transform the equation 2·di/dt + 6i = 12·u(t), with i(0−) = 3 A.</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the differentiation theorem: 2[sI(s) − 3] + 6I(s) = 12/s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Expand: 2sI(s) − 6 + 6I(s) = 12/s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Collect: I(s)(2s + 6) = 12/s + 6</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I(s) = (12 + 6s)/(s(2s + 6)) = (6s + 12)/(2s(s + 3))</a:t>
            </a:r>
            <a:endParaRPr lang="en-US" sz="1100" dirty="0"/>
          </a:p>
        </p:txBody>
      </p:sp>
      <p:sp>
        <p:nvSpPr>
          <p:cNvPr id="15" name="shape-1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I(s) = (3s + 6)/(s(s + 3)); the initial condition of 3 A entered as the −6 term without any separate boundary-condition step.</a:t>
            </a:r>
            <a:endParaRPr lang="en-US" sz="1100" dirty="0"/>
          </a:p>
        </p:txBody>
      </p:sp>
      <p:sp>
        <p:nvSpPr>
          <p:cNvPr id="17" name="shape-1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2 di/dt + 6i = 12u(t),  i(0−) = 3</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2[sI − 3] + 6I = 12/s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I(s) = (3s + 6)/(s(s+3))</a:t>
            </a:r>
            <a:endParaRPr lang="en-US" sz="1000" dirty="0"/>
          </a:p>
        </p:txBody>
      </p:sp>
      <p:sp>
        <p:nvSpPr>
          <p:cNvPr id="19" name="shape-1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drop the f(0−) term in the differentiation theorem and then add the initial condition separately at the end. The whole advantage of the method is that the term is already there; adding it twice, or not at all, is the standard way to get a wrong transient.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553-561   |   CO4  |  Bloom L3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Initial-value and final-value theorems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7-2"/>
          <p:cNvSpPr/>
          <p:nvPr/>
        </p:nvSpPr>
        <p:spPr>
          <a:xfrm>
            <a:off x="552450" y="1266825"/>
            <a:ext cx="990600" cy="47625"/>
          </a:xfrm>
          <a:prstGeom prst="rect">
            <a:avLst/>
          </a:prstGeom>
          <a:solidFill>
            <a:srgbClr val="0F6FC6"/>
          </a:solidFill>
          <a:ln/>
        </p:spPr>
      </p:sp>
      <p:sp>
        <p:nvSpPr>
          <p:cNvPr id="5" name="shape-1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Initial-value and final-value theorems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17</a:t>
            </a:r>
            <a:endParaRPr lang="en-US" sz="900" dirty="0"/>
          </a:p>
        </p:txBody>
      </p:sp>
      <p:sp>
        <p:nvSpPr>
          <p:cNvPr id="9" name="shape-1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initial-value theorem states f(0+) = lim(s→∞) s·F(s), and the final-value theorem states f(∞) = lim(s→0) s·F(s). Both let an endpoint be read off the s-domain answer without inverting it, which makes them the cheapest possible check on a partial-fraction expansion. The final-value theorem carries an essential condition: every pole of s·F(s) must lie strictly in the left half plane. If a pole sits on the imaginary axis the function oscillates forever and has no final value, and if a pole lies in the right half plane the function grows without bound — in both cases the theorem will still return a finite number, and that number is meaningless.</a:t>
            </a:r>
            <a:endParaRPr lang="en-US" sz="1100" dirty="0"/>
          </a:p>
        </p:txBody>
      </p:sp>
      <p:sp>
        <p:nvSpPr>
          <p:cNvPr id="11" name="shape-1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initial-value theorem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final-value theorem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validity condition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sanity check</a:t>
            </a:r>
            <a:endParaRPr lang="en-US" sz="1100" dirty="0"/>
          </a:p>
        </p:txBody>
      </p:sp>
      <p:sp>
        <p:nvSpPr>
          <p:cNvPr id="13" name="shape-1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Both theorems are free checks, but the final-value theorem lies confidently when a pole is not strictly in the left half plane.</a:t>
            </a:r>
            <a:endParaRPr lang="en-US" sz="1100" dirty="0"/>
          </a:p>
        </p:txBody>
      </p:sp>
      <p:sp>
        <p:nvSpPr>
          <p:cNvPr id="15" name="shape-1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circular gauge dials side by side. Left gauge "Initial value" has its needle driven by the expression lim(s→∞) sF(s) printed beneath, with a small time plot showing the t = 0+ point highlighted. Right gaug…</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561-564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value-theorems-gauges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Initial-value and final-value theorems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8-2"/>
          <p:cNvSpPr/>
          <p:nvPr/>
        </p:nvSpPr>
        <p:spPr>
          <a:xfrm>
            <a:off x="552450" y="1266825"/>
            <a:ext cx="990600" cy="47625"/>
          </a:xfrm>
          <a:prstGeom prst="rect">
            <a:avLst/>
          </a:prstGeom>
          <a:solidFill>
            <a:srgbClr val="0F6FC6"/>
          </a:solidFill>
          <a:ln/>
        </p:spPr>
      </p:sp>
      <p:sp>
        <p:nvSpPr>
          <p:cNvPr id="5" name="shape-1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Initial-value and final-value theorems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18</a:t>
            </a:r>
            <a:endParaRPr lang="en-US" sz="900" dirty="0"/>
          </a:p>
        </p:txBody>
      </p:sp>
      <p:sp>
        <p:nvSpPr>
          <p:cNvPr id="9" name="shape-1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Form s·F(s)</a:t>
            </a:r>
            <a:endParaRPr lang="en-US" sz="1100" dirty="0"/>
          </a:p>
        </p:txBody>
      </p:sp>
      <p:sp>
        <p:nvSpPr>
          <p:cNvPr id="11" name="shape-1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the initial value, take the limit as s → ∞</a:t>
            </a:r>
            <a:endParaRPr lang="en-US" sz="1100" dirty="0"/>
          </a:p>
        </p:txBody>
      </p:sp>
      <p:sp>
        <p:nvSpPr>
          <p:cNvPr id="13" name="shape-1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Before using the final-value theorem, factor s·F(s) and locate every pole</a:t>
            </a:r>
            <a:endParaRPr lang="en-US" sz="1100" dirty="0"/>
          </a:p>
        </p:txBody>
      </p:sp>
      <p:sp>
        <p:nvSpPr>
          <p:cNvPr id="15" name="shape-1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every pole has a strictly negative real part</a:t>
            </a:r>
            <a:endParaRPr lang="en-US" sz="1100" dirty="0"/>
          </a:p>
        </p:txBody>
      </p:sp>
      <p:sp>
        <p:nvSpPr>
          <p:cNvPr id="17" name="shape-1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so, take the limit as s → 0</a:t>
            </a:r>
            <a:endParaRPr lang="en-US" sz="1100" dirty="0"/>
          </a:p>
        </p:txBody>
      </p:sp>
      <p:sp>
        <p:nvSpPr>
          <p:cNvPr id="19" name="shape-1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not, report that no final value exists</a:t>
            </a:r>
            <a:endParaRPr lang="en-US" sz="1100" dirty="0"/>
          </a:p>
        </p:txBody>
      </p:sp>
      <p:sp>
        <p:nvSpPr>
          <p:cNvPr id="21" name="shape-1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limit evaluation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plus a pole check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factoring the denominator to verify pole locations</a:t>
            </a:r>
            <a:endParaRPr lang="en-US" sz="1100" dirty="0"/>
          </a:p>
        </p:txBody>
      </p:sp>
      <p:sp>
        <p:nvSpPr>
          <p:cNvPr id="23" name="shape-1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pole check is the only part with any cost, and skipping it is what makes the theorem dangerous.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561-564   |   CO4  |  Bloom L4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Initial-value and final-value theorems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9-2"/>
          <p:cNvSpPr/>
          <p:nvPr/>
        </p:nvSpPr>
        <p:spPr>
          <a:xfrm>
            <a:off x="552450" y="1266825"/>
            <a:ext cx="990600" cy="47625"/>
          </a:xfrm>
          <a:prstGeom prst="rect">
            <a:avLst/>
          </a:prstGeom>
          <a:solidFill>
            <a:srgbClr val="0F6FC6"/>
          </a:solidFill>
          <a:ln/>
        </p:spPr>
      </p:sp>
      <p:sp>
        <p:nvSpPr>
          <p:cNvPr id="5" name="shape-1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Initial-value and final-value theorems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19</a:t>
            </a:r>
            <a:endParaRPr lang="en-US" sz="900" dirty="0"/>
          </a:p>
        </p:txBody>
      </p:sp>
      <p:sp>
        <p:nvSpPr>
          <p:cNvPr id="9" name="shape-1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F(s) = (3s + 6)/(s(s + 3)) from the previous unit.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s·F(s) = (3s + 6)/(s + 3)</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Initial value: as s → ∞, this tends to 3 — matching i(0−) = 3 A</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Poles of s·F(s): only s = −3, strictly in the left half plane, so the theorem applies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Final value: as s → 0, this tends to 6/3 = 2 A</a:t>
            </a:r>
            <a:endParaRPr lang="en-US" sz="1100" dirty="0"/>
          </a:p>
        </p:txBody>
      </p:sp>
      <p:sp>
        <p:nvSpPr>
          <p:cNvPr id="15" name="shape-1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current starts at 3 A and settles at 2 A, both read directly from F(s) without any inverse transform.</a:t>
            </a:r>
            <a:endParaRPr lang="en-US" sz="1100" dirty="0"/>
          </a:p>
        </p:txBody>
      </p:sp>
      <p:sp>
        <p:nvSpPr>
          <p:cNvPr id="17" name="shape-1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sF(s) = (3s+6)/(s+3)</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f(0+) = lim_{s→∞} = 3 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poles of sF(s): s = −3 (LHP) ✓  ⇒ f(∞) = 6/3 = 2 A</a:t>
            </a:r>
            <a:endParaRPr lang="en-US" sz="1000" dirty="0"/>
          </a:p>
        </p:txBody>
      </p:sp>
      <p:sp>
        <p:nvSpPr>
          <p:cNvPr id="19" name="shape-1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apply the final-value theorem to a purely oscillatory response, where s·F(s) has poles on the jω axis. The limit returns zero, which looks like a settled circuit, when in fact the response oscillates undiminished forever.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561-564   |   CO4  |  Bloom L4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Z(s) and Y(s): impedance in the s-domain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0-2"/>
          <p:cNvSpPr/>
          <p:nvPr/>
        </p:nvSpPr>
        <p:spPr>
          <a:xfrm>
            <a:off x="552450" y="1266825"/>
            <a:ext cx="990600" cy="47625"/>
          </a:xfrm>
          <a:prstGeom prst="rect">
            <a:avLst/>
          </a:prstGeom>
          <a:solidFill>
            <a:srgbClr val="0F6FC6"/>
          </a:solidFill>
          <a:ln/>
        </p:spPr>
      </p:sp>
      <p:sp>
        <p:nvSpPr>
          <p:cNvPr id="5" name="shape-2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Z(s) and Y(s): impedance in the s-dom…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20</a:t>
            </a:r>
            <a:endParaRPr lang="en-US" sz="900" dirty="0"/>
          </a:p>
        </p:txBody>
      </p:sp>
      <p:sp>
        <p:nvSpPr>
          <p:cNvPr id="9" name="shape-2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Applying the differentiation and integration theorems to the element laws gives the s-domain impedances directly: a resistor is R, an inductor is sL and a capacitor is 1/(sC). These generalise the phasor impedances of Module 1, which are recovered by setting s = jω, and they generalise them usefully — because s carries both a decay rate σ and a frequency ω, the s-domain impedance describes transient and steady-state behaviour at once. With these substitutions, series and parallel combination rules, voltage and current division, and every Module 1 and Module 2 technique apply unchanged, now operating on rational functions of s rather than on numbers.</a:t>
            </a:r>
            <a:endParaRPr lang="en-US" sz="1100" dirty="0"/>
          </a:p>
        </p:txBody>
      </p:sp>
      <p:sp>
        <p:nvSpPr>
          <p:cNvPr id="11" name="shape-2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generalised impedance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1/sC</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driving-point impedance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operational impedance</a:t>
            </a:r>
            <a:endParaRPr lang="en-US" sz="1100" dirty="0"/>
          </a:p>
        </p:txBody>
      </p:sp>
      <p:sp>
        <p:nvSpPr>
          <p:cNvPr id="13" name="shape-2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R, L and C by R, sL and 1/sC and every DC technique you own becomes a full transient solver.</a:t>
            </a:r>
            <a:endParaRPr lang="en-US" sz="1100" dirty="0"/>
          </a:p>
        </p:txBody>
      </p:sp>
      <p:sp>
        <p:nvSpPr>
          <p:cNvPr id="15" name="shape-2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three-column table. Column 1 "Element": resistor, inductor, capacitor symbols. Column 2 "Phasor (s = jω)": R, jωL, 1/(jωC). Column 3 "s-domain": R, sL, 1/(sC). An arrow spans columns 2 to 3 labelled "jω → 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571-578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L3  |  visual id: impedance-generalisation-ladder</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Z(s) and Y(s): impedance in the s-domain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1-2"/>
          <p:cNvSpPr/>
          <p:nvPr/>
        </p:nvSpPr>
        <p:spPr>
          <a:xfrm>
            <a:off x="552450" y="1266825"/>
            <a:ext cx="990600" cy="47625"/>
          </a:xfrm>
          <a:prstGeom prst="rect">
            <a:avLst/>
          </a:prstGeom>
          <a:solidFill>
            <a:srgbClr val="0F6FC6"/>
          </a:solidFill>
          <a:ln/>
        </p:spPr>
      </p:sp>
      <p:sp>
        <p:nvSpPr>
          <p:cNvPr id="5" name="shape-2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Z(s) and Y(s): impedance in the s-dom…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21</a:t>
            </a:r>
            <a:endParaRPr lang="en-US" sz="900" dirty="0"/>
          </a:p>
        </p:txBody>
      </p:sp>
      <p:sp>
        <p:nvSpPr>
          <p:cNvPr id="9" name="shape-2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every resistor by R</a:t>
            </a:r>
            <a:endParaRPr lang="en-US" sz="1100" dirty="0"/>
          </a:p>
        </p:txBody>
      </p:sp>
      <p:sp>
        <p:nvSpPr>
          <p:cNvPr id="11" name="shape-2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every inductor by sL</a:t>
            </a:r>
            <a:endParaRPr lang="en-US" sz="1100" dirty="0"/>
          </a:p>
        </p:txBody>
      </p:sp>
      <p:sp>
        <p:nvSpPr>
          <p:cNvPr id="13" name="shape-2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every capacitor by 1/(sC)</a:t>
            </a:r>
            <a:endParaRPr lang="en-US" sz="1100" dirty="0"/>
          </a:p>
        </p:txBody>
      </p:sp>
      <p:sp>
        <p:nvSpPr>
          <p:cNvPr id="15" name="shape-2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Transform every source using the transform table</a:t>
            </a:r>
            <a:endParaRPr lang="en-US" sz="1100" dirty="0"/>
          </a:p>
        </p:txBody>
      </p:sp>
      <p:sp>
        <p:nvSpPr>
          <p:cNvPr id="17" name="shape-2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series, parallel, division, nodal or mesh exactly as in DC</a:t>
            </a:r>
            <a:endParaRPr lang="en-US" sz="1100" dirty="0"/>
          </a:p>
        </p:txBody>
      </p:sp>
      <p:sp>
        <p:nvSpPr>
          <p:cNvPr id="19" name="shape-2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for the required quantity as a rational function of s</a:t>
            </a:r>
            <a:endParaRPr lang="en-US" sz="1100" dirty="0"/>
          </a:p>
        </p:txBody>
      </p:sp>
      <p:sp>
        <p:nvSpPr>
          <p:cNvPr id="21" name="shape-2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for a series or parallel chain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same structure as the DC problem, with polynomial arithmetic</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polynomial division and factoring dominate for large networks</a:t>
            </a:r>
            <a:endParaRPr lang="en-US" sz="1100" dirty="0"/>
          </a:p>
        </p:txBody>
      </p:sp>
      <p:sp>
        <p:nvSpPr>
          <p:cNvPr id="23" name="shape-2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cost moves from repeated numeric solves to a single symbolic one.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571-578   |   CO4  |  Bloom L3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Z(s) and Y(s): impedance in the s-domain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2-2"/>
          <p:cNvSpPr/>
          <p:nvPr/>
        </p:nvSpPr>
        <p:spPr>
          <a:xfrm>
            <a:off x="552450" y="1266825"/>
            <a:ext cx="990600" cy="47625"/>
          </a:xfrm>
          <a:prstGeom prst="rect">
            <a:avLst/>
          </a:prstGeom>
          <a:solidFill>
            <a:srgbClr val="0F6FC6"/>
          </a:solidFill>
          <a:ln/>
        </p:spPr>
      </p:sp>
      <p:sp>
        <p:nvSpPr>
          <p:cNvPr id="5" name="shape-2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Z(s) and Y(s): impedance in the s-dom…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22</a:t>
            </a:r>
            <a:endParaRPr lang="en-US" sz="900" dirty="0"/>
          </a:p>
        </p:txBody>
      </p:sp>
      <p:sp>
        <p:nvSpPr>
          <p:cNvPr id="9" name="shape-2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series R = 1 kΩ and C = 1 µF driven by a 10 V step, capacitor initially uncharged.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Z(s) = 1000 + 1/(1e−6·s) = 1000 + 1e6/s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Source: 10/s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I(s) = (10/s)/(1000 + 1e6/s) = 10/(1000s + 1e6) = 0.01/(s + 1000)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Inverse transform: i(t) = 0.01·e^(−1000t) A</a:t>
            </a:r>
            <a:endParaRPr lang="en-US" sz="1100" dirty="0"/>
          </a:p>
        </p:txBody>
      </p:sp>
      <p:sp>
        <p:nvSpPr>
          <p:cNvPr id="15" name="shape-2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i(t) = 10·e^(−1000t) mA, with the pole at s = −1000 corresponding exactly to τ = RC = 1 ms.</a:t>
            </a:r>
            <a:endParaRPr lang="en-US" sz="1100" dirty="0"/>
          </a:p>
        </p:txBody>
      </p:sp>
      <p:sp>
        <p:nvSpPr>
          <p:cNvPr id="17" name="shape-2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Z(s) = R + 1/sC = 1000 + 10⁶/s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I(s) = (10/s)/Z(s) = 0.01/(s+1000)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i(t) = 10 e^{−1000t} mA   (pole −1000 ⇔ τ = 1 ms)</a:t>
            </a:r>
            <a:endParaRPr lang="en-US" sz="1000" dirty="0"/>
          </a:p>
        </p:txBody>
      </p:sp>
      <p:sp>
        <p:nvSpPr>
          <p:cNvPr id="19" name="shape-2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the capacitor impedance as sC by analogy with the inductor. The capacitor law integrates, so its impedance divides by s — writing sC makes a capacitor behave like an inductor and inverts the entire frequency response.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571-578   |   CO4  |  Bloom L3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Initial conditions as sources in the s-domain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3-2"/>
          <p:cNvSpPr/>
          <p:nvPr/>
        </p:nvSpPr>
        <p:spPr>
          <a:xfrm>
            <a:off x="552450" y="1266825"/>
            <a:ext cx="990600" cy="47625"/>
          </a:xfrm>
          <a:prstGeom prst="rect">
            <a:avLst/>
          </a:prstGeom>
          <a:solidFill>
            <a:srgbClr val="0F6FC6"/>
          </a:solidFill>
          <a:ln/>
        </p:spPr>
      </p:sp>
      <p:sp>
        <p:nvSpPr>
          <p:cNvPr id="5" name="shape-2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Initial conditions as sources in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23</a:t>
            </a:r>
            <a:endParaRPr lang="en-US" sz="900" dirty="0"/>
          </a:p>
        </p:txBody>
      </p:sp>
      <p:sp>
        <p:nvSpPr>
          <p:cNvPr id="9" name="shape-23-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initial-condition terms produced by the differentiation theorem can be drawn as sources rather than carried as algebra. An inductor with initial current i(0−) becomes an impedance sL in series with a voltage source of value L·i(0−), or equivalently sL in parallel with a current source i(0−)/s. A capacitor with initial voltage v(0−) becomes 1/(sC) in series with a voltage source v(0−)/s, or in parallel with a current source C·v(0−). Once these models are in place the network is a pure impedance network with sources, and a single algebraic solve produces the complete response — natural and forced together — with no separate initial-condition stage at all.</a:t>
            </a:r>
            <a:endParaRPr lang="en-US" sz="1100" dirty="0"/>
          </a:p>
        </p:txBody>
      </p:sp>
      <p:sp>
        <p:nvSpPr>
          <p:cNvPr id="11" name="shape-23-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initial-condition generator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L·i(0−) source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v(0−)/s source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equivalent model</a:t>
            </a:r>
            <a:endParaRPr lang="en-US" sz="1100" dirty="0"/>
          </a:p>
        </p:txBody>
      </p:sp>
      <p:sp>
        <p:nvSpPr>
          <p:cNvPr id="13" name="shape-23-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Initial conditions become sources, so the s-domain circuit needs one solve where the time domain needed three.</a:t>
            </a:r>
            <a:endParaRPr lang="en-US" sz="1100" dirty="0"/>
          </a:p>
        </p:txBody>
      </p:sp>
      <p:sp>
        <p:nvSpPr>
          <p:cNvPr id="15" name="shape-23-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two-row, two-column grid of element models. Row 1 "Inductor, i(0−)": left cell shows sL in series with a battery symbol labelled L·i(0−); right cell shows sL in parallel with a current-source symbol labelled…</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571-578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initial-condition-source-models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Initial conditions as sources in the s-domain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4-2"/>
          <p:cNvSpPr/>
          <p:nvPr/>
        </p:nvSpPr>
        <p:spPr>
          <a:xfrm>
            <a:off x="552450" y="1266825"/>
            <a:ext cx="990600" cy="47625"/>
          </a:xfrm>
          <a:prstGeom prst="rect">
            <a:avLst/>
          </a:prstGeom>
          <a:solidFill>
            <a:srgbClr val="0F6FC6"/>
          </a:solidFill>
          <a:ln/>
        </p:spPr>
      </p:sp>
      <p:sp>
        <p:nvSpPr>
          <p:cNvPr id="5" name="shape-2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Initial conditions as sources in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24</a:t>
            </a:r>
            <a:endParaRPr lang="en-US" sz="900" dirty="0"/>
          </a:p>
        </p:txBody>
      </p:sp>
      <p:sp>
        <p:nvSpPr>
          <p:cNvPr id="9" name="shape-24-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v_C(0−) and i_L(0−) from the pre-switching steady state</a:t>
            </a:r>
            <a:endParaRPr lang="en-US" sz="1100" dirty="0"/>
          </a:p>
        </p:txBody>
      </p:sp>
      <p:sp>
        <p:nvSpPr>
          <p:cNvPr id="11" name="shape-24-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each inductor by sL in series with L·i(0−)</a:t>
            </a:r>
            <a:endParaRPr lang="en-US" sz="1100" dirty="0"/>
          </a:p>
        </p:txBody>
      </p:sp>
      <p:sp>
        <p:nvSpPr>
          <p:cNvPr id="13" name="shape-24-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each capacitor by 1/(sC) in series with v(0−)/s</a:t>
            </a:r>
            <a:endParaRPr lang="en-US" sz="1100" dirty="0"/>
          </a:p>
        </p:txBody>
      </p:sp>
      <p:sp>
        <p:nvSpPr>
          <p:cNvPr id="15" name="shape-24-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the polarity of each initial-condition source against the assumed reference direction</a:t>
            </a:r>
            <a:endParaRPr lang="en-US" sz="1100" dirty="0"/>
          </a:p>
        </p:txBody>
      </p:sp>
      <p:sp>
        <p:nvSpPr>
          <p:cNvPr id="17" name="shape-24-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the resulting impedance network algebraically</a:t>
            </a:r>
            <a:endParaRPr lang="en-US" sz="1100" dirty="0"/>
          </a:p>
        </p:txBody>
      </p:sp>
      <p:sp>
        <p:nvSpPr>
          <p:cNvPr id="19" name="shape-24-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Inverse transform the result</a:t>
            </a:r>
            <a:endParaRPr lang="en-US" sz="1100" dirty="0"/>
          </a:p>
        </p:txBody>
      </p:sp>
      <p:sp>
        <p:nvSpPr>
          <p:cNvPr id="21" name="shape-24-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algebraic solve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solve plus one partial-fraction expansion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high-order partial fraction with repeated poles</a:t>
            </a:r>
            <a:endParaRPr lang="en-US" sz="1100" dirty="0"/>
          </a:p>
        </p:txBody>
      </p:sp>
      <p:sp>
        <p:nvSpPr>
          <p:cNvPr id="23" name="shape-24-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Replaces the three-stage time-domain pipeline with a single pass.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571-578   |   CO4  |  Bloom L4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Initial conditions as sources in the s-domain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5-2"/>
          <p:cNvSpPr/>
          <p:nvPr/>
        </p:nvSpPr>
        <p:spPr>
          <a:xfrm>
            <a:off x="552450" y="1266825"/>
            <a:ext cx="990600" cy="47625"/>
          </a:xfrm>
          <a:prstGeom prst="rect">
            <a:avLst/>
          </a:prstGeom>
          <a:solidFill>
            <a:srgbClr val="0F6FC6"/>
          </a:solidFill>
          <a:ln/>
        </p:spPr>
      </p:sp>
      <p:sp>
        <p:nvSpPr>
          <p:cNvPr id="5" name="shape-2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Initial conditions as sources in the…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25</a:t>
            </a:r>
            <a:endParaRPr lang="en-US" sz="900" dirty="0"/>
          </a:p>
        </p:txBody>
      </p:sp>
      <p:sp>
        <p:nvSpPr>
          <p:cNvPr id="9" name="shape-25-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An inductor L = 2 H carrying 3 A at t = 0−, in series with 6 Ω and a 12 V step.</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Inductor model: 2s in series with a source of L·i(0−) = 6 V, aiding the current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Loop: I(s) = (12/s + 6)/(2s + 6)</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Simplify: I(s) = (12 + 6s)/(s(2s + 6)) = (6s + 12)/(2s(s + 3)) = (3s + 6)/(s(s+3))</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Partial fractions: 2/s + 1/(s + 3)</a:t>
            </a:r>
            <a:endParaRPr lang="en-US" sz="1100" dirty="0"/>
          </a:p>
        </p:txBody>
      </p:sp>
      <p:sp>
        <p:nvSpPr>
          <p:cNvPr id="15" name="shape-25-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i(t) = 2 + e^(−3t) A, starting at 3 A and settling at 2 A — both endpoints matching the value theorems applied earlier.</a:t>
            </a:r>
            <a:endParaRPr lang="en-US" sz="1100" dirty="0"/>
          </a:p>
        </p:txBody>
      </p:sp>
      <p:sp>
        <p:nvSpPr>
          <p:cNvPr id="17" name="shape-25-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L model: sL in series with L·i(0−) = 6 V</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I(s) = (12/s + 6)/(2s + 6) = 2/s + 1/(s+3)</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i(t) = 2 + e^{−3t} A</a:t>
            </a:r>
            <a:endParaRPr lang="en-US" sz="1000" dirty="0"/>
          </a:p>
        </p:txBody>
      </p:sp>
      <p:sp>
        <p:nvSpPr>
          <p:cNvPr id="19" name="shape-25-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give the initial-condition source the wrong polarity, so the transient adds where it should subtract. The check is immediate: evaluate the result at t = 0 and confirm it reproduces the known initial current or voltage.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571-578   |   CO4  |  Bloom L4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Nodal and mesh analysis in the s-domain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6-2"/>
          <p:cNvSpPr/>
          <p:nvPr/>
        </p:nvSpPr>
        <p:spPr>
          <a:xfrm>
            <a:off x="552450" y="1266825"/>
            <a:ext cx="990600" cy="47625"/>
          </a:xfrm>
          <a:prstGeom prst="rect">
            <a:avLst/>
          </a:prstGeom>
          <a:solidFill>
            <a:srgbClr val="0F6FC6"/>
          </a:solidFill>
          <a:ln/>
        </p:spPr>
      </p:sp>
      <p:sp>
        <p:nvSpPr>
          <p:cNvPr id="5" name="shape-2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Nodal and mesh analysis in the s-doma…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26</a:t>
            </a:r>
            <a:endParaRPr lang="en-US" sz="900" dirty="0"/>
          </a:p>
        </p:txBody>
      </p:sp>
      <p:sp>
        <p:nvSpPr>
          <p:cNvPr id="9" name="shape-26-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Nodal and mesh analysis proceed in the s-domain exactly as in DC, with conductances replaced by admittances Y(s) and resistances by impedances Z(s). The coefficient matrix now contains rational functions of s rather than numbers, so the elimination is symbolic and the answer emerges as a ratio of polynomials. Supernodes and supermeshes are formed for the same reasons and dependent sources handled the same way. The single algebraic solution contains the complete response — natural, forced, and initial-condition contributions all folded together — which is the decisive advantage over the time-domain method, where each of those had to be found separately and then combined.</a:t>
            </a:r>
            <a:endParaRPr lang="en-US" sz="1100" dirty="0"/>
          </a:p>
        </p:txBody>
      </p:sp>
      <p:sp>
        <p:nvSpPr>
          <p:cNvPr id="11" name="shape-26-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s-domain nodal analysis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polynomial matrix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symbolic solve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complete response</a:t>
            </a:r>
            <a:endParaRPr lang="en-US" sz="1100" dirty="0"/>
          </a:p>
        </p:txBody>
      </p:sp>
      <p:sp>
        <p:nvSpPr>
          <p:cNvPr id="13" name="shape-26-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One symbolic nodal solve in s replaces the whole natural-plus-forced-plus-initial-condition assembly.</a:t>
            </a:r>
            <a:endParaRPr lang="en-US" sz="1100" dirty="0"/>
          </a:p>
        </p:txBody>
      </p:sp>
      <p:sp>
        <p:nvSpPr>
          <p:cNvPr id="15" name="shape-26-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two-node circuit drawn with s-domain element labels — R, sL, 1/(sC) — and an initial-condition source attached to the inductor. Right: a 2×2 matrix whose entries are rational expressions in s, beside a…</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578-585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s-domain-nodal-matrix</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Nodal and mesh analysis in the s-domain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7-2"/>
          <p:cNvSpPr/>
          <p:nvPr/>
        </p:nvSpPr>
        <p:spPr>
          <a:xfrm>
            <a:off x="552450" y="1266825"/>
            <a:ext cx="990600" cy="47625"/>
          </a:xfrm>
          <a:prstGeom prst="rect">
            <a:avLst/>
          </a:prstGeom>
          <a:solidFill>
            <a:srgbClr val="0F6FC6"/>
          </a:solidFill>
          <a:ln/>
        </p:spPr>
      </p:sp>
      <p:sp>
        <p:nvSpPr>
          <p:cNvPr id="5" name="shape-2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Nodal and mesh analysis in the s-doma…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27</a:t>
            </a:r>
            <a:endParaRPr lang="en-US" sz="900" dirty="0"/>
          </a:p>
        </p:txBody>
      </p:sp>
      <p:sp>
        <p:nvSpPr>
          <p:cNvPr id="9" name="shape-27-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Transform every source and replace every element by its s-domain impedance</a:t>
            </a:r>
            <a:endParaRPr lang="en-US" sz="1100" dirty="0"/>
          </a:p>
        </p:txBody>
      </p:sp>
      <p:sp>
        <p:nvSpPr>
          <p:cNvPr id="11" name="shape-27-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Insert initial-condition sources for every energised inductor and capacitor</a:t>
            </a:r>
            <a:endParaRPr lang="en-US" sz="1100" dirty="0"/>
          </a:p>
        </p:txBody>
      </p:sp>
      <p:sp>
        <p:nvSpPr>
          <p:cNvPr id="13" name="shape-27-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a reference node and write KCL with admittances, or write KVL with impedances</a:t>
            </a:r>
            <a:endParaRPr lang="en-US" sz="1100" dirty="0"/>
          </a:p>
        </p:txBody>
      </p:sp>
      <p:sp>
        <p:nvSpPr>
          <p:cNvPr id="15" name="shape-27-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Form supernodes or supermeshes where required</a:t>
            </a:r>
            <a:endParaRPr lang="en-US" sz="1100" dirty="0"/>
          </a:p>
        </p:txBody>
      </p:sp>
      <p:sp>
        <p:nvSpPr>
          <p:cNvPr id="17" name="shape-27-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the symbolic system for the required quantity</a:t>
            </a:r>
            <a:endParaRPr lang="en-US" sz="1100" dirty="0"/>
          </a:p>
        </p:txBody>
      </p:sp>
      <p:sp>
        <p:nvSpPr>
          <p:cNvPr id="19" name="shape-27-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Expand by partial fractions and inverse transform</a:t>
            </a:r>
            <a:endParaRPr lang="en-US" sz="1100" dirty="0"/>
          </a:p>
        </p:txBody>
      </p:sp>
      <p:sp>
        <p:nvSpPr>
          <p:cNvPr id="21" name="shape-27-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a single-node divider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O(n^3) symbolic elimination on polynomials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polynomial degree growth makes symbolic elimination markedly more expensive than the numeric case</a:t>
            </a:r>
            <a:endParaRPr lang="en-US" sz="1100" dirty="0"/>
          </a:p>
        </p:txBody>
      </p:sp>
      <p:sp>
        <p:nvSpPr>
          <p:cNvPr id="23" name="shape-27-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Prefer reducing the network before solving; polynomial arithmetic punishes unnecessary nodes.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578-585   |   CO4  |  Bloom L4</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Nodal and mesh analysis in the s-domain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8-2"/>
          <p:cNvSpPr/>
          <p:nvPr/>
        </p:nvSpPr>
        <p:spPr>
          <a:xfrm>
            <a:off x="552450" y="1266825"/>
            <a:ext cx="990600" cy="47625"/>
          </a:xfrm>
          <a:prstGeom prst="rect">
            <a:avLst/>
          </a:prstGeom>
          <a:solidFill>
            <a:srgbClr val="0F6FC6"/>
          </a:solidFill>
          <a:ln/>
        </p:spPr>
      </p:sp>
      <p:sp>
        <p:nvSpPr>
          <p:cNvPr id="5" name="shape-2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Nodal and mesh analysis in the s-doma…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28</a:t>
            </a:r>
            <a:endParaRPr lang="en-US" sz="900" dirty="0"/>
          </a:p>
        </p:txBody>
      </p:sp>
      <p:sp>
        <p:nvSpPr>
          <p:cNvPr id="9" name="shape-28-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10/s V source through R = 2 Ω to a node with L = 1 H to ground, inductor initially unenergised.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Node admittances: 1/2 from the source side, 1/s from the inductor</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KCL: (V − 10/s)/2 + V/s = 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by 2s: s·V − 10 + 2V = 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V(s) = 10/(s + 2)</a:t>
            </a:r>
            <a:endParaRPr lang="en-US" sz="1100" dirty="0"/>
          </a:p>
        </p:txBody>
      </p:sp>
      <p:sp>
        <p:nvSpPr>
          <p:cNvPr id="15" name="shape-28-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v(t) = 10·e^(−2t) V; a single symbolic solve produced the complete transient with no separate initial-condition step.</a:t>
            </a:r>
            <a:endParaRPr lang="en-US" sz="1100" dirty="0"/>
          </a:p>
        </p:txBody>
      </p:sp>
      <p:sp>
        <p:nvSpPr>
          <p:cNvPr id="17" name="shape-28-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 − 10/s)/2 + V/s =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sV − 10 + 2V =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V(s) = 10/(s+2) ⇒ v(t) = 10 e^{−2t} V</a:t>
            </a:r>
            <a:endParaRPr lang="en-US" sz="1000" dirty="0"/>
          </a:p>
        </p:txBody>
      </p:sp>
      <p:sp>
        <p:nvSpPr>
          <p:cNvPr id="19" name="shape-28-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clear denominators carelessly and lose a factor of s, which shifts a pole to the wrong place. Since the pole locations are the entire transient behaviour, an algebra slip here changes the answer qualitatively rather than slightly.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578-585   |   CO4  |  Bloom L4</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Thévenin, Norton and superposition in the s-domain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9-2"/>
          <p:cNvSpPr/>
          <p:nvPr/>
        </p:nvSpPr>
        <p:spPr>
          <a:xfrm>
            <a:off x="552450" y="1266825"/>
            <a:ext cx="990600" cy="47625"/>
          </a:xfrm>
          <a:prstGeom prst="rect">
            <a:avLst/>
          </a:prstGeom>
          <a:solidFill>
            <a:srgbClr val="0F6FC6"/>
          </a:solidFill>
          <a:ln/>
        </p:spPr>
      </p:sp>
      <p:sp>
        <p:nvSpPr>
          <p:cNvPr id="5" name="shape-2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Thévenin, Norton and superposition in…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29</a:t>
            </a:r>
            <a:endParaRPr lang="en-US" sz="900" dirty="0"/>
          </a:p>
        </p:txBody>
      </p:sp>
      <p:sp>
        <p:nvSpPr>
          <p:cNvPr id="9" name="shape-29-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Every theorem from Module 2 transfers into the s-domain with resistance replaced by Z(s). A Thévenin equivalent now consists of V_th(s), a rational function, in series with Z_th(s), also rational; this is powerful because a load can then be swept in the s-domain and each case inverse-transformed separately. Superposition applies to transforms directly, so a circuit with several sources and several energised elements can be decomposed by contribution — and unlike the time domain, sources at different frequencies need no special treatment, because each simply contributes its own transform to the same algebraic sum. Source transformation becomes V_th(s) = I_N(s)·Z_th(s).</a:t>
            </a:r>
            <a:endParaRPr lang="en-US" sz="1100" dirty="0"/>
          </a:p>
        </p:txBody>
      </p:sp>
      <p:sp>
        <p:nvSpPr>
          <p:cNvPr id="11" name="shape-29-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Z_th(s)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s-domain equivalent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superposition of transforms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source transformation in s</a:t>
            </a:r>
            <a:endParaRPr lang="en-US" sz="1100" dirty="0"/>
          </a:p>
        </p:txBody>
      </p:sp>
      <p:sp>
        <p:nvSpPr>
          <p:cNvPr id="13" name="shape-29-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 the s-domain, sources at different frequencies stop being a special case — they are just different rational terms.</a:t>
            </a:r>
            <a:endParaRPr lang="en-US" sz="1100" dirty="0"/>
          </a:p>
        </p:txBody>
      </p:sp>
      <p:sp>
        <p:nvSpPr>
          <p:cNvPr id="15" name="shape-29-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stacked rows, each showing a DC form on the left and its s-domain counterpart on the right, joined by an arrow labelled "R → Z(s)". Row 1: Thévenin, V_th with R_th becoming V_th(s) with Z_th(s), both dra…</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585-588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s-domain-theorem-carry</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Thévenin, Norton and superposition in the s-domain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0-2"/>
          <p:cNvSpPr/>
          <p:nvPr/>
        </p:nvSpPr>
        <p:spPr>
          <a:xfrm>
            <a:off x="552450" y="1266825"/>
            <a:ext cx="990600" cy="47625"/>
          </a:xfrm>
          <a:prstGeom prst="rect">
            <a:avLst/>
          </a:prstGeom>
          <a:solidFill>
            <a:srgbClr val="0F6FC6"/>
          </a:solidFill>
          <a:ln/>
        </p:spPr>
      </p:sp>
      <p:sp>
        <p:nvSpPr>
          <p:cNvPr id="5" name="shape-3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Thévenin, Norton and superposition in…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30</a:t>
            </a:r>
            <a:endParaRPr lang="en-US" sz="900" dirty="0"/>
          </a:p>
        </p:txBody>
      </p:sp>
      <p:sp>
        <p:nvSpPr>
          <p:cNvPr id="9" name="shape-30-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Transform the network into the s-domain including initial-condition sources</a:t>
            </a:r>
            <a:endParaRPr lang="en-US" sz="1100" dirty="0"/>
          </a:p>
        </p:txBody>
      </p:sp>
      <p:sp>
        <p:nvSpPr>
          <p:cNvPr id="11" name="shape-30-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Detach the load at the port of interest</a:t>
            </a:r>
            <a:endParaRPr lang="en-US" sz="1100" dirty="0"/>
          </a:p>
        </p:txBody>
      </p:sp>
      <p:sp>
        <p:nvSpPr>
          <p:cNvPr id="13" name="shape-30-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V_th(s) as the open-circuit transform</a:t>
            </a:r>
            <a:endParaRPr lang="en-US" sz="1100" dirty="0"/>
          </a:p>
        </p:txBody>
      </p:sp>
      <p:sp>
        <p:nvSpPr>
          <p:cNvPr id="15" name="shape-30-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Z_th(s) by look-back or by a test source, as in Module 2</a:t>
            </a:r>
            <a:endParaRPr lang="en-US" sz="1100" dirty="0"/>
          </a:p>
        </p:txBody>
      </p:sp>
      <p:sp>
        <p:nvSpPr>
          <p:cNvPr id="17" name="shape-30-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Reattach the load and solve the two-element s-domain circuit</a:t>
            </a:r>
            <a:endParaRPr lang="en-US" sz="1100" dirty="0"/>
          </a:p>
        </p:txBody>
      </p:sp>
      <p:sp>
        <p:nvSpPr>
          <p:cNvPr id="19" name="shape-30-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Inverse transform the result</a:t>
            </a:r>
            <a:endParaRPr lang="en-US" sz="1100" dirty="0"/>
          </a:p>
        </p:txBody>
      </p:sp>
      <p:sp>
        <p:nvSpPr>
          <p:cNvPr id="21" name="shape-30-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reduction reused across every load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two symbolic solves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two symbolic solves with high-degree polynomials</a:t>
            </a:r>
            <a:endParaRPr lang="en-US" sz="1100" dirty="0"/>
          </a:p>
        </p:txBody>
      </p:sp>
      <p:sp>
        <p:nvSpPr>
          <p:cNvPr id="23" name="shape-30-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payoff is larger than in DC, because each avoided solve is a symbolic one.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585-588   |   CO4  |  Bloom L4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Thévenin, Norton and superposition in the s-domain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1-2"/>
          <p:cNvSpPr/>
          <p:nvPr/>
        </p:nvSpPr>
        <p:spPr>
          <a:xfrm>
            <a:off x="552450" y="1266825"/>
            <a:ext cx="990600" cy="47625"/>
          </a:xfrm>
          <a:prstGeom prst="rect">
            <a:avLst/>
          </a:prstGeom>
          <a:solidFill>
            <a:srgbClr val="0F6FC6"/>
          </a:solidFill>
          <a:ln/>
        </p:spPr>
      </p:sp>
      <p:sp>
        <p:nvSpPr>
          <p:cNvPr id="5" name="shape-3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Thévenin, Norton and superposition in…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31</a:t>
            </a:r>
            <a:endParaRPr lang="en-US" sz="900" dirty="0"/>
          </a:p>
        </p:txBody>
      </p:sp>
      <p:sp>
        <p:nvSpPr>
          <p:cNvPr id="9" name="shape-31-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10/s source in series with 1 Ω and 1 H; find the s-domain Thévenin equivalent at the inductor terminals.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Remove the inductor; V_th(s) = 10/s, since no current flows through the 1 Ω</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Deactivate the source: Z_th(s) = 1 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Equivalent: 10/s in series with 1 Ω</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Reattach the inductor: I(s) = (10/s)/(1 + s) = 10/(s(s+1))</a:t>
            </a:r>
            <a:endParaRPr lang="en-US" sz="1100" dirty="0"/>
          </a:p>
        </p:txBody>
      </p:sp>
      <p:sp>
        <p:nvSpPr>
          <p:cNvPr id="15" name="shape-31-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I(s) = 10/(s(s+1)), which inverts to i(t) = 10(1 − e^(−t)) A — the familiar rising exponential, obtained through a two-element equivalent.</a:t>
            </a:r>
            <a:endParaRPr lang="en-US" sz="1100" dirty="0"/>
          </a:p>
        </p:txBody>
      </p:sp>
      <p:sp>
        <p:nvSpPr>
          <p:cNvPr id="17" name="shape-31-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V_th(s) = 10/s,  Z_th(s) = 1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I(s) = (10/s)/(1+s) = 10/(s(s+1))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i(t) = 10(1 − e^{−t}) A</a:t>
            </a:r>
            <a:endParaRPr lang="en-US" sz="1000" dirty="0"/>
          </a:p>
        </p:txBody>
      </p:sp>
      <p:sp>
        <p:nvSpPr>
          <p:cNvPr id="19" name="shape-31-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forget that Z_th(s) must include the impedance contributions of any energised storage element, while its initial-condition source belongs to V_th(s). Mixing the two puts an initial condition into the impedance, which is dimensionally wrong and produces a spurious pole.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585-588   |   CO4  |  Bloom L4</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Transfer functions, poles and zeros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2-2"/>
          <p:cNvSpPr/>
          <p:nvPr/>
        </p:nvSpPr>
        <p:spPr>
          <a:xfrm>
            <a:off x="552450" y="1266825"/>
            <a:ext cx="990600" cy="47625"/>
          </a:xfrm>
          <a:prstGeom prst="rect">
            <a:avLst/>
          </a:prstGeom>
          <a:solidFill>
            <a:srgbClr val="0F6FC6"/>
          </a:solidFill>
          <a:ln/>
        </p:spPr>
      </p:sp>
      <p:sp>
        <p:nvSpPr>
          <p:cNvPr id="5" name="shape-3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Transfer functions, poles and zeros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32</a:t>
            </a:r>
            <a:endParaRPr lang="en-US" sz="900" dirty="0"/>
          </a:p>
        </p:txBody>
      </p:sp>
      <p:sp>
        <p:nvSpPr>
          <p:cNvPr id="9" name="shape-32-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transfer function H(s) is the ratio of an output transform to an input transform with all initial conditions set to zero, H(s) = Y(s)/X(s). It is a property of the network alone, independent of the excitation, which is what makes it the compact description of a circuit's behaviour. Its zeros are the roots of the numerator — frequencies the network blocks completely — and its poles are the roots of the denominator, which are the natural frequencies of the circuit and are identical to the roots of the characteristic equation met in Module 3. Because the poles determine the natural response and the zeros shape the forced response, a pole-zero plot conveys the circuit's dynamic behaviour at a glance.</a:t>
            </a:r>
            <a:endParaRPr lang="en-US" sz="1100" dirty="0"/>
          </a:p>
        </p:txBody>
      </p:sp>
      <p:sp>
        <p:nvSpPr>
          <p:cNvPr id="11" name="shape-32-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transfer function H(s)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zero</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zero-state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characteristic equation</a:t>
            </a:r>
            <a:endParaRPr lang="en-US" sz="1100" dirty="0"/>
          </a:p>
        </p:txBody>
      </p:sp>
      <p:sp>
        <p:nvSpPr>
          <p:cNvPr id="13" name="shape-32-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Poles are the circuit's natural frequencies and zeros are what it blocks — together they are the circuit, independent of any input.</a:t>
            </a:r>
            <a:endParaRPr lang="en-US" sz="1100" dirty="0"/>
          </a:p>
        </p:txBody>
      </p:sp>
      <p:sp>
        <p:nvSpPr>
          <p:cNvPr id="15" name="shape-32-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an s-plane with the real axis σ and imaginary axis jω. Two crosses mark a complex conjugate pole pair in the left half plane and a circle marks a zero on the real axis. Dotted construction lines show the…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588-589</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pole-zero-map-to-response</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Transfer functions, poles and zeros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3-2"/>
          <p:cNvSpPr/>
          <p:nvPr/>
        </p:nvSpPr>
        <p:spPr>
          <a:xfrm>
            <a:off x="552450" y="1266825"/>
            <a:ext cx="990600" cy="47625"/>
          </a:xfrm>
          <a:prstGeom prst="rect">
            <a:avLst/>
          </a:prstGeom>
          <a:solidFill>
            <a:srgbClr val="0F6FC6"/>
          </a:solidFill>
          <a:ln/>
        </p:spPr>
      </p:sp>
      <p:sp>
        <p:nvSpPr>
          <p:cNvPr id="5" name="shape-3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Transfer functions, poles and zeros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33</a:t>
            </a:r>
            <a:endParaRPr lang="en-US" sz="900" dirty="0"/>
          </a:p>
        </p:txBody>
      </p:sp>
      <p:sp>
        <p:nvSpPr>
          <p:cNvPr id="9" name="shape-33-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Set all initial conditions to zero</a:t>
            </a:r>
            <a:endParaRPr lang="en-US" sz="1100" dirty="0"/>
          </a:p>
        </p:txBody>
      </p:sp>
      <p:sp>
        <p:nvSpPr>
          <p:cNvPr id="11" name="shape-33-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Transform the network into the s-domain</a:t>
            </a:r>
            <a:endParaRPr lang="en-US" sz="1100" dirty="0"/>
          </a:p>
        </p:txBody>
      </p:sp>
      <p:sp>
        <p:nvSpPr>
          <p:cNvPr id="13" name="shape-33-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required output transform in terms of the input transform</a:t>
            </a:r>
            <a:endParaRPr lang="en-US" sz="1100" dirty="0"/>
          </a:p>
        </p:txBody>
      </p:sp>
      <p:sp>
        <p:nvSpPr>
          <p:cNvPr id="15" name="shape-33-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Form the ratio H(s) = Y(s)/X(s)</a:t>
            </a:r>
            <a:endParaRPr lang="en-US" sz="1100" dirty="0"/>
          </a:p>
        </p:txBody>
      </p:sp>
      <p:sp>
        <p:nvSpPr>
          <p:cNvPr id="17" name="shape-33-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Factor the numerator for zeros and the denominator for poles</a:t>
            </a:r>
            <a:endParaRPr lang="en-US" sz="1100" dirty="0"/>
          </a:p>
        </p:txBody>
      </p:sp>
      <p:sp>
        <p:nvSpPr>
          <p:cNvPr id="19" name="shape-33-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Plot them on the s-plane and read the response character from their positions</a:t>
            </a:r>
            <a:endParaRPr lang="en-US" sz="1100" dirty="0"/>
          </a:p>
        </p:txBody>
      </p:sp>
      <p:sp>
        <p:nvSpPr>
          <p:cNvPr id="21" name="shape-33-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a first-order divider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symbolic solve plus a factoring step</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root finding on a high-degree polynomial</a:t>
            </a:r>
            <a:endParaRPr lang="en-US" sz="1100" dirty="0"/>
          </a:p>
        </p:txBody>
      </p:sp>
      <p:sp>
        <p:nvSpPr>
          <p:cNvPr id="23" name="shape-33-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pole-zero plot is the cheapest complete summary of a linear circuit that exists.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588-589   |   CO4  |  Bloom L4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Transfer functions, poles and zeros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4-2"/>
          <p:cNvSpPr/>
          <p:nvPr/>
        </p:nvSpPr>
        <p:spPr>
          <a:xfrm>
            <a:off x="552450" y="1266825"/>
            <a:ext cx="990600" cy="47625"/>
          </a:xfrm>
          <a:prstGeom prst="rect">
            <a:avLst/>
          </a:prstGeom>
          <a:solidFill>
            <a:srgbClr val="0F6FC6"/>
          </a:solidFill>
          <a:ln/>
        </p:spPr>
      </p:sp>
      <p:sp>
        <p:nvSpPr>
          <p:cNvPr id="5" name="shape-3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Transfer functions, poles and zeros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34</a:t>
            </a:r>
            <a:endParaRPr lang="en-US" sz="900" dirty="0"/>
          </a:p>
        </p:txBody>
      </p:sp>
      <p:sp>
        <p:nvSpPr>
          <p:cNvPr id="9" name="shape-34-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series RC low-pass with R = 1 kΩ, C = 1 µF, output taken across C.</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H(s) = (1/sC)/(R + 1/sC)</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numerator and denominator by sC: H(s) = 1/(1 + sRC)</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Substitute values: H(s) = 1/(1 + 0.001s) = 1000/(s + 1000)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One pole at s = −1000, no finite zeros</a:t>
            </a:r>
            <a:endParaRPr lang="en-US" sz="1100" dirty="0"/>
          </a:p>
        </p:txBody>
      </p:sp>
      <p:sp>
        <p:nvSpPr>
          <p:cNvPr id="15" name="shape-34-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H(s) = 1000/(s + 1000): a single pole at −1000 rad/s, which is simultaneously the reciprocal of τ and the −3 dB cutoff frequency.</a:t>
            </a:r>
            <a:endParaRPr lang="en-US" sz="1100" dirty="0"/>
          </a:p>
        </p:txBody>
      </p:sp>
      <p:sp>
        <p:nvSpPr>
          <p:cNvPr id="17" name="shape-34-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H(s) = (1/sC)/(R + 1/sC) = 1/(1 + sRC)</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1000/(s + 1000)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pole at s = −1000 rad/s, no finite zeros</a:t>
            </a:r>
            <a:endParaRPr lang="en-US" sz="1000" dirty="0"/>
          </a:p>
        </p:txBody>
      </p:sp>
      <p:sp>
        <p:nvSpPr>
          <p:cNvPr id="19" name="shape-34-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compute a transfer function with initial conditions still present. H(s) is defined for the zero-state response only; leaving an initial-condition source in place makes the ratio depend on the initial energy, so it is no longer a property of the network.</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588-589   |   CO4  |  Bloom L4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Step, ramp and impulse responses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5-2"/>
          <p:cNvSpPr/>
          <p:nvPr/>
        </p:nvSpPr>
        <p:spPr>
          <a:xfrm>
            <a:off x="552450" y="1266825"/>
            <a:ext cx="990600" cy="47625"/>
          </a:xfrm>
          <a:prstGeom prst="rect">
            <a:avLst/>
          </a:prstGeom>
          <a:solidFill>
            <a:srgbClr val="0F6FC6"/>
          </a:solidFill>
          <a:ln/>
        </p:spPr>
      </p:sp>
      <p:sp>
        <p:nvSpPr>
          <p:cNvPr id="5" name="shape-3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Step, ramp and impulse responses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35</a:t>
            </a:r>
            <a:endParaRPr lang="en-US" sz="900" dirty="0"/>
          </a:p>
        </p:txBody>
      </p:sp>
      <p:sp>
        <p:nvSpPr>
          <p:cNvPr id="9" name="shape-3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three standard responses are related by integration, because their inputs are. Since the step is the integral of the impulse and the ramp is the integral of the step, the step response is the integral of the impulse response and the ramp response is the integral of the step response. In the s-domain this is transparent: the impulse response transform is H(s) itself, the step response is H(s)/s and the ramp response is H(s)/s². The impulse response therefore characterises the system completely, and the other two follow without any further circuit analysis — which is why measuring or computing one of the three is enough.</a:t>
            </a:r>
            <a:endParaRPr lang="en-US" sz="1100" dirty="0"/>
          </a:p>
        </p:txBody>
      </p:sp>
      <p:sp>
        <p:nvSpPr>
          <p:cNvPr id="11" name="shape-3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impulse response h(t)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step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ramp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integration relationship</a:t>
            </a:r>
            <a:endParaRPr lang="en-US" sz="1100" dirty="0"/>
          </a:p>
        </p:txBody>
      </p:sp>
      <p:sp>
        <p:nvSpPr>
          <p:cNvPr id="13" name="shape-3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Impulse, step and ramp responses are one function integrated repeatedly — compute one and the others follow by dividing by s.</a:t>
            </a:r>
            <a:endParaRPr lang="en-US" sz="1100" dirty="0"/>
          </a:p>
        </p:txBody>
      </p:sp>
      <p:sp>
        <p:nvSpPr>
          <p:cNvPr id="15" name="shape-3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three-stage chain running left to right. Stage 1: input δ(t) drawn as a spike, feeding a block H(s), producing an impulse response h(t) that decays. Stage 2: input u(t) as a step, same block, producing the 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543-546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three-responses-integration-chain</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Step, ramp and impulse responses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6-2"/>
          <p:cNvSpPr/>
          <p:nvPr/>
        </p:nvSpPr>
        <p:spPr>
          <a:xfrm>
            <a:off x="552450" y="1266825"/>
            <a:ext cx="990600" cy="47625"/>
          </a:xfrm>
          <a:prstGeom prst="rect">
            <a:avLst/>
          </a:prstGeom>
          <a:solidFill>
            <a:srgbClr val="0F6FC6"/>
          </a:solidFill>
          <a:ln/>
        </p:spPr>
      </p:sp>
      <p:sp>
        <p:nvSpPr>
          <p:cNvPr id="5" name="shape-3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Step, ramp and impulse responses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36</a:t>
            </a:r>
            <a:endParaRPr lang="en-US" sz="900" dirty="0"/>
          </a:p>
        </p:txBody>
      </p:sp>
      <p:sp>
        <p:nvSpPr>
          <p:cNvPr id="9" name="shape-3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Obtain H(s) for the circuit with zero initial conditions</a:t>
            </a:r>
            <a:endParaRPr lang="en-US" sz="1100" dirty="0"/>
          </a:p>
        </p:txBody>
      </p:sp>
      <p:sp>
        <p:nvSpPr>
          <p:cNvPr id="11" name="shape-3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the impulse response, inverse transform H(s) directly</a:t>
            </a:r>
            <a:endParaRPr lang="en-US" sz="1100" dirty="0"/>
          </a:p>
        </p:txBody>
      </p:sp>
      <p:sp>
        <p:nvSpPr>
          <p:cNvPr id="13" name="shape-3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the step response, inverse transform H(s)/s</a:t>
            </a:r>
            <a:endParaRPr lang="en-US" sz="1100" dirty="0"/>
          </a:p>
        </p:txBody>
      </p:sp>
      <p:sp>
        <p:nvSpPr>
          <p:cNvPr id="15" name="shape-3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the ramp response, inverse transform H(s)/s²</a:t>
            </a:r>
            <a:endParaRPr lang="en-US" sz="1100" dirty="0"/>
          </a:p>
        </p:txBody>
      </p:sp>
      <p:sp>
        <p:nvSpPr>
          <p:cNvPr id="17" name="shape-3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Alternatively integrate a known response in the time domain</a:t>
            </a:r>
            <a:endParaRPr lang="en-US" sz="1100" dirty="0"/>
          </a:p>
        </p:txBody>
      </p:sp>
      <p:sp>
        <p:nvSpPr>
          <p:cNvPr id="19" name="shape-3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each against the initial- and final-value theorems</a:t>
            </a:r>
            <a:endParaRPr lang="en-US" sz="1100" dirty="0"/>
          </a:p>
        </p:txBody>
      </p:sp>
      <p:sp>
        <p:nvSpPr>
          <p:cNvPr id="21" name="shape-3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once H(s) is factored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partial-fraction expansion per response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repeated poles at the origin for the ramp response</a:t>
            </a:r>
            <a:endParaRPr lang="en-US" sz="1100" dirty="0"/>
          </a:p>
        </p:txBody>
      </p:sp>
      <p:sp>
        <p:nvSpPr>
          <p:cNvPr id="23" name="shape-3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ramp introduces a double pole at the origin, which needs the repeated-pole expansion rule.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543-546   |   CO4  |  Bloom L4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Step, ramp and impulse responses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7-2"/>
          <p:cNvSpPr/>
          <p:nvPr/>
        </p:nvSpPr>
        <p:spPr>
          <a:xfrm>
            <a:off x="552450" y="1266825"/>
            <a:ext cx="990600" cy="47625"/>
          </a:xfrm>
          <a:prstGeom prst="rect">
            <a:avLst/>
          </a:prstGeom>
          <a:solidFill>
            <a:srgbClr val="0F6FC6"/>
          </a:solidFill>
          <a:ln/>
        </p:spPr>
      </p:sp>
      <p:sp>
        <p:nvSpPr>
          <p:cNvPr id="5" name="shape-3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Step, ramp and impulse responses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37</a:t>
            </a:r>
            <a:endParaRPr lang="en-US" sz="900" dirty="0"/>
          </a:p>
        </p:txBody>
      </p:sp>
      <p:sp>
        <p:nvSpPr>
          <p:cNvPr id="9" name="shape-3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H(s) = 1000/(s + 1000) from the RC low-pass.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Impulse response: h(t) = 1000·e^(−1000t)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Step response transform: 1000/(s(s + 1000)) = 1/s − 1/(s + 1000)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Step response: 1 − e^(−1000t)</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the derivative of the step response is 1000·e^(−1000t) = h(t)</a:t>
            </a:r>
            <a:endParaRPr lang="en-US" sz="1100" dirty="0"/>
          </a:p>
        </p:txBody>
      </p:sp>
      <p:sp>
        <p:nvSpPr>
          <p:cNvPr id="15" name="shape-3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Impulse response 1000e^(−1000t) and step response 1 − e^(−1000t), each the derivative and integral of the other as required.</a:t>
            </a:r>
            <a:endParaRPr lang="en-US" sz="1100" dirty="0"/>
          </a:p>
        </p:txBody>
      </p:sp>
      <p:sp>
        <p:nvSpPr>
          <p:cNvPr id="17" name="shape-3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h(t) = L⁻¹{H(s)} = 1000 e^{−1000t}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step: L⁻¹{H(s)/s} = 1 − e^{−1000t}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d/dt[step] = h(t) ✓</a:t>
            </a:r>
            <a:endParaRPr lang="en-US" sz="1000" dirty="0"/>
          </a:p>
        </p:txBody>
      </p:sp>
      <p:sp>
        <p:nvSpPr>
          <p:cNvPr id="19" name="shape-3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treat the impulse response as physically measurable by applying a very short pulse of unit height. The impulse has unit area, not unit height, so a 1 µs test pulse must have an amplitude of 10⁶ to approximate it — otherwise the measured response is scaled down by the pulse width.</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14, pp. 543-546   |   CO4  |  Bloom L4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Waveform synthesis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8-2"/>
          <p:cNvSpPr/>
          <p:nvPr/>
        </p:nvSpPr>
        <p:spPr>
          <a:xfrm>
            <a:off x="552450" y="1266825"/>
            <a:ext cx="990600" cy="47625"/>
          </a:xfrm>
          <a:prstGeom prst="rect">
            <a:avLst/>
          </a:prstGeom>
          <a:solidFill>
            <a:srgbClr val="0F6FC6"/>
          </a:solidFill>
          <a:ln/>
        </p:spPr>
      </p:sp>
      <p:sp>
        <p:nvSpPr>
          <p:cNvPr id="5" name="shape-3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Waveform synthesis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38</a:t>
            </a:r>
            <a:endParaRPr lang="en-US" sz="900" dirty="0"/>
          </a:p>
        </p:txBody>
      </p:sp>
      <p:sp>
        <p:nvSpPr>
          <p:cNvPr id="9" name="shape-3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Waveform synthesis is the practice of writing an arbitrary piecewise-linear waveform as a sum of shifted steps, ramps and impulses, so that its transform can be written down term by term instead of integrated piecewise. A step creates a jump, a ramp creates a change of slope, and an impulse creates a spike; since any piecewise-linear signal is fully described by its jumps and slope changes, these three blocks are sufficient. The method is to walk along the waveform and add a block wherever a discontinuity or a slope change occurs, using the difference between the new and old values or slopes as the block's coefficient. The transform then follows by applying the time-shift theorem to each block.</a:t>
            </a:r>
            <a:endParaRPr lang="en-US" sz="1100" dirty="0"/>
          </a:p>
        </p:txBody>
      </p:sp>
      <p:sp>
        <p:nvSpPr>
          <p:cNvPr id="11" name="shape-3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piecewise waveform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building blocks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shifted steps and ramps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synthesis by superposition</a:t>
            </a:r>
            <a:endParaRPr lang="en-US" sz="1100" dirty="0"/>
          </a:p>
        </p:txBody>
      </p:sp>
      <p:sp>
        <p:nvSpPr>
          <p:cNvPr id="13" name="shape-3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a step at every jump and a ramp at every slope change, and the transform writes itself.</a:t>
            </a:r>
            <a:endParaRPr lang="en-US" sz="1100" dirty="0"/>
          </a:p>
        </p:txBody>
      </p:sp>
      <p:sp>
        <p:nvSpPr>
          <p:cNvPr id="15" name="shape-3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Top: a target trapezoidal pulse rising linearly from 0 to A over 0 to t₁, flat to t₂, then falling to 0 by t₃. Below it, four component waveforms stacked, each in its own colour: a ramp starting at 0 with slop…</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Network Analysis - A Simplified Approach (TB2, not supplied) - TB2 §6.8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L4  |  visual id: waveform-synthesis-decomposition</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Waveform synthesis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9-2"/>
          <p:cNvSpPr/>
          <p:nvPr/>
        </p:nvSpPr>
        <p:spPr>
          <a:xfrm>
            <a:off x="552450" y="1266825"/>
            <a:ext cx="990600" cy="47625"/>
          </a:xfrm>
          <a:prstGeom prst="rect">
            <a:avLst/>
          </a:prstGeom>
          <a:solidFill>
            <a:srgbClr val="0F6FC6"/>
          </a:solidFill>
          <a:ln/>
        </p:spPr>
      </p:sp>
      <p:sp>
        <p:nvSpPr>
          <p:cNvPr id="5" name="shape-3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Waveform synthesis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39</a:t>
            </a:r>
            <a:endParaRPr lang="en-US" sz="900" dirty="0"/>
          </a:p>
        </p:txBody>
      </p:sp>
      <p:sp>
        <p:nvSpPr>
          <p:cNvPr id="9" name="shape-3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Sketch the waveform and mark every jump and every slope change</a:t>
            </a:r>
            <a:endParaRPr lang="en-US" sz="1100" dirty="0"/>
          </a:p>
        </p:txBody>
      </p:sp>
      <p:sp>
        <p:nvSpPr>
          <p:cNvPr id="11" name="shape-3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each jump of height ΔV, add ΔV·u(t − t_k)</a:t>
            </a:r>
            <a:endParaRPr lang="en-US" sz="1100" dirty="0"/>
          </a:p>
        </p:txBody>
      </p:sp>
      <p:sp>
        <p:nvSpPr>
          <p:cNvPr id="13" name="shape-3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each slope change of Δm, add Δm·(t − t_k)·u(t − t_k)</a:t>
            </a:r>
            <a:endParaRPr lang="en-US" sz="1100" dirty="0"/>
          </a:p>
        </p:txBody>
      </p:sp>
      <p:sp>
        <p:nvSpPr>
          <p:cNvPr id="15" name="shape-3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assembled sum reproduces the original at several test times</a:t>
            </a:r>
            <a:endParaRPr lang="en-US" sz="1100" dirty="0"/>
          </a:p>
        </p:txBody>
      </p:sp>
      <p:sp>
        <p:nvSpPr>
          <p:cNvPr id="17" name="shape-3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the time-shift theorem to each term</a:t>
            </a:r>
            <a:endParaRPr lang="en-US" sz="1100" dirty="0"/>
          </a:p>
        </p:txBody>
      </p:sp>
      <p:sp>
        <p:nvSpPr>
          <p:cNvPr id="19" name="shape-3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Sum the transforms</a:t>
            </a:r>
            <a:endParaRPr lang="en-US" sz="1100" dirty="0"/>
          </a:p>
        </p:txBody>
      </p:sp>
      <p:sp>
        <p:nvSpPr>
          <p:cNvPr id="21" name="shape-3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two blocks for a rectangular pulse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block per breakpoint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O(k) blocks for k breakpoints</a:t>
            </a:r>
            <a:endParaRPr lang="en-US" sz="1100" dirty="0"/>
          </a:p>
        </p:txBody>
      </p:sp>
      <p:sp>
        <p:nvSpPr>
          <p:cNvPr id="23" name="shape-3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waveform that is not piecewise linear needs a different decomposition entirely.</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Network Analysis - A Simplified Approach (TB2, not supplied) - TB2 §6.8   |   CO4  |  Bloom L4</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Waveform synthesis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0-2"/>
          <p:cNvSpPr/>
          <p:nvPr/>
        </p:nvSpPr>
        <p:spPr>
          <a:xfrm>
            <a:off x="552450" y="1266825"/>
            <a:ext cx="990600" cy="47625"/>
          </a:xfrm>
          <a:prstGeom prst="rect">
            <a:avLst/>
          </a:prstGeom>
          <a:solidFill>
            <a:srgbClr val="0F6FC6"/>
          </a:solidFill>
          <a:ln/>
        </p:spPr>
      </p:sp>
      <p:sp>
        <p:nvSpPr>
          <p:cNvPr id="5" name="shape-4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Waveform synthesis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40</a:t>
            </a:r>
            <a:endParaRPr lang="en-US" sz="900" dirty="0"/>
          </a:p>
        </p:txBody>
      </p:sp>
      <p:sp>
        <p:nvSpPr>
          <p:cNvPr id="9" name="shape-4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triangular pulse rising from 0 to 1 over 0 ≤ t ≤ 1 and falling back to 0 over 1 ≤ t ≤ 2.</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Slope +1 starts at t = 0: add t·u(t)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Slope changes from +1 to −1 at t = 1, a change of −2: add −2(t−1)·u(t−1)</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Slope changes from −1 to 0 at t = 2, a change of +1: add (t−2)·u(t−2)</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Transform: 1/s² − 2e^(−s)/s² + e^(−2s)/s²</a:t>
            </a:r>
            <a:endParaRPr lang="en-US" sz="1100" dirty="0"/>
          </a:p>
        </p:txBody>
      </p:sp>
      <p:sp>
        <p:nvSpPr>
          <p:cNvPr id="15" name="shape-4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F(s) = (1 − 2e^(−s) + e^(−2s))/s² = (1 − e^(−s))²/s², a compact form that would be tedious to obtain by direct integration.</a:t>
            </a:r>
            <a:endParaRPr lang="en-US" sz="1100" dirty="0"/>
          </a:p>
        </p:txBody>
      </p:sp>
      <p:sp>
        <p:nvSpPr>
          <p:cNvPr id="17" name="shape-4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f(t) = t·u(t) − 2(t−1)u(t−1) + (t−2)u(t−2)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F(s) = (1 − 2e^{−s} + e^{−2s})/s² = (1 − e^{−s})²/s²</a:t>
            </a:r>
            <a:endParaRPr lang="en-US" sz="1000" dirty="0"/>
          </a:p>
        </p:txBody>
      </p:sp>
      <p:sp>
        <p:nvSpPr>
          <p:cNvPr id="19" name="shape-4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use the new slope as the coefficient of each ramp instead of the change in slope. For the triangular pulse that gives −1 at t = 1 instead of −2, producing a waveform that flattens rather than descending.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Network Analysis - A Simplified Approach (TB2, not supplied) - TB2 §6.8   |   CO4  |  Bloom L4</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Convolution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1-2"/>
          <p:cNvSpPr/>
          <p:nvPr/>
        </p:nvSpPr>
        <p:spPr>
          <a:xfrm>
            <a:off x="552450" y="1266825"/>
            <a:ext cx="990600" cy="47625"/>
          </a:xfrm>
          <a:prstGeom prst="rect">
            <a:avLst/>
          </a:prstGeom>
          <a:solidFill>
            <a:srgbClr val="0F6FC6"/>
          </a:solidFill>
          <a:ln/>
        </p:spPr>
      </p:sp>
      <p:sp>
        <p:nvSpPr>
          <p:cNvPr id="5" name="shape-4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Convolution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41</a:t>
            </a:r>
            <a:endParaRPr lang="en-US" sz="900" dirty="0"/>
          </a:p>
        </p:txBody>
      </p:sp>
      <p:sp>
        <p:nvSpPr>
          <p:cNvPr id="9" name="shape-4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Convolution is the time-domain operation corresponding to multiplication in the s-domain: if Y(s) = H(s)·X(s) then y(t) = ∫₀^t h(τ)·x(t − τ) dτ. Physically it says the output at any instant is the accumulated effect of every past input sample, each weighted by how much of its impulse response survives to the present — which is why the impulse response fully characterises a linear time-invariant circuit. In practice the s-domain route is almost always easier, and convolution is used when the impulse response is known only as measured data rather than as a formula, or when the input is not analytically transformable.</a:t>
            </a:r>
            <a:endParaRPr lang="en-US" sz="1100" dirty="0"/>
          </a:p>
        </p:txBody>
      </p:sp>
      <p:sp>
        <p:nvSpPr>
          <p:cNvPr id="11" name="shape-4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convolution integral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flip and slide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multiplication in 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zero-state response</a:t>
            </a:r>
            <a:endParaRPr lang="en-US" sz="1100" dirty="0"/>
          </a:p>
        </p:txBody>
      </p:sp>
      <p:sp>
        <p:nvSpPr>
          <p:cNvPr id="13" name="shape-4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Convolution is what multiplication in s means physically — the present output is a weighted memory of past inputs.</a:t>
            </a:r>
            <a:endParaRPr lang="en-US" sz="1100" dirty="0"/>
          </a:p>
        </p:txBody>
      </p:sp>
      <p:sp>
        <p:nvSpPr>
          <p:cNvPr id="15" name="shape-4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three-track animation panel. Track 1 shows the input x(τ) as a rectangular pulse fixed in place. Track 2 shows h(t − τ), the impulse response flipped left-right and sliding rightward as t increases, drawn in…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589-598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L5  |  visual id: convolution-flip-slide</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Convolution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2-2"/>
          <p:cNvSpPr/>
          <p:nvPr/>
        </p:nvSpPr>
        <p:spPr>
          <a:xfrm>
            <a:off x="552450" y="1266825"/>
            <a:ext cx="990600" cy="47625"/>
          </a:xfrm>
          <a:prstGeom prst="rect">
            <a:avLst/>
          </a:prstGeom>
          <a:solidFill>
            <a:srgbClr val="0F6FC6"/>
          </a:solidFill>
          <a:ln/>
        </p:spPr>
      </p:sp>
      <p:sp>
        <p:nvSpPr>
          <p:cNvPr id="5" name="shape-4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Convolution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42</a:t>
            </a:r>
            <a:endParaRPr lang="en-US" sz="900" dirty="0"/>
          </a:p>
        </p:txBody>
      </p:sp>
      <p:sp>
        <p:nvSpPr>
          <p:cNvPr id="9" name="shape-4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Obtain the impulse response h(t)</a:t>
            </a:r>
            <a:endParaRPr lang="en-US" sz="1100" dirty="0"/>
          </a:p>
        </p:txBody>
      </p:sp>
      <p:sp>
        <p:nvSpPr>
          <p:cNvPr id="11" name="shape-4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Flip it in time to get h(−τ) and shift by t to get h(t − τ)</a:t>
            </a:r>
            <a:endParaRPr lang="en-US" sz="1100" dirty="0"/>
          </a:p>
        </p:txBody>
      </p:sp>
      <p:sp>
        <p:nvSpPr>
          <p:cNvPr id="13" name="shape-4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pointwise by x(τ)</a:t>
            </a:r>
            <a:endParaRPr lang="en-US" sz="1100" dirty="0"/>
          </a:p>
        </p:txBody>
      </p:sp>
      <p:sp>
        <p:nvSpPr>
          <p:cNvPr id="15" name="shape-4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Integrate the product from 0 to t</a:t>
            </a:r>
            <a:endParaRPr lang="en-US" sz="1100" dirty="0"/>
          </a:p>
        </p:txBody>
      </p:sp>
      <p:sp>
        <p:nvSpPr>
          <p:cNvPr id="17" name="shape-4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Repeat for each value of t to build the output</a:t>
            </a:r>
            <a:endParaRPr lang="en-US" sz="1100" dirty="0"/>
          </a:p>
        </p:txBody>
      </p:sp>
      <p:sp>
        <p:nvSpPr>
          <p:cNvPr id="19" name="shape-4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Prefer Y(s) = H(s)·X(s) whenever both transforms exist</a:t>
            </a:r>
            <a:endParaRPr lang="en-US" sz="1100" dirty="0"/>
          </a:p>
        </p:txBody>
      </p:sp>
      <p:sp>
        <p:nvSpPr>
          <p:cNvPr id="21" name="shape-4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via s-domain multiplication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O(n²) for a direct numerical convolution of n samples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O(n²) without transform methods</a:t>
            </a:r>
            <a:endParaRPr lang="en-US" sz="1100" dirty="0"/>
          </a:p>
        </p:txBody>
      </p:sp>
      <p:sp>
        <p:nvSpPr>
          <p:cNvPr id="23" name="shape-4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s-domain route converts an O(n²) integral into a polynomial multiplication, which is the entire point.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589-598   |   CO4  |  Bloom L5</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Convolution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3-2"/>
          <p:cNvSpPr/>
          <p:nvPr/>
        </p:nvSpPr>
        <p:spPr>
          <a:xfrm>
            <a:off x="552450" y="1266825"/>
            <a:ext cx="990600" cy="47625"/>
          </a:xfrm>
          <a:prstGeom prst="rect">
            <a:avLst/>
          </a:prstGeom>
          <a:solidFill>
            <a:srgbClr val="0F6FC6"/>
          </a:solidFill>
          <a:ln/>
        </p:spPr>
      </p:sp>
      <p:sp>
        <p:nvSpPr>
          <p:cNvPr id="5" name="shape-4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Convolution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43</a:t>
            </a:r>
            <a:endParaRPr lang="en-US" sz="900" dirty="0"/>
          </a:p>
        </p:txBody>
      </p:sp>
      <p:sp>
        <p:nvSpPr>
          <p:cNvPr id="9" name="shape-4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h(t) = e^(−t)·u(t) convolved with x(t) = u(t).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y(t) = ∫₀^t e^(−τ)·1 dτ</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Integrate: [−e^(−τ)]₀^t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y(t) = 1 − e^(−t)</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in the s-domain: H(s)X(s) = [1/(s+1)]·[1/s] = 1/s − 1/(s+1), which inverts to the same thing</a:t>
            </a:r>
            <a:endParaRPr lang="en-US" sz="1100" dirty="0"/>
          </a:p>
        </p:txBody>
      </p:sp>
      <p:sp>
        <p:nvSpPr>
          <p:cNvPr id="15" name="shape-4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y(t) = 1 − e^(−t), confirmed by both routes — and the s-domain route took one line against three.</a:t>
            </a:r>
            <a:endParaRPr lang="en-US" sz="1100" dirty="0"/>
          </a:p>
        </p:txBody>
      </p:sp>
      <p:sp>
        <p:nvSpPr>
          <p:cNvPr id="17" name="shape-4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y(t) = ∫₀^t h(τ)x(t−τ)dτ = ∫₀^t e^{−τ}dτ = 1 − e^{−t}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s-domain: H(s)X(s) = 1/(s(s+1)) ⇒ same</a:t>
            </a:r>
            <a:endParaRPr lang="en-US" sz="1000" dirty="0"/>
          </a:p>
        </p:txBody>
      </p:sp>
      <p:sp>
        <p:nvSpPr>
          <p:cNvPr id="19" name="shape-4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forget to flip one of the functions and compute a correlation instead of a convolution. For a symmetric h(t) the two agree and the error hides; for an asymmetric one — which every causal impulse response is — the answer is wrong.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589-598   |   CO4  |  Bloom L5</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complex-frequency plane and the first-order filter pole case study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4-2"/>
          <p:cNvSpPr/>
          <p:nvPr/>
        </p:nvSpPr>
        <p:spPr>
          <a:xfrm>
            <a:off x="552450" y="1266825"/>
            <a:ext cx="990600" cy="47625"/>
          </a:xfrm>
          <a:prstGeom prst="rect">
            <a:avLst/>
          </a:prstGeom>
          <a:solidFill>
            <a:srgbClr val="0F6FC6"/>
          </a:solidFill>
          <a:ln/>
        </p:spPr>
      </p:sp>
      <p:sp>
        <p:nvSpPr>
          <p:cNvPr id="5" name="shape-4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complex-frequency plane and the f…</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44</a:t>
            </a:r>
            <a:endParaRPr lang="en-US" sz="900" dirty="0"/>
          </a:p>
        </p:txBody>
      </p:sp>
      <p:sp>
        <p:nvSpPr>
          <p:cNvPr id="9" name="shape-4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pole position on the s-plane encodes both the transient and the frequency behaviour of a circuit, and the first-order low-pass filter is the clearest demonstration. Its single pole at s = −1/RC sits on the negative real axis; the distance from the origin is simultaneously the reciprocal of the time constant and the −3 dB cutoff in radians per second. Moving the pole further from the origin widens the bandwidth and shortens the settling time in exactly the same proportion, so the product of bandwidth and rise time is a constant — approximately 0.35 when bandwidth is in hertz and rise time in seconds. This is the reason a fast circuit must be a wideband circuit, and why one cannot be improved without the other.</a:t>
            </a:r>
            <a:endParaRPr lang="en-US" sz="1100" dirty="0"/>
          </a:p>
        </p:txBody>
      </p:sp>
      <p:sp>
        <p:nvSpPr>
          <p:cNvPr id="11" name="shape-4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s-plane geometry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cutoff frequency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bandwidth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settling time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pole-bandwidth link</a:t>
            </a:r>
            <a:endParaRPr lang="en-US" sz="1100" dirty="0"/>
          </a:p>
        </p:txBody>
      </p:sp>
      <p:sp>
        <p:nvSpPr>
          <p:cNvPr id="13" name="shape-4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Pole distance from the origin is bandwidth and is also the reciprocal of settling time — the two are the same number seen twice.</a:t>
            </a:r>
            <a:endParaRPr lang="en-US" sz="1100" dirty="0"/>
          </a:p>
        </p:txBody>
      </p:sp>
      <p:sp>
        <p:nvSpPr>
          <p:cNvPr id="15" name="shape-4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Centre: an s-plane with a single pole marked by a cross on the negative real axis at −1/RC, with a double-headed arrow from the origin to the pole labelled "1/RC". Two panels branch off. The upper-right panel…</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598-602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L5  |  visual id: pole-distance-dual-reading</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complex-frequency plane and the first-order filter…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5-2"/>
          <p:cNvSpPr/>
          <p:nvPr/>
        </p:nvSpPr>
        <p:spPr>
          <a:xfrm>
            <a:off x="552450" y="1266825"/>
            <a:ext cx="990600" cy="47625"/>
          </a:xfrm>
          <a:prstGeom prst="rect">
            <a:avLst/>
          </a:prstGeom>
          <a:solidFill>
            <a:srgbClr val="0F6FC6"/>
          </a:solidFill>
          <a:ln/>
        </p:spPr>
      </p:sp>
      <p:sp>
        <p:nvSpPr>
          <p:cNvPr id="5" name="shape-4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complex-frequency plane and the f…</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45</a:t>
            </a:r>
            <a:endParaRPr lang="en-US" sz="900" dirty="0"/>
          </a:p>
        </p:txBody>
      </p:sp>
      <p:sp>
        <p:nvSpPr>
          <p:cNvPr id="9" name="shape-4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the transfer function of the first-order network</a:t>
            </a:r>
            <a:endParaRPr lang="en-US" sz="1100" dirty="0"/>
          </a:p>
        </p:txBody>
      </p:sp>
      <p:sp>
        <p:nvSpPr>
          <p:cNvPr id="11" name="shape-4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Locate the pole at s = −1/RC</a:t>
            </a:r>
            <a:endParaRPr lang="en-US" sz="1100" dirty="0"/>
          </a:p>
        </p:txBody>
      </p:sp>
      <p:sp>
        <p:nvSpPr>
          <p:cNvPr id="13" name="shape-4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the −3 dB cutoff directly as ω_c = 1/RC rad/s</a:t>
            </a:r>
            <a:endParaRPr lang="en-US" sz="1100" dirty="0"/>
          </a:p>
        </p:txBody>
      </p:sp>
      <p:sp>
        <p:nvSpPr>
          <p:cNvPr id="15" name="shape-4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to hertz as f_c = 1/(2πRC)</a:t>
            </a:r>
            <a:endParaRPr lang="en-US" sz="1100" dirty="0"/>
          </a:p>
        </p:txBody>
      </p:sp>
      <p:sp>
        <p:nvSpPr>
          <p:cNvPr id="17" name="shape-4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the time constant as τ = RC and the 10–90 % rise time as 2.2·τ</a:t>
            </a:r>
            <a:endParaRPr lang="en-US" sz="1100" dirty="0"/>
          </a:p>
        </p:txBody>
      </p:sp>
      <p:sp>
        <p:nvSpPr>
          <p:cNvPr id="19" name="shape-4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that f_c × t_rise ≈ 0.35</a:t>
            </a:r>
            <a:endParaRPr lang="en-US" sz="1100" dirty="0"/>
          </a:p>
        </p:txBody>
      </p:sp>
      <p:sp>
        <p:nvSpPr>
          <p:cNvPr id="21" name="shape-4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 one pole location gives every parameter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plus unit conversions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dominant-pole approximation for higher-order networks</a:t>
            </a:r>
            <a:endParaRPr lang="en-US" sz="1100" dirty="0"/>
          </a:p>
        </p:txBody>
      </p:sp>
      <p:sp>
        <p:nvSpPr>
          <p:cNvPr id="23" name="shape-4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For higher-order filters the same reading applies approximately to the dominant pole.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598-602   |   CO4  |  Bloom L5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complex-frequency plane and the first-order filter…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6-2"/>
          <p:cNvSpPr/>
          <p:nvPr/>
        </p:nvSpPr>
        <p:spPr>
          <a:xfrm>
            <a:off x="552450" y="1266825"/>
            <a:ext cx="990600" cy="47625"/>
          </a:xfrm>
          <a:prstGeom prst="rect">
            <a:avLst/>
          </a:prstGeom>
          <a:solidFill>
            <a:srgbClr val="0F6FC6"/>
          </a:solidFill>
          <a:ln/>
        </p:spPr>
      </p:sp>
      <p:sp>
        <p:nvSpPr>
          <p:cNvPr id="5" name="shape-4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complex-frequency plane and the f…</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46</a:t>
            </a:r>
            <a:endParaRPr lang="en-US" sz="900" dirty="0"/>
          </a:p>
        </p:txBody>
      </p:sp>
      <p:sp>
        <p:nvSpPr>
          <p:cNvPr id="9" name="shape-4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An RC low-pass with R = 1 kΩ and C = 1 µF.</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Pole at s = −1/RC = −1000 rad/s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Cutoff: ω_c = 1000 rad/s, so f_c = 1000/(2π) = 159.2 Hz</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Time constant τ = 1 ms, so 10–90 % rise time = 2.2 ms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159.2 × 0.0022 = 0.35</a:t>
            </a:r>
            <a:endParaRPr lang="en-US" sz="1100" dirty="0"/>
          </a:p>
        </p:txBody>
      </p:sp>
      <p:sp>
        <p:nvSpPr>
          <p:cNvPr id="15" name="shape-4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f_c = 159.2 Hz and t_rise = 2.2 ms, and their product is 0.35 exactly as the relationship predicts.</a:t>
            </a:r>
            <a:endParaRPr lang="en-US" sz="1100" dirty="0"/>
          </a:p>
        </p:txBody>
      </p:sp>
      <p:sp>
        <p:nvSpPr>
          <p:cNvPr id="17" name="shape-4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pole at −1/RC = −1000 rad/s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f_c = 1/(2πRC) = 159.2 Hz</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t_rise = 2.2·RC = 2.2 ms,   f_c·t_rise = 0.35 ✓</a:t>
            </a:r>
            <a:endParaRPr lang="en-US" sz="1000" dirty="0"/>
          </a:p>
        </p:txBody>
      </p:sp>
      <p:sp>
        <p:nvSpPr>
          <p:cNvPr id="19" name="shape-4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quote the cutoff in rad/s where hertz is meant, or the reverse, producing a factor of 2π error. The pole location is naturally in rad/s; every specification in a datasheet is in hertz, and the conversion must be explicit.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598-602   |   CO4  |  Bloom L5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Natural response and the s-plane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7-2"/>
          <p:cNvSpPr/>
          <p:nvPr/>
        </p:nvSpPr>
        <p:spPr>
          <a:xfrm>
            <a:off x="552450" y="1266825"/>
            <a:ext cx="990600" cy="47625"/>
          </a:xfrm>
          <a:prstGeom prst="rect">
            <a:avLst/>
          </a:prstGeom>
          <a:solidFill>
            <a:srgbClr val="0F6FC6"/>
          </a:solidFill>
          <a:ln/>
        </p:spPr>
      </p:sp>
      <p:sp>
        <p:nvSpPr>
          <p:cNvPr id="5" name="shape-4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Natural response and the s-plane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47</a:t>
            </a:r>
            <a:endParaRPr lang="en-US" sz="900" dirty="0"/>
          </a:p>
        </p:txBody>
      </p:sp>
      <p:sp>
        <p:nvSpPr>
          <p:cNvPr id="9" name="shape-4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poles of a network function are its natural frequencies, and their positions on the s-plane classify the natural response completely. A pole on the negative real axis gives a pure decaying exponential whose rate is the distance from the origin. A complex conjugate pair in the left half plane gives a damped oscillation whose ringing frequency is the imaginary part and whose envelope decay is the real part; the angle from the negative real axis therefore sets the damping ratio. A pole on the jω axis gives an undamped oscillation and a pole in the right half plane gives exponential growth, so a passive network — which can never be unstable — always has its poles in the closed left half plane.</a:t>
            </a:r>
            <a:endParaRPr lang="en-US" sz="1100" dirty="0"/>
          </a:p>
        </p:txBody>
      </p:sp>
      <p:sp>
        <p:nvSpPr>
          <p:cNvPr id="11" name="shape-4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natural frequencies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left half plane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stability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jω axis poles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damping from pole angle</a:t>
            </a:r>
            <a:endParaRPr lang="en-US" sz="1100" dirty="0"/>
          </a:p>
        </p:txBody>
      </p:sp>
      <p:sp>
        <p:nvSpPr>
          <p:cNvPr id="13" name="shape-4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Real part sets how fast it dies, imaginary part sets how fast it rings, and anything not in the left half plane does not settle.</a:t>
            </a:r>
            <a:endParaRPr lang="en-US" sz="1100" dirty="0"/>
          </a:p>
        </p:txBody>
      </p:sp>
      <p:sp>
        <p:nvSpPr>
          <p:cNvPr id="15" name="shape-4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large s-plane divided into regions, each carrying a small inset time-response sketch pinned at a representative pole location. Far left on the real axis: a fast-decaying exponential. Nearer the origin on the…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602-606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L5  |  visual id: s-plane-response-atlas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Natural response and the s-plane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8-2"/>
          <p:cNvSpPr/>
          <p:nvPr/>
        </p:nvSpPr>
        <p:spPr>
          <a:xfrm>
            <a:off x="552450" y="1266825"/>
            <a:ext cx="990600" cy="47625"/>
          </a:xfrm>
          <a:prstGeom prst="rect">
            <a:avLst/>
          </a:prstGeom>
          <a:solidFill>
            <a:srgbClr val="0F6FC6"/>
          </a:solidFill>
          <a:ln/>
        </p:spPr>
      </p:sp>
      <p:sp>
        <p:nvSpPr>
          <p:cNvPr id="5" name="shape-4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Natural response and the s-plane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48</a:t>
            </a:r>
            <a:endParaRPr lang="en-US" sz="900" dirty="0"/>
          </a:p>
        </p:txBody>
      </p:sp>
      <p:sp>
        <p:nvSpPr>
          <p:cNvPr id="9" name="shape-4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the denominator of the network function</a:t>
            </a:r>
            <a:endParaRPr lang="en-US" sz="1100" dirty="0"/>
          </a:p>
        </p:txBody>
      </p:sp>
      <p:sp>
        <p:nvSpPr>
          <p:cNvPr id="11" name="shape-4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Factor it to obtain every pole</a:t>
            </a:r>
            <a:endParaRPr lang="en-US" sz="1100" dirty="0"/>
          </a:p>
        </p:txBody>
      </p:sp>
      <p:sp>
        <p:nvSpPr>
          <p:cNvPr id="13" name="shape-4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Plot the poles on the s-plane</a:t>
            </a:r>
            <a:endParaRPr lang="en-US" sz="1100" dirty="0"/>
          </a:p>
        </p:txBody>
      </p:sp>
      <p:sp>
        <p:nvSpPr>
          <p:cNvPr id="15" name="shape-4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the decay rate from each pole's real part</a:t>
            </a:r>
            <a:endParaRPr lang="en-US" sz="1100" dirty="0"/>
          </a:p>
        </p:txBody>
      </p:sp>
      <p:sp>
        <p:nvSpPr>
          <p:cNvPr id="17" name="shape-4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the ringing frequency from each pole's imaginary part</a:t>
            </a:r>
            <a:endParaRPr lang="en-US" sz="1100" dirty="0"/>
          </a:p>
        </p:txBody>
      </p:sp>
      <p:sp>
        <p:nvSpPr>
          <p:cNvPr id="19" name="shape-4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dominant pole as the one closest to the jω axis</a:t>
            </a:r>
            <a:endParaRPr lang="en-US" sz="1100" dirty="0"/>
          </a:p>
        </p:txBody>
      </p:sp>
      <p:sp>
        <p:nvSpPr>
          <p:cNvPr id="21" name="shape-4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a first-order network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root finding on the denominator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numerical root finding for high-order polynomials</a:t>
            </a:r>
            <a:endParaRPr lang="en-US" sz="1100" dirty="0"/>
          </a:p>
        </p:txBody>
      </p:sp>
      <p:sp>
        <p:nvSpPr>
          <p:cNvPr id="23" name="shape-4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pole closest to the jω axis dominates the long-term response and often justifies a first-order approximation.</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602-606   |   CO4  |  Bloom L5</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Natural response and the s-plane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9-2"/>
          <p:cNvSpPr/>
          <p:nvPr/>
        </p:nvSpPr>
        <p:spPr>
          <a:xfrm>
            <a:off x="552450" y="1266825"/>
            <a:ext cx="990600" cy="47625"/>
          </a:xfrm>
          <a:prstGeom prst="rect">
            <a:avLst/>
          </a:prstGeom>
          <a:solidFill>
            <a:srgbClr val="0F6FC6"/>
          </a:solidFill>
          <a:ln/>
        </p:spPr>
      </p:sp>
      <p:sp>
        <p:nvSpPr>
          <p:cNvPr id="5" name="shape-4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Natural response and the s-plane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49</a:t>
            </a:r>
            <a:endParaRPr lang="en-US" sz="900" dirty="0"/>
          </a:p>
        </p:txBody>
      </p:sp>
      <p:sp>
        <p:nvSpPr>
          <p:cNvPr id="9" name="shape-4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network with poles at s = −2000 and s = −100 ± j400.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pole at −2000 decays with a 0.5 ms time constant — fast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complex pair decays with a 10 ms time constant and rings at 400 rad/s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complex pair is closest to the jω axis, so it dominates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Damping ratio of the pair = 100/√(100² + 400²) = 0.243</a:t>
            </a:r>
            <a:endParaRPr lang="en-US" sz="1100" dirty="0"/>
          </a:p>
        </p:txBody>
      </p:sp>
      <p:sp>
        <p:nvSpPr>
          <p:cNvPr id="15" name="shape-4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response is dominated by a lightly damped 400 rad/s ringing lasting about 50 ms, with the fast −2000 pole contributing only a brief initial transient.</a:t>
            </a:r>
            <a:endParaRPr lang="en-US" sz="1100" dirty="0"/>
          </a:p>
        </p:txBody>
      </p:sp>
      <p:sp>
        <p:nvSpPr>
          <p:cNvPr id="17" name="shape-4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poles: −2000,  −100 ± j400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τ_fast = 0.5 ms,  τ_dom = 10 ms,  ω_d = 400 rad/s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ζ = α/√(α²+ω_d²) = 100/412 = 0.243</a:t>
            </a:r>
            <a:endParaRPr lang="en-US" sz="1000" dirty="0"/>
          </a:p>
        </p:txBody>
      </p:sp>
      <p:sp>
        <p:nvSpPr>
          <p:cNvPr id="19" name="shape-4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assume the pole with the largest magnitude dominates. It is the opposite: the pole nearest the jω axis has the slowest decay and therefore persists longest, so it governs settling time.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602-606   |   CO4  |  Bloom L5</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Network synthesis: realising a specified H(s)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0-2"/>
          <p:cNvSpPr/>
          <p:nvPr/>
        </p:nvSpPr>
        <p:spPr>
          <a:xfrm>
            <a:off x="552450" y="1266825"/>
            <a:ext cx="990600" cy="47625"/>
          </a:xfrm>
          <a:prstGeom prst="rect">
            <a:avLst/>
          </a:prstGeom>
          <a:solidFill>
            <a:srgbClr val="0F6FC6"/>
          </a:solidFill>
          <a:ln/>
        </p:spPr>
      </p:sp>
      <p:sp>
        <p:nvSpPr>
          <p:cNvPr id="5" name="shape-5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Network synthesis: realising a specif…</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50</a:t>
            </a:r>
            <a:endParaRPr lang="en-US" sz="900" dirty="0"/>
          </a:p>
        </p:txBody>
      </p:sp>
      <p:sp>
        <p:nvSpPr>
          <p:cNvPr id="9" name="shape-5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Synthesis runs the analysis map backwards: given a desired H(s), find a network that produces it. Not every rational function is realisable with passive components — a driving-point impedance must be a positive real function, meaning it has no right-half-plane poles or zeros and a non-negative real part for Re{s} ≥ 0. For a voltage-ratio transfer function the constraints are looser but the numerator degree must not exceed the denominator degree in a passive network. The practical method for simple cases is to recognise the target as a cascade or ladder of known first-order sections and match coefficients, checking at the end that the loading between sections has been accounted for, since unbuffered sections do not simply multiply.</a:t>
            </a:r>
            <a:endParaRPr lang="en-US" sz="1100" dirty="0"/>
          </a:p>
        </p:txBody>
      </p:sp>
      <p:sp>
        <p:nvSpPr>
          <p:cNvPr id="11" name="shape-5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synthesis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realisability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positive real function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ladder realisation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voltage ratio</a:t>
            </a:r>
            <a:endParaRPr lang="en-US" sz="1100" dirty="0"/>
          </a:p>
        </p:txBody>
      </p:sp>
      <p:sp>
        <p:nvSpPr>
          <p:cNvPr id="13" name="shape-5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Synthesis is analysis reversed plus a realisability test — and the trap is that cascaded passive sections load each other.</a:t>
            </a:r>
            <a:endParaRPr lang="en-US" sz="1100" dirty="0"/>
          </a:p>
        </p:txBody>
      </p:sp>
      <p:sp>
        <p:nvSpPr>
          <p:cNvPr id="15" name="shape-5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horizontal two-lane track. The upper lane, labelled "Analysis", runs left to right from a circuit thumbnail to an H(s) expression, with a solid arrow. The lower lane, labelled "Synthesis", runs right to left…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606-610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CO4  |  Bloom L5  |  visual id: synthesis-reverse-map</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Network synthesis: realising a specified H(s)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51-2"/>
          <p:cNvSpPr/>
          <p:nvPr/>
        </p:nvSpPr>
        <p:spPr>
          <a:xfrm>
            <a:off x="552450" y="1266825"/>
            <a:ext cx="990600" cy="47625"/>
          </a:xfrm>
          <a:prstGeom prst="rect">
            <a:avLst/>
          </a:prstGeom>
          <a:solidFill>
            <a:srgbClr val="0F6FC6"/>
          </a:solidFill>
          <a:ln/>
        </p:spPr>
      </p:sp>
      <p:sp>
        <p:nvSpPr>
          <p:cNvPr id="5" name="shape-5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Network synthesis: realising a specif…</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51</a:t>
            </a:r>
            <a:endParaRPr lang="en-US" sz="900" dirty="0"/>
          </a:p>
        </p:txBody>
      </p:sp>
      <p:sp>
        <p:nvSpPr>
          <p:cNvPr id="9" name="shape-5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target H(s) in factored form</a:t>
            </a:r>
            <a:endParaRPr lang="en-US" sz="1100" dirty="0"/>
          </a:p>
        </p:txBody>
      </p:sp>
      <p:sp>
        <p:nvSpPr>
          <p:cNvPr id="11" name="shape-5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realisability: no right-half-plane poles, numerator degree not exceeding denominator degree</a:t>
            </a:r>
            <a:endParaRPr lang="en-US" sz="1100" dirty="0"/>
          </a:p>
        </p:txBody>
      </p:sp>
      <p:sp>
        <p:nvSpPr>
          <p:cNvPr id="13" name="shape-5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first- and second-order sections in the factorisation</a:t>
            </a:r>
            <a:endParaRPr lang="en-US" sz="1100" dirty="0"/>
          </a:p>
        </p:txBody>
      </p:sp>
      <p:sp>
        <p:nvSpPr>
          <p:cNvPr id="15" name="shape-5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a topology for each section and match coefficients to component values</a:t>
            </a:r>
            <a:endParaRPr lang="en-US" sz="1100" dirty="0"/>
          </a:p>
        </p:txBody>
      </p:sp>
      <p:sp>
        <p:nvSpPr>
          <p:cNvPr id="17" name="shape-5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Account for inter-section loading, or insert buffers</a:t>
            </a:r>
            <a:endParaRPr lang="en-US" sz="1100" dirty="0"/>
          </a:p>
        </p:txBody>
      </p:sp>
      <p:sp>
        <p:nvSpPr>
          <p:cNvPr id="19" name="shape-5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the realised H(s) by analysing the completed circuit</a:t>
            </a:r>
            <a:endParaRPr lang="en-US" sz="1100" dirty="0"/>
          </a:p>
        </p:txBody>
      </p:sp>
      <p:sp>
        <p:nvSpPr>
          <p:cNvPr id="21" name="shape-5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a single first-order section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section per pole pair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iterative component adjustment when loading cannot be avoided</a:t>
            </a:r>
            <a:endParaRPr lang="en-US" sz="1100" dirty="0"/>
          </a:p>
        </p:txBody>
      </p:sp>
      <p:sp>
        <p:nvSpPr>
          <p:cNvPr id="23" name="shape-5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verification step is not optional — loading errors are invisible until the circuit is analysed forward again.</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606-610   |   CO4  |  Bloom L5</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Network synthesis: realising a specified H(s)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52-2"/>
          <p:cNvSpPr/>
          <p:nvPr/>
        </p:nvSpPr>
        <p:spPr>
          <a:xfrm>
            <a:off x="552450" y="1266825"/>
            <a:ext cx="990600" cy="47625"/>
          </a:xfrm>
          <a:prstGeom prst="rect">
            <a:avLst/>
          </a:prstGeom>
          <a:solidFill>
            <a:srgbClr val="0F6FC6"/>
          </a:solidFill>
          <a:ln/>
        </p:spPr>
      </p:sp>
      <p:sp>
        <p:nvSpPr>
          <p:cNvPr id="5" name="shape-5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Network synthesis: realising a specif…</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52</a:t>
            </a:r>
            <a:endParaRPr lang="en-US" sz="900" dirty="0"/>
          </a:p>
        </p:txBody>
      </p:sp>
      <p:sp>
        <p:nvSpPr>
          <p:cNvPr id="9" name="shape-5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Realise H(s) = 1000/(s + 1000) as a passive RC network.</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Recognise the standard first-order low-pass form 1/(1 + sRC) with 1/RC = 1000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C = 1 µF, then R = 1/(1000 × 1e−6) = 1 kΩ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Realise as a series R with the output taken across C</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by forward analysis: H(s) = (1/sC)/(R + 1/sC) = 1000/(s + 1000) ✓</a:t>
            </a:r>
            <a:endParaRPr lang="en-US" sz="1100" dirty="0"/>
          </a:p>
        </p:txBody>
      </p:sp>
      <p:sp>
        <p:nvSpPr>
          <p:cNvPr id="15" name="shape-5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R = 1 kΩ with C = 1 µF realises the target exactly, and forward analysis confirms it — but cascading a second identical section would not give H(s)² because the first section would be loaded.</a:t>
            </a:r>
            <a:endParaRPr lang="en-US" sz="1100" dirty="0"/>
          </a:p>
        </p:txBody>
      </p:sp>
      <p:sp>
        <p:nvSpPr>
          <p:cNvPr id="17" name="shape-5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target H(s) = 1000/(s+1000) ≡ 1/(1 + sRC), 1/RC = 1000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 = 1 µF ⇒ R = 1 kΩ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verify: (1/sC)/(R + 1/sC) = 1000/(s+1000) ✓</a:t>
            </a:r>
            <a:endParaRPr lang="en-US" sz="1000" dirty="0"/>
          </a:p>
        </p:txBody>
      </p:sp>
      <p:sp>
        <p:nvSpPr>
          <p:cNvPr id="19" name="shape-5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cascade two identical RC sections expecting H(s)². The second section draws current from the first, changing its effective load, so the realised response has different pole locations and a shallower roll-off than intended.</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15, pp. 606-610   |   CO4  |  Bloom L5</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 sentence per unit, six months from now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1-7: what survives after the detail has gone.</a:t>
            </a:r>
            <a:endParaRPr lang="en-US" sz="1100" dirty="0"/>
          </a:p>
        </p:txBody>
      </p:sp>
      <p:sp>
        <p:nvSpPr>
          <p:cNvPr id="4" name="shape-53-2"/>
          <p:cNvSpPr/>
          <p:nvPr/>
        </p:nvSpPr>
        <p:spPr>
          <a:xfrm>
            <a:off x="552450" y="1266825"/>
            <a:ext cx="990600" cy="47625"/>
          </a:xfrm>
          <a:prstGeom prst="rect">
            <a:avLst/>
          </a:prstGeom>
          <a:solidFill>
            <a:srgbClr val="0F6FC6"/>
          </a:solidFill>
          <a:ln/>
        </p:spPr>
      </p:sp>
      <p:sp>
        <p:nvSpPr>
          <p:cNvPr id="5" name="shape-5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53</a:t>
            </a:r>
            <a:endParaRPr lang="en-US" sz="900" dirty="0"/>
          </a:p>
        </p:txBody>
      </p:sp>
      <p:sp>
        <p:nvSpPr>
          <p:cNvPr id="9" name="shape-53-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e^(−σt) kernel buys convergence, and taking the lower limit at 0− is what lets initial conditions ride into the algebra.</a:t>
            </a:r>
            <a:endParaRPr lang="en-US" sz="1100" dirty="0"/>
          </a:p>
        </p:txBody>
      </p:sp>
      <p:sp>
        <p:nvSpPr>
          <p:cNvPr id="11" name="shape-53-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Integrating in time divides by s, and damping in time shifts s — two patterns that generate most of the table.</a:t>
            </a:r>
            <a:endParaRPr lang="en-US" sz="1100" dirty="0"/>
          </a:p>
        </p:txBody>
      </p:sp>
      <p:sp>
        <p:nvSpPr>
          <p:cNvPr id="13" name="shape-53-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Every inverse transform in circuit work is table lookup plus bookkeeping — the bookkeeping is partial fractions.</a:t>
            </a:r>
            <a:endParaRPr lang="en-US" sz="1100" dirty="0"/>
          </a:p>
        </p:txBody>
      </p:sp>
      <p:sp>
        <p:nvSpPr>
          <p:cNvPr id="15" name="shape-53-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differentiation theorem is why the s-domain handles initial conditions for free — the f(0−) term is the initial condition.</a:t>
            </a:r>
            <a:endParaRPr lang="en-US" sz="1100" dirty="0"/>
          </a:p>
        </p:txBody>
      </p:sp>
      <p:sp>
        <p:nvSpPr>
          <p:cNvPr id="17" name="shape-53-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Both theorems are free checks, but the final-value theorem lies confidently when a pole is not strictly in the left half plane.</a:t>
            </a:r>
            <a:endParaRPr lang="en-US" sz="1100" dirty="0"/>
          </a:p>
        </p:txBody>
      </p:sp>
      <p:sp>
        <p:nvSpPr>
          <p:cNvPr id="19" name="shape-53-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R, L and C by R, sL and 1/sC and every DC technique you own becomes a full transient solver.</a:t>
            </a:r>
            <a:endParaRPr lang="en-US" sz="1100" dirty="0"/>
          </a:p>
        </p:txBody>
      </p:sp>
      <p:sp>
        <p:nvSpPr>
          <p:cNvPr id="21" name="shape-53-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Initial conditions become sources, so the s-domain circuit needs one solve where the time domain needed three.</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8-14: what survives after the detail has gone.</a:t>
            </a:r>
            <a:endParaRPr lang="en-US" sz="1100" dirty="0"/>
          </a:p>
        </p:txBody>
      </p:sp>
      <p:sp>
        <p:nvSpPr>
          <p:cNvPr id="4" name="shape-54-2"/>
          <p:cNvSpPr/>
          <p:nvPr/>
        </p:nvSpPr>
        <p:spPr>
          <a:xfrm>
            <a:off x="552450" y="1266825"/>
            <a:ext cx="990600" cy="47625"/>
          </a:xfrm>
          <a:prstGeom prst="rect">
            <a:avLst/>
          </a:prstGeom>
          <a:solidFill>
            <a:srgbClr val="0F6FC6"/>
          </a:solidFill>
          <a:ln/>
        </p:spPr>
      </p:sp>
      <p:sp>
        <p:nvSpPr>
          <p:cNvPr id="5" name="shape-5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54</a:t>
            </a:r>
            <a:endParaRPr lang="en-US" sz="900" dirty="0"/>
          </a:p>
        </p:txBody>
      </p:sp>
      <p:sp>
        <p:nvSpPr>
          <p:cNvPr id="9" name="shape-54-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One symbolic nodal solve in s replaces the whole natural-plus-forced-plus-initial-condition assembly.</a:t>
            </a:r>
            <a:endParaRPr lang="en-US" sz="1100" dirty="0"/>
          </a:p>
        </p:txBody>
      </p:sp>
      <p:sp>
        <p:nvSpPr>
          <p:cNvPr id="11" name="shape-54-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 the s-domain, sources at different frequencies stop being a special case — they are just different rational terms.</a:t>
            </a:r>
            <a:endParaRPr lang="en-US" sz="1100" dirty="0"/>
          </a:p>
        </p:txBody>
      </p:sp>
      <p:sp>
        <p:nvSpPr>
          <p:cNvPr id="13" name="shape-54-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Poles are the circuit's natural frequencies and zeros are what it blocks — together they are the circuit, independent of any input.</a:t>
            </a:r>
            <a:endParaRPr lang="en-US" sz="1100" dirty="0"/>
          </a:p>
        </p:txBody>
      </p:sp>
      <p:sp>
        <p:nvSpPr>
          <p:cNvPr id="15" name="shape-54-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Impulse, step and ramp responses are one function integrated repeatedly — compute one and the others follow by dividing by s.</a:t>
            </a:r>
            <a:endParaRPr lang="en-US" sz="1100" dirty="0"/>
          </a:p>
        </p:txBody>
      </p:sp>
      <p:sp>
        <p:nvSpPr>
          <p:cNvPr id="17" name="shape-54-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a step at every jump and a ramp at every slope change, and the transform writes itself.</a:t>
            </a:r>
            <a:endParaRPr lang="en-US" sz="1100" dirty="0"/>
          </a:p>
        </p:txBody>
      </p:sp>
      <p:sp>
        <p:nvSpPr>
          <p:cNvPr id="19" name="shape-54-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Convolution is what multiplication in s means physically — the present output is a weighted memory of past inputs.</a:t>
            </a:r>
            <a:endParaRPr lang="en-US" sz="1100" dirty="0"/>
          </a:p>
        </p:txBody>
      </p:sp>
      <p:sp>
        <p:nvSpPr>
          <p:cNvPr id="21" name="shape-54-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Pole distance from the origin is bandwidth and is also the reciprocal of settling time — the two are the same number seen twice.</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15-16: what survives after the detail has gone.</a:t>
            </a:r>
            <a:endParaRPr lang="en-US" sz="1100" dirty="0"/>
          </a:p>
        </p:txBody>
      </p:sp>
      <p:sp>
        <p:nvSpPr>
          <p:cNvPr id="4" name="shape-55-2"/>
          <p:cNvSpPr/>
          <p:nvPr/>
        </p:nvSpPr>
        <p:spPr>
          <a:xfrm>
            <a:off x="552450" y="1266825"/>
            <a:ext cx="990600" cy="47625"/>
          </a:xfrm>
          <a:prstGeom prst="rect">
            <a:avLst/>
          </a:prstGeom>
          <a:solidFill>
            <a:srgbClr val="0F6FC6"/>
          </a:solidFill>
          <a:ln/>
        </p:spPr>
      </p:sp>
      <p:sp>
        <p:nvSpPr>
          <p:cNvPr id="5" name="shape-5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55</a:t>
            </a:r>
            <a:endParaRPr lang="en-US" sz="900" dirty="0"/>
          </a:p>
        </p:txBody>
      </p:sp>
      <p:sp>
        <p:nvSpPr>
          <p:cNvPr id="9" name="shape-55-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Real part sets how fast it dies, imaginary part sets how fast it rings, and anything not in the left half plane does not settle.</a:t>
            </a:r>
            <a:endParaRPr lang="en-US" sz="1100" dirty="0"/>
          </a:p>
        </p:txBody>
      </p:sp>
      <p:sp>
        <p:nvSpPr>
          <p:cNvPr id="11" name="shape-55-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Synthesis is analysis reversed plus a realisability test — and the trap is that cascaded passive sections load each other.</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How this module is assessed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Where the quiz and the assignment live, and what they test.</a:t>
            </a:r>
            <a:endParaRPr lang="en-US" sz="1100" dirty="0"/>
          </a:p>
        </p:txBody>
      </p:sp>
      <p:sp>
        <p:nvSpPr>
          <p:cNvPr id="4" name="shape-56-2"/>
          <p:cNvSpPr/>
          <p:nvPr/>
        </p:nvSpPr>
        <p:spPr>
          <a:xfrm>
            <a:off x="552450" y="1266825"/>
            <a:ext cx="990600" cy="47625"/>
          </a:xfrm>
          <a:prstGeom prst="rect">
            <a:avLst/>
          </a:prstGeom>
          <a:solidFill>
            <a:srgbClr val="0F6FC6"/>
          </a:solidFill>
          <a:ln/>
        </p:spPr>
      </p:sp>
      <p:sp>
        <p:nvSpPr>
          <p:cNvPr id="5" name="shape-5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4</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Assessment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56</a:t>
            </a:r>
            <a:endParaRPr lang="en-US" sz="900" dirty="0"/>
          </a:p>
        </p:txBody>
      </p:sp>
      <p:sp>
        <p:nvSpPr>
          <p:cNvPr id="9" name="shape-56-7"/>
          <p:cNvSpPr/>
          <p:nvPr/>
        </p:nvSpPr>
        <p:spPr>
          <a:xfrm>
            <a:off x="552450" y="1543050"/>
            <a:ext cx="5429250" cy="2438400"/>
          </a:xfrm>
          <a:prstGeom prst="rect">
            <a:avLst/>
          </a:prstGeom>
          <a:solidFill>
            <a:srgbClr val="F1F5FA"/>
          </a:solidFill>
          <a:ln w="12700">
            <a:solidFill>
              <a:srgbClr val="D7DEE8"/>
            </a:solidFill>
            <a:prstDash val="solid"/>
          </a:ln>
        </p:spPr>
      </p:sp>
      <p:sp>
        <p:nvSpPr>
          <p:cNvPr id="10" name="text"/>
          <p:cNvSpPr/>
          <p:nvPr/>
        </p:nvSpPr>
        <p:spPr>
          <a:xfrm>
            <a:off x="742950" y="1695450"/>
            <a:ext cx="5048250" cy="10287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4 QUIZ</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quizzes/Module_4_Quiz.pdf</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quizzes/Module_4_Quiz.gift</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45 minutes  |  50 marks  |  pass 20  |  1 attempt</a:t>
            </a:r>
            <a:endParaRPr lang="en-US" sz="1100" dirty="0"/>
          </a:p>
        </p:txBody>
      </p:sp>
      <p:sp>
        <p:nvSpPr>
          <p:cNvPr id="11" name="text"/>
          <p:cNvSpPr/>
          <p:nvPr/>
        </p:nvSpPr>
        <p:spPr>
          <a:xfrm>
            <a:off x="742950" y="2781300"/>
            <a:ext cx="504825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A: 20 MCQs, 1 mark each.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B: 13 descriptive questions, 30 marks.</a:t>
            </a:r>
            <a:endParaRPr lang="en-US" sz="1100" dirty="0"/>
          </a:p>
        </p:txBody>
      </p:sp>
      <p:sp>
        <p:nvSpPr>
          <p:cNvPr id="12" name="text"/>
          <p:cNvSpPr/>
          <p:nvPr/>
        </p:nvSpPr>
        <p:spPr>
          <a:xfrm>
            <a:off x="742950" y="3276600"/>
            <a:ext cx="5048250" cy="2095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C2410C"/>
                </a:solidFill>
                <a:latin typeface="Segoe UI" pitchFamily="34" charset="0"/>
                <a:ea typeface="Segoe UI" pitchFamily="34" charset="-122"/>
                <a:cs typeface="Segoe UI" pitchFamily="34" charset="-120"/>
              </a:rPr>
              <a:t>Bloom spread: L1-L2 21%, L3-L4 52%, L5-L6 27%</a:t>
            </a:r>
            <a:endParaRPr lang="en-US" sz="1100" dirty="0"/>
          </a:p>
        </p:txBody>
      </p:sp>
      <p:sp>
        <p:nvSpPr>
          <p:cNvPr id="13" name="text"/>
          <p:cNvSpPr/>
          <p:nvPr/>
        </p:nvSpPr>
        <p:spPr>
          <a:xfrm>
            <a:off x="742950" y="3524250"/>
            <a:ext cx="5048250" cy="3810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Every question carries a CO tag, a Bloom level and a chapter reference; distractor feedback names the misconception.</a:t>
            </a:r>
            <a:endParaRPr lang="en-US" sz="1000" dirty="0"/>
          </a:p>
        </p:txBody>
      </p:sp>
      <p:sp>
        <p:nvSpPr>
          <p:cNvPr id="14" name="shape-56-12"/>
          <p:cNvSpPr/>
          <p:nvPr/>
        </p:nvSpPr>
        <p:spPr>
          <a:xfrm>
            <a:off x="6210300" y="1543050"/>
            <a:ext cx="5429250" cy="2438400"/>
          </a:xfrm>
          <a:prstGeom prst="rect">
            <a:avLst/>
          </a:prstGeom>
          <a:solidFill>
            <a:srgbClr val="FDF3EC"/>
          </a:solidFill>
          <a:ln w="12700">
            <a:solidFill>
              <a:srgbClr val="D7DEE8"/>
            </a:solidFill>
            <a:prstDash val="solid"/>
          </a:ln>
        </p:spPr>
      </p:sp>
      <p:sp>
        <p:nvSpPr>
          <p:cNvPr id="15" name="text"/>
          <p:cNvSpPr/>
          <p:nvPr/>
        </p:nvSpPr>
        <p:spPr>
          <a:xfrm>
            <a:off x="6400800" y="1695450"/>
            <a:ext cx="5048250" cy="11620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MODULE 4 ASSIGNMENT</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assignments/Module_4_Assignment.pdf</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Assignment 4 — s-domain analysis, transfer functions and synthesis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20 marks  |  10% of CIE  |  10 problems + 3 theory items</a:t>
            </a:r>
            <a:endParaRPr lang="en-US" sz="1100" dirty="0"/>
          </a:p>
        </p:txBody>
      </p:sp>
      <p:sp>
        <p:nvSpPr>
          <p:cNvPr id="16" name="text"/>
          <p:cNvSpPr/>
          <p:nvPr/>
        </p:nvSpPr>
        <p:spPr>
          <a:xfrm>
            <a:off x="6400800" y="2914650"/>
            <a:ext cx="5048250" cy="4572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Submit as PDF, single file, named &lt;USN&gt;_BEC303_Assignment4.pdf, via LMS upload. 10% per day, nothing after 5 days.</a:t>
            </a:r>
            <a:endParaRPr lang="en-US" sz="1000" dirty="0"/>
          </a:p>
        </p:txBody>
      </p:sp>
      <p:sp>
        <p:nvSpPr>
          <p:cNvPr id="17" name="text"/>
          <p:cNvSpPr/>
          <p:nvPr/>
        </p:nvSpPr>
        <p:spPr>
          <a:xfrm>
            <a:off x="6400800" y="3390900"/>
            <a:ext cx="5048250" cy="51435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Rubric: Transform and inverse-transform technique (6); s-domain network modelling (5); Pole-zero interpretation (5); Synthesis and verification (4). Attainment: CO4 = 20.</a:t>
            </a:r>
            <a:endParaRPr lang="en-US" sz="900" dirty="0"/>
          </a:p>
        </p:txBody>
      </p:sp>
      <p:sp>
        <p:nvSpPr>
          <p:cNvPr id="18" name="text"/>
          <p:cNvSpPr/>
          <p:nvPr/>
        </p:nvSpPr>
        <p:spPr>
          <a:xfrm>
            <a:off x="552450" y="4133850"/>
            <a:ext cx="1108710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Previous years' question papers for EC are indexed in pyq/PYQ_Index.pdf; the syllabus extract and the topic-to-slide mapping are in syllabus/Syllabus_Mapping.pdf.</a:t>
            </a:r>
            <a:endParaRPr lang="en-US" sz="1100" dirty="0"/>
          </a:p>
        </p:txBody>
      </p:sp>
      <p:sp>
        <p:nvSpPr>
          <p:cNvPr id="19" name="text"/>
          <p:cNvSpPr/>
          <p:nvPr/>
        </p:nvSpPr>
        <p:spPr>
          <a:xfrm>
            <a:off x="552450" y="4667250"/>
            <a:ext cx="11087100" cy="2857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C2410C"/>
                </a:solidFill>
                <a:latin typeface="Segoe UI" pitchFamily="34" charset="0"/>
                <a:ea typeface="Segoe UI" pitchFamily="34" charset="-122"/>
                <a:cs typeface="Segoe UI" pitchFamily="34" charset="-120"/>
              </a:rPr>
              <a:t>Individual submission. Identical submissions score zero for both parties.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2026-09-11T19:47:51Z</dcterms:created>
  <dcterms:modified xsi:type="dcterms:W3CDTF">2026-09-11T19:47:51Z</dcterms:modified>
</cp:coreProperties>
</file>