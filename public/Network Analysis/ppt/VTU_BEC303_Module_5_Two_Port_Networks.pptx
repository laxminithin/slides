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Open by putting the whole module on one page. Tell them this is 14 contact hours and 16 teaching units, and that all of it exists to answer one question: How do I describe a network I cannot open, using only measurements made at its two accessible ports — and then predict what it does with any source and any load? Name the prescribed textbook out loud and say which chapters they will be living in, so nobody is reading the wrong book by week two.
Pause cue: Pause after reading the driving question aloud, before naming the textbook.
Pointing cue: Point at the module title block, then at the textbook panel, then run a finger along the five-beat arc.
Question to ask students: Ask: before we start, what do you already expect the answer to "How do I describe a network I cannot open, using only measurements made at its two access…" to look like?
Animation instructions: Module title block fades in first, then the textbook panel slides in from the right, then the five arc beats appear left to right one at a time.
Transition style: Fade
[Sources] VTU BEC303 Network Analysis syllabus, 2025 scheme, Module 5: Two-Port Networks, 14 hours, Hayt 8e Ch. 17 (17.1–17.6), pp. 687–720. TB1: W. H. Hayt, J. E. Kemmerly and S. M. Durbin, Engineering Circuit Analysis, McGraw-Hill / Tata McGraw-Hill, 8th ed., 2012.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map before the territory. Read the driving question once more, then walk the five beats across the slide and say in one sentence what changes between each beat and the next. Finish on the scope paragraph, because knowing what a module does not cover saves more marks than anything else on this slide.
Pause cue: Pause for four or five seconds after the five beats appear, before moving to scope.
Pointing cue: Point at the driving question panel, then at each numbered beat in turn, then at the scope paragraph.
Question to ask students: Ask: which of these five beats do you expect to find hardest, and why that one?
Animation instructions: The driving question panel fades in, then the five numbered beats appear left to right one at a time, then the scope paragraph fades in beneath them.
Transition style: Fade
[Sources] VTU BEC303 Network Analysis syllabus, 2025 scheme, Module 5: Two-Port Networks, 14 hours, Hayt 8e Ch. 17 (17.1–17.6), pp. 687–720. TB1: W. H. Hayt, J. E. Kemmerly and S. M. Durbin, Engineering Circuit Analysis, McGraw-Hill / Tata McGraw-Hill, 8th ed., 2012.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Tell them this is the slide to photograph. Every unit in the module is listed against a real chapter and a real page range, so there is no ambiguity about what to read. Point out the slide-number column and say plainly that if they miss a lecture, those are the slides covering that unit. Say that the page ranges come from the book's own table of contents rather than a guess.
Pause cue: Pause for ten seconds and let them photograph the table before saying anything else.
Pointing cue: Run a finger down the chapter-and-pages column, then across one complete row.
Question to ask students: Ask: pick any row - which chapter would you open first, and what would you expect in the first paragraph?
Animation instructions: Header row appears first, then the unit rows fade in one at a time from the top, then the chapter-and-pages column highlights.
Transition style: Cut
[Sources] VTU BEC303 Network Analysis syllabus, 2025 scheme, Module 5: Two-Port Networks, 14 hours, Hayt 8e Ch. 17 (17.1–17.6), pp. 687–720. TB1: W. H. Hayt, J. E. Kemmerly and S. M. Durbin, Engineering Circuit Analysis, McGraw-Hill / Tata McGraw-Hill, 8th ed., 2012. Mapping covers all 16 teaching units.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Tell them this is the slide to photograph. Every unit in the module is listed against a real chapter and a real page range, so there is no ambiguity about what to read. Point out the slide-number column and say plainly that if they miss a lecture, those are the slides covering that unit. Say that the page ranges come from the book's own table of contents rather than a guess.
Pause cue: Pause for ten seconds and let them photograph the table before saying anything else.
Pointing cue: Run a finger down the chapter-and-pages column, then across one complete row.
Question to ask students: Ask: pick any row - which chapter would you open first, and what would you expect in the first paragraph?
Animation instructions: Header row appears first, then the unit rows fade in one at a time from the top, then the chapter-and-pages column highlights.
Transition style: Cut
[Sources] VTU BEC303 Network Analysis syllabus, 2025 scheme, Module 5: Two-Port Networks, 14 hours, Hayt 8e Ch. 17 (17.1–17.6), pp. 687–720. TB1: W. H. Hayt, J. E. Kemmerly and S. M. Durbin, Engineering Circuit Analysis, McGraw-Hill / Tata McGraw-Hill, 8th ed., 2012. Mapping covers all 16 teaching units.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one-port is any network accessed through a single terminal pair, and it is described completely by one function — its driving-point impedance Z(s) = V(s… Then add the part they are examined on - A one-port is one number as a function of s — and only if the port condition actually holds.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"one-port" constrain here, and what would break if it did not hold?
Animation instructions: left cloud and terminals draw, the two equal current arrows animate in and out together, the green tick lands; then the right cloud appears, the leakage wire draws in dotted red, the currents visibly mismatch, the red cross lands.
Transition style: Fade
[Sources] VTU BEC303 Network Analysis syllabus, 2025 scheme, Module 5: Two-Port Networks. TB1 as listed by the syllabus: W. H. Hayt, J. E. Kemmerly and S. M. Durbin, Engineering Circuit Analysis, McGraw-Hill / Tata McGraw-Hill, 8th ed., 2012; Ch. 17, pp. 687-692.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Identify the terminal pair of interest - and check everyone has written it before moving on. At the cost panel, translate it: Identical in structure to finding Z_th in Module 2, now as a function of 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5: Two-Port Networks. TB1 as listed by the syllabus: W. H. Hayt, J. E. Kemmerly and S. M. Durbin, Engineering Circuit Analysis, McGraw-Hill / Tata McGraw-Hill, 8th ed., 2012; Ch. 17, pp. 687-692.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one-port consisting of R = 100 Ω in series with L = 50 mH. Work at the pace of the slowest note-taker and land hard on the result: Z(s) = 100 + 0.05s, reducing to the familiar 141.4∠45° Ω at 2000 rad/s and satisfying the passive realisability test.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5: Two-Port Networks. TB1 as listed by the syllabus: W. H. Hayt, J. E. Kemmerly and S. M. Durbin, Engineering Circuit Analysis, McGraw-Hill / Tata McGraw-Hill, 8th ed., 2012; Ch. 17, pp. 687-692.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 two-port has an input terminal pair and an output terminal pair, each satisfying the port condition, and it is described by relationships among four var… Then add the part they are examined on - Four numbers describe any linear two-port at a given frequency, no matter how many parts are inside.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"two-port" constrain here, and what would break if it did not hold?
Animation instructions: box and four terminals draw, the four port variables label in, then the three internal thumbnails appear above and their arrows sweep down into the box, then the matrix equation types in beneath.
Transition style: Fade
[Sources] VTU BEC303 Network Analysis syllabus, 2025 scheme, Module 5: Two-Port Networks. TB1 as listed by the syllabus: W. H. Hayt, J. E. Kemmerly and S. M. Durbin, Engineering Circuit Analysis, McGraw-Hill / Tata McGraw-Hill, 8th ed., 2012; Ch. 17, pp. 687-692.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Confirm both terminal pairs satisfy the port condition - and check everyone has written it before moving on. At the cost panel, translate it: Parameters are frequency-dependent; a set quoted without its frequency is incomplete.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5: Two-Port Networks. TB1 as listed by the syllabus: W. H. Hayt, J. E. Kemmerly and S. M. Durbin, Engineering Circuit Analysis, McGraw-Hill / Tata McGraw-Hill, 8th ed., 2012; Ch. 17, pp. 687-692.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purely resistive T network with a 10 Ω series arm on each side and a 20 Ω shunt arm. Work at the pace of the slowest note-taker and land hard on the result: The three-element T is fully represented by four parameters, and any other network with the same four is externally identical to…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5: Two-Port Networks. TB1 as listed by the syllabus: W. H. Hayt, J. E. Kemmerly and S. M. Durbin, Engineering Circuit Analysis, McGraw-Hill / Tata McGraw-Hill, 8th ed., 2012; Ch. 17, pp. 687-692.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y parameters express both currents in terms of both voltages: I₁ = y₁₁V₁ + y₁₂V₂ and I₂ = y₂₁V₁ + y₂₂V₂. Then add the part they are examined on - y parameters are the short-circuit set — and short-circuit tests are easy at low frequency and awkward at high frequency.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"y parameters" constrain here, and what would break if it did not hold?
Animation instructions: top-left setup draws with the short bar slamming into place and the meters reading, then the equations appear with the vanishing terms fading to grey, then the mirrored setup builds, then the π thumbnail appears.
Transition style: Fade
[Sources] VTU BEC303 Network Analysis syllabus, 2025 scheme, Module 5: Two-Port Networks. TB1 as listed by the syllabus: W. H. Hayt, J. E. Kemmerly and S. M. Durbin, Engineering Circuit Analysis, McGraw-Hill / Tata McGraw-Hill, 8th ed., 2012; Ch. 17, pp. 692-699.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Short-circuit port 2 and apply a known V₁ - and check everyone has written it before moving on. At the cost panel, translate it: Short-circuit tests can be difficult at high frequency where lead inductance prevents a true short.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5: Two-Port Networks. TB1 as listed by the syllabus: W. H. Hayt, J. E. Kemmerly and S. M. Durbin, Engineering Circuit Analysis, McGraw-Hill / Tata McGraw-Hill, 8th ed., 2012; Ch. 17, pp. 692-699.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π network with 20 Ω shunt at each port and a 10 Ω series branch between them. Work at the pace of the slowest note-taker and land hard on the result: y = [[0.15, −0.1], [−0.1, 0.15]] S — symmetric because the network is both reciprocal and geometrically symmetric.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5: Two-Port Networks. TB1 as listed by the syllabus: W. H. Hayt, J. E. Kemmerly and S. M. Durbin, Engineering Circuit Analysis, McGraw-Hill / Tata McGraw-Hill, 8th ed., 2012; Ch. 17, pp. 692-699.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Any reciprocal two-port can be represented by a π network of three admittances, and the mapping from y parameters is direct: the series branch is −y₁₂, th… Then add the part they are examined on - Three admittances reproduce any reciprocal two-port exactly — and a fourth element, a dependent source, is needed the moment…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"π equivalent" constrain here, and what would break if it did not hold?
Animation instructions: the matrix appears, then each curved arrow sweeps from its matrix entry to the corresponding branch which lights up as it is assigned, then the non-reciprocal variant fades in beneath with the diamond appearing last.
Transition style: Fade
[Sources] VTU BEC303 Network Analysis syllabus, 2025 scheme, Module 5: Two-Port Networks. TB1 as listed by the syllabus: W. H. Hayt, J. E. Kemmerly and S. M. Durbin, Engineering Circuit Analysis, McGraw-Hill / Tata McGraw-Hill, 8th ed., 2012; Ch. 17, pp. 699-708.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Obtain the four y parameters - and check everyone has written it before moving on. At the cost panel, translate it: The mapping is arithmetic; obtaining y is where the work lies.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5: Two-Port Networks. TB1 as listed by the syllabus: W. H. Hayt, J. E. Kemmerly and S. M. Durbin, Engineering Circuit Analysis, McGraw-Hill / Tata McGraw-Hill, 8th ed., 2012; Ch. 17, pp. 699-708.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y = [[0.15, −0.1], [−0.1, 0.15]] S. Work at the pace of the slowest note-taker and land hard on the result: The π model is 20 Ω shunt, 10 Ω series, 20 Ω shunt — recovering exactly the network the parameters were computed from.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5: Two-Port Networks. TB1 as listed by the syllabus: W. H. Hayt, J. E. Kemmerly and S. M. Durbin, Engineering Circuit Analysis, McGraw-Hill / Tata McGraw-Hill, 8th ed., 2012; Ch. 17, pp. 699-708.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z parameters express both voltages in terms of both currents: V₁ = z₁₁I₁ + z₁₂I₂ and V₂ = z₂₁I₁ + z₂₂I₂. Then add the part they are examined on - z parameters are the open-circuit set and map onto a T; y parameters are the short-circuit set and map onto a π.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"z parameters" constrain here, and what would break if it did not hold?
Animation instructions: the measurement setup draws with the open terminals flashing, the meters read, then the T model assembles arm by arm with each label appearing, then the dotted bracket links them, then the comparison strip slides up.
Transition style: Fade
[Sources] VTU BEC303 Network Analysis syllabus, 2025 scheme, Module 5: Two-Port Networks. TB1 as listed by the syllabus: W. H. Hayt, J. E. Kemmerly and S. M. Durbin, Engineering Circuit Analysis, McGraw-Hill / Tata McGraw-Hill, 8th ed., 2012; Ch. 17, pp. 708-713.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Open-circuit port 2 and drive port 1 with a known current - and check everyone has written it before moving on. At the cost panel, translate it: Open-circuit tests are the practical choice at high frequency, where a true short is hard to realise.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5: Two-Port Networks. TB1 as listed by the syllabus: W. H. Hayt, J. E. Kemmerly and S. M. Durbin, Engineering Circuit Analysis, McGraw-Hill / Tata McGraw-Hill, 8th ed., 2012; Ch. 17, pp. 708-713.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T network with 10 Ω series arms on each side and a 20 Ω shunt arm. Work at the pace of the slowest note-taker and land hard on the result: z = [[30, 20], [20, 30]] Ω, and mapping back gives series arms of 10 Ω each with a 20 Ω shunt — the original network.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5: Two-Port Networks. TB1 as listed by the syllabus: W. H. Hayt, J. E. Kemmerly and S. M. Durbin, Engineering Circuit Analysis, McGraw-Hill / Tata McGraw-Hill, 8th ed., 2012; Ch. 17, pp. 708-713.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z and y matrices are inverses of each other, z = y⁻¹, provided the inverse exists. Then add the part they are examined on - z and y are matrix inverses, and when the inverse does not exist that parameter set simply does not describe the network.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"matrix inverse" constrain here, and what would break if it did not hold?
Animation instructions: the two matrices appear with the inversion arrow animating between them, the determinant formula types in, then case A draws with its open port flashing red and its badge landing, then case B does the same, then the determinant caption appears.
Transition style: Fade
[Sources] VTU BEC303 Network Analysis syllabus, 2025 scheme, Module 5: Two-Port Networks. TB1 as listed by the syllabus: W. H. Hayt, J. E. Kemmerly and S. M. Durbin, Engineering Circuit Analysis, McGraw-Hill / Tata McGraw-Hill, 8th ed., 2012; Ch. 17, pp. 692-713.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Compute the determinant of the matrix you hold - and check everyone has written it before moving on. At the cost panel, translate it: The determinant check costs nothing and prevents dividing by zero unnoticed.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5: Two-Port Networks. TB1 as listed by the syllabus: W. H. Hayt, J. E. Kemmerly and S. M. Durbin, Engineering Circuit Analysis, McGraw-Hill / Tata McGraw-Hill, 8th ed., 2012; Ch. 17, pp. 692-713.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z = [[30, 20], [20, 30]] Ω. Work at the pace of the slowest note-taker and land hard on the result: y = [[0.06, −0.04], [−0.04, 0.06]] S — a valid inverse because the determinant was non-zero, and still reciprocal as expected.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5: Two-Port Networks. TB1 as listed by the syllabus: W. H. Hayt, J. E. Kemmerly and S. M. Durbin, Engineering Circuit Analysis, McGraw-Hill / Tata McGraw-Hill, 8th ed., 2012; Ch. 17, pp. 692-713.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h parameters mix the variable choice: V₁ = h₁₁I₁ + h₁₂V₂ and I₂ = h₂₁I₁ + h₂₂V₂. Then add the part they are examined on - h parameters exist because transistors are current-in, voltage-out devices — the mixed units follow from the physics, not fr…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"h parameters" constrain here, and what would break if it did not hold?
Animation instructions: the equations type in with their unit annotations appearing one at a time, then the equivalent circuit builds left to right with the two dependent sources snapping in, then the transistor appears and the two mapping callouts sweep across from the circuit.
Transition style: Fade
[Sources] VTU BEC303 Network Analysis syllabus, 2025 scheme, Module 5: Two-Port Networks. TB1 as listed by the syllabus: W. H. Hayt, J. E. Kemmerly and S. M. Durbin, Engineering Circuit Analysis, McGraw-Hill / Tata McGraw-Hill, 8th ed., 2012; Ch. 17, pp. 713-716.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Short-circuit port 2 and drive port 1 with a known current - and check everyone has written it before moving on. At the cost panel, translate it: Mixed units make dimensional checking unusually valuable here.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5: Two-Port Networks. TB1 as listed by the syllabus: W. H. Hayt, J. E. Kemmerly and S. M. Durbin, Engineering Circuit Analysis, McGraw-Hill / Tata McGraw-Hill, 8th ed., 2012; Ch. 17, pp. 713-716.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transistor small-signal model with h₁₁ = 2 kΩ, h₁₂ ≈ 0, h₂₁ = 100, h₂₂ = 20 µS, driven by a 10 µA base current with a 5 kΩ load. Work at the pace of the slowest note-taker and land hard on the result: Voltage gain = −4.55/0.02 = −227, and the minus sign is the phase inversion of a common-emitter stage.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5: Two-Port Networks. TB1 as listed by the syllabus: W. H. Hayt, J. E. Kemmerly and S. M. Durbin, Engineering Circuit Analysis, McGraw-Hill / Tata McGraw-Hill, 8th ed., 2012; Ch. 17, pp. 713-716.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Six parameter sets exist for three distinct reasons. Then add the part they are examined on - Choose the parameter set by the question — existence, ease of measurement, or what operation you are about to perform.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"existence" constrain here, and what would break if it did not hold?
Animation instructions: the dial and its six positions draw, then lever 1 animates and the dial swings with the red X badges appearing, then lever 2 animates and the dial swings to z, then lever 3 animates and the dial swings to ABCD and holds.
Transition style: Fade
[Sources] VTU BEC303 Network Analysis syllabus, 2025 scheme, Module 5: Two-Port Networks. TB1 as listed by the syllabus: W. H. Hayt, J. E. Kemmerly and S. M. Durbin, Engineering Circuit Analysis, McGraw-Hill / Tata McGraw-Hill, 8th ed., 2012; Ch. 17, pp. 713-716.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Ask whether the required set exists for this topology by checking the relevant determinant - and check everyone has written it before moving on. At the cost panel, translate it: Conversion is cheap; choosing the wrong set for a cascade is what costs real effort.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5: Two-Port Networks. TB1 as listed by the syllabus: W. H. Hayt, J. E. Kemmerly and S. M. Durbin, Engineering Circuit Analysis, McGraw-Hill / Tata McGraw-Hill, 8th ed., 2012; Ch. 17, pp. 713-716.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four-stage filter chain is to be analysed, and the stages are specified by their z parameters. Work at the pace of the slowest note-taker and land hard on the result: Four conversions plus three matrix multiplications, against the alternative of repeatedly solving loaded networks stage by stage…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5: Two-Port Networks. TB1 as listed by the syllabus: W. H. Hayt, J. E. Kemmerly and S. M. Durbin, Engineering Circuit Analysis, McGraw-Hill / Tata McGraw-Hill, 8th ed., 2012; Ch. 17, pp. 713-716.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transmission or ABCD parameters express the input variables in terms of the output ones: V₁ = A·V₂ − B·I₂ and I₁ = C·V₂ − D·I₂. Then add the part they are examined on - ABCD looks backwards — input written in terms of output — and that is exactly what makes cascading into matrix multiplicatio…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"ABCD parameters" constrain here, and what would break if it did not hold?
Animation instructions: the box and port variables draw, the I₂ arrow animates inward and the faded outward arrow appears, the matrix equation types in and the red ring pulses twice on the minus signs, then the unit strip slides in from the left, then the cascade thumbnail appears on the right.
Transition style: Fade
[Sources] VTU BEC303 Network Analysis syllabus, 2025 scheme, Module 5: Two-Port Networks. TB1 as listed by the syllabus: W. H. Hayt, J. E. Kemmerly and S. M. Durbin, Engineering Circuit Analysis, McGraw-Hill / Tata McGraw-Hill, 8th ed., 2012; Ch. 17, pp. 716-720.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Open-circuit port 2 (I₂ = 0) and compute A = V₁/V₂ and C = I₁/V₂ - and check everyone has written it before moving on. At the cost panel, translate it: The AD − BC = 1 check catches most sign errors immediately.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5: Two-Port Networks. TB1 as listed by the syllabus: W. H. Hayt, J. E. Kemmerly and S. M. Durbin, Engineering Circuit Analysis, McGraw-Hill / Tata McGraw-Hill, 8th ed., 2012; Ch. 17, pp. 716-720.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single series impedance Z between the ports, with nothing in shunt. Work at the pace of the slowest note-taker and land hard on the result: ABCD = [[1, Z], [0, 1]], the standard series-element matrix — and note this network has no z representation at all, which is why…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5: Two-Port Networks. TB1 as listed by the syllabus: W. H. Hayt, J. E. Kemmerly and S. M. Durbin, Engineering Circuit Analysis, McGraw-Hill / Tata McGraw-Hill, 8th ed., 2012; Ch. 17, pp. 716-720.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When two-ports are cascaded, the output of one becomes the input of the next, and the overall ABCD matrix is the ordered product of the individual matrice… Then add the part they are examined on - ABCD multiplication handles inter-stage loading automatically — which is exactly what naive transfer-function cascading gets…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"cascade" constrain here, and what would break if it did not hold?
Animation instructions: the three boxes draw left to right with their matrices, then the brackets sweep under and the equivalent box forms with the product expression, then the red naive panel appears and is struck through, then the ladder strip builds by alternating matrices sliding in.
Transition style: Fade
[Sources] VTU BEC303 Network Analysis syllabus, 2025 scheme, Module 5: Two-Port Networks. TB1 as listed by the syllabus: W. H. Hayt, J. E. Kemmerly and S. M. Durbin, Engineering Circuit Analysis, McGraw-Hill / Tata McGraw-Hill, 8th ed., 2012; Ch. 17, pp. 716-720.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Write the ABCD matrix of each stage in signal-flow order - and check everyone has written it before moving on. At the cost panel, translate it: Linear in the number of stages — compared with re-solving a loaded network per stage, this is the whole advantage.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5: Two-Port Networks. TB1 as listed by the syllabus: W. H. Hayt, J. E. Kemmerly and S. M. Durbin, Engineering Circuit Analysis, McGraw-Hill / Tata McGraw-Hill, 8th ed., 2012; Ch. 17, pp. 716-720.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series 10 Ω followed by a shunt 0.05 S, cascaded. Work at the pace of the slowest note-taker and land hard on the result: Overall ABCD = [[1.5, 10], [0.05, 1]], with the reciprocity check passing — and the loading of the shunt on the series element al…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5: Two-Port Networks. TB1 as listed by the syllabus: W. H. Hayt, J. E. Kemmerly and S. M. Durbin, Engineering Circuit Analysis, McGraw-Hill / Tata McGraw-Hill, 8th ed., 2012; Ch. 17, pp. 716-720.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Reciprocity and symmetry are distinct conditions that are often confused. Then add the part they are examined on - Reciprocity is about swapping source and meter; symmetry is about swapping the ports themselves — and they are not the same…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"reciprocity condition" constrain here, and what would break if it did not hold?
Animation instructions: the grid draws, each of the three circuit cells appears with its ticks and crosses landing one at a time, then the summary card fills in line by line.
Transition style: Fade
[Sources] VTU BEC303 Network Analysis syllabus, 2025 scheme, Module 5: Two-Port Networks. TB1 as listed by the syllabus: W. H. Hayt, J. E. Kemmerly and S. M. Durbin, Engineering Circuit Analysis, McGraw-Hill / Tata McGraw-Hill, 8th ed., 2012; Ch. 17, pp. 699-708.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Compute the full parameter set - and check everyone has written it before moving on. At the cost panel, translate it: Free checks that catch a large fraction of sign errors.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5: Two-Port Networks. TB1 as listed by the syllabus: W. H. Hayt, J. E. Kemmerly and S. M. Durbin, Engineering Circuit Analysis, McGraw-Hill / Tata McGraw-Hill, 8th ed., 2012; Ch. 17, pp. 699-708.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ladder with z = [[30, 20], [20, 45]] Ω. Work at the pace of the slowest note-taker and land hard on the result: Reciprocal but not symmetric — so reciprocity may be exploited to halve a two-configuration measurement, while port interchange m…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5: Two-Port Networks. TB1 as listed by the syllabus: W. H. Hayt, J. E. Kemmerly and S. M. Durbin, Engineering Circuit Analysis, McGraw-Hill / Tata McGraw-Hill, 8th ed., 2012; Ch. 17, pp. 699-708.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The input impedance of a two-port is not a property of the network alone — it depends on what terminates the far port. Then add the part they are examined on - The load reflects back through the network and changes the input impedance — Z_in is never a property of the two-port alone.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"terminated two-port" constrain here, and what would break if it did not hold?
Animation instructions: box, source and load draw, the forward arrow sweeps right, the curved return arrow sweeps back, the formula types in with each term lighting as its arrow pulses, then the two limiting-case insets fade in side by side.
Transition style: Fade
[Sources] VTU BEC303 Network Analysis syllabus, 2025 scheme, Module 5: Two-Port Networks. TB1 as listed by the syllabus: W. H. Hayt, J. E. Kemmerly and S. M. Durbin, Engineering Circuit Analysis, McGraw-Hill / Tata McGraw-Hill, 8th ed., 2012; Ch. 17, pp. 708-713.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Obtain the z parameters of the two-port - and check everyone has written it before moving on. At the cost panel, translate it: Cheap to evaluate repeatedly, which is why z parameters plus this formula beat re-solving the network for each load.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5: Two-Port Networks. TB1 as listed by the syllabus: W. H. Hayt, J. E. Kemmerly and S. M. Durbin, Engineering Circuit Analysis, McGraw-Hill / Tata McGraw-Hill, 8th ed., 2012; Ch. 17, pp. 708-713.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z = [[30, 20], [20, 30]] Ω with a 50 Ω load at port 2. Work at the pace of the slowest note-taker and land hard on the result: Z_in = 25 Ω with the 50 Ω load, and both limiting cases confirm the formula — the input impedance ranges from 16.7 Ω to 30 Ω depe…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5: Two-Port Networks. TB1 as listed by the syllabus: W. H. Hayt, J. E. Kemmerly and S. M. Durbin, Engineering Circuit Analysis, McGraw-Hill / Tata McGraw-Hill, 8th ed., 2012; Ch. 17, pp. 708-713.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Output impedance is the mirror of input impedance: Z_out = z₂₂ − z₁₂z₂₁/(z₁₁ + Z_S), where Z_S is the impedance of the source driving port 1. Then add the part they are examined on - Z_out is Z_in's mirror image with the source replacing the load — and it is the Thévenin impedance a real load will meet.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"Z_out" constrain here, and what would break if it did not hold?
Animation instructions: the left half builds with its formula, the centre line draws, the right half builds as an animated mirror of the left, the central swap badge appears, then the Module 2 link box slides up last.
Transition style: Fade
[Sources] VTU BEC303 Network Analysis syllabus, 2025 scheme, Module 5: Two-Port Networks. TB1 as listed by the syllabus: W. H. Hayt, J. E. Kemmerly and S. M. Durbin, Engineering Circuit Analysis, McGraw-Hill / Tata McGraw-Hill, 8th ed., 2012; Ch. 17, pp. 708-713.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Obtain the z parameters of the two-port - and check everyone has written it before moving on. At the cost panel, translate it: The Thévenin equivalent at port 2 makes any subsequent load sweep trivial.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5: Two-Port Networks. TB1 as listed by the syllabus: W. H. Hayt, J. E. Kemmerly and S. M. Durbin, Engineering Circuit Analysis, McGraw-Hill / Tata McGraw-Hill, 8th ed., 2012; Ch. 17, pp. 708-713.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z = [[30, 20], [20, 30]] Ω driven from a source with Z_S = 10 Ω. Work at the pace of the slowest note-taker and land hard on the result: Z_out = 20 Ω, so a 20 Ω load extracts maximum power — and the limiting case confirms the formula reduces to z₂₂ when the source i…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5: Two-Port Networks. TB1 as listed by the syllabus: W. H. Hayt, J. E. Kemmerly and S. M. Durbin, Engineering Circuit Analysis, McGraw-Hill / Tata McGraw-Hill, 8th ed., 2012; Ch. 17, pp. 708-713.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Determining parameters experimentally exposes constraints the algebra hides. Then add the part they are examined on - Shorts and opens are idealisations; how badly they fail sets which parameter set you can actually measure at a given frequen…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"measurement setup" constrain here, and what would break if it did not hold?
Animation instructions: the ideal column draws with its ticks, then the real column with the parasitic elements popping in and the amber warnings, then the two error curves trace across the frequency axis and the practical-limit marker drops, then the footer note appears.
Transition style: Fade
[Sources] VTU BEC303 Network Analysis syllabus, 2025 scheme, Module 5: Two-Port Networks. TB1 as listed by the syllabus: W. H. Hayt, J. E. Kemmerly and S. M. Durbin, Engineering Circuit Analysis, McGraw-Hill / Tata McGraw-Hill, 8th ed., 2012; Ch. 17, pp. 692-713.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Choose the parameter set whose terminations are realisable at the test frequency - and check everyone has written it before moving on. At the cost panel, translate it: Calibration usually dominates the measurement time, not the measurement itself.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5: Two-Port Networks. TB1 as listed by the syllabus: W. H. Hayt, J. E. Kemmerly and S. M. Durbin, Engineering Circuit Analysis, McGraw-Hill / Tata McGraw-Hill, 8th ed., 2012; Ch. 17, pp. 692-713.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A y-parameter measurement attempted at 100 MHz with a 5 nH lead inductance forming the short. Work at the pace of the slowest note-taker and land hard on the result: A 5 nH lead produces 3.14 Ω at 100 MHz — enough to corrupt a y-parameter measurement by several percent, which is why scattering…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5: Two-Port Networks. TB1 as listed by the syllabus: W. H. Hayt, J. E. Kemmerly and S. M. Durbin, Engineering Circuit Analysis, McGraw-Hill / Tata McGraw-Hill, 8th ed., 2012; Ch. 17, pp. 692-713.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Conversions between sets are all algebraic and all hinge on a determinant. Then add the part they are examined on - Every conversion divides by something, so check what that something is before converting — a zero there means the target set…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"conversion formulas" constrain here, and what would break if it did not hold?
Animation instructions: the four nodes appear, the spokes draw one at a time with their conditions labelling, then one spoke's red barrier closes to demonstrate a failed conversion, then the three outer connection badges drop into place.
Transition style: Fade
[Sources] VTU BEC303 Network Analysis syllabus, 2025 scheme, Module 5: Two-Port Networks. TB1 as listed by the syllabus: W. H. Hayt, J. E. Kemmerly and S. M. Durbin, Engineering Circuit Analysis, McGraw-Hill / Tata McGraw-Hill, 8th ed., 2012; Ch. 17, pp. 692-720.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Identify the set you have and the set you need - and check everyone has written it before moving on. At the cost panel, translate it: The conversions are trivial; the divisor check is the part that carries the engineering content.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5: Two-Port Networks. TB1 as listed by the syllabus: W. H. Hayt, J. E. Kemmerly and S. M. Durbin, Engineering Circuit Analysis, McGraw-Hill / Tata McGraw-Hill, 8th ed., 2012; Ch. 17, pp. 692-720.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Convert z = [[30, 20], [20, 30]] Ω to ABCD. Work at the pace of the slowest note-taker and land hard on the result: ABCD = [[1.5, 25], [0.05, 1.5]]; the check AD − BC = 2.25 − 1.25 = 1 confirms reciprocity, and A = D confirms symmetry.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5: Two-Port Networks. TB1 as listed by the syllabus: W. H. Hayt, J. E. Kemmerly and S. M. Durbin, Engineering Circuit Analysis, McGraw-Hill / Tata McGraw-Hill, 8th ed., 2012; Ch. 17, pp. 692-720.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them the idea before the formalism. Say it plainly first: With a source, a two-port and a load in place, every performance figure follows from the four parameters plus the two terminations. Then add the part they are examined on - Four parameters plus two terminations give every performance figure — that is the whole return on the two-port abstraction. Keep the key terms visible; they are the vocabulary every later slide assumes.
Pause cue: Pause once the mechanism paragraph is fully revealed, before the takeaway appears.
Pointing cue: Point at the mechanism panel, then at each key term in turn, then at the takeaway box.
Question to ask students: Ask: in your own words, what does "voltage gain" constrain here, and what would break if it did not hold?
Animation instructions: the chain draws left to right, then each dashboard card slides out in turn with its feeder line drawing first and its number filling in last, then the footer strip appears.
Transition style: Fade
[Sources] VTU BEC303 Network Analysis syllabus, 2025 scheme, Module 5: Two-Port Networks. TB1 as listed by the syllabus: W. H. Hayt, J. E. Kemmerly and S. M. Durbin, Engineering Circuit Analysis, McGraw-Hill / Tata McGraw-Hill, 8th ed., 2012; Ch. 17, pp. 708-720.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the procedure out loud, one line at a time, and refuse to jump ahead. Start with step one - Measure or compute the four parameters at the frequency of interest - and check everyone has written it before moving on. At the cost panel, translate it: One characterisation supports unlimited termination combinations, which is the entire economic argument for two-port modelling.
Pause cue: Pause after step three and ask for a show of hands before continuing.
Pointing cue: Point at each numbered step as you read it, then move across to the cost panel on the right.
Question to ask students: Ask: which of these steps would you skip first if you were short of time, and exactly what would that cost you?
Animation instructions: Procedure steps reveal one at a time from the top, then the cost panel fades in on the right, then the interpretation box slides up beneath it.
Transition style: Push
[Sources] VTU BEC303 Network Analysis syllabus, 2025 scheme, Module 5: Two-Port Networks. TB1 as listed by the syllabus: W. H. Hayt, J. E. Kemmerly and S. M. Durbin, Engineering Circuit Analysis, McGraw-Hill / Tata McGraw-Hill, 8th ed., 2012; Ch. 17, pp. 708-720.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Do this on the board in real time rather than reading it off the slide. The case is z = [[30, 20], [20, 30]] Ω, Z_S = 10 Ω, Z_L = 50 Ω, driven by 1 V. Work at the pace of the slowest note-taker and land hard on the result: Z_in = 25 Ω, Z_out = 20 Ω and a voltage gain of 0.5 — and the 50 Ω load is mismatched, so output power is below the achievable ma… Then spend a minute on the mistake box.
Pause cue: Pause before revealing the result and ask the room to predict it.
Pointing cue: Point at the given panel, then at each numbered step, then at the result box, then at the mistake panel.
Question to ask students: Ask: if I changed one number in this case, which step would change first, and would the conclusion survive?
Animation instructions: Given panel appears, then the numbered steps reveal one at a time, then the result box fades in, then the expression panel appears on the right, then the mistake panel outlines in last.
Transition style: Cut
[Sources] VTU BEC303 Network Analysis syllabus, 2025 scheme, Module 5: Two-Port Networks. TB1 as listed by the syllabus: W. H. Hayt, J. E. Kemmerly and S. M. Durbin, Engineering Circuit Analysis, McGraw-Hill / Tata McGraw-Hill, 8th ed., 2012; Ch. 17, pp. 708-720.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Slow right down here. Read each takeaway aloud and then stop talking for a beat, because these are the sentences that should still be in their heads when they sit the SEE. Tell them explicitly that if they can reconstruct the reasoning behind any one of these lines they understand that unit, and if they can only recite it they do not.
Pause cue: Pause for three seconds after each takeaway before moving to the next.
Pointing cue: Point at each numbered takeaway in turn as you read it.
Question to ask students: Ask: choose the takeaway you trust least and tell me what you would have to check to believe it.
Animation instructions: Takeaway rows reveal one at a time from the top, each row highlighting briefly as it appears.
Transition style: Fade
[Sources] VTU BEC303 Network Analysis syllabus, 2025 scheme, Module 5: Two-Port Networks, 14 hours, Hayt 8e Ch. 17 (17.1–17.6), pp. 687–720. TB1: W. H. Hayt, J. E. Kemmerly and S. M. Durbin, Engineering Circuit Analysis, McGraw-Hill / Tata McGraw-Hill, 8th ed., 2012. Revision consolidates all 16 unit takeaways.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Slow right down here. Read each takeaway aloud and then stop talking for a beat, because these are the sentences that should still be in their heads when they sit the SEE. Tell them explicitly that if they can reconstruct the reasoning behind any one of these lines they understand that unit, and if they can only recite it they do not.
Pause cue: Pause for three seconds after each takeaway before moving to the next.
Pointing cue: Point at each numbered takeaway in turn as you read it.
Question to ask students: Ask: choose the takeaway you trust least and tell me what you would have to check to believe it.
Animation instructions: Takeaway rows reveal one at a time from the top, each row highlighting briefly as it appears.
Transition style: Fade
[Sources] VTU BEC303 Network Analysis syllabus, 2025 scheme, Module 5: Two-Port Networks, 14 hours, Hayt 8e Ch. 17 (17.1–17.6), pp. 687–720. TB1: W. H. Hayt, J. E. Kemmerly and S. M. Durbin, Engineering Circuit Analysis, McGraw-Hill / Tata McGraw-Hill, 8th ed., 2012. Revision consolidates all 16 unit takeaways.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Slow right down here. Read each takeaway aloud and then stop talking for a beat, because these are the sentences that should still be in their heads when they sit the SEE. Tell them explicitly that if they can reconstruct the reasoning behind any one of these lines they understand that unit, and if they can only recite it they do not.
Pause cue: Pause for three seconds after each takeaway before moving to the next.
Pointing cue: Point at each numbered takeaway in turn as you read it.
Question to ask students: Ask: choose the takeaway you trust least and tell me what you would have to check to believe it.
Animation instructions: Takeaway rows reveal one at a time from the top, each row highlighting briefly as it appears.
Transition style: Fade
[Sources] VTU BEC303 Network Analysis syllabus, 2025 scheme, Module 5: Two-Port Networks, 14 hours, Hayt 8e Ch. 17 (17.1–17.6), pp. 687–720. TB1: W. H. Hayt, J. E. Kemmerly and S. M. Durbin, Engineering Circuit Analysis, McGraw-Hill / Tata McGraw-Hill, 8th ed., 2012. Revision consolidates all 16 unit takeaways.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Close by telling them exactly where the assessment lives and what it tests. Name the two files, say the mark split out loud, and read the Bloom spread so they understand that roughly a quarter of the paper is not recall at all. Then read the integrity line word for word, because ambiguity there costs students more than any technical error in this module.
Pause cue: Pause after the Bloom spread and before the integrity statement.
Pointing cue: Point at the quiz panel, then the assignment panel, then the integrity line at the bottom.
Question to ask students: Ask: which course outcome do you feel least ready on, and which unit would you reread tonight to fix it?
Animation instructions: Quiz panel fades in from the left, then the assignment panel from the right, then the pointers strip appears, then the integrity line fades in last.
Transition style: Fade
[Sources] VTU BEC303 Network Analysis syllabus, 2025 scheme, Module 5: Two-Port Networks, 14 hours, Hayt 8e Ch. 17 (17.1–17.6), pp. 687–720. TB1: W. H. Hayt, J. E. Kemmerly and S. M. Durbin, Engineering Circuit Analysis, McGraw-Hill / Tata McGraw-Hill, 8th ed., 2012. Assessment counts: 20 MCQs, 13 descriptive questions, 13 assignment items. TB1 PDF was machine-extractable, so page ranges come from the book's own table of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Network Analysis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Module 5 asks: How do I describe a network I cannot open, using only measurements made at its two accessible ports — and t…</a:t>
            </a:r>
            <a:endParaRPr lang="en-US" sz="1100" dirty="0"/>
          </a:p>
        </p:txBody>
      </p:sp>
      <p:sp>
        <p:nvSpPr>
          <p:cNvPr id="4" name="shape-1-2"/>
          <p:cNvSpPr/>
          <p:nvPr/>
        </p:nvSpPr>
        <p:spPr>
          <a:xfrm>
            <a:off x="552450" y="1266825"/>
            <a:ext cx="990600" cy="47625"/>
          </a:xfrm>
          <a:prstGeom prst="rect">
            <a:avLst/>
          </a:prstGeom>
          <a:solidFill>
            <a:srgbClr val="0F6FC6"/>
          </a:solidFill>
          <a:ln/>
        </p:spPr>
      </p:sp>
      <p:sp>
        <p:nvSpPr>
          <p:cNvPr id="5" name="shape-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Opening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01</a:t>
            </a:r>
            <a:endParaRPr lang="en-US" sz="900" dirty="0"/>
          </a:p>
        </p:txBody>
      </p:sp>
      <p:sp>
        <p:nvSpPr>
          <p:cNvPr id="9" name="shape-1-7"/>
          <p:cNvSpPr/>
          <p:nvPr/>
        </p:nvSpPr>
        <p:spPr>
          <a:xfrm>
            <a:off x="742950" y="1600200"/>
            <a:ext cx="5334000" cy="2038350"/>
          </a:xfrm>
          <a:prstGeom prst="rect">
            <a:avLst/>
          </a:prstGeom>
          <a:solidFill>
            <a:srgbClr val="FFFFFF"/>
          </a:solidFill>
          <a:ln w="12700">
            <a:solidFill>
              <a:srgbClr val="D7DEE8"/>
            </a:solidFill>
            <a:prstDash val="solid"/>
          </a:ln>
        </p:spPr>
      </p:sp>
      <p:sp>
        <p:nvSpPr>
          <p:cNvPr id="10" name="text"/>
          <p:cNvSpPr/>
          <p:nvPr/>
        </p:nvSpPr>
        <p:spPr>
          <a:xfrm>
            <a:off x="933450" y="1771650"/>
            <a:ext cx="4953000" cy="17145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MODULE 5</a:t>
            </a:r>
            <a:endParaRPr lang="en-US" sz="1100" dirty="0"/>
          </a:p>
          <a:p>
            <a:pPr algn="l" indent="0" marL="0">
              <a:lnSpc>
                <a:spcPct val="105000"/>
              </a:lnSpc>
              <a:buNone/>
            </a:pPr>
            <a:r>
              <a:rPr lang="en-US" sz="2600" b="1" dirty="0">
                <a:solidFill>
                  <a:srgbClr val="12203A"/>
                </a:solidFill>
                <a:latin typeface="Segoe UI" pitchFamily="34" charset="0"/>
                <a:ea typeface="Segoe UI" pitchFamily="34" charset="-122"/>
                <a:cs typeface="Segoe UI" pitchFamily="34" charset="-120"/>
              </a:rPr>
              <a:t>Two-Port Networks</a:t>
            </a:r>
            <a:endParaRPr lang="en-US" sz="1100" dirty="0"/>
          </a:p>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14 contact hours  |  16 teaching units  |  56 slides</a:t>
            </a:r>
            <a:endParaRPr lang="en-US" sz="1100" dirty="0"/>
          </a:p>
        </p:txBody>
      </p:sp>
      <p:sp>
        <p:nvSpPr>
          <p:cNvPr id="11" name="shape-1-9"/>
          <p:cNvSpPr/>
          <p:nvPr/>
        </p:nvSpPr>
        <p:spPr>
          <a:xfrm>
            <a:off x="6572250" y="1600200"/>
            <a:ext cx="4762500" cy="2038350"/>
          </a:xfrm>
          <a:prstGeom prst="rect">
            <a:avLst/>
          </a:prstGeom>
          <a:solidFill>
            <a:srgbClr val="F1F5FA"/>
          </a:solidFill>
          <a:ln w="12700">
            <a:solidFill>
              <a:srgbClr val="D7DEE8"/>
            </a:solidFill>
            <a:prstDash val="solid"/>
          </a:ln>
        </p:spPr>
      </p:sp>
      <p:sp>
        <p:nvSpPr>
          <p:cNvPr id="12" name="text"/>
          <p:cNvSpPr/>
          <p:nvPr/>
        </p:nvSpPr>
        <p:spPr>
          <a:xfrm>
            <a:off x="6781800" y="1771650"/>
            <a:ext cx="4343400" cy="17145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PRESCRIBED TEXTBOOK</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Engineering Circuit Analysis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 H. Hayt, J. E. Kemmerly and S. M. Durbin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McGraw-Hill / Tata McGraw-Hill, 8th edition, 2012</a:t>
            </a:r>
            <a:endParaRPr lang="en-US" sz="1100" dirty="0"/>
          </a:p>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Hayt 8e Ch. 17 (17.1–17.6), pp. 687–720</a:t>
            </a:r>
            <a:endParaRPr lang="en-US" sz="1100" dirty="0"/>
          </a:p>
        </p:txBody>
      </p:sp>
      <p:sp>
        <p:nvSpPr>
          <p:cNvPr id="13" name="text"/>
          <p:cNvSpPr/>
          <p:nvPr/>
        </p:nvSpPr>
        <p:spPr>
          <a:xfrm>
            <a:off x="742950" y="3810000"/>
            <a:ext cx="10572750" cy="2476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Mesh &amp; Nodal Analysis   •   Network Theorems   •   Transient Response   •   Laplace / s-Domain   •   Two-Port Networks</a:t>
            </a:r>
            <a:endParaRPr lang="en-US" sz="1100" dirty="0"/>
          </a:p>
        </p:txBody>
      </p:sp>
      <p:sp>
        <p:nvSpPr>
          <p:cNvPr id="14" name="text"/>
          <p:cNvSpPr/>
          <p:nvPr/>
        </p:nvSpPr>
        <p:spPr>
          <a:xfrm>
            <a:off x="742950" y="4133850"/>
            <a:ext cx="10572750" cy="533400"/>
          </a:xfrm>
          <a:prstGeom prst="rect">
            <a:avLst/>
          </a:prstGeom>
          <a:noFill/>
          <a:ln/>
        </p:spPr>
        <p:txBody>
          <a:bodyPr wrap="square" lIns="0" tIns="0" rIns="0" bIns="0" rtlCol="0" anchor="t">
            <a:normAutofit/>
          </a:bodyPr>
          <a:lstStyle/>
          <a:p>
            <a:pPr algn="l" indent="0" marL="0">
              <a:lnSpc>
                <a:spcPct val="105000"/>
              </a:lnSpc>
              <a:buNone/>
            </a:pPr>
            <a:r>
              <a:rPr lang="en-US" sz="1300" b="1" dirty="0">
                <a:solidFill>
                  <a:srgbClr val="12203A"/>
                </a:solidFill>
                <a:latin typeface="Segoe UI" pitchFamily="34" charset="0"/>
                <a:ea typeface="Segoe UI" pitchFamily="34" charset="-122"/>
                <a:cs typeface="Segoe UI" pitchFamily="34" charset="-120"/>
              </a:rPr>
              <a:t>One port gives driving-point impedance   →   Two ports need four numbers   →   Each parameter set has blind spots   →   Symmetry and reciprocity constrain them   →   Termination converts parameters to performance</a:t>
            </a:r>
            <a:endParaRPr lang="en-US" sz="1300" dirty="0"/>
          </a:p>
        </p:txBody>
      </p:sp>
      <p:sp>
        <p:nvSpPr>
          <p:cNvPr id="15" name="text"/>
          <p:cNvSpPr/>
          <p:nvPr/>
        </p:nvSpPr>
        <p:spPr>
          <a:xfrm>
            <a:off x="742950" y="4838700"/>
            <a:ext cx="10572750" cy="20955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EC · Semester 3 · BEC303 · generated for Phase 2 conversion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What this module is actually for</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question, five beats, and the scope it does not cover.</a:t>
            </a:r>
            <a:endParaRPr lang="en-US" sz="1100" dirty="0"/>
          </a:p>
        </p:txBody>
      </p:sp>
      <p:sp>
        <p:nvSpPr>
          <p:cNvPr id="4" name="shape-2-2"/>
          <p:cNvSpPr/>
          <p:nvPr/>
        </p:nvSpPr>
        <p:spPr>
          <a:xfrm>
            <a:off x="552450" y="1266825"/>
            <a:ext cx="990600" cy="47625"/>
          </a:xfrm>
          <a:prstGeom prst="rect">
            <a:avLst/>
          </a:prstGeom>
          <a:solidFill>
            <a:srgbClr val="0F6FC6"/>
          </a:solidFill>
          <a:ln/>
        </p:spPr>
      </p:sp>
      <p:sp>
        <p:nvSpPr>
          <p:cNvPr id="5" name="shape-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Overview</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02</a:t>
            </a:r>
            <a:endParaRPr lang="en-US" sz="900" dirty="0"/>
          </a:p>
        </p:txBody>
      </p:sp>
      <p:sp>
        <p:nvSpPr>
          <p:cNvPr id="9" name="shape-2-7"/>
          <p:cNvSpPr/>
          <p:nvPr/>
        </p:nvSpPr>
        <p:spPr>
          <a:xfrm>
            <a:off x="552450" y="1524000"/>
            <a:ext cx="11087100" cy="800100"/>
          </a:xfrm>
          <a:prstGeom prst="rect">
            <a:avLst/>
          </a:prstGeom>
          <a:solidFill>
            <a:srgbClr val="FDF3EC"/>
          </a:solidFill>
          <a:ln w="12700">
            <a:solidFill>
              <a:srgbClr val="D7DEE8"/>
            </a:solidFill>
            <a:prstDash val="solid"/>
          </a:ln>
        </p:spPr>
      </p:sp>
      <p:sp>
        <p:nvSpPr>
          <p:cNvPr id="10" name="text"/>
          <p:cNvSpPr/>
          <p:nvPr/>
        </p:nvSpPr>
        <p:spPr>
          <a:xfrm>
            <a:off x="742950" y="1676400"/>
            <a:ext cx="10668000" cy="5905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DRIVING QUESTION</a:t>
            </a:r>
            <a:endParaRPr lang="en-US" sz="1100" dirty="0"/>
          </a:p>
          <a:p>
            <a:pPr algn="l" indent="0" marL="0">
              <a:lnSpc>
                <a:spcPct val="105000"/>
              </a:lnSpc>
              <a:buNone/>
            </a:pPr>
            <a:r>
              <a:rPr lang="en-US" sz="1300" b="1" dirty="0">
                <a:solidFill>
                  <a:srgbClr val="12203A"/>
                </a:solidFill>
                <a:latin typeface="Segoe UI" pitchFamily="34" charset="0"/>
                <a:ea typeface="Segoe UI" pitchFamily="34" charset="-122"/>
                <a:cs typeface="Segoe UI" pitchFamily="34" charset="-120"/>
              </a:rPr>
              <a:t>How do I describe a network I cannot open, using only measurements made at its two accessible ports — and then predict what it does with any source and any load?</a:t>
            </a:r>
            <a:endParaRPr lang="en-US" sz="1100" dirty="0"/>
          </a:p>
        </p:txBody>
      </p:sp>
      <p:sp>
        <p:nvSpPr>
          <p:cNvPr id="11" name="shape-2-9"/>
          <p:cNvSpPr/>
          <p:nvPr/>
        </p:nvSpPr>
        <p:spPr>
          <a:xfrm>
            <a:off x="552450" y="2552700"/>
            <a:ext cx="2076450" cy="1162050"/>
          </a:xfrm>
          <a:prstGeom prst="rect">
            <a:avLst/>
          </a:prstGeom>
          <a:solidFill>
            <a:srgbClr val="F1F5FA"/>
          </a:solidFill>
          <a:ln w="12700">
            <a:solidFill>
              <a:srgbClr val="D7DEE8"/>
            </a:solidFill>
            <a:prstDash val="solid"/>
          </a:ln>
        </p:spPr>
      </p:sp>
      <p:sp>
        <p:nvSpPr>
          <p:cNvPr id="12" name="text"/>
          <p:cNvSpPr/>
          <p:nvPr/>
        </p:nvSpPr>
        <p:spPr>
          <a:xfrm>
            <a:off x="70485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One port gives driving-point impedance</a:t>
            </a:r>
            <a:endParaRPr lang="en-US" sz="1100" dirty="0"/>
          </a:p>
        </p:txBody>
      </p:sp>
      <p:sp>
        <p:nvSpPr>
          <p:cNvPr id="13" name="shape-2-11"/>
          <p:cNvSpPr/>
          <p:nvPr/>
        </p:nvSpPr>
        <p:spPr>
          <a:xfrm>
            <a:off x="2781300" y="2552700"/>
            <a:ext cx="2076450" cy="1162050"/>
          </a:xfrm>
          <a:prstGeom prst="rect">
            <a:avLst/>
          </a:prstGeom>
          <a:solidFill>
            <a:srgbClr val="F1F5FA"/>
          </a:solidFill>
          <a:ln w="12700">
            <a:solidFill>
              <a:srgbClr val="D7DEE8"/>
            </a:solidFill>
            <a:prstDash val="solid"/>
          </a:ln>
        </p:spPr>
      </p:sp>
      <p:sp>
        <p:nvSpPr>
          <p:cNvPr id="14" name="text"/>
          <p:cNvSpPr/>
          <p:nvPr/>
        </p:nvSpPr>
        <p:spPr>
          <a:xfrm>
            <a:off x="293370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Two ports need four numbers</a:t>
            </a:r>
            <a:endParaRPr lang="en-US" sz="1100" dirty="0"/>
          </a:p>
        </p:txBody>
      </p:sp>
      <p:sp>
        <p:nvSpPr>
          <p:cNvPr id="15" name="shape-2-13"/>
          <p:cNvSpPr/>
          <p:nvPr/>
        </p:nvSpPr>
        <p:spPr>
          <a:xfrm>
            <a:off x="5010150" y="2552700"/>
            <a:ext cx="2076450" cy="1162050"/>
          </a:xfrm>
          <a:prstGeom prst="rect">
            <a:avLst/>
          </a:prstGeom>
          <a:solidFill>
            <a:srgbClr val="F1F5FA"/>
          </a:solidFill>
          <a:ln w="12700">
            <a:solidFill>
              <a:srgbClr val="D7DEE8"/>
            </a:solidFill>
            <a:prstDash val="solid"/>
          </a:ln>
        </p:spPr>
      </p:sp>
      <p:sp>
        <p:nvSpPr>
          <p:cNvPr id="16" name="text"/>
          <p:cNvSpPr/>
          <p:nvPr/>
        </p:nvSpPr>
        <p:spPr>
          <a:xfrm>
            <a:off x="516255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Each parameter set has blind spots</a:t>
            </a:r>
            <a:endParaRPr lang="en-US" sz="1100" dirty="0"/>
          </a:p>
        </p:txBody>
      </p:sp>
      <p:sp>
        <p:nvSpPr>
          <p:cNvPr id="17" name="shape-2-15"/>
          <p:cNvSpPr/>
          <p:nvPr/>
        </p:nvSpPr>
        <p:spPr>
          <a:xfrm>
            <a:off x="7239000" y="2552700"/>
            <a:ext cx="2076450" cy="1162050"/>
          </a:xfrm>
          <a:prstGeom prst="rect">
            <a:avLst/>
          </a:prstGeom>
          <a:solidFill>
            <a:srgbClr val="F1F5FA"/>
          </a:solidFill>
          <a:ln w="12700">
            <a:solidFill>
              <a:srgbClr val="D7DEE8"/>
            </a:solidFill>
            <a:prstDash val="solid"/>
          </a:ln>
        </p:spPr>
      </p:sp>
      <p:sp>
        <p:nvSpPr>
          <p:cNvPr id="18" name="text"/>
          <p:cNvSpPr/>
          <p:nvPr/>
        </p:nvSpPr>
        <p:spPr>
          <a:xfrm>
            <a:off x="739140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Symmetry and reciprocity constrain them</a:t>
            </a:r>
            <a:endParaRPr lang="en-US" sz="1100" dirty="0"/>
          </a:p>
        </p:txBody>
      </p:sp>
      <p:sp>
        <p:nvSpPr>
          <p:cNvPr id="19" name="shape-2-17"/>
          <p:cNvSpPr/>
          <p:nvPr/>
        </p:nvSpPr>
        <p:spPr>
          <a:xfrm>
            <a:off x="9467850" y="2552700"/>
            <a:ext cx="2076450" cy="1162050"/>
          </a:xfrm>
          <a:prstGeom prst="rect">
            <a:avLst/>
          </a:prstGeom>
          <a:solidFill>
            <a:srgbClr val="F1F5FA"/>
          </a:solidFill>
          <a:ln w="12700">
            <a:solidFill>
              <a:srgbClr val="D7DEE8"/>
            </a:solidFill>
            <a:prstDash val="solid"/>
          </a:ln>
        </p:spPr>
      </p:sp>
      <p:sp>
        <p:nvSpPr>
          <p:cNvPr id="20" name="text"/>
          <p:cNvSpPr/>
          <p:nvPr/>
        </p:nvSpPr>
        <p:spPr>
          <a:xfrm>
            <a:off x="9620250" y="2705100"/>
            <a:ext cx="1771650" cy="9144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Termination converts parameters to performance</a:t>
            </a:r>
            <a:endParaRPr lang="en-US" sz="1100" dirty="0"/>
          </a:p>
        </p:txBody>
      </p:sp>
      <p:sp>
        <p:nvSpPr>
          <p:cNvPr id="21" name="text"/>
          <p:cNvSpPr/>
          <p:nvPr/>
        </p:nvSpPr>
        <p:spPr>
          <a:xfrm>
            <a:off x="552450" y="3867150"/>
            <a:ext cx="11087100" cy="12954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SCOPE AND PROVENANCE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Built from the syllabus-listed Hayt 8e Chapter 17 sections. The organising argument is that a two-port is a black box characterised by four numbers, and that the six possible parameter sets exist because each one is undefined for some perfectly ordinary network — which is why "why multiple representations are required" is treated as a unit in its own right rather than a remark. Reciprocity and symmetry are carried forward from Module 2 and shown here as matrix conditions. The module closes on terminated input and output impedance, which is the link back to the maximum power transfer results of Module 2.</a:t>
            </a:r>
            <a:endParaRPr lang="en-US" sz="1100" dirty="0"/>
          </a:p>
        </p:txBody>
      </p:sp>
      <p:sp>
        <p:nvSpPr>
          <p:cNvPr id="22" name="text"/>
          <p:cNvSpPr/>
          <p:nvPr/>
        </p:nvSpPr>
        <p:spPr>
          <a:xfrm>
            <a:off x="552450" y="5257800"/>
            <a:ext cx="5715000" cy="20955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Course outcomes exercised: CO5</a:t>
            </a:r>
            <a:endParaRPr lang="en-US" sz="1000" dirty="0"/>
          </a:p>
        </p:txBody>
      </p:sp>
      <p:sp>
        <p:nvSpPr>
          <p:cNvPr id="23" name="text"/>
          <p:cNvSpPr/>
          <p:nvPr/>
        </p:nvSpPr>
        <p:spPr>
          <a:xfrm>
            <a:off x="6286500" y="5257800"/>
            <a:ext cx="5353050" cy="209550"/>
          </a:xfrm>
          <a:prstGeom prst="rect">
            <a:avLst/>
          </a:prstGeom>
          <a:noFill/>
          <a:ln/>
        </p:spPr>
        <p:txBody>
          <a:bodyPr wrap="square" lIns="0" tIns="0" rIns="0" bIns="0" rtlCol="0" anchor="t">
            <a:normAutofit/>
          </a:bodyPr>
          <a:lstStyle/>
          <a:p>
            <a:pPr algn="r" indent="0" marL="0">
              <a:lnSpc>
                <a:spcPct val="105000"/>
              </a:lnSpc>
              <a:buNone/>
            </a:pPr>
            <a:r>
              <a:rPr lang="en-US" sz="1000" dirty="0">
                <a:solidFill>
                  <a:srgbClr val="5A6478"/>
                </a:solidFill>
                <a:latin typeface="Segoe UI" pitchFamily="34" charset="0"/>
                <a:ea typeface="Segoe UI" pitchFamily="34" charset="-122"/>
                <a:cs typeface="Segoe UI" pitchFamily="34" charset="-120"/>
              </a:rPr>
              <a:t>Assessment: 20 MCQs + 13 descriptive questions + 13 assignment items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Every unit against its chapter and pages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1-9 of 16, with the deck slides that teach each one.</a:t>
            </a:r>
            <a:endParaRPr lang="en-US" sz="1100" dirty="0"/>
          </a:p>
        </p:txBody>
      </p:sp>
      <p:sp>
        <p:nvSpPr>
          <p:cNvPr id="4" name="shape-3-2"/>
          <p:cNvSpPr/>
          <p:nvPr/>
        </p:nvSpPr>
        <p:spPr>
          <a:xfrm>
            <a:off x="552450" y="1266825"/>
            <a:ext cx="990600" cy="47625"/>
          </a:xfrm>
          <a:prstGeom prst="rect">
            <a:avLst/>
          </a:prstGeom>
          <a:solidFill>
            <a:srgbClr val="0F6FC6"/>
          </a:solidFill>
          <a:ln/>
        </p:spPr>
      </p:sp>
      <p:sp>
        <p:nvSpPr>
          <p:cNvPr id="5" name="shape-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Syllabus mapping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03</a:t>
            </a:r>
            <a:endParaRPr lang="en-US" sz="900" dirty="0"/>
          </a:p>
        </p:txBody>
      </p:sp>
      <p:sp>
        <p:nvSpPr>
          <p:cNvPr id="9" name="shape-3-7"/>
          <p:cNvSpPr/>
          <p:nvPr/>
        </p:nvSpPr>
        <p:spPr>
          <a:xfrm>
            <a:off x="552450" y="1543050"/>
            <a:ext cx="11087100" cy="285750"/>
          </a:xfrm>
          <a:prstGeom prst="rect">
            <a:avLst/>
          </a:prstGeom>
          <a:solidFill>
            <a:srgbClr val="F1F5FA"/>
          </a:solidFill>
          <a:ln/>
        </p:spPr>
      </p:sp>
      <p:sp>
        <p:nvSpPr>
          <p:cNvPr id="10" name="text"/>
          <p:cNvSpPr/>
          <p:nvPr/>
        </p:nvSpPr>
        <p:spPr>
          <a:xfrm>
            <a:off x="685800" y="1600200"/>
            <a:ext cx="10858500" cy="2095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Consolas" pitchFamily="34" charset="0"/>
                <a:ea typeface="Consolas" pitchFamily="34" charset="-122"/>
                <a:cs typeface="Consolas" pitchFamily="34" charset="-120"/>
              </a:rPr>
              <a:t>#  —  Teaching unit  —  Book chapter and pages  —  Deck slides  —  CO / Bloom</a:t>
            </a:r>
            <a:endParaRPr lang="en-US" sz="1000" dirty="0"/>
          </a:p>
        </p:txBody>
      </p:sp>
      <p:sp>
        <p:nvSpPr>
          <p:cNvPr id="11" name="text"/>
          <p:cNvSpPr/>
          <p:nvPr/>
        </p:nvSpPr>
        <p:spPr>
          <a:xfrm>
            <a:off x="685800" y="1905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One-port networks and driving-point impedance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17, pp. 687-692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5, 6, 7  —  CO5 / L2</a:t>
            </a:r>
            <a:endParaRPr lang="en-US" sz="1100" dirty="0"/>
          </a:p>
        </p:txBody>
      </p:sp>
      <p:sp>
        <p:nvSpPr>
          <p:cNvPr id="12" name="shape-3-10"/>
          <p:cNvSpPr/>
          <p:nvPr/>
        </p:nvSpPr>
        <p:spPr>
          <a:xfrm>
            <a:off x="552450" y="2343150"/>
            <a:ext cx="11087100" cy="438150"/>
          </a:xfrm>
          <a:prstGeom prst="rect">
            <a:avLst/>
          </a:prstGeom>
          <a:solidFill>
            <a:srgbClr val="F1F5FA"/>
          </a:solidFill>
          <a:ln/>
        </p:spPr>
      </p:sp>
      <p:sp>
        <p:nvSpPr>
          <p:cNvPr id="13" name="text"/>
          <p:cNvSpPr/>
          <p:nvPr/>
        </p:nvSpPr>
        <p:spPr>
          <a:xfrm>
            <a:off x="685800" y="2381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What a two-port is and why four numbers suffice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17, pp. 687-692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8, 9, 10  —  CO5 / L2</a:t>
            </a:r>
            <a:endParaRPr lang="en-US" sz="1100" dirty="0"/>
          </a:p>
        </p:txBody>
      </p:sp>
      <p:sp>
        <p:nvSpPr>
          <p:cNvPr id="14" name="text"/>
          <p:cNvSpPr/>
          <p:nvPr/>
        </p:nvSpPr>
        <p:spPr>
          <a:xfrm>
            <a:off x="685800" y="2857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Short-circuit admittance (y) parameters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17, pp. 692-699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11, 12, 13  —  CO5 / L3</a:t>
            </a:r>
            <a:endParaRPr lang="en-US" sz="1100" dirty="0"/>
          </a:p>
        </p:txBody>
      </p:sp>
      <p:sp>
        <p:nvSpPr>
          <p:cNvPr id="15" name="shape-3-13"/>
          <p:cNvSpPr/>
          <p:nvPr/>
        </p:nvSpPr>
        <p:spPr>
          <a:xfrm>
            <a:off x="552450" y="3295650"/>
            <a:ext cx="11087100" cy="438150"/>
          </a:xfrm>
          <a:prstGeom prst="rect">
            <a:avLst/>
          </a:prstGeom>
          <a:solidFill>
            <a:srgbClr val="F1F5FA"/>
          </a:solidFill>
          <a:ln/>
        </p:spPr>
      </p:sp>
      <p:sp>
        <p:nvSpPr>
          <p:cNvPr id="16" name="text"/>
          <p:cNvSpPr/>
          <p:nvPr/>
        </p:nvSpPr>
        <p:spPr>
          <a:xfrm>
            <a:off x="685800" y="33337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Equivalent networks and the π model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17, pp. 699-708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14, 15, 16  —  CO5 / L4</a:t>
            </a:r>
            <a:endParaRPr lang="en-US" sz="1100" dirty="0"/>
          </a:p>
        </p:txBody>
      </p:sp>
      <p:sp>
        <p:nvSpPr>
          <p:cNvPr id="17" name="text"/>
          <p:cNvSpPr/>
          <p:nvPr/>
        </p:nvSpPr>
        <p:spPr>
          <a:xfrm>
            <a:off x="685800" y="3810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Open-circuit impedance (z) parameters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17, pp. 708-713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17, 18, 19  —  CO5 / L3</a:t>
            </a:r>
            <a:endParaRPr lang="en-US" sz="1100" dirty="0"/>
          </a:p>
        </p:txBody>
      </p:sp>
      <p:sp>
        <p:nvSpPr>
          <p:cNvPr id="18" name="shape-3-16"/>
          <p:cNvSpPr/>
          <p:nvPr/>
        </p:nvSpPr>
        <p:spPr>
          <a:xfrm>
            <a:off x="552450" y="4248150"/>
            <a:ext cx="11087100" cy="438150"/>
          </a:xfrm>
          <a:prstGeom prst="rect">
            <a:avLst/>
          </a:prstGeom>
          <a:solidFill>
            <a:srgbClr val="F1F5FA"/>
          </a:solidFill>
          <a:ln/>
        </p:spPr>
      </p:sp>
      <p:sp>
        <p:nvSpPr>
          <p:cNvPr id="19" name="text"/>
          <p:cNvSpPr/>
          <p:nvPr/>
        </p:nvSpPr>
        <p:spPr>
          <a:xfrm>
            <a:off x="685800" y="4286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relationship between z and y, and when each fails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17, pp. 692-713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20, 21, 22  —  CO5 / L4</a:t>
            </a:r>
            <a:endParaRPr lang="en-US" sz="1100" dirty="0"/>
          </a:p>
        </p:txBody>
      </p:sp>
      <p:sp>
        <p:nvSpPr>
          <p:cNvPr id="20" name="text"/>
          <p:cNvSpPr/>
          <p:nvPr/>
        </p:nvSpPr>
        <p:spPr>
          <a:xfrm>
            <a:off x="685800" y="4762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07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Hybrid (h) parameters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17, pp. 713-716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23, 24, 25  —  CO5 / L3</a:t>
            </a:r>
            <a:endParaRPr lang="en-US" sz="1100" dirty="0"/>
          </a:p>
        </p:txBody>
      </p:sp>
      <p:sp>
        <p:nvSpPr>
          <p:cNvPr id="21" name="shape-3-19"/>
          <p:cNvSpPr/>
          <p:nvPr/>
        </p:nvSpPr>
        <p:spPr>
          <a:xfrm>
            <a:off x="552450" y="5200650"/>
            <a:ext cx="11087100" cy="438150"/>
          </a:xfrm>
          <a:prstGeom prst="rect">
            <a:avLst/>
          </a:prstGeom>
          <a:solidFill>
            <a:srgbClr val="F1F5FA"/>
          </a:solidFill>
          <a:ln/>
        </p:spPr>
      </p:sp>
      <p:sp>
        <p:nvSpPr>
          <p:cNvPr id="22" name="text"/>
          <p:cNvSpPr/>
          <p:nvPr/>
        </p:nvSpPr>
        <p:spPr>
          <a:xfrm>
            <a:off x="685800" y="52387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08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Why multiple representations are required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17, pp. 713-716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26, 27, 28  —  CO5 / L5</a:t>
            </a:r>
            <a:endParaRPr lang="en-US" sz="1100" dirty="0"/>
          </a:p>
        </p:txBody>
      </p:sp>
      <p:sp>
        <p:nvSpPr>
          <p:cNvPr id="23" name="text"/>
          <p:cNvSpPr/>
          <p:nvPr/>
        </p:nvSpPr>
        <p:spPr>
          <a:xfrm>
            <a:off x="685800" y="5715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09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Transmission (ABCD) parameters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17, pp. 716-720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29, 30, 31  —  CO5 / L4</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Syllabus mapping, continued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10-16 of 16, with the deck slides that teach each one.</a:t>
            </a:r>
            <a:endParaRPr lang="en-US" sz="1100" dirty="0"/>
          </a:p>
        </p:txBody>
      </p:sp>
      <p:sp>
        <p:nvSpPr>
          <p:cNvPr id="4" name="shape-4-2"/>
          <p:cNvSpPr/>
          <p:nvPr/>
        </p:nvSpPr>
        <p:spPr>
          <a:xfrm>
            <a:off x="552450" y="1266825"/>
            <a:ext cx="990600" cy="47625"/>
          </a:xfrm>
          <a:prstGeom prst="rect">
            <a:avLst/>
          </a:prstGeom>
          <a:solidFill>
            <a:srgbClr val="0F6FC6"/>
          </a:solidFill>
          <a:ln/>
        </p:spPr>
      </p:sp>
      <p:sp>
        <p:nvSpPr>
          <p:cNvPr id="5" name="shape-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Syllabus mapping</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04</a:t>
            </a:r>
            <a:endParaRPr lang="en-US" sz="900" dirty="0"/>
          </a:p>
        </p:txBody>
      </p:sp>
      <p:sp>
        <p:nvSpPr>
          <p:cNvPr id="9" name="shape-4-7"/>
          <p:cNvSpPr/>
          <p:nvPr/>
        </p:nvSpPr>
        <p:spPr>
          <a:xfrm>
            <a:off x="552450" y="1543050"/>
            <a:ext cx="11087100" cy="285750"/>
          </a:xfrm>
          <a:prstGeom prst="rect">
            <a:avLst/>
          </a:prstGeom>
          <a:solidFill>
            <a:srgbClr val="F1F5FA"/>
          </a:solidFill>
          <a:ln/>
        </p:spPr>
      </p:sp>
      <p:sp>
        <p:nvSpPr>
          <p:cNvPr id="10" name="text"/>
          <p:cNvSpPr/>
          <p:nvPr/>
        </p:nvSpPr>
        <p:spPr>
          <a:xfrm>
            <a:off x="685800" y="1600200"/>
            <a:ext cx="10858500" cy="2095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Consolas" pitchFamily="34" charset="0"/>
                <a:ea typeface="Consolas" pitchFamily="34" charset="-122"/>
                <a:cs typeface="Consolas" pitchFamily="34" charset="-120"/>
              </a:rPr>
              <a:t>#  —  Teaching unit  —  Book chapter and pages  —  Deck slides  —  CO / Bloom</a:t>
            </a:r>
            <a:endParaRPr lang="en-US" sz="1000" dirty="0"/>
          </a:p>
        </p:txBody>
      </p:sp>
      <p:sp>
        <p:nvSpPr>
          <p:cNvPr id="11" name="text"/>
          <p:cNvSpPr/>
          <p:nvPr/>
        </p:nvSpPr>
        <p:spPr>
          <a:xfrm>
            <a:off x="685800" y="1905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10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Cascading two-ports with ABCD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17, pp. 716-720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32, 33, 34  —  CO5 / L4</a:t>
            </a:r>
            <a:endParaRPr lang="en-US" sz="1100" dirty="0"/>
          </a:p>
        </p:txBody>
      </p:sp>
      <p:sp>
        <p:nvSpPr>
          <p:cNvPr id="12" name="shape-4-10"/>
          <p:cNvSpPr/>
          <p:nvPr/>
        </p:nvSpPr>
        <p:spPr>
          <a:xfrm>
            <a:off x="552450" y="2343150"/>
            <a:ext cx="11087100" cy="438150"/>
          </a:xfrm>
          <a:prstGeom prst="rect">
            <a:avLst/>
          </a:prstGeom>
          <a:solidFill>
            <a:srgbClr val="F1F5FA"/>
          </a:solidFill>
          <a:ln/>
        </p:spPr>
      </p:sp>
      <p:sp>
        <p:nvSpPr>
          <p:cNvPr id="13" name="text"/>
          <p:cNvSpPr/>
          <p:nvPr/>
        </p:nvSpPr>
        <p:spPr>
          <a:xfrm>
            <a:off x="685800" y="2381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Two-port symmetry and reciprocity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17, pp. 699-708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35, 36, 37  —  CO5 / L4</a:t>
            </a:r>
            <a:endParaRPr lang="en-US" sz="1100" dirty="0"/>
          </a:p>
        </p:txBody>
      </p:sp>
      <p:sp>
        <p:nvSpPr>
          <p:cNvPr id="14" name="text"/>
          <p:cNvSpPr/>
          <p:nvPr/>
        </p:nvSpPr>
        <p:spPr>
          <a:xfrm>
            <a:off x="685800" y="2857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Input impedance of a terminated two-port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17, pp. 708-713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38, 39, 40  —  CO5 / L4</a:t>
            </a:r>
            <a:endParaRPr lang="en-US" sz="1100" dirty="0"/>
          </a:p>
        </p:txBody>
      </p:sp>
      <p:sp>
        <p:nvSpPr>
          <p:cNvPr id="15" name="shape-4-13"/>
          <p:cNvSpPr/>
          <p:nvPr/>
        </p:nvSpPr>
        <p:spPr>
          <a:xfrm>
            <a:off x="552450" y="3295650"/>
            <a:ext cx="11087100" cy="438150"/>
          </a:xfrm>
          <a:prstGeom prst="rect">
            <a:avLst/>
          </a:prstGeom>
          <a:solidFill>
            <a:srgbClr val="F1F5FA"/>
          </a:solidFill>
          <a:ln/>
        </p:spPr>
      </p:sp>
      <p:sp>
        <p:nvSpPr>
          <p:cNvPr id="16" name="text"/>
          <p:cNvSpPr/>
          <p:nvPr/>
        </p:nvSpPr>
        <p:spPr>
          <a:xfrm>
            <a:off x="685800" y="33337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Output impedance and the source-terminated two-port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17, pp. 708-713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41, 42, 43  —  CO5 / L4</a:t>
            </a:r>
            <a:endParaRPr lang="en-US" sz="1100" dirty="0"/>
          </a:p>
        </p:txBody>
      </p:sp>
      <p:sp>
        <p:nvSpPr>
          <p:cNvPr id="17" name="text"/>
          <p:cNvSpPr/>
          <p:nvPr/>
        </p:nvSpPr>
        <p:spPr>
          <a:xfrm>
            <a:off x="685800" y="38100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Measuring two-port parameters in practice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17, pp. 692-713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44, 45, 46  —  CO5 / L5</a:t>
            </a:r>
            <a:endParaRPr lang="en-US" sz="1100" dirty="0"/>
          </a:p>
        </p:txBody>
      </p:sp>
      <p:sp>
        <p:nvSpPr>
          <p:cNvPr id="18" name="shape-4-16"/>
          <p:cNvSpPr/>
          <p:nvPr/>
        </p:nvSpPr>
        <p:spPr>
          <a:xfrm>
            <a:off x="552450" y="4248150"/>
            <a:ext cx="11087100" cy="438150"/>
          </a:xfrm>
          <a:prstGeom prst="rect">
            <a:avLst/>
          </a:prstGeom>
          <a:solidFill>
            <a:srgbClr val="F1F5FA"/>
          </a:solidFill>
          <a:ln/>
        </p:spPr>
      </p:sp>
      <p:sp>
        <p:nvSpPr>
          <p:cNvPr id="19" name="text"/>
          <p:cNvSpPr/>
          <p:nvPr/>
        </p:nvSpPr>
        <p:spPr>
          <a:xfrm>
            <a:off x="685800" y="428625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Choosing and converting between parameter sets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17, pp. 692-720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47, 48, 49  —  CO5 / L5</a:t>
            </a:r>
            <a:endParaRPr lang="en-US" sz="1100" dirty="0"/>
          </a:p>
        </p:txBody>
      </p:sp>
      <p:sp>
        <p:nvSpPr>
          <p:cNvPr id="20" name="text"/>
          <p:cNvSpPr/>
          <p:nvPr/>
        </p:nvSpPr>
        <p:spPr>
          <a:xfrm>
            <a:off x="685800" y="4762500"/>
            <a:ext cx="1085850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Putting it together: a fully terminated two-port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Ch. 17, pp. 708-720  —  </a:t>
            </a:r>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slides 50, 51, 52  —  CO5 / L5</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One-port networks and driving-point impedance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5-2"/>
          <p:cNvSpPr/>
          <p:nvPr/>
        </p:nvSpPr>
        <p:spPr>
          <a:xfrm>
            <a:off x="552450" y="1266825"/>
            <a:ext cx="990600" cy="47625"/>
          </a:xfrm>
          <a:prstGeom prst="rect">
            <a:avLst/>
          </a:prstGeom>
          <a:solidFill>
            <a:srgbClr val="0F6FC6"/>
          </a:solidFill>
          <a:ln/>
        </p:spPr>
      </p:sp>
      <p:sp>
        <p:nvSpPr>
          <p:cNvPr id="5" name="shape-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One-port networks and driving-point i…</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05</a:t>
            </a:r>
            <a:endParaRPr lang="en-US" sz="900" dirty="0"/>
          </a:p>
        </p:txBody>
      </p:sp>
      <p:sp>
        <p:nvSpPr>
          <p:cNvPr id="9" name="shape-5-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one-port is any network accessed through a single terminal pair, and it is described completely by one function — its driving-point impedance Z(s) = V(s)/I(s). This is the Thévenin idea of Module 2 generalised into the s-domain: whatever the internal complexity, the outside world sees only that one ratio. The defining requirement is the port condition: the current entering one terminal must equal the current leaving the other. If a stray path lets current return by another route, the terminal pair is not a port and no single impedance describes it. The driving-point impedance of a passive network is always a positive real function, which is the realisability constraint met at the end of Module 4.</a:t>
            </a:r>
            <a:endParaRPr lang="en-US" sz="1100" dirty="0"/>
          </a:p>
        </p:txBody>
      </p:sp>
      <p:sp>
        <p:nvSpPr>
          <p:cNvPr id="11" name="shape-5-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one-port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driving-point impedance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port condition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Z(s)</a:t>
            </a:r>
            <a:endParaRPr lang="en-US" sz="1100" dirty="0"/>
          </a:p>
        </p:txBody>
      </p:sp>
      <p:sp>
        <p:nvSpPr>
          <p:cNvPr id="13" name="shape-5-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one-port is one number as a function of s — and only if the port condition actually holds.</a:t>
            </a:r>
            <a:endParaRPr lang="en-US" sz="1100" dirty="0"/>
          </a:p>
        </p:txBody>
      </p:sp>
      <p:sp>
        <p:nvSpPr>
          <p:cNvPr id="15" name="shape-5-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Left: a cloud labelled "any linear network" with two terminals on its right edge, a current arrow I entering the upper terminal and an identical arrow I leaving the lower terminal, with V marked across them an…</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17, pp. 687-692</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L2  |  visual id: one-port-condition</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One-port networks and driving-point impedance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6-2"/>
          <p:cNvSpPr/>
          <p:nvPr/>
        </p:nvSpPr>
        <p:spPr>
          <a:xfrm>
            <a:off x="552450" y="1266825"/>
            <a:ext cx="990600" cy="47625"/>
          </a:xfrm>
          <a:prstGeom prst="rect">
            <a:avLst/>
          </a:prstGeom>
          <a:solidFill>
            <a:srgbClr val="0F6FC6"/>
          </a:solidFill>
          <a:ln/>
        </p:spPr>
      </p:sp>
      <p:sp>
        <p:nvSpPr>
          <p:cNvPr id="5" name="shape-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One-port networks and driving-point i…</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06</a:t>
            </a:r>
            <a:endParaRPr lang="en-US" sz="900" dirty="0"/>
          </a:p>
        </p:txBody>
      </p:sp>
      <p:sp>
        <p:nvSpPr>
          <p:cNvPr id="9" name="shape-6-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Identify the terminal pair of interest</a:t>
            </a:r>
            <a:endParaRPr lang="en-US" sz="1100" dirty="0"/>
          </a:p>
        </p:txBody>
      </p:sp>
      <p:sp>
        <p:nvSpPr>
          <p:cNvPr id="11" name="shape-6-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Verify that no other conducting path connects the network to the rest of the circuit</a:t>
            </a:r>
            <a:endParaRPr lang="en-US" sz="1100" dirty="0"/>
          </a:p>
        </p:txBody>
      </p:sp>
      <p:sp>
        <p:nvSpPr>
          <p:cNvPr id="13" name="shape-6-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Apply a test source and compute the resulting terminal current, or the reverse</a:t>
            </a:r>
            <a:endParaRPr lang="en-US" sz="1100" dirty="0"/>
          </a:p>
        </p:txBody>
      </p:sp>
      <p:sp>
        <p:nvSpPr>
          <p:cNvPr id="15" name="shape-6-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Form Z(s) = V(s)/I(s)</a:t>
            </a:r>
            <a:endParaRPr lang="en-US" sz="1100" dirty="0"/>
          </a:p>
        </p:txBody>
      </p:sp>
      <p:sp>
        <p:nvSpPr>
          <p:cNvPr id="17" name="shape-6-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Confirm the result is a positive real function for a passive network</a:t>
            </a:r>
            <a:endParaRPr lang="en-US" sz="1100" dirty="0"/>
          </a:p>
        </p:txBody>
      </p:sp>
      <p:sp>
        <p:nvSpPr>
          <p:cNvPr id="19" name="shape-6-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O(n) series-parallel reduction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one symbolic network solve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a test-source solve when dependent sources are present</a:t>
            </a:r>
            <a:endParaRPr lang="en-US" sz="1100" dirty="0"/>
          </a:p>
        </p:txBody>
      </p:sp>
      <p:sp>
        <p:nvSpPr>
          <p:cNvPr id="21" name="shape-6-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Identical in structure to finding Z_th in Module 2, now as a function of s.</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17, pp. 687-692   |   CO5  |  Bloom L2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One-port networks and driving-point impedance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7-2"/>
          <p:cNvSpPr/>
          <p:nvPr/>
        </p:nvSpPr>
        <p:spPr>
          <a:xfrm>
            <a:off x="552450" y="1266825"/>
            <a:ext cx="990600" cy="47625"/>
          </a:xfrm>
          <a:prstGeom prst="rect">
            <a:avLst/>
          </a:prstGeom>
          <a:solidFill>
            <a:srgbClr val="0F6FC6"/>
          </a:solidFill>
          <a:ln/>
        </p:spPr>
      </p:sp>
      <p:sp>
        <p:nvSpPr>
          <p:cNvPr id="5" name="shape-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One-port networks and driving-point i…</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07</a:t>
            </a:r>
            <a:endParaRPr lang="en-US" sz="900" dirty="0"/>
          </a:p>
        </p:txBody>
      </p:sp>
      <p:sp>
        <p:nvSpPr>
          <p:cNvPr id="9" name="shape-7-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one-port consisting of R = 100 Ω in series with L = 50 mH.</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Z(s) = R + sL = 100 + 0.05s</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At s = jω with ω = 2000: Z = 100 + j100 Ω</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Magnitude = 141.4 Ω at 45°</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Positive real check: no poles, one zero at s = −2000, Re{Z} ≥ 0 for Re{s} ≥ 0 — passes</a:t>
            </a:r>
            <a:endParaRPr lang="en-US" sz="1100" dirty="0"/>
          </a:p>
        </p:txBody>
      </p:sp>
      <p:sp>
        <p:nvSpPr>
          <p:cNvPr id="15" name="shape-7-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Z(s) = 100 + 0.05s, reducing to the familiar 141.4∠45° Ω at 2000 rad/s and satisfying the passive realisability test.</a:t>
            </a:r>
            <a:endParaRPr lang="en-US" sz="1100" dirty="0"/>
          </a:p>
        </p:txBody>
      </p:sp>
      <p:sp>
        <p:nvSpPr>
          <p:cNvPr id="17" name="shape-7-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Z(s) = R + sL = 100 + 0.05s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Z(j2000) = 100 + j100 = 141.4∠45° Ω</a:t>
            </a:r>
            <a:endParaRPr lang="en-US" sz="1000" dirty="0"/>
          </a:p>
        </p:txBody>
      </p:sp>
      <p:sp>
        <p:nvSpPr>
          <p:cNvPr id="19" name="shape-7-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apply one-port analysis to a terminal pair that shares a ground return with another part of the circuit. The two terminal currents then differ, the port condition fails, and the computed impedance does not predict what a load will actually see.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17, pp. 687-692   |   CO5  |  Bloom L2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What a two-port is and why four numbers suffice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8-2"/>
          <p:cNvSpPr/>
          <p:nvPr/>
        </p:nvSpPr>
        <p:spPr>
          <a:xfrm>
            <a:off x="552450" y="1266825"/>
            <a:ext cx="990600" cy="47625"/>
          </a:xfrm>
          <a:prstGeom prst="rect">
            <a:avLst/>
          </a:prstGeom>
          <a:solidFill>
            <a:srgbClr val="0F6FC6"/>
          </a:solidFill>
          <a:ln/>
        </p:spPr>
      </p:sp>
      <p:sp>
        <p:nvSpPr>
          <p:cNvPr id="5" name="shape-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What a two-port is and why four numbe…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08</a:t>
            </a:r>
            <a:endParaRPr lang="en-US" sz="900" dirty="0"/>
          </a:p>
        </p:txBody>
      </p:sp>
      <p:sp>
        <p:nvSpPr>
          <p:cNvPr id="9" name="shape-8-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 two-port has an input terminal pair and an output terminal pair, each satisfying the port condition, and it is described by relationships among four variables: V₁, I₁, V₂ and I₂. Because the network is linear, any two of these can be expressed as linear combinations of the other two, which takes exactly four coefficients — and that is why a two-port is a four-number object regardless of how many elements it contains internally. This is a genuine compression: a filter with thirty components and a filter with three are equally described by four numbers at a given frequency. The description is valid only for what happens at the ports, and says nothing about internal node voltages or internal dissipation.</a:t>
            </a:r>
            <a:endParaRPr lang="en-US" sz="1100" dirty="0"/>
          </a:p>
        </p:txBody>
      </p:sp>
      <p:sp>
        <p:nvSpPr>
          <p:cNvPr id="11" name="shape-8-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two-port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port variables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black box</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four parameters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linearity</a:t>
            </a:r>
            <a:endParaRPr lang="en-US" sz="1100" dirty="0"/>
          </a:p>
        </p:txBody>
      </p:sp>
      <p:sp>
        <p:nvSpPr>
          <p:cNvPr id="13" name="shape-8-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Four numbers describe any linear two-port at a given frequency, no matter how many parts are inside.</a:t>
            </a:r>
            <a:endParaRPr lang="en-US" sz="1100" dirty="0"/>
          </a:p>
        </p:txBody>
      </p:sp>
      <p:sp>
        <p:nvSpPr>
          <p:cNvPr id="15" name="shape-8-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Centre: a rectangular black box with two terminals on the left labelled port 1 and two on the right labelled port 2. Arrows mark I₁ entering the upper-left terminal and leaving the lower-left, I₂ entering the…</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17, pp. 687-692</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L2  |  visual id: two-port-black-box</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What a two-port is and why four numbers suffice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9-2"/>
          <p:cNvSpPr/>
          <p:nvPr/>
        </p:nvSpPr>
        <p:spPr>
          <a:xfrm>
            <a:off x="552450" y="1266825"/>
            <a:ext cx="990600" cy="47625"/>
          </a:xfrm>
          <a:prstGeom prst="rect">
            <a:avLst/>
          </a:prstGeom>
          <a:solidFill>
            <a:srgbClr val="0F6FC6"/>
          </a:solidFill>
          <a:ln/>
        </p:spPr>
      </p:sp>
      <p:sp>
        <p:nvSpPr>
          <p:cNvPr id="5" name="shape-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What a two-port is and why four numbe…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09</a:t>
            </a:r>
            <a:endParaRPr lang="en-US" sz="900" dirty="0"/>
          </a:p>
        </p:txBody>
      </p:sp>
      <p:sp>
        <p:nvSpPr>
          <p:cNvPr id="9" name="shape-9-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Confirm both terminal pairs satisfy the port condition</a:t>
            </a:r>
            <a:endParaRPr lang="en-US" sz="1100" dirty="0"/>
          </a:p>
        </p:txBody>
      </p:sp>
      <p:sp>
        <p:nvSpPr>
          <p:cNvPr id="11" name="shape-9-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Adopt the standard convention: both currents entering the upper terminal of their port</a:t>
            </a:r>
            <a:endParaRPr lang="en-US" sz="1100" dirty="0"/>
          </a:p>
        </p:txBody>
      </p:sp>
      <p:sp>
        <p:nvSpPr>
          <p:cNvPr id="13" name="shape-9-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Choose which two variables will be independent</a:t>
            </a:r>
            <a:endParaRPr lang="en-US" sz="1100" dirty="0"/>
          </a:p>
        </p:txBody>
      </p:sp>
      <p:sp>
        <p:nvSpPr>
          <p:cNvPr id="15" name="shape-9-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Express the remaining two as linear combinations of them</a:t>
            </a:r>
            <a:endParaRPr lang="en-US" sz="1100" dirty="0"/>
          </a:p>
        </p:txBody>
      </p:sp>
      <p:sp>
        <p:nvSpPr>
          <p:cNvPr id="17" name="shape-9-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Record the four coefficients as the parameter set</a:t>
            </a:r>
            <a:endParaRPr lang="en-US" sz="1100" dirty="0"/>
          </a:p>
        </p:txBody>
      </p:sp>
      <p:sp>
        <p:nvSpPr>
          <p:cNvPr id="19" name="shape-9-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Note the frequency at which they were determined</a:t>
            </a:r>
            <a:endParaRPr lang="en-US" sz="1100" dirty="0"/>
          </a:p>
        </p:txBody>
      </p:sp>
      <p:sp>
        <p:nvSpPr>
          <p:cNvPr id="21" name="shape-9-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four simple measurements or calculations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two network solves, each giving two parameters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a full symbolic solve per parameter for a complicated internal network</a:t>
            </a:r>
            <a:endParaRPr lang="en-US" sz="1100" dirty="0"/>
          </a:p>
        </p:txBody>
      </p:sp>
      <p:sp>
        <p:nvSpPr>
          <p:cNvPr id="23" name="shape-9-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Parameters are frequency-dependent; a set quoted without its frequency is incomplete.</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17, pp. 687-692   |   CO5  |  Bloom L2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What a two-port is and why four numbers suffice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0-2"/>
          <p:cNvSpPr/>
          <p:nvPr/>
        </p:nvSpPr>
        <p:spPr>
          <a:xfrm>
            <a:off x="552450" y="1266825"/>
            <a:ext cx="990600" cy="47625"/>
          </a:xfrm>
          <a:prstGeom prst="rect">
            <a:avLst/>
          </a:prstGeom>
          <a:solidFill>
            <a:srgbClr val="0F6FC6"/>
          </a:solidFill>
          <a:ln/>
        </p:spPr>
      </p:sp>
      <p:sp>
        <p:nvSpPr>
          <p:cNvPr id="5" name="shape-1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What a two-port is and why four numbe…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10</a:t>
            </a:r>
            <a:endParaRPr lang="en-US" sz="900" dirty="0"/>
          </a:p>
        </p:txBody>
      </p:sp>
      <p:sp>
        <p:nvSpPr>
          <p:cNvPr id="9" name="shape-10-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purely resistive T network with a 10 Ω series arm on each side and a 20 Ω shunt arm.</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Port variables: V₁, I₁ at the input, V₂, I₂ at the output</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Four coefficients are needed to relate any chosen pair to the other pair</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internal detail — three resistors — collapses into those four numbers</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different internal network giving the same four numbers is indistinguishable at the ports</a:t>
            </a:r>
            <a:endParaRPr lang="en-US" sz="1100" dirty="0"/>
          </a:p>
        </p:txBody>
      </p:sp>
      <p:sp>
        <p:nvSpPr>
          <p:cNvPr id="15" name="shape-10-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three-element T is fully represented by four parameters, and any other network with the same four is externally identical to it.</a:t>
            </a:r>
            <a:endParaRPr lang="en-US" sz="1100" dirty="0"/>
          </a:p>
        </p:txBody>
      </p:sp>
      <p:sp>
        <p:nvSpPr>
          <p:cNvPr id="17" name="shape-10-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[V₁]   [a  b] [V₂]</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[I₁] = [c  d] [−I₂]     (four coefficients, any linear two-port)</a:t>
            </a:r>
            <a:endParaRPr lang="en-US" sz="1000" dirty="0"/>
          </a:p>
        </p:txBody>
      </p:sp>
      <p:sp>
        <p:nvSpPr>
          <p:cNvPr id="19" name="shape-10-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assume a two-port description captures internal behaviour, and try to compute internal power dissipation from it. The four parameters describe terminal behaviour only; two networks with identical parameters can dissipate different amounts internally.</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17, pp. 687-692   |   CO5  |  Bloom L2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Short-circuit admittance (y) parameters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11-2"/>
          <p:cNvSpPr/>
          <p:nvPr/>
        </p:nvSpPr>
        <p:spPr>
          <a:xfrm>
            <a:off x="552450" y="1266825"/>
            <a:ext cx="990600" cy="47625"/>
          </a:xfrm>
          <a:prstGeom prst="rect">
            <a:avLst/>
          </a:prstGeom>
          <a:solidFill>
            <a:srgbClr val="0F6FC6"/>
          </a:solidFill>
          <a:ln/>
        </p:spPr>
      </p:sp>
      <p:sp>
        <p:nvSpPr>
          <p:cNvPr id="5" name="shape-1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Short-circuit admittance (y) paramete…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11</a:t>
            </a:r>
            <a:endParaRPr lang="en-US" sz="900" dirty="0"/>
          </a:p>
        </p:txBody>
      </p:sp>
      <p:sp>
        <p:nvSpPr>
          <p:cNvPr id="9" name="shape-11-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y parameters express both currents in terms of both voltages: I₁ = y₁₁V₁ + y₁₂V₂ and I₂ = y₂₁V₁ + y₂₂V₂. Each is measured with one port short-circuited, because setting a port voltage to zero is what isolates a single coefficient. So y₁₁ = I₁/V₁ with port 2 shorted is the input admittance under output short; y₂₁ = I₂/V₁ with port 2 shorted is the forward transfer admittance; y₂₂ and y₁₂ follow by driving port 2 with port 1 shorted. The set is natural for networks whose elements sit in shunt, such as the π model, because shunt admittances simply add.</a:t>
            </a:r>
            <a:endParaRPr lang="en-US" sz="1100" dirty="0"/>
          </a:p>
        </p:txBody>
      </p:sp>
      <p:sp>
        <p:nvSpPr>
          <p:cNvPr id="11" name="shape-11-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y parameters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short-circuit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y₁₁ input admittance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y₂₁ forward transfer admittance</a:t>
            </a:r>
            <a:endParaRPr lang="en-US" sz="1100" dirty="0"/>
          </a:p>
        </p:txBody>
      </p:sp>
      <p:sp>
        <p:nvSpPr>
          <p:cNvPr id="13" name="shape-11-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y parameters are the short-circuit set — and short-circuit tests are easy at low frequency and awkward at high frequency.</a:t>
            </a:r>
            <a:endParaRPr lang="en-US" sz="1100" dirty="0"/>
          </a:p>
        </p:txBody>
      </p:sp>
      <p:sp>
        <p:nvSpPr>
          <p:cNvPr id="15" name="shape-11-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2×2 arrangement of measurement setups. Top-left: a source V₁ on port 1 with port 2 shorted by a heavy bar, ammeters reading I₁ and I₂, annotated "y₁₁ = I₁/V₁, y₂₁ = I₂/V₁". Top-right: the defining equations…</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17, pp. 692-699</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L3  |  visual id: y-parameter-measurement</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Short-circuit admittance (y) parameters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12-2"/>
          <p:cNvSpPr/>
          <p:nvPr/>
        </p:nvSpPr>
        <p:spPr>
          <a:xfrm>
            <a:off x="552450" y="1266825"/>
            <a:ext cx="990600" cy="47625"/>
          </a:xfrm>
          <a:prstGeom prst="rect">
            <a:avLst/>
          </a:prstGeom>
          <a:solidFill>
            <a:srgbClr val="0F6FC6"/>
          </a:solidFill>
          <a:ln/>
        </p:spPr>
      </p:sp>
      <p:sp>
        <p:nvSpPr>
          <p:cNvPr id="5" name="shape-1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Short-circuit admittance (y) paramete…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12</a:t>
            </a:r>
            <a:endParaRPr lang="en-US" sz="900" dirty="0"/>
          </a:p>
        </p:txBody>
      </p:sp>
      <p:sp>
        <p:nvSpPr>
          <p:cNvPr id="9" name="shape-12-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Short-circuit port 2 and apply a known V₁</a:t>
            </a:r>
            <a:endParaRPr lang="en-US" sz="1100" dirty="0"/>
          </a:p>
        </p:txBody>
      </p:sp>
      <p:sp>
        <p:nvSpPr>
          <p:cNvPr id="11" name="shape-12-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Measure or compute I₁ and I₂ to obtain y₁₁ and y₂₁</a:t>
            </a:r>
            <a:endParaRPr lang="en-US" sz="1100" dirty="0"/>
          </a:p>
        </p:txBody>
      </p:sp>
      <p:sp>
        <p:nvSpPr>
          <p:cNvPr id="13" name="shape-12-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Short-circuit port 1 and apply a known V₂</a:t>
            </a:r>
            <a:endParaRPr lang="en-US" sz="1100" dirty="0"/>
          </a:p>
        </p:txBody>
      </p:sp>
      <p:sp>
        <p:nvSpPr>
          <p:cNvPr id="15" name="shape-12-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Measure or compute I₂ and I₁ to obtain y₂₂ and y₁₂</a:t>
            </a:r>
            <a:endParaRPr lang="en-US" sz="1100" dirty="0"/>
          </a:p>
        </p:txBody>
      </p:sp>
      <p:sp>
        <p:nvSpPr>
          <p:cNvPr id="17" name="shape-12-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Record all four with their units of siemens and the test frequency</a:t>
            </a:r>
            <a:endParaRPr lang="en-US" sz="1100" dirty="0"/>
          </a:p>
        </p:txBody>
      </p:sp>
      <p:sp>
        <p:nvSpPr>
          <p:cNvPr id="19" name="shape-12-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y₁₂ = y₂₁ if the network is reciprocal</a:t>
            </a:r>
            <a:endParaRPr lang="en-US" sz="1100" dirty="0"/>
          </a:p>
        </p:txBody>
      </p:sp>
      <p:sp>
        <p:nvSpPr>
          <p:cNvPr id="21" name="shape-12-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two solves for four parameters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two network solves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two symbolic solves for a complicated internal network</a:t>
            </a:r>
            <a:endParaRPr lang="en-US" sz="1100" dirty="0"/>
          </a:p>
        </p:txBody>
      </p:sp>
      <p:sp>
        <p:nvSpPr>
          <p:cNvPr id="23" name="shape-12-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Short-circuit tests can be difficult at high frequency where lead inductance prevents a true short.</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17, pp. 692-699   |   CO5  |  Bloom L3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Short-circuit admittance (y) parameters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3-2"/>
          <p:cNvSpPr/>
          <p:nvPr/>
        </p:nvSpPr>
        <p:spPr>
          <a:xfrm>
            <a:off x="552450" y="1266825"/>
            <a:ext cx="990600" cy="47625"/>
          </a:xfrm>
          <a:prstGeom prst="rect">
            <a:avLst/>
          </a:prstGeom>
          <a:solidFill>
            <a:srgbClr val="0F6FC6"/>
          </a:solidFill>
          <a:ln/>
        </p:spPr>
      </p:sp>
      <p:sp>
        <p:nvSpPr>
          <p:cNvPr id="5" name="shape-1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Short-circuit admittance (y) paramete…</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13</a:t>
            </a:r>
            <a:endParaRPr lang="en-US" sz="900" dirty="0"/>
          </a:p>
        </p:txBody>
      </p:sp>
      <p:sp>
        <p:nvSpPr>
          <p:cNvPr id="9" name="shape-13-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π network with 20 Ω shunt at each port and a 10 Ω series branch between them.</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Short port 2: the input sees 20 Ω in parallel with 10 Ω, so y₁₁ = 1/20 + 1/10 = 0.15 S</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Current into the short: I₂ = −V₁/10, so y₂₁ = −0.1 S</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By symmetry of the network, y₂₂ = 0.15 S and y₁₂ = −0.1 S</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y₁₂ = y₂₁, confirming reciprocity</a:t>
            </a:r>
            <a:endParaRPr lang="en-US" sz="1100" dirty="0"/>
          </a:p>
        </p:txBody>
      </p:sp>
      <p:sp>
        <p:nvSpPr>
          <p:cNvPr id="15" name="shape-13-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y = [[0.15, −0.1], [−0.1, 0.15]] S — symmetric because the network is both reciprocal and geometrically symmetric.</a:t>
            </a:r>
            <a:endParaRPr lang="en-US" sz="1100" dirty="0"/>
          </a:p>
        </p:txBody>
      </p:sp>
      <p:sp>
        <p:nvSpPr>
          <p:cNvPr id="17" name="shape-13-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I₁ = y₁₁V₁ + y₁₂V₂</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I₂ = y₂₁V₁ + y₂₂V₂</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π network: y = [[0.15, −0.1], [−0.1, 0.15]] S</a:t>
            </a:r>
            <a:endParaRPr lang="en-US" sz="1000" dirty="0"/>
          </a:p>
        </p:txBody>
      </p:sp>
      <p:sp>
        <p:nvSpPr>
          <p:cNvPr id="19" name="shape-13-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forget the sign of the transfer admittances. With both currents defined as entering their ports, y₁₂ and y₂₁ come out negative for a simple passive series branch; reporting them positive reverses the predicted direction of the output current.</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17, pp. 692-699   |   CO5  |  Bloom L3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Equivalent networks and the π model</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14-2"/>
          <p:cNvSpPr/>
          <p:nvPr/>
        </p:nvSpPr>
        <p:spPr>
          <a:xfrm>
            <a:off x="552450" y="1266825"/>
            <a:ext cx="990600" cy="47625"/>
          </a:xfrm>
          <a:prstGeom prst="rect">
            <a:avLst/>
          </a:prstGeom>
          <a:solidFill>
            <a:srgbClr val="0F6FC6"/>
          </a:solidFill>
          <a:ln/>
        </p:spPr>
      </p:sp>
      <p:sp>
        <p:nvSpPr>
          <p:cNvPr id="5" name="shape-1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Equivalent networks and the π model</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14</a:t>
            </a:r>
            <a:endParaRPr lang="en-US" sz="900" dirty="0"/>
          </a:p>
        </p:txBody>
      </p:sp>
      <p:sp>
        <p:nvSpPr>
          <p:cNvPr id="9" name="shape-14-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Any reciprocal two-port can be represented by a π network of three admittances, and the mapping from y parameters is direct: the series branch is −y₁₂, the shunt branch at port 1 is y₁₁ + y₁₂, and the shunt branch at port 2 is y₂₂ + y₁₂. The equivalent is exact at the terminals, so a measurement cannot distinguish the real network from its π model. This is why the π appears everywhere in transmission-line and transistor modelling: it is the simplest structure that can reproduce an arbitrary reciprocal two-port. A non-reciprocal network needs a dependent source added to the π, since three passive branches always produce y₁₂ = y₂₁.</a:t>
            </a:r>
            <a:endParaRPr lang="en-US" sz="1100" dirty="0"/>
          </a:p>
        </p:txBody>
      </p:sp>
      <p:sp>
        <p:nvSpPr>
          <p:cNvPr id="11" name="shape-14-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π equivalent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equivalent network</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terminal indistinguishability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y-to-π mapping</a:t>
            </a:r>
            <a:endParaRPr lang="en-US" sz="1100" dirty="0"/>
          </a:p>
        </p:txBody>
      </p:sp>
      <p:sp>
        <p:nvSpPr>
          <p:cNvPr id="13" name="shape-14-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Three admittances reproduce any reciprocal two-port exactly — and a fourth element, a dependent source, is needed the moment it is not reciprocal.</a:t>
            </a:r>
            <a:endParaRPr lang="en-US" sz="1100" dirty="0"/>
          </a:p>
        </p:txBody>
      </p:sp>
      <p:sp>
        <p:nvSpPr>
          <p:cNvPr id="15" name="shape-14-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Left: a 2×2 y matrix with its four entries. Right: a π network drawn as two shunt branches to a common ground and one series branch between the top nodes. Three curved arrows map matrix entries onto branches:…</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17, pp. 699-708</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L4  |  visual id: y-to-pi-mapping</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Equivalent networks and the π model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15-2"/>
          <p:cNvSpPr/>
          <p:nvPr/>
        </p:nvSpPr>
        <p:spPr>
          <a:xfrm>
            <a:off x="552450" y="1266825"/>
            <a:ext cx="990600" cy="47625"/>
          </a:xfrm>
          <a:prstGeom prst="rect">
            <a:avLst/>
          </a:prstGeom>
          <a:solidFill>
            <a:srgbClr val="0F6FC6"/>
          </a:solidFill>
          <a:ln/>
        </p:spPr>
      </p:sp>
      <p:sp>
        <p:nvSpPr>
          <p:cNvPr id="5" name="shape-1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Equivalent networks and the π model</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15</a:t>
            </a:r>
            <a:endParaRPr lang="en-US" sz="900" dirty="0"/>
          </a:p>
        </p:txBody>
      </p:sp>
      <p:sp>
        <p:nvSpPr>
          <p:cNvPr id="9" name="shape-15-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Obtain the four y parameters</a:t>
            </a:r>
            <a:endParaRPr lang="en-US" sz="1100" dirty="0"/>
          </a:p>
        </p:txBody>
      </p:sp>
      <p:sp>
        <p:nvSpPr>
          <p:cNvPr id="11" name="shape-15-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whether y₁₂ equals y₂₁</a:t>
            </a:r>
            <a:endParaRPr lang="en-US" sz="1100" dirty="0"/>
          </a:p>
        </p:txBody>
      </p:sp>
      <p:sp>
        <p:nvSpPr>
          <p:cNvPr id="13" name="shape-15-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so, set the series admittance to −y₁₂</a:t>
            </a:r>
            <a:endParaRPr lang="en-US" sz="1100" dirty="0"/>
          </a:p>
        </p:txBody>
      </p:sp>
      <p:sp>
        <p:nvSpPr>
          <p:cNvPr id="15" name="shape-15-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Set the port 1 shunt admittance to y₁₁ + y₁₂</a:t>
            </a:r>
            <a:endParaRPr lang="en-US" sz="1100" dirty="0"/>
          </a:p>
        </p:txBody>
      </p:sp>
      <p:sp>
        <p:nvSpPr>
          <p:cNvPr id="17" name="shape-15-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Set the port 2 shunt admittance to y₂₂ + y₁₂</a:t>
            </a:r>
            <a:endParaRPr lang="en-US" sz="1100" dirty="0"/>
          </a:p>
        </p:txBody>
      </p:sp>
      <p:sp>
        <p:nvSpPr>
          <p:cNvPr id="19" name="shape-15-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not reciprocal, add a dependent source to account for the asymmetry</a:t>
            </a:r>
            <a:endParaRPr lang="en-US" sz="1100" dirty="0"/>
          </a:p>
        </p:txBody>
      </p:sp>
      <p:sp>
        <p:nvSpPr>
          <p:cNvPr id="21" name="shape-15-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 three subtractions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O(1) once y is known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O(1) plus a dependent-source term for non-reciprocal networks</a:t>
            </a:r>
            <a:endParaRPr lang="en-US" sz="1100" dirty="0"/>
          </a:p>
        </p:txBody>
      </p:sp>
      <p:sp>
        <p:nvSpPr>
          <p:cNvPr id="23" name="shape-15-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mapping is arithmetic; obtaining y is where the work lies.</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17, pp. 699-708   |   CO5  |  Bloom L4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Equivalent networks and the π model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6-2"/>
          <p:cNvSpPr/>
          <p:nvPr/>
        </p:nvSpPr>
        <p:spPr>
          <a:xfrm>
            <a:off x="552450" y="1266825"/>
            <a:ext cx="990600" cy="47625"/>
          </a:xfrm>
          <a:prstGeom prst="rect">
            <a:avLst/>
          </a:prstGeom>
          <a:solidFill>
            <a:srgbClr val="0F6FC6"/>
          </a:solidFill>
          <a:ln/>
        </p:spPr>
      </p:sp>
      <p:sp>
        <p:nvSpPr>
          <p:cNvPr id="5" name="shape-1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Equivalent networks and the π model</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16</a:t>
            </a:r>
            <a:endParaRPr lang="en-US" sz="900" dirty="0"/>
          </a:p>
        </p:txBody>
      </p:sp>
      <p:sp>
        <p:nvSpPr>
          <p:cNvPr id="9" name="shape-16-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y = [[0.15, −0.1], [−0.1, 0.15]] S.</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Series admittance = −y₁₂ = 0.1 S, i.e. 10 Ω</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Port 1 shunt = y₁₁ + y₁₂ = 0.15 − 0.1 = 0.05 S, i.e. 20 Ω</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Port 2 shunt = y₂₂ + y₁₂ = 0.05 S, i.e. 20 Ω</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Reciprocity confirmed since y₁₂ = y₂₁</a:t>
            </a:r>
            <a:endParaRPr lang="en-US" sz="1100" dirty="0"/>
          </a:p>
        </p:txBody>
      </p:sp>
      <p:sp>
        <p:nvSpPr>
          <p:cNvPr id="15" name="shape-16-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The π model is 20 Ω shunt, 10 Ω series, 20 Ω shunt — recovering exactly the network the parameters were computed from.</a:t>
            </a:r>
            <a:endParaRPr lang="en-US" sz="1100" dirty="0"/>
          </a:p>
        </p:txBody>
      </p:sp>
      <p:sp>
        <p:nvSpPr>
          <p:cNvPr id="17" name="shape-16-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Y_series = −y₁₂ = 0.1 S (10 Ω)</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Y_shunt1 = y₁₁ + y₁₂ = 0.05 S (20 Ω)</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Y_shunt2 = y₂₂ + y₁₂ = 0.05 S (20 Ω)</a:t>
            </a:r>
            <a:endParaRPr lang="en-US" sz="1000" dirty="0"/>
          </a:p>
        </p:txBody>
      </p:sp>
      <p:sp>
        <p:nvSpPr>
          <p:cNvPr id="19" name="shape-16-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add y₁₂ when they mean to subtract, or vice versa, because the sign convention makes y₁₂ negative for a passive series branch. Working in admittances and checking that every resulting branch is physically realisable — a positive conductance — catches the slip immediately.</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17, pp. 699-708   |   CO5  |  Bloom L4</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Open-circuit impedance (z) parameters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17-2"/>
          <p:cNvSpPr/>
          <p:nvPr/>
        </p:nvSpPr>
        <p:spPr>
          <a:xfrm>
            <a:off x="552450" y="1266825"/>
            <a:ext cx="990600" cy="47625"/>
          </a:xfrm>
          <a:prstGeom prst="rect">
            <a:avLst/>
          </a:prstGeom>
          <a:solidFill>
            <a:srgbClr val="0F6FC6"/>
          </a:solidFill>
          <a:ln/>
        </p:spPr>
      </p:sp>
      <p:sp>
        <p:nvSpPr>
          <p:cNvPr id="5" name="shape-1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Open-circuit impedance (z) parameters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17</a:t>
            </a:r>
            <a:endParaRPr lang="en-US" sz="900" dirty="0"/>
          </a:p>
        </p:txBody>
      </p:sp>
      <p:sp>
        <p:nvSpPr>
          <p:cNvPr id="9" name="shape-17-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z parameters express both voltages in terms of both currents: V₁ = z₁₁I₁ + z₁₂I₂ and V₂ = z₂₁I₁ + z₂₂I₂. Each is measured with one port open-circuited, since setting a port current to zero isolates a single coefficient. So z₁₁ = V₁/I₁ with port 2 open is the input impedance under output open; z₂₁ = V₂/I₁ with port 2 open is the forward transfer impedance. The corresponding equivalent circuit is the T network, whose series arms are z₁₁ − z₁₂ and z₂₂ − z₁₂ with a shunt arm of z₁₂. The set is natural for networks whose elements sit in series, and open-circuit tests are generally easier at high frequency than short-circuit ones.</a:t>
            </a:r>
            <a:endParaRPr lang="en-US" sz="1100" dirty="0"/>
          </a:p>
        </p:txBody>
      </p:sp>
      <p:sp>
        <p:nvSpPr>
          <p:cNvPr id="11" name="shape-17-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z parameters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open-circuit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z₁₁ input impedance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z₂₁ forward transfer impedance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 model</a:t>
            </a:r>
            <a:endParaRPr lang="en-US" sz="1100" dirty="0"/>
          </a:p>
        </p:txBody>
      </p:sp>
      <p:sp>
        <p:nvSpPr>
          <p:cNvPr id="13" name="shape-17-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z parameters are the open-circuit set and map onto a T; y parameters are the short-circuit set and map onto a π.</a:t>
            </a:r>
            <a:endParaRPr lang="en-US" sz="1100" dirty="0"/>
          </a:p>
        </p:txBody>
      </p:sp>
      <p:sp>
        <p:nvSpPr>
          <p:cNvPr id="15" name="shape-17-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Left half: a measurement setup with a current source I₁ driving port 1 and port 2 left visibly open, with voltmeters reading V₁ and V₂, annotated "z₁₁ = V₁/I₁, z₂₁ = V₂/I₁ with I₂ = 0". Right half: a T network…</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17, pp. 708-713</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L3  |  visual id: z-parameter-and-t-model</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Open-circuit impedance (z) parameters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18-2"/>
          <p:cNvSpPr/>
          <p:nvPr/>
        </p:nvSpPr>
        <p:spPr>
          <a:xfrm>
            <a:off x="552450" y="1266825"/>
            <a:ext cx="990600" cy="47625"/>
          </a:xfrm>
          <a:prstGeom prst="rect">
            <a:avLst/>
          </a:prstGeom>
          <a:solidFill>
            <a:srgbClr val="0F6FC6"/>
          </a:solidFill>
          <a:ln/>
        </p:spPr>
      </p:sp>
      <p:sp>
        <p:nvSpPr>
          <p:cNvPr id="5" name="shape-1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Open-circuit impedance (z) parameters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18</a:t>
            </a:r>
            <a:endParaRPr lang="en-US" sz="900" dirty="0"/>
          </a:p>
        </p:txBody>
      </p:sp>
      <p:sp>
        <p:nvSpPr>
          <p:cNvPr id="9" name="shape-18-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Open-circuit port 2 and drive port 1 with a known current</a:t>
            </a:r>
            <a:endParaRPr lang="en-US" sz="1100" dirty="0"/>
          </a:p>
        </p:txBody>
      </p:sp>
      <p:sp>
        <p:nvSpPr>
          <p:cNvPr id="11" name="shape-18-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Measure V₁ and V₂ to obtain z₁₁ and z₂₁</a:t>
            </a:r>
            <a:endParaRPr lang="en-US" sz="1100" dirty="0"/>
          </a:p>
        </p:txBody>
      </p:sp>
      <p:sp>
        <p:nvSpPr>
          <p:cNvPr id="13" name="shape-18-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Open-circuit port 1 and drive port 2</a:t>
            </a:r>
            <a:endParaRPr lang="en-US" sz="1100" dirty="0"/>
          </a:p>
        </p:txBody>
      </p:sp>
      <p:sp>
        <p:nvSpPr>
          <p:cNvPr id="15" name="shape-18-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Measure V₂ and V₁ to obtain z₂₂ and z₁₂</a:t>
            </a:r>
            <a:endParaRPr lang="en-US" sz="1100" dirty="0"/>
          </a:p>
        </p:txBody>
      </p:sp>
      <p:sp>
        <p:nvSpPr>
          <p:cNvPr id="17" name="shape-18-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Record all four in ohms with the test frequency</a:t>
            </a:r>
            <a:endParaRPr lang="en-US" sz="1100" dirty="0"/>
          </a:p>
        </p:txBody>
      </p:sp>
      <p:sp>
        <p:nvSpPr>
          <p:cNvPr id="19" name="shape-18-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Map to a T model if an equivalent circuit is wanted</a:t>
            </a:r>
            <a:endParaRPr lang="en-US" sz="1100" dirty="0"/>
          </a:p>
        </p:txBody>
      </p:sp>
      <p:sp>
        <p:nvSpPr>
          <p:cNvPr id="21" name="shape-18-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two solves for four parameters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two network solves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two symbolic solves</a:t>
            </a:r>
            <a:endParaRPr lang="en-US" sz="1100" dirty="0"/>
          </a:p>
        </p:txBody>
      </p:sp>
      <p:sp>
        <p:nvSpPr>
          <p:cNvPr id="23" name="shape-18-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Open-circuit tests are the practical choice at high frequency, where a true short is hard to realise.</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17, pp. 708-713   |   CO5  |  Bloom L3</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Open-circuit impedance (z) parameters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19-2"/>
          <p:cNvSpPr/>
          <p:nvPr/>
        </p:nvSpPr>
        <p:spPr>
          <a:xfrm>
            <a:off x="552450" y="1266825"/>
            <a:ext cx="990600" cy="47625"/>
          </a:xfrm>
          <a:prstGeom prst="rect">
            <a:avLst/>
          </a:prstGeom>
          <a:solidFill>
            <a:srgbClr val="0F6FC6"/>
          </a:solidFill>
          <a:ln/>
        </p:spPr>
      </p:sp>
      <p:sp>
        <p:nvSpPr>
          <p:cNvPr id="5" name="shape-1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Open-circuit impedance (z) parameters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19</a:t>
            </a:r>
            <a:endParaRPr lang="en-US" sz="900" dirty="0"/>
          </a:p>
        </p:txBody>
      </p:sp>
      <p:sp>
        <p:nvSpPr>
          <p:cNvPr id="9" name="shape-19-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T network with 10 Ω series arms on each side and a 20 Ω shunt arm.</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Open port 2 and drive port 1: the current flows through 10 Ω then 20 Ω, so z₁₁ = 30 Ω</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voltage at port 2 is the drop across the shunt arm alone, so z₂₁ = 20 Ω</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By symmetry z₂₂ = 30 Ω and z₁₂ = 20 Ω</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z₁₂ = z₂₁, confirming reciprocity</a:t>
            </a:r>
            <a:endParaRPr lang="en-US" sz="1100" dirty="0"/>
          </a:p>
        </p:txBody>
      </p:sp>
      <p:sp>
        <p:nvSpPr>
          <p:cNvPr id="15" name="shape-19-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z = [[30, 20], [20, 30]] Ω, and mapping back gives series arms of 10 Ω each with a 20 Ω shunt — the original network.</a:t>
            </a:r>
            <a:endParaRPr lang="en-US" sz="1100" dirty="0"/>
          </a:p>
        </p:txBody>
      </p:sp>
      <p:sp>
        <p:nvSpPr>
          <p:cNvPr id="17" name="shape-19-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V₁ = z₁₁I₁ + z₁₂I₂</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V₂ = z₂₁I₁ + z₂₂I₂</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T network: z = [[30, 20], [20, 30]] Ω</a:t>
            </a:r>
            <a:endParaRPr lang="en-US" sz="1000" dirty="0"/>
          </a:p>
        </p:txBody>
      </p:sp>
      <p:sp>
        <p:nvSpPr>
          <p:cNvPr id="19" name="shape-19-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compute z₁₁ with port 2 short-circuited rather than open. That gives the input impedance under a short, which for the worked T is 10 + (20∥10) = 16.7 Ω rather than 30 Ω — a completely different number carrying a completely different meaning.</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17, pp. 708-713   |   CO5  |  Bloom L3</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relationship between z and y, and when each fails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0-2"/>
          <p:cNvSpPr/>
          <p:nvPr/>
        </p:nvSpPr>
        <p:spPr>
          <a:xfrm>
            <a:off x="552450" y="1266825"/>
            <a:ext cx="990600" cy="47625"/>
          </a:xfrm>
          <a:prstGeom prst="rect">
            <a:avLst/>
          </a:prstGeom>
          <a:solidFill>
            <a:srgbClr val="0F6FC6"/>
          </a:solidFill>
          <a:ln/>
        </p:spPr>
      </p:sp>
      <p:sp>
        <p:nvSpPr>
          <p:cNvPr id="5" name="shape-2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relationship between z and y, and…</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20</a:t>
            </a:r>
            <a:endParaRPr lang="en-US" sz="900" dirty="0"/>
          </a:p>
        </p:txBody>
      </p:sp>
      <p:sp>
        <p:nvSpPr>
          <p:cNvPr id="9" name="shape-20-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z and y matrices are inverses of each other, z = y⁻¹, provided the inverse exists. It does not always: a network whose y matrix is singular has no z representation and vice versa. The classic example is an ideal series impedance with nothing in shunt — its z parameters are infinite because opening one port leaves no path at all, so the open-circuit test is meaningless. Conversely an ideal shunt element has no y representation in some configurations. This is not a mathematical curiosity; it is the concrete reason a single parameter set cannot serve every network, and it is what the next unit generalises.</a:t>
            </a:r>
            <a:endParaRPr lang="en-US" sz="1100" dirty="0"/>
          </a:p>
        </p:txBody>
      </p:sp>
      <p:sp>
        <p:nvSpPr>
          <p:cNvPr id="11" name="shape-20-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matrix inverse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determinant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singular matrix</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undefined parameter set</a:t>
            </a:r>
            <a:endParaRPr lang="en-US" sz="1100" dirty="0"/>
          </a:p>
        </p:txBody>
      </p:sp>
      <p:sp>
        <p:nvSpPr>
          <p:cNvPr id="13" name="shape-20-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z and y are matrix inverses, and when the inverse does not exist that parameter set simply does not describe the network.</a:t>
            </a:r>
            <a:endParaRPr lang="en-US" sz="1100" dirty="0"/>
          </a:p>
        </p:txBody>
      </p:sp>
      <p:sp>
        <p:nvSpPr>
          <p:cNvPr id="15" name="shape-20-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Left: the z matrix and the y matrix connected by a double-headed arrow labelled "z = y⁻¹" with the inversion formula shown beneath using the determinant Δ. Right: two failure cases side by side. Case A shows a…</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17, pp. 692-713</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L4  |  visual id: z-y-inverse-with-failure</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relationship between z and y, and when each fails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21-2"/>
          <p:cNvSpPr/>
          <p:nvPr/>
        </p:nvSpPr>
        <p:spPr>
          <a:xfrm>
            <a:off x="552450" y="1266825"/>
            <a:ext cx="990600" cy="47625"/>
          </a:xfrm>
          <a:prstGeom prst="rect">
            <a:avLst/>
          </a:prstGeom>
          <a:solidFill>
            <a:srgbClr val="0F6FC6"/>
          </a:solidFill>
          <a:ln/>
        </p:spPr>
      </p:sp>
      <p:sp>
        <p:nvSpPr>
          <p:cNvPr id="5" name="shape-2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relationship between z and y, and…</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21</a:t>
            </a:r>
            <a:endParaRPr lang="en-US" sz="900" dirty="0"/>
          </a:p>
        </p:txBody>
      </p:sp>
      <p:sp>
        <p:nvSpPr>
          <p:cNvPr id="9" name="shape-21-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the determinant of the matrix you hold</a:t>
            </a:r>
            <a:endParaRPr lang="en-US" sz="1100" dirty="0"/>
          </a:p>
        </p:txBody>
      </p:sp>
      <p:sp>
        <p:nvSpPr>
          <p:cNvPr id="11" name="shape-21-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it is non-zero, invert to obtain the other set</a:t>
            </a:r>
            <a:endParaRPr lang="en-US" sz="1100" dirty="0"/>
          </a:p>
        </p:txBody>
      </p:sp>
      <p:sp>
        <p:nvSpPr>
          <p:cNvPr id="13" name="shape-21-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it is zero, report that the other representation does not exist</a:t>
            </a:r>
            <a:endParaRPr lang="en-US" sz="1100" dirty="0"/>
          </a:p>
        </p:txBody>
      </p:sp>
      <p:sp>
        <p:nvSpPr>
          <p:cNvPr id="15" name="shape-21-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Inspect the topology for a lone series or lone shunt element as the likely cause</a:t>
            </a:r>
            <a:endParaRPr lang="en-US" sz="1100" dirty="0"/>
          </a:p>
        </p:txBody>
      </p:sp>
      <p:sp>
        <p:nvSpPr>
          <p:cNvPr id="17" name="shape-21-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Choose a different parameter set, such as h or ABCD, that does exist</a:t>
            </a:r>
            <a:endParaRPr lang="en-US" sz="1100" dirty="0"/>
          </a:p>
        </p:txBody>
      </p:sp>
      <p:sp>
        <p:nvSpPr>
          <p:cNvPr id="19" name="shape-21-17"/>
          <p:cNvSpPr/>
          <p:nvPr/>
        </p:nvSpPr>
        <p:spPr>
          <a:xfrm>
            <a:off x="8020050" y="1543050"/>
            <a:ext cx="3619500" cy="2247900"/>
          </a:xfrm>
          <a:prstGeom prst="rect">
            <a:avLst/>
          </a:prstGeom>
          <a:solidFill>
            <a:srgbClr val="F1F5FA"/>
          </a:solidFill>
          <a:ln/>
        </p:spPr>
      </p:sp>
      <p:sp>
        <p:nvSpPr>
          <p:cNvPr id="20"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 a 2×2 inversion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O(1) plus a determinant check</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O(1), but the failure case requires selecting an entirely different representation</a:t>
            </a:r>
            <a:endParaRPr lang="en-US" sz="1100" dirty="0"/>
          </a:p>
        </p:txBody>
      </p:sp>
      <p:sp>
        <p:nvSpPr>
          <p:cNvPr id="21" name="shape-21-19"/>
          <p:cNvSpPr/>
          <p:nvPr/>
        </p:nvSpPr>
        <p:spPr>
          <a:xfrm>
            <a:off x="8020050" y="3943350"/>
            <a:ext cx="3619500" cy="1257300"/>
          </a:xfrm>
          <a:prstGeom prst="rect">
            <a:avLst/>
          </a:prstGeom>
          <a:solidFill>
            <a:srgbClr val="FDF3EC"/>
          </a:solidFill>
          <a:ln/>
        </p:spPr>
      </p:sp>
      <p:sp>
        <p:nvSpPr>
          <p:cNvPr id="22"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determinant check costs nothing and prevents dividing by zero unnoticed.</a:t>
            </a:r>
            <a:endParaRPr lang="en-US" sz="1100" dirty="0"/>
          </a:p>
        </p:txBody>
      </p:sp>
      <p:sp>
        <p:nvSpPr>
          <p:cNvPr id="23"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17, pp. 692-713   |   CO5  |  Bloom L4</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The relationship between z and y, and when each fails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22-2"/>
          <p:cNvSpPr/>
          <p:nvPr/>
        </p:nvSpPr>
        <p:spPr>
          <a:xfrm>
            <a:off x="552450" y="1266825"/>
            <a:ext cx="990600" cy="47625"/>
          </a:xfrm>
          <a:prstGeom prst="rect">
            <a:avLst/>
          </a:prstGeom>
          <a:solidFill>
            <a:srgbClr val="0F6FC6"/>
          </a:solidFill>
          <a:ln/>
        </p:spPr>
      </p:sp>
      <p:sp>
        <p:nvSpPr>
          <p:cNvPr id="5" name="shape-2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The relationship between z and y, and…</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22</a:t>
            </a:r>
            <a:endParaRPr lang="en-US" sz="900" dirty="0"/>
          </a:p>
        </p:txBody>
      </p:sp>
      <p:sp>
        <p:nvSpPr>
          <p:cNvPr id="9" name="shape-22-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z = [[30, 20], [20, 30]] Ω.</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Determinant Δ = 30 × 30 − 20 × 20 = 900 − 400 = 500</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y₁₁ = z₂₂/Δ = 30/500 = 0.06 S</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y₁₂ = −z₁₂/Δ = −20/500 = −0.04 S</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y₂₁ = −0.04 S and y₂₂ = 0.06 S</a:t>
            </a:r>
            <a:endParaRPr lang="en-US" sz="1100" dirty="0"/>
          </a:p>
        </p:txBody>
      </p:sp>
      <p:sp>
        <p:nvSpPr>
          <p:cNvPr id="15" name="shape-22-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y = [[0.06, −0.04], [−0.04, 0.06]] S — a valid inverse because the determinant was non-zero, and still reciprocal as expected.</a:t>
            </a:r>
            <a:endParaRPr lang="en-US" sz="1100" dirty="0"/>
          </a:p>
        </p:txBody>
      </p:sp>
      <p:sp>
        <p:nvSpPr>
          <p:cNvPr id="17" name="shape-22-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Δ = z₁₁z₂₂ − z₁₂z₂₁ = 500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y = (1/Δ)[[z₂₂, −z₁₂], [−z₂₁, z₁₁]]</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 [[0.06, −0.04], [−0.04, 0.06]] S</a:t>
            </a:r>
            <a:endParaRPr lang="en-US" sz="1000" dirty="0"/>
          </a:p>
        </p:txBody>
      </p:sp>
      <p:sp>
        <p:nvSpPr>
          <p:cNvPr id="19" name="shape-22-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invert element by element, writing y₁₁ = 1/z₁₁. Matrix inversion is not elementwise reciprocation; for the worked example that shortcut gives 0.0333 S against the correct 0.06 S, an 80 % error.</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17, pp. 692-713   |   CO5  |  Bloom L4</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Hybrid (h) parameters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3-2"/>
          <p:cNvSpPr/>
          <p:nvPr/>
        </p:nvSpPr>
        <p:spPr>
          <a:xfrm>
            <a:off x="552450" y="1266825"/>
            <a:ext cx="990600" cy="47625"/>
          </a:xfrm>
          <a:prstGeom prst="rect">
            <a:avLst/>
          </a:prstGeom>
          <a:solidFill>
            <a:srgbClr val="0F6FC6"/>
          </a:solidFill>
          <a:ln/>
        </p:spPr>
      </p:sp>
      <p:sp>
        <p:nvSpPr>
          <p:cNvPr id="5" name="shape-2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Hybrid (h) parameters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23</a:t>
            </a:r>
            <a:endParaRPr lang="en-US" sz="900" dirty="0"/>
          </a:p>
        </p:txBody>
      </p:sp>
      <p:sp>
        <p:nvSpPr>
          <p:cNvPr id="9" name="shape-23-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h parameters mix the variable choice: V₁ = h₁₁I₁ + h₁₂V₂ and I₂ = h₂₁I₁ + h₂₂V₂. The four coefficients therefore have mixed units — h₁₁ in ohms, h₂₂ in siemens, and h₁₂ and h₂₁ dimensionless. This apparently awkward combination exists because it matches how a bipolar transistor is actually used and measured: h₁₁ is the input impedance with the output shorted, h₂₁ is the forward current gain with the output shorted, and both are exactly the quantities a transistor datasheet quotes as h_ie and h_fe. The set is also well defined for devices where z or y fail, which is the practical reason it survives in device modelling long after the others have been abandoned.</a:t>
            </a:r>
            <a:endParaRPr lang="en-US" sz="1100" dirty="0"/>
          </a:p>
        </p:txBody>
      </p:sp>
      <p:sp>
        <p:nvSpPr>
          <p:cNvPr id="11" name="shape-23-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h parameters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mixed variables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h_ie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h_fe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transistor model</a:t>
            </a:r>
            <a:endParaRPr lang="en-US" sz="1100" dirty="0"/>
          </a:p>
        </p:txBody>
      </p:sp>
      <p:sp>
        <p:nvSpPr>
          <p:cNvPr id="13" name="shape-23-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h parameters exist because transistors are current-in, voltage-out devices — the mixed units follow from the physics, not from taste.</a:t>
            </a:r>
            <a:endParaRPr lang="en-US" sz="1100" dirty="0"/>
          </a:p>
        </p:txBody>
      </p:sp>
      <p:sp>
        <p:nvSpPr>
          <p:cNvPr id="15" name="shape-23-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Left: the two h equations with each coefficient annotated with its unit — h₁₁ ohms, h₁₂ dimensionless, h₂₁ dimensionless, h₂₂ siemens. Centre: the h-parameter equivalent circuit, showing h₁₁ in series at the i…</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17, pp. 713-716</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L3  |  visual id: h-parameter-transistor-link</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Hybrid (h) parameters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24-2"/>
          <p:cNvSpPr/>
          <p:nvPr/>
        </p:nvSpPr>
        <p:spPr>
          <a:xfrm>
            <a:off x="552450" y="1266825"/>
            <a:ext cx="990600" cy="47625"/>
          </a:xfrm>
          <a:prstGeom prst="rect">
            <a:avLst/>
          </a:prstGeom>
          <a:solidFill>
            <a:srgbClr val="0F6FC6"/>
          </a:solidFill>
          <a:ln/>
        </p:spPr>
      </p:sp>
      <p:sp>
        <p:nvSpPr>
          <p:cNvPr id="5" name="shape-2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Hybrid (h) parameters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24</a:t>
            </a:r>
            <a:endParaRPr lang="en-US" sz="900" dirty="0"/>
          </a:p>
        </p:txBody>
      </p:sp>
      <p:sp>
        <p:nvSpPr>
          <p:cNvPr id="9" name="shape-24-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Short-circuit port 2 and drive port 1 with a known current</a:t>
            </a:r>
            <a:endParaRPr lang="en-US" sz="1100" dirty="0"/>
          </a:p>
        </p:txBody>
      </p:sp>
      <p:sp>
        <p:nvSpPr>
          <p:cNvPr id="11" name="shape-24-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Measure V₁ for h₁₁ and I₂ for h₂₁</a:t>
            </a:r>
            <a:endParaRPr lang="en-US" sz="1100" dirty="0"/>
          </a:p>
        </p:txBody>
      </p:sp>
      <p:sp>
        <p:nvSpPr>
          <p:cNvPr id="13" name="shape-24-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Open-circuit port 1 and drive port 2 with a known voltage</a:t>
            </a:r>
            <a:endParaRPr lang="en-US" sz="1100" dirty="0"/>
          </a:p>
        </p:txBody>
      </p:sp>
      <p:sp>
        <p:nvSpPr>
          <p:cNvPr id="15" name="shape-24-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Measure V₁ for h₁₂ and I₂ for h₂₂</a:t>
            </a:r>
            <a:endParaRPr lang="en-US" sz="1100" dirty="0"/>
          </a:p>
        </p:txBody>
      </p:sp>
      <p:sp>
        <p:nvSpPr>
          <p:cNvPr id="17" name="shape-24-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Record the mixed units explicitly</a:t>
            </a:r>
            <a:endParaRPr lang="en-US" sz="1100" dirty="0"/>
          </a:p>
        </p:txBody>
      </p:sp>
      <p:sp>
        <p:nvSpPr>
          <p:cNvPr id="19" name="shape-24-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Cross-check h₂₁ against the device datasheet h_fe</a:t>
            </a:r>
            <a:endParaRPr lang="en-US" sz="1100" dirty="0"/>
          </a:p>
        </p:txBody>
      </p:sp>
      <p:sp>
        <p:nvSpPr>
          <p:cNvPr id="21" name="shape-24-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two measurements for four parameters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two network solves with mixed excitation types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two solves plus unit bookkeeping</a:t>
            </a:r>
            <a:endParaRPr lang="en-US" sz="1100" dirty="0"/>
          </a:p>
        </p:txBody>
      </p:sp>
      <p:sp>
        <p:nvSpPr>
          <p:cNvPr id="23" name="shape-24-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Mixed units make dimensional checking unusually valuable here.</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17, pp. 713-716   |   CO5  |  Bloom L3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Hybrid (h) parameters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25-2"/>
          <p:cNvSpPr/>
          <p:nvPr/>
        </p:nvSpPr>
        <p:spPr>
          <a:xfrm>
            <a:off x="552450" y="1266825"/>
            <a:ext cx="990600" cy="47625"/>
          </a:xfrm>
          <a:prstGeom prst="rect">
            <a:avLst/>
          </a:prstGeom>
          <a:solidFill>
            <a:srgbClr val="0F6FC6"/>
          </a:solidFill>
          <a:ln/>
        </p:spPr>
      </p:sp>
      <p:sp>
        <p:nvSpPr>
          <p:cNvPr id="5" name="shape-2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Hybrid (h) parameters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25</a:t>
            </a:r>
            <a:endParaRPr lang="en-US" sz="900" dirty="0"/>
          </a:p>
        </p:txBody>
      </p:sp>
      <p:sp>
        <p:nvSpPr>
          <p:cNvPr id="9" name="shape-25-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transistor small-signal model with h₁₁ = 2 kΩ, h₁₂ ≈ 0, h₂₁ = 100, h₂₂ = 20 µS, driven by a 10 µA base current with a 5 kΩ load.</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Input: V₁ = h₁₁I₁ = 2000 × 10e−6 = 20 mV</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Output current source: h₂₁I₁ = 100 × 10e−6 = 1 mA</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Output conductance h₂₂ = 20 µS is in parallel with the 5 kΩ load conductance of 200 µS</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V₂ = −1 mA/(220 µS) = −4.55 V</a:t>
            </a:r>
            <a:endParaRPr lang="en-US" sz="1100" dirty="0"/>
          </a:p>
        </p:txBody>
      </p:sp>
      <p:sp>
        <p:nvSpPr>
          <p:cNvPr id="15" name="shape-25-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Voltage gain = −4.55/0.02 = −227, and the minus sign is the phase inversion of a common-emitter stage.</a:t>
            </a:r>
            <a:endParaRPr lang="en-US" sz="1100" dirty="0"/>
          </a:p>
        </p:txBody>
      </p:sp>
      <p:sp>
        <p:nvSpPr>
          <p:cNvPr id="17" name="shape-25-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V₁ = h₁₁I₁ + h₁₂V₂        (h₁₁ in Ω)</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I₂ = h₂₁I₁ + h₂₂V₂        (h₂₂ in 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A_v = V₂/V₁ = −227 for the worked values</a:t>
            </a:r>
            <a:endParaRPr lang="en-US" sz="1000" dirty="0"/>
          </a:p>
        </p:txBody>
      </p:sp>
      <p:sp>
        <p:nvSpPr>
          <p:cNvPr id="19" name="shape-25-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treat all four h parameters as dimensionless because two of them are. Multiplying a current by a dimensionless h₁₁ produces a current where a voltage was needed, and the error survives to the end of the calculation looking like a gain.</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17, pp. 713-716   |   CO5  |  Bloom L3</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Why multiple representations are required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6-2"/>
          <p:cNvSpPr/>
          <p:nvPr/>
        </p:nvSpPr>
        <p:spPr>
          <a:xfrm>
            <a:off x="552450" y="1266825"/>
            <a:ext cx="990600" cy="47625"/>
          </a:xfrm>
          <a:prstGeom prst="rect">
            <a:avLst/>
          </a:prstGeom>
          <a:solidFill>
            <a:srgbClr val="0F6FC6"/>
          </a:solidFill>
          <a:ln/>
        </p:spPr>
      </p:sp>
      <p:sp>
        <p:nvSpPr>
          <p:cNvPr id="5" name="shape-2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Why multiple representations are requ…</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26</a:t>
            </a:r>
            <a:endParaRPr lang="en-US" sz="900" dirty="0"/>
          </a:p>
        </p:txBody>
      </p:sp>
      <p:sp>
        <p:nvSpPr>
          <p:cNvPr id="9" name="shape-26-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Six parameter sets exist for three distinct reasons. The first is existence: some networks simply have no z representation and others no y, because the corresponding matrix is singular — a lone series impedance is the standard counterexample for z. The second is measurement practicality: a true short circuit is hard to realise at high frequency because of lead inductance, so open-circuit z measurements are preferred there, while at low frequency the reverse is true. The third is algebraic convenience for a particular operation: ABCD parameters multiply under cascading while z and y do not, so a chain of stages is trivial in ABCD and painful in anything else. No single set is best; the correct one depends on whether you are asking about existence, measurement or composition.</a:t>
            </a:r>
            <a:endParaRPr lang="en-US" sz="1100" dirty="0"/>
          </a:p>
        </p:txBody>
      </p:sp>
      <p:sp>
        <p:nvSpPr>
          <p:cNvPr id="11" name="shape-26-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existence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singular matrix</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measurement practicality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cascade convenience</a:t>
            </a:r>
            <a:endParaRPr lang="en-US" sz="1100" dirty="0"/>
          </a:p>
        </p:txBody>
      </p:sp>
      <p:sp>
        <p:nvSpPr>
          <p:cNvPr id="13" name="shape-26-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Choose the parameter set by the question — existence, ease of measurement, or what operation you are about to perform.</a:t>
            </a:r>
            <a:endParaRPr lang="en-US" sz="1100" dirty="0"/>
          </a:p>
        </p:txBody>
      </p:sp>
      <p:sp>
        <p:nvSpPr>
          <p:cNvPr id="15" name="shape-26-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central selector dial with six labelled positions — z, y, h, g, ABCD, inverse ABCD — and three input levers feeding into it from the left. Lever 1 "Does it exist?" points at z and y with a red X on each for…</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17, pp. 713-716</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L5  |  visual id: parameter-set-selector</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Why multiple representations are required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27-2"/>
          <p:cNvSpPr/>
          <p:nvPr/>
        </p:nvSpPr>
        <p:spPr>
          <a:xfrm>
            <a:off x="552450" y="1266825"/>
            <a:ext cx="990600" cy="47625"/>
          </a:xfrm>
          <a:prstGeom prst="rect">
            <a:avLst/>
          </a:prstGeom>
          <a:solidFill>
            <a:srgbClr val="0F6FC6"/>
          </a:solidFill>
          <a:ln/>
        </p:spPr>
      </p:sp>
      <p:sp>
        <p:nvSpPr>
          <p:cNvPr id="5" name="shape-2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Why multiple representations are requ…</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27</a:t>
            </a:r>
            <a:endParaRPr lang="en-US" sz="900" dirty="0"/>
          </a:p>
        </p:txBody>
      </p:sp>
      <p:sp>
        <p:nvSpPr>
          <p:cNvPr id="9" name="shape-27-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Ask whether the required set exists for this topology by checking the relevant determinant</a:t>
            </a:r>
            <a:endParaRPr lang="en-US" sz="1100" dirty="0"/>
          </a:p>
        </p:txBody>
      </p:sp>
      <p:sp>
        <p:nvSpPr>
          <p:cNvPr id="11" name="shape-27-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Ask which terminations are practical at the frequency of interest</a:t>
            </a:r>
            <a:endParaRPr lang="en-US" sz="1100" dirty="0"/>
          </a:p>
        </p:txBody>
      </p:sp>
      <p:sp>
        <p:nvSpPr>
          <p:cNvPr id="13" name="shape-27-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Ask what operation follows — cascade, parallel, series</a:t>
            </a:r>
            <a:endParaRPr lang="en-US" sz="1100" dirty="0"/>
          </a:p>
        </p:txBody>
      </p:sp>
      <p:sp>
        <p:nvSpPr>
          <p:cNvPr id="15" name="shape-27-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Choose ABCD for cascades, y for parallel connection, z for series connection</a:t>
            </a:r>
            <a:endParaRPr lang="en-US" sz="1100" dirty="0"/>
          </a:p>
        </p:txBody>
      </p:sp>
      <p:sp>
        <p:nvSpPr>
          <p:cNvPr id="17" name="shape-27-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Choose h for active devices where the datasheet already uses it</a:t>
            </a:r>
            <a:endParaRPr lang="en-US" sz="1100" dirty="0"/>
          </a:p>
        </p:txBody>
      </p:sp>
      <p:sp>
        <p:nvSpPr>
          <p:cNvPr id="19" name="shape-27-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Convert between sets only when necessary, and check the determinant before inverting</a:t>
            </a:r>
            <a:endParaRPr lang="en-US" sz="1100" dirty="0"/>
          </a:p>
        </p:txBody>
      </p:sp>
      <p:sp>
        <p:nvSpPr>
          <p:cNvPr id="21" name="shape-27-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selection from the question type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O(1) plus one determinant check</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O(1) conversion between sets</a:t>
            </a:r>
            <a:endParaRPr lang="en-US" sz="1100" dirty="0"/>
          </a:p>
        </p:txBody>
      </p:sp>
      <p:sp>
        <p:nvSpPr>
          <p:cNvPr id="23" name="shape-27-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Conversion is cheap; choosing the wrong set for a cascade is what costs real effort.</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17, pp. 713-716   |   CO5  |  Bloom L5</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Why multiple representations are required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28-2"/>
          <p:cNvSpPr/>
          <p:nvPr/>
        </p:nvSpPr>
        <p:spPr>
          <a:xfrm>
            <a:off x="552450" y="1266825"/>
            <a:ext cx="990600" cy="47625"/>
          </a:xfrm>
          <a:prstGeom prst="rect">
            <a:avLst/>
          </a:prstGeom>
          <a:solidFill>
            <a:srgbClr val="0F6FC6"/>
          </a:solidFill>
          <a:ln/>
        </p:spPr>
      </p:sp>
      <p:sp>
        <p:nvSpPr>
          <p:cNvPr id="5" name="shape-2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Why multiple representations are requ…</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28</a:t>
            </a:r>
            <a:endParaRPr lang="en-US" sz="900" dirty="0"/>
          </a:p>
        </p:txBody>
      </p:sp>
      <p:sp>
        <p:nvSpPr>
          <p:cNvPr id="9" name="shape-28-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four-stage filter chain is to be analysed, and the stages are specified by their z parameters.</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Cascading is the operation, so ABCD is the natural set</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Convert each stage from z to ABCD using the standard relations</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Multiply the four ABCD matrices in order</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Convert the resulting overall ABCD back to z if the answer is wanted in that form</a:t>
            </a:r>
            <a:endParaRPr lang="en-US" sz="1100" dirty="0"/>
          </a:p>
        </p:txBody>
      </p:sp>
      <p:sp>
        <p:nvSpPr>
          <p:cNvPr id="15" name="shape-28-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Four conversions plus three matrix multiplications, against the alternative of repeatedly solving loaded networks stage by stage — the conversion overhead pays for itself immediately.</a:t>
            </a:r>
            <a:endParaRPr lang="en-US" sz="1100" dirty="0"/>
          </a:p>
        </p:txBody>
      </p:sp>
      <p:sp>
        <p:nvSpPr>
          <p:cNvPr id="17" name="shape-28-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cascade ⇒ ABCD_total = A₁·A₂·A₃·A₄</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parallel ⇒ y_total = y₁ + y₂</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series   ⇒ z_total = z₁ + z₂</a:t>
            </a:r>
            <a:endParaRPr lang="en-US" sz="1000" dirty="0"/>
          </a:p>
        </p:txBody>
      </p:sp>
      <p:sp>
        <p:nvSpPr>
          <p:cNvPr id="19" name="shape-28-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learn z parameters first and try to use them for everything, including cascades. z parameters do not multiply under cascading, so each stage has to be re-solved with its actual loading — which is exactly the work ABCD was invented to avoid.</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17, pp. 713-716   |   CO5  |  Bloom L5</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Transmission (ABCD) parameters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29-2"/>
          <p:cNvSpPr/>
          <p:nvPr/>
        </p:nvSpPr>
        <p:spPr>
          <a:xfrm>
            <a:off x="552450" y="1266825"/>
            <a:ext cx="990600" cy="47625"/>
          </a:xfrm>
          <a:prstGeom prst="rect">
            <a:avLst/>
          </a:prstGeom>
          <a:solidFill>
            <a:srgbClr val="0F6FC6"/>
          </a:solidFill>
          <a:ln/>
        </p:spPr>
      </p:sp>
      <p:sp>
        <p:nvSpPr>
          <p:cNvPr id="5" name="shape-2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Transmission (ABCD) parameters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29</a:t>
            </a:r>
            <a:endParaRPr lang="en-US" sz="900" dirty="0"/>
          </a:p>
        </p:txBody>
      </p:sp>
      <p:sp>
        <p:nvSpPr>
          <p:cNvPr id="9" name="shape-29-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transmission or ABCD parameters express the input variables in terms of the output ones: V₁ = A·V₂ − B·I₂ and I₁ = C·V₂ − D·I₂. The minus signs arise because the convention takes I₂ as flowing into the network while the transmission description treats it as flowing out toward the load; getting this sign wrong is the single most common ABCD error. The four coefficients have mixed units — A and D dimensionless, B in ohms, C in siemens. The set is defined precisely so that cascaded networks multiply, which makes it the standard description for transmission lines, filter chains and any signal path built from stages.</a:t>
            </a:r>
            <a:endParaRPr lang="en-US" sz="1100" dirty="0"/>
          </a:p>
        </p:txBody>
      </p:sp>
      <p:sp>
        <p:nvSpPr>
          <p:cNvPr id="11" name="shape-29-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ABCD parameters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transmission matrix</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input in terms of output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sign convention on I₂</a:t>
            </a:r>
            <a:endParaRPr lang="en-US" sz="1100" dirty="0"/>
          </a:p>
        </p:txBody>
      </p:sp>
      <p:sp>
        <p:nvSpPr>
          <p:cNvPr id="13" name="shape-29-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ABCD looks backwards — input written in terms of output — and that is exactly what makes cascading into matrix multiplication.</a:t>
            </a:r>
            <a:endParaRPr lang="en-US" sz="1100" dirty="0"/>
          </a:p>
        </p:txBody>
      </p:sp>
      <p:sp>
        <p:nvSpPr>
          <p:cNvPr id="15" name="shape-29-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Centre: a two-port box with V₁, I₁ on the left and V₂, I₂ on the right, with I₂ drawn as an arrow entering the box and a second faded arrow labelled "−I₂, toward the load" pointing out. A red highlight ring su…</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17, pp. 716-720</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L4  |  visual id: abcd-definition-and-signs</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Transmission (ABCD) parameters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0-2"/>
          <p:cNvSpPr/>
          <p:nvPr/>
        </p:nvSpPr>
        <p:spPr>
          <a:xfrm>
            <a:off x="552450" y="1266825"/>
            <a:ext cx="990600" cy="47625"/>
          </a:xfrm>
          <a:prstGeom prst="rect">
            <a:avLst/>
          </a:prstGeom>
          <a:solidFill>
            <a:srgbClr val="0F6FC6"/>
          </a:solidFill>
          <a:ln/>
        </p:spPr>
      </p:sp>
      <p:sp>
        <p:nvSpPr>
          <p:cNvPr id="5" name="shape-3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Transmission (ABCD) parameters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30</a:t>
            </a:r>
            <a:endParaRPr lang="en-US" sz="900" dirty="0"/>
          </a:p>
        </p:txBody>
      </p:sp>
      <p:sp>
        <p:nvSpPr>
          <p:cNvPr id="9" name="shape-30-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Open-circuit port 2 (I₂ = 0) and compute A = V₁/V₂ and C = I₁/V₂</a:t>
            </a:r>
            <a:endParaRPr lang="en-US" sz="1100" dirty="0"/>
          </a:p>
        </p:txBody>
      </p:sp>
      <p:sp>
        <p:nvSpPr>
          <p:cNvPr id="11" name="shape-30-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Short-circuit port 2 (V₂ = 0) and compute B = −V₁/I₂ and D = −I₁/I₂</a:t>
            </a:r>
            <a:endParaRPr lang="en-US" sz="1100" dirty="0"/>
          </a:p>
        </p:txBody>
      </p:sp>
      <p:sp>
        <p:nvSpPr>
          <p:cNvPr id="13" name="shape-30-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Record the mixed units</a:t>
            </a:r>
            <a:endParaRPr lang="en-US" sz="1100" dirty="0"/>
          </a:p>
        </p:txBody>
      </p:sp>
      <p:sp>
        <p:nvSpPr>
          <p:cNvPr id="15" name="shape-30-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AD − BC = 1 for a reciprocal network</a:t>
            </a:r>
            <a:endParaRPr lang="en-US" sz="1100" dirty="0"/>
          </a:p>
        </p:txBody>
      </p:sp>
      <p:sp>
        <p:nvSpPr>
          <p:cNvPr id="17" name="shape-30-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A = D for a symmetric network</a:t>
            </a:r>
            <a:endParaRPr lang="en-US" sz="1100" dirty="0"/>
          </a:p>
        </p:txBody>
      </p:sp>
      <p:sp>
        <p:nvSpPr>
          <p:cNvPr id="19" name="shape-30-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the matrix directly for cascade calculations</a:t>
            </a:r>
            <a:endParaRPr lang="en-US" sz="1100" dirty="0"/>
          </a:p>
        </p:txBody>
      </p:sp>
      <p:sp>
        <p:nvSpPr>
          <p:cNvPr id="21" name="shape-30-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two solves for four parameters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two network solves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two symbolic solves</a:t>
            </a:r>
            <a:endParaRPr lang="en-US" sz="1100" dirty="0"/>
          </a:p>
        </p:txBody>
      </p:sp>
      <p:sp>
        <p:nvSpPr>
          <p:cNvPr id="23" name="shape-30-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AD − BC = 1 check catches most sign errors immediately.</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17, pp. 716-720   |   CO5  |  Bloom L4</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Transmission (ABCD) parameters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31-2"/>
          <p:cNvSpPr/>
          <p:nvPr/>
        </p:nvSpPr>
        <p:spPr>
          <a:xfrm>
            <a:off x="552450" y="1266825"/>
            <a:ext cx="990600" cy="47625"/>
          </a:xfrm>
          <a:prstGeom prst="rect">
            <a:avLst/>
          </a:prstGeom>
          <a:solidFill>
            <a:srgbClr val="0F6FC6"/>
          </a:solidFill>
          <a:ln/>
        </p:spPr>
      </p:sp>
      <p:sp>
        <p:nvSpPr>
          <p:cNvPr id="5" name="shape-3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Transmission (ABCD) parameters</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31</a:t>
            </a:r>
            <a:endParaRPr lang="en-US" sz="900" dirty="0"/>
          </a:p>
        </p:txBody>
      </p:sp>
      <p:sp>
        <p:nvSpPr>
          <p:cNvPr id="9" name="shape-31-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single series impedance Z between the ports, with nothing in shunt.</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Open port 2: no current flows, so V₁ = V₂, giving A = 1, and I₁ = 0, giving C = 0</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Short port 2: V₁ = −I₂·Z, giving B = Z; and I₁ = −I₂, giving D = 1</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ABCD = [[1, Z], [0, 1]]</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AD − BC = 1 × 1 − Z × 0 = 1 ✓</a:t>
            </a:r>
            <a:endParaRPr lang="en-US" sz="1100" dirty="0"/>
          </a:p>
        </p:txBody>
      </p:sp>
      <p:sp>
        <p:nvSpPr>
          <p:cNvPr id="15" name="shape-31-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ABCD = [[1, Z], [0, 1]], the standard series-element matrix — and note this network has no z representation at all, which is why ABCD is useful here.</a:t>
            </a:r>
            <a:endParaRPr lang="en-US" sz="1100" dirty="0"/>
          </a:p>
        </p:txBody>
      </p:sp>
      <p:sp>
        <p:nvSpPr>
          <p:cNvPr id="17" name="shape-31-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V₁ = A·V₂ − B·I₂</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I₁ = C·V₂ − D·I₂</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series Z: [[1, Z],[0, 1]],  shunt Y: [[1, 0],[Y, 1]]</a:t>
            </a:r>
            <a:endParaRPr lang="en-US" sz="1000" dirty="0"/>
          </a:p>
        </p:txBody>
      </p:sp>
      <p:sp>
        <p:nvSpPr>
          <p:cNvPr id="19" name="shape-31-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drop the minus signs and write V₁ = AV₂ + BI₂. The resulting B and D come out with the wrong sign, the AD − BC = 1 check fails, and every cascaded result inherits the error.</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17, pp. 716-720   |   CO5  |  Bloom L4</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Cascading two-ports with ABCD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32-2"/>
          <p:cNvSpPr/>
          <p:nvPr/>
        </p:nvSpPr>
        <p:spPr>
          <a:xfrm>
            <a:off x="552450" y="1266825"/>
            <a:ext cx="990600" cy="47625"/>
          </a:xfrm>
          <a:prstGeom prst="rect">
            <a:avLst/>
          </a:prstGeom>
          <a:solidFill>
            <a:srgbClr val="0F6FC6"/>
          </a:solidFill>
          <a:ln/>
        </p:spPr>
      </p:sp>
      <p:sp>
        <p:nvSpPr>
          <p:cNvPr id="5" name="shape-3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Cascading two-ports with ABCD</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32</a:t>
            </a:r>
            <a:endParaRPr lang="en-US" sz="900" dirty="0"/>
          </a:p>
        </p:txBody>
      </p:sp>
      <p:sp>
        <p:nvSpPr>
          <p:cNvPr id="9" name="shape-32-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When two-ports are cascaded, the output of one becomes the input of the next, and the overall ABCD matrix is the ordered product of the individual matrices, taken in the direction of signal flow. Matrix multiplication does not commute, so reversing the order generally gives a different network — which is correct, since a filter followed by an attenuator is not the same as an attenuator followed by a filter when either has non-trivial impedance. Crucially, the method automatically accounts for inter-stage loading, which is the effect that breaks the naive multiplication of transfer functions in Module 4. A ladder network can therefore be built by alternately multiplying series and shunt element matrices.</a:t>
            </a:r>
            <a:endParaRPr lang="en-US" sz="1100" dirty="0"/>
          </a:p>
        </p:txBody>
      </p:sp>
      <p:sp>
        <p:nvSpPr>
          <p:cNvPr id="11" name="shape-32-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cascade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matrix multiplication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order matters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ladder synthesis</a:t>
            </a:r>
            <a:endParaRPr lang="en-US" sz="1100" dirty="0"/>
          </a:p>
        </p:txBody>
      </p:sp>
      <p:sp>
        <p:nvSpPr>
          <p:cNvPr id="13" name="shape-32-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ABCD multiplication handles inter-stage loading automatically — which is exactly what naive transfer-function cascading gets wrong.</a:t>
            </a:r>
            <a:endParaRPr lang="en-US" sz="1100" dirty="0"/>
          </a:p>
        </p:txBody>
      </p:sp>
      <p:sp>
        <p:nvSpPr>
          <p:cNvPr id="15" name="shape-32-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Top: three two-port boxes in a row, signal flowing left to right, each labelled with its own ABCD matrix. Curved brackets beneath group them into a single equivalent box labelled with the product A₁A₂A₃. A red…</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17, pp. 716-720</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L4  |  visual id: abcd-cascade-chain</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Cascading two-ports with ABCD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3-2"/>
          <p:cNvSpPr/>
          <p:nvPr/>
        </p:nvSpPr>
        <p:spPr>
          <a:xfrm>
            <a:off x="552450" y="1266825"/>
            <a:ext cx="990600" cy="47625"/>
          </a:xfrm>
          <a:prstGeom prst="rect">
            <a:avLst/>
          </a:prstGeom>
          <a:solidFill>
            <a:srgbClr val="0F6FC6"/>
          </a:solidFill>
          <a:ln/>
        </p:spPr>
      </p:sp>
      <p:sp>
        <p:nvSpPr>
          <p:cNvPr id="5" name="shape-3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Cascading two-ports with ABCD</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33</a:t>
            </a:r>
            <a:endParaRPr lang="en-US" sz="900" dirty="0"/>
          </a:p>
        </p:txBody>
      </p:sp>
      <p:sp>
        <p:nvSpPr>
          <p:cNvPr id="9" name="shape-33-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Write the ABCD matrix of each stage in signal-flow order</a:t>
            </a:r>
            <a:endParaRPr lang="en-US" sz="1100" dirty="0"/>
          </a:p>
        </p:txBody>
      </p:sp>
      <p:sp>
        <p:nvSpPr>
          <p:cNvPr id="11" name="shape-33-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Multiply them left to right in that order</a:t>
            </a:r>
            <a:endParaRPr lang="en-US" sz="1100" dirty="0"/>
          </a:p>
        </p:txBody>
      </p:sp>
      <p:sp>
        <p:nvSpPr>
          <p:cNvPr id="13" name="shape-33-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Do not reorder the product</a:t>
            </a:r>
            <a:endParaRPr lang="en-US" sz="1100" dirty="0"/>
          </a:p>
        </p:txBody>
      </p:sp>
      <p:sp>
        <p:nvSpPr>
          <p:cNvPr id="15" name="shape-33-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Convert the resulting matrix to whichever parameter set the answer requires</a:t>
            </a:r>
            <a:endParaRPr lang="en-US" sz="1100" dirty="0"/>
          </a:p>
        </p:txBody>
      </p:sp>
      <p:sp>
        <p:nvSpPr>
          <p:cNvPr id="17" name="shape-33-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a ladder, alternate series and shunt element matrices</a:t>
            </a:r>
            <a:endParaRPr lang="en-US" sz="1100" dirty="0"/>
          </a:p>
        </p:txBody>
      </p:sp>
      <p:sp>
        <p:nvSpPr>
          <p:cNvPr id="19" name="shape-33-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Verify AD − BC = 1 on the product if every stage was reciprocal</a:t>
            </a:r>
            <a:endParaRPr lang="en-US" sz="1100" dirty="0"/>
          </a:p>
        </p:txBody>
      </p:sp>
      <p:sp>
        <p:nvSpPr>
          <p:cNvPr id="21" name="shape-33-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O(k) for k stages, each a 2×2 multiply</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O(k) multiplications of 2×2 matrices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O(k) with symbolic entries, where expression growth dominates</a:t>
            </a:r>
            <a:endParaRPr lang="en-US" sz="1100" dirty="0"/>
          </a:p>
        </p:txBody>
      </p:sp>
      <p:sp>
        <p:nvSpPr>
          <p:cNvPr id="23" name="shape-33-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Linear in the number of stages — compared with re-solving a loaded network per stage, this is the whole advantage.</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17, pp. 716-720   |   CO5  |  Bloom L4</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Cascading two-ports with ABCD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34-2"/>
          <p:cNvSpPr/>
          <p:nvPr/>
        </p:nvSpPr>
        <p:spPr>
          <a:xfrm>
            <a:off x="552450" y="1266825"/>
            <a:ext cx="990600" cy="47625"/>
          </a:xfrm>
          <a:prstGeom prst="rect">
            <a:avLst/>
          </a:prstGeom>
          <a:solidFill>
            <a:srgbClr val="0F6FC6"/>
          </a:solidFill>
          <a:ln/>
        </p:spPr>
      </p:sp>
      <p:sp>
        <p:nvSpPr>
          <p:cNvPr id="5" name="shape-3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Cascading two-ports with ABCD</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34</a:t>
            </a:r>
            <a:endParaRPr lang="en-US" sz="900" dirty="0"/>
          </a:p>
        </p:txBody>
      </p:sp>
      <p:sp>
        <p:nvSpPr>
          <p:cNvPr id="9" name="shape-34-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series 10 Ω followed by a shunt 0.05 S, cascaded.</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Series: [[1, 10], [0, 1]]</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Shunt: [[1, 0], [0.05, 1]]</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Product: [[1 + 10×0.05, 10], [0.05, 1]] = [[1.5, 10], [0.05, 1]]</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AD − BC = 1.5 × 1 − 10 × 0.05 = 1.5 − 0.5 = 1 ✓</a:t>
            </a:r>
            <a:endParaRPr lang="en-US" sz="1100" dirty="0"/>
          </a:p>
        </p:txBody>
      </p:sp>
      <p:sp>
        <p:nvSpPr>
          <p:cNvPr id="15" name="shape-34-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Overall ABCD = [[1.5, 10], [0.05, 1]], with the reciprocity check passing — and the loading of the shunt on the series element already accounted for.</a:t>
            </a:r>
            <a:endParaRPr lang="en-US" sz="1100" dirty="0"/>
          </a:p>
        </p:txBody>
      </p:sp>
      <p:sp>
        <p:nvSpPr>
          <p:cNvPr id="17" name="shape-34-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[[1,10],[0,1]] · [[1,0],[0.05,1]] = [[1.5,10],[0.05,1]]</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AD − BC = 1.5 − 0.5 = 1 ✓</a:t>
            </a:r>
            <a:endParaRPr lang="en-US" sz="1000" dirty="0"/>
          </a:p>
        </p:txBody>
      </p:sp>
      <p:sp>
        <p:nvSpPr>
          <p:cNvPr id="19" name="shape-34-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multiply the matrices in reverse order, treating matrix multiplication as commutative. The product order must follow signal flow; reversing it describes a physically different cascade, and the numbers are wrong in a way the AD − BC check will not catch.</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17, pp. 716-720   |   CO5  |  Bloom L4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Two-port symmetry and reciprocity</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35-2"/>
          <p:cNvSpPr/>
          <p:nvPr/>
        </p:nvSpPr>
        <p:spPr>
          <a:xfrm>
            <a:off x="552450" y="1266825"/>
            <a:ext cx="990600" cy="47625"/>
          </a:xfrm>
          <a:prstGeom prst="rect">
            <a:avLst/>
          </a:prstGeom>
          <a:solidFill>
            <a:srgbClr val="0F6FC6"/>
          </a:solidFill>
          <a:ln/>
        </p:spPr>
      </p:sp>
      <p:sp>
        <p:nvSpPr>
          <p:cNvPr id="5" name="shape-3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Two-port symmetry and reciprocity</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35</a:t>
            </a:r>
            <a:endParaRPr lang="en-US" sz="900" dirty="0"/>
          </a:p>
        </p:txBody>
      </p:sp>
      <p:sp>
        <p:nvSpPr>
          <p:cNvPr id="9" name="shape-35-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Reciprocity and symmetry are distinct conditions that are often confused. Reciprocity means excitation and response may be interchanged, and it shows as z₁₂ = z₂₁, y₁₂ = y₂₁, h₁₂ = −h₂₁, or AD − BC = 1. Symmetry means the two ports are interchangeable — the network looks the same from either side — and it shows as z₁₁ = z₂₂, y₁₁ = y₂₂ or A = D. Every symmetric passive network is reciprocal, but the reverse does not hold: an unbalanced ladder is reciprocal and not symmetric. These conditions are worth checking on every computed parameter set, because they are free and they catch sign and arithmetic errors that would otherwise propagate.</a:t>
            </a:r>
            <a:endParaRPr lang="en-US" sz="1100" dirty="0"/>
          </a:p>
        </p:txBody>
      </p:sp>
      <p:sp>
        <p:nvSpPr>
          <p:cNvPr id="11" name="shape-35-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reciprocity condition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symmetry condition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z₁₂ = z₂₁</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z₁₁ = z₂₂</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AD − BC = 1</a:t>
            </a:r>
            <a:endParaRPr lang="en-US" sz="1100" dirty="0"/>
          </a:p>
        </p:txBody>
      </p:sp>
      <p:sp>
        <p:nvSpPr>
          <p:cNvPr id="13" name="shape-35-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Reciprocity is about swapping source and meter; symmetry is about swapping the ports themselves — and they are not the same claim.</a:t>
            </a:r>
            <a:endParaRPr lang="en-US" sz="1100" dirty="0"/>
          </a:p>
        </p:txBody>
      </p:sp>
      <p:sp>
        <p:nvSpPr>
          <p:cNvPr id="15" name="shape-35-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2×2 conceptual grid. Top-left cell "Reciprocal, symmetric": a balanced T network with equal arms, showing z₁₂ = z₂₁ and z₁₁ = z₂₂ both ticked green. Top-right "Reciprocal, not symmetric": an unbalanced ladde…</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17, pp. 699-708</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L4  |  visual id: reciprocity-vs-symmetry-grid</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Two-port symmetry and reciprocity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6-2"/>
          <p:cNvSpPr/>
          <p:nvPr/>
        </p:nvSpPr>
        <p:spPr>
          <a:xfrm>
            <a:off x="552450" y="1266825"/>
            <a:ext cx="990600" cy="47625"/>
          </a:xfrm>
          <a:prstGeom prst="rect">
            <a:avLst/>
          </a:prstGeom>
          <a:solidFill>
            <a:srgbClr val="0F6FC6"/>
          </a:solidFill>
          <a:ln/>
        </p:spPr>
      </p:sp>
      <p:sp>
        <p:nvSpPr>
          <p:cNvPr id="5" name="shape-3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Two-port symmetry and reciprocity</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36</a:t>
            </a:r>
            <a:endParaRPr lang="en-US" sz="900" dirty="0"/>
          </a:p>
        </p:txBody>
      </p:sp>
      <p:sp>
        <p:nvSpPr>
          <p:cNvPr id="9" name="shape-36-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the full parameter set</a:t>
            </a:r>
            <a:endParaRPr lang="en-US" sz="1100" dirty="0"/>
          </a:p>
        </p:txBody>
      </p:sp>
      <p:sp>
        <p:nvSpPr>
          <p:cNvPr id="11" name="shape-36-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Test reciprocity with the condition appropriate to that set</a:t>
            </a:r>
            <a:endParaRPr lang="en-US" sz="1100" dirty="0"/>
          </a:p>
        </p:txBody>
      </p:sp>
      <p:sp>
        <p:nvSpPr>
          <p:cNvPr id="13" name="shape-36-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Test symmetry separately with its own condition</a:t>
            </a:r>
            <a:endParaRPr lang="en-US" sz="1100" dirty="0"/>
          </a:p>
        </p:txBody>
      </p:sp>
      <p:sp>
        <p:nvSpPr>
          <p:cNvPr id="15" name="shape-36-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reciprocity fails, confirm the network contains a dependent source or a directional element</a:t>
            </a:r>
            <a:endParaRPr lang="en-US" sz="1100" dirty="0"/>
          </a:p>
        </p:txBody>
      </p:sp>
      <p:sp>
        <p:nvSpPr>
          <p:cNvPr id="17" name="shape-36-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symmetry fails but reciprocity holds, the network is simply unbalanced</a:t>
            </a:r>
            <a:endParaRPr lang="en-US" sz="1100" dirty="0"/>
          </a:p>
        </p:txBody>
      </p:sp>
      <p:sp>
        <p:nvSpPr>
          <p:cNvPr id="19" name="shape-36-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Use both tests as arithmetic checks on the computed parameters</a:t>
            </a:r>
            <a:endParaRPr lang="en-US" sz="1100" dirty="0"/>
          </a:p>
        </p:txBody>
      </p:sp>
      <p:sp>
        <p:nvSpPr>
          <p:cNvPr id="21" name="shape-36-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 two comparisons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O(1)</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O(1) plus one determinant evaluation for the ABCD test</a:t>
            </a:r>
            <a:endParaRPr lang="en-US" sz="1100" dirty="0"/>
          </a:p>
        </p:txBody>
      </p:sp>
      <p:sp>
        <p:nvSpPr>
          <p:cNvPr id="23" name="shape-36-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Free checks that catch a large fraction of sign errors.</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17, pp. 699-708   |   CO5  |  Bloom L4</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Two-port symmetry and reciprocity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37-2"/>
          <p:cNvSpPr/>
          <p:nvPr/>
        </p:nvSpPr>
        <p:spPr>
          <a:xfrm>
            <a:off x="552450" y="1266825"/>
            <a:ext cx="990600" cy="47625"/>
          </a:xfrm>
          <a:prstGeom prst="rect">
            <a:avLst/>
          </a:prstGeom>
          <a:solidFill>
            <a:srgbClr val="0F6FC6"/>
          </a:solidFill>
          <a:ln/>
        </p:spPr>
      </p:sp>
      <p:sp>
        <p:nvSpPr>
          <p:cNvPr id="5" name="shape-3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Two-port symmetry and reciprocity</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37</a:t>
            </a:r>
            <a:endParaRPr lang="en-US" sz="900" dirty="0"/>
          </a:p>
        </p:txBody>
      </p:sp>
      <p:sp>
        <p:nvSpPr>
          <p:cNvPr id="9" name="shape-37-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ladder with z = [[30, 20], [20, 45]] Ω.</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Reciprocity test: z₁₂ = 20 and z₂₁ = 20, equal — reciprocal</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Symmetry test: z₁₁ = 30 and z₂₂ = 45, unequal — not symmetric</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Conclusion: a passive unbalanced ladder</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Consequence: swapping source and meter gives the same reading, but swapping the ports does not give the same network</a:t>
            </a:r>
            <a:endParaRPr lang="en-US" sz="1100" dirty="0"/>
          </a:p>
        </p:txBody>
      </p:sp>
      <p:sp>
        <p:nvSpPr>
          <p:cNvPr id="15" name="shape-37-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Reciprocal but not symmetric — so reciprocity may be exploited to halve a two-configuration measurement, while port interchange may not.</a:t>
            </a:r>
            <a:endParaRPr lang="en-US" sz="1100" dirty="0"/>
          </a:p>
        </p:txBody>
      </p:sp>
      <p:sp>
        <p:nvSpPr>
          <p:cNvPr id="17" name="shape-37-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reciprocal : z₁₂ = z₂₁  (also y₁₂=y₂₁, h₁₂=−h₂₁, AD−BC=1)</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symmetric  : z₁₁ = z₂₂  (also y₁₁=y₂₂, A=D)</a:t>
            </a:r>
            <a:endParaRPr lang="en-US" sz="1000" dirty="0"/>
          </a:p>
        </p:txBody>
      </p:sp>
      <p:sp>
        <p:nvSpPr>
          <p:cNvPr id="19" name="shape-37-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treat a symmetric-looking schematic as proof of reciprocity and stop checking. Symmetry of the drawing proves neither condition — a symmetric layout containing a dependent source is neither reciprocal nor symmetric in the parameter sense.</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17, pp. 699-708   |   CO5  |  Bloom L4</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Input impedance of a terminated two-port</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38-2"/>
          <p:cNvSpPr/>
          <p:nvPr/>
        </p:nvSpPr>
        <p:spPr>
          <a:xfrm>
            <a:off x="552450" y="1266825"/>
            <a:ext cx="990600" cy="47625"/>
          </a:xfrm>
          <a:prstGeom prst="rect">
            <a:avLst/>
          </a:prstGeom>
          <a:solidFill>
            <a:srgbClr val="0F6FC6"/>
          </a:solidFill>
          <a:ln/>
        </p:spPr>
      </p:sp>
      <p:sp>
        <p:nvSpPr>
          <p:cNvPr id="5" name="shape-3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Input impedance of a terminated two-p…</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38</a:t>
            </a:r>
            <a:endParaRPr lang="en-US" sz="900" dirty="0"/>
          </a:p>
        </p:txBody>
      </p:sp>
      <p:sp>
        <p:nvSpPr>
          <p:cNvPr id="9" name="shape-38-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The input impedance of a two-port is not a property of the network alone — it depends on what terminates the far port. In terms of z parameters, Z_in = z₁₁ − z₁₂z₂₁/(z₂₂ + Z_L). The first term is the open-circuit input impedance and the second is the correction reflected back through the network by the load. The correction vanishes when Z_L is infinite, recovering z₁₁, and is largest when Z_L is zero. This is the formal version of an everyday effect: changing a loudspeaker changes what an amplifier's output stage sees, and changing an antenna changes what a receiver's input sees.</a:t>
            </a:r>
            <a:endParaRPr lang="en-US" sz="1100" dirty="0"/>
          </a:p>
        </p:txBody>
      </p:sp>
      <p:sp>
        <p:nvSpPr>
          <p:cNvPr id="11" name="shape-38-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terminated two-port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Z_in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load dependence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reflected impedance</a:t>
            </a:r>
            <a:endParaRPr lang="en-US" sz="1100" dirty="0"/>
          </a:p>
        </p:txBody>
      </p:sp>
      <p:sp>
        <p:nvSpPr>
          <p:cNvPr id="13" name="shape-38-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load reflects back through the network and changes the input impedance — Z_in is never a property of the two-port alone.</a:t>
            </a:r>
            <a:endParaRPr lang="en-US" sz="1100" dirty="0"/>
          </a:p>
        </p:txBody>
      </p:sp>
      <p:sp>
        <p:nvSpPr>
          <p:cNvPr id="15" name="shape-38-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two-port box with a source at port 1 and a load Z_L at port 2. A forward arrow runs from port 1 through the box to the load labelled "excitation", and a curved return arrow loops back from the load through t…</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17, pp. 708-713</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L4  |  visual id: zin-reflection-path</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Input impedance of a terminated two-port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39-2"/>
          <p:cNvSpPr/>
          <p:nvPr/>
        </p:nvSpPr>
        <p:spPr>
          <a:xfrm>
            <a:off x="552450" y="1266825"/>
            <a:ext cx="990600" cy="47625"/>
          </a:xfrm>
          <a:prstGeom prst="rect">
            <a:avLst/>
          </a:prstGeom>
          <a:solidFill>
            <a:srgbClr val="0F6FC6"/>
          </a:solidFill>
          <a:ln/>
        </p:spPr>
      </p:sp>
      <p:sp>
        <p:nvSpPr>
          <p:cNvPr id="5" name="shape-3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Input impedance of a terminated two-p…</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39</a:t>
            </a:r>
            <a:endParaRPr lang="en-US" sz="900" dirty="0"/>
          </a:p>
        </p:txBody>
      </p:sp>
      <p:sp>
        <p:nvSpPr>
          <p:cNvPr id="9" name="shape-39-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Obtain the z parameters of the two-port</a:t>
            </a:r>
            <a:endParaRPr lang="en-US" sz="1100" dirty="0"/>
          </a:p>
        </p:txBody>
      </p:sp>
      <p:sp>
        <p:nvSpPr>
          <p:cNvPr id="11" name="shape-39-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Identify the load impedance Z_L at port 2</a:t>
            </a:r>
            <a:endParaRPr lang="en-US" sz="1100" dirty="0"/>
          </a:p>
        </p:txBody>
      </p:sp>
      <p:sp>
        <p:nvSpPr>
          <p:cNvPr id="13" name="shape-39-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the reflected term z₁₂z₂₁/(z₂₂ + Z_L)</a:t>
            </a:r>
            <a:endParaRPr lang="en-US" sz="1100" dirty="0"/>
          </a:p>
        </p:txBody>
      </p:sp>
      <p:sp>
        <p:nvSpPr>
          <p:cNvPr id="15" name="shape-39-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Subtract it from z₁₁ to get Z_in</a:t>
            </a:r>
            <a:endParaRPr lang="en-US" sz="1100" dirty="0"/>
          </a:p>
        </p:txBody>
      </p:sp>
      <p:sp>
        <p:nvSpPr>
          <p:cNvPr id="17" name="shape-39-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the two limiting cases as a sanity test</a:t>
            </a:r>
            <a:endParaRPr lang="en-US" sz="1100" dirty="0"/>
          </a:p>
        </p:txBody>
      </p:sp>
      <p:sp>
        <p:nvSpPr>
          <p:cNvPr id="19" name="shape-39-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Recompute whenever the load changes</a:t>
            </a:r>
            <a:endParaRPr lang="en-US" sz="1100" dirty="0"/>
          </a:p>
        </p:txBody>
      </p:sp>
      <p:sp>
        <p:nvSpPr>
          <p:cNvPr id="21" name="shape-39-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once z is known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O(1) per load value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recomputation per frequency point and per load</a:t>
            </a:r>
            <a:endParaRPr lang="en-US" sz="1100" dirty="0"/>
          </a:p>
        </p:txBody>
      </p:sp>
      <p:sp>
        <p:nvSpPr>
          <p:cNvPr id="23" name="shape-39-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Cheap to evaluate repeatedly, which is why z parameters plus this formula beat re-solving the network for each load.</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17, pp. 708-713   |   CO5  |  Bloom L4</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Input impedance of a terminated two-port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0-2"/>
          <p:cNvSpPr/>
          <p:nvPr/>
        </p:nvSpPr>
        <p:spPr>
          <a:xfrm>
            <a:off x="552450" y="1266825"/>
            <a:ext cx="990600" cy="47625"/>
          </a:xfrm>
          <a:prstGeom prst="rect">
            <a:avLst/>
          </a:prstGeom>
          <a:solidFill>
            <a:srgbClr val="0F6FC6"/>
          </a:solidFill>
          <a:ln/>
        </p:spPr>
      </p:sp>
      <p:sp>
        <p:nvSpPr>
          <p:cNvPr id="5" name="shape-4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Input impedance of a terminated two-p…</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40</a:t>
            </a:r>
            <a:endParaRPr lang="en-US" sz="900" dirty="0"/>
          </a:p>
        </p:txBody>
      </p:sp>
      <p:sp>
        <p:nvSpPr>
          <p:cNvPr id="9" name="shape-40-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z = [[30, 20], [20, 30]] Ω with a 50 Ω load at port 2.</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Reflected term = 20 × 20/(30 + 50) = 400/80 = 5 Ω</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Z_in = 30 − 5 = 25 Ω</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Z_L → ∞: reflected term → 0, so Z_in → 30 Ω = z₁₁ ✓</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Z_L = 0: reflected term = 400/30 = 13.3, so Z_in = 16.7 Ω, matching the direct short-circuit calculation</a:t>
            </a:r>
            <a:endParaRPr lang="en-US" sz="1100" dirty="0"/>
          </a:p>
        </p:txBody>
      </p:sp>
      <p:sp>
        <p:nvSpPr>
          <p:cNvPr id="15" name="shape-40-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Z_in = 25 Ω with the 50 Ω load, and both limiting cases confirm the formula — the input impedance ranges from 16.7 Ω to 30 Ω depending purely on the load.</a:t>
            </a:r>
            <a:endParaRPr lang="en-US" sz="1100" dirty="0"/>
          </a:p>
        </p:txBody>
      </p:sp>
      <p:sp>
        <p:nvSpPr>
          <p:cNvPr id="17" name="shape-40-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Z_in = z₁₁ − z₁₂z₂₁/(z₂₂ + Z_L)</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30 − 400/80 = 25 Ω</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Z_L→∞ ⇒ 30 Ω;  Z_L=0 ⇒ 16.7 Ω</a:t>
            </a:r>
            <a:endParaRPr lang="en-US" sz="1000" dirty="0"/>
          </a:p>
        </p:txBody>
      </p:sp>
      <p:sp>
        <p:nvSpPr>
          <p:cNvPr id="19" name="shape-40-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quote z₁₁ as the input impedance of a terminated network. z₁₁ is the open-circuit value only; in the worked example the actual input impedance under a 50 Ω load is 25 Ω, a 17 % difference that matters directly for any matching calculation.</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17, pp. 708-713   |   CO5  |  Bloom L4</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Output impedance and the source-terminated two-port</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41-2"/>
          <p:cNvSpPr/>
          <p:nvPr/>
        </p:nvSpPr>
        <p:spPr>
          <a:xfrm>
            <a:off x="552450" y="1266825"/>
            <a:ext cx="990600" cy="47625"/>
          </a:xfrm>
          <a:prstGeom prst="rect">
            <a:avLst/>
          </a:prstGeom>
          <a:solidFill>
            <a:srgbClr val="0F6FC6"/>
          </a:solidFill>
          <a:ln/>
        </p:spPr>
      </p:sp>
      <p:sp>
        <p:nvSpPr>
          <p:cNvPr id="5" name="shape-4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Output impedance and the source-termi…</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41</a:t>
            </a:r>
            <a:endParaRPr lang="en-US" sz="900" dirty="0"/>
          </a:p>
        </p:txBody>
      </p:sp>
      <p:sp>
        <p:nvSpPr>
          <p:cNvPr id="9" name="shape-41-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Output impedance is the mirror of input impedance: Z_out = z₂₂ − z₁₂z₂₁/(z₁₁ + Z_S), where Z_S is the impedance of the source driving port 1. It is exactly the Thévenin impedance looking back into port 2 with the source network attached, and it is what a load at port 2 actually sees. The symmetry of the two formulas is not a coincidence — it is reciprocity expressed in terminated form. Together the pair of formulas closes the loop with Module 2: given a two-port, a source and a load, Z_out determines the matched condition for maximum power transfer at the output, and Z_in determines it at the input.</a:t>
            </a:r>
            <a:endParaRPr lang="en-US" sz="1100" dirty="0"/>
          </a:p>
        </p:txBody>
      </p:sp>
      <p:sp>
        <p:nvSpPr>
          <p:cNvPr id="11" name="shape-41-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Z_out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source impedance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reverse reflection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Thévenin at port 2</a:t>
            </a:r>
            <a:endParaRPr lang="en-US" sz="1100" dirty="0"/>
          </a:p>
        </p:txBody>
      </p:sp>
      <p:sp>
        <p:nvSpPr>
          <p:cNvPr id="13" name="shape-41-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Z_out is Z_in's mirror image with the source replacing the load — and it is the Thévenin impedance a real load will meet.</a:t>
            </a:r>
            <a:endParaRPr lang="en-US" sz="1100" dirty="0"/>
          </a:p>
        </p:txBody>
      </p:sp>
      <p:sp>
        <p:nvSpPr>
          <p:cNvPr id="15" name="shape-41-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mirrored layout with a vertical centre line. Left half shows the input case: source Z_S, two-port, load Z_L, with Z_in marked at port 1 and the formula z₁₁ − z₁₂z₂₁/(z₂₂ + Z_L) beneath. Right half shows the…</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17, pp. 708-713</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L4  |  visual id: zout-mirror-of-zin</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Output impedance and the source-terminated two-port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42-2"/>
          <p:cNvSpPr/>
          <p:nvPr/>
        </p:nvSpPr>
        <p:spPr>
          <a:xfrm>
            <a:off x="552450" y="1266825"/>
            <a:ext cx="990600" cy="47625"/>
          </a:xfrm>
          <a:prstGeom prst="rect">
            <a:avLst/>
          </a:prstGeom>
          <a:solidFill>
            <a:srgbClr val="0F6FC6"/>
          </a:solidFill>
          <a:ln/>
        </p:spPr>
      </p:sp>
      <p:sp>
        <p:nvSpPr>
          <p:cNvPr id="5" name="shape-4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Output impedance and the source-termi…</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42</a:t>
            </a:r>
            <a:endParaRPr lang="en-US" sz="900" dirty="0"/>
          </a:p>
        </p:txBody>
      </p:sp>
      <p:sp>
        <p:nvSpPr>
          <p:cNvPr id="9" name="shape-42-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Obtain the z parameters of the two-port</a:t>
            </a:r>
            <a:endParaRPr lang="en-US" sz="1100" dirty="0"/>
          </a:p>
        </p:txBody>
      </p:sp>
      <p:sp>
        <p:nvSpPr>
          <p:cNvPr id="11" name="shape-42-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Identify the source impedance Z_S at port 1</a:t>
            </a:r>
            <a:endParaRPr lang="en-US" sz="1100" dirty="0"/>
          </a:p>
        </p:txBody>
      </p:sp>
      <p:sp>
        <p:nvSpPr>
          <p:cNvPr id="13" name="shape-42-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the reflected term z₁₂z₂₁/(z₁₁ + Z_S)</a:t>
            </a:r>
            <a:endParaRPr lang="en-US" sz="1100" dirty="0"/>
          </a:p>
        </p:txBody>
      </p:sp>
      <p:sp>
        <p:nvSpPr>
          <p:cNvPr id="15" name="shape-42-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Subtract from z₂₂ to obtain Z_out</a:t>
            </a:r>
            <a:endParaRPr lang="en-US" sz="1100" dirty="0"/>
          </a:p>
        </p:txBody>
      </p:sp>
      <p:sp>
        <p:nvSpPr>
          <p:cNvPr id="17" name="shape-42-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Combine with the open-circuit output voltage to form a Thévenin equivalent at port 2</a:t>
            </a:r>
            <a:endParaRPr lang="en-US" sz="1100" dirty="0"/>
          </a:p>
        </p:txBody>
      </p:sp>
      <p:sp>
        <p:nvSpPr>
          <p:cNvPr id="19" name="shape-42-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Apply the conjugate match if maximum output power is required</a:t>
            </a:r>
            <a:endParaRPr lang="en-US" sz="1100" dirty="0"/>
          </a:p>
        </p:txBody>
      </p:sp>
      <p:sp>
        <p:nvSpPr>
          <p:cNvPr id="21" name="shape-42-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once z is known</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O(1) per source impedance</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recomputation per frequency point</a:t>
            </a:r>
            <a:endParaRPr lang="en-US" sz="1100" dirty="0"/>
          </a:p>
        </p:txBody>
      </p:sp>
      <p:sp>
        <p:nvSpPr>
          <p:cNvPr id="23" name="shape-42-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Thévenin equivalent at port 2 makes any subsequent load sweep trivial.</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17, pp. 708-713   |   CO5  |  Bloom L4</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Output impedance and the source-terminated two-port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3-2"/>
          <p:cNvSpPr/>
          <p:nvPr/>
        </p:nvSpPr>
        <p:spPr>
          <a:xfrm>
            <a:off x="552450" y="1266825"/>
            <a:ext cx="990600" cy="47625"/>
          </a:xfrm>
          <a:prstGeom prst="rect">
            <a:avLst/>
          </a:prstGeom>
          <a:solidFill>
            <a:srgbClr val="0F6FC6"/>
          </a:solidFill>
          <a:ln/>
        </p:spPr>
      </p:sp>
      <p:sp>
        <p:nvSpPr>
          <p:cNvPr id="5" name="shape-4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Output impedance and the source-termi…</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43</a:t>
            </a:r>
            <a:endParaRPr lang="en-US" sz="900" dirty="0"/>
          </a:p>
        </p:txBody>
      </p:sp>
      <p:sp>
        <p:nvSpPr>
          <p:cNvPr id="9" name="shape-43-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z = [[30, 20], [20, 30]] Ω driven from a source with Z_S = 10 Ω.</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Reflected term = 20 × 20/(30 + 10) = 400/40 = 10 Ω</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Z_out = 30 − 10 = 20 Ω</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maximum power into a resistive load, choose Z_L = 20 Ω</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Check with Z_S → ∞: reflected term → 0, so Z_out → z₂₂ = 30 Ω as expected</a:t>
            </a:r>
            <a:endParaRPr lang="en-US" sz="1100" dirty="0"/>
          </a:p>
        </p:txBody>
      </p:sp>
      <p:sp>
        <p:nvSpPr>
          <p:cNvPr id="15" name="shape-43-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Z_out = 20 Ω, so a 20 Ω load extracts maximum power — and the limiting case confirms the formula reduces to z₂₂ when the source is an ideal current source.</a:t>
            </a:r>
            <a:endParaRPr lang="en-US" sz="1100" dirty="0"/>
          </a:p>
        </p:txBody>
      </p:sp>
      <p:sp>
        <p:nvSpPr>
          <p:cNvPr id="17" name="shape-43-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Z_out = z₂₂ − z₁₂z₂₁/(z₁₁ + Z_S)</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30 − 400/40 = 20 Ω</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 matched load Z_L = 20 Ω</a:t>
            </a:r>
            <a:endParaRPr lang="en-US" sz="1000" dirty="0"/>
          </a:p>
        </p:txBody>
      </p:sp>
      <p:sp>
        <p:nvSpPr>
          <p:cNvPr id="19" name="shape-43-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use the load impedance in the output formula and the source impedance in the input formula, having memorised the shapes without the reasoning. Each formula uses the impedance at the far port from the one being computed, which is what "reflected through the network" means.</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17, pp. 708-713   |   CO5  |  Bloom L4</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Measuring two-port parameters in practice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44-2"/>
          <p:cNvSpPr/>
          <p:nvPr/>
        </p:nvSpPr>
        <p:spPr>
          <a:xfrm>
            <a:off x="552450" y="1266825"/>
            <a:ext cx="990600" cy="47625"/>
          </a:xfrm>
          <a:prstGeom prst="rect">
            <a:avLst/>
          </a:prstGeom>
          <a:solidFill>
            <a:srgbClr val="0F6FC6"/>
          </a:solidFill>
          <a:ln/>
        </p:spPr>
      </p:sp>
      <p:sp>
        <p:nvSpPr>
          <p:cNvPr id="5" name="shape-4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Measuring two-port parameters in prac…</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44</a:t>
            </a:r>
            <a:endParaRPr lang="en-US" sz="900" dirty="0"/>
          </a:p>
        </p:txBody>
      </p:sp>
      <p:sp>
        <p:nvSpPr>
          <p:cNvPr id="9" name="shape-44-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Determining parameters experimentally exposes constraints the algebra hides. A short circuit is never ideal — lead inductance makes it an impedance that rises with frequency, so short-circuit sets like y become progressively less trustworthy above a few tens of megahertz. An open circuit is never ideal either, because stray capacitance provides a path, though this degrades more slowly. Both problems push high-frequency practice toward scattering parameters, which use matched terminations instead of shorts and opens. At low frequency, direct measurement is straightforward provided the source and meter impedances are accounted for and the parameters are recorded together with the frequency at which they were taken.</a:t>
            </a:r>
            <a:endParaRPr lang="en-US" sz="1100" dirty="0"/>
          </a:p>
        </p:txBody>
      </p:sp>
      <p:sp>
        <p:nvSpPr>
          <p:cNvPr id="11" name="shape-44-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measurement setup</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parasitic effects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calibration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frequency sweep</a:t>
            </a:r>
            <a:endParaRPr lang="en-US" sz="1100" dirty="0"/>
          </a:p>
        </p:txBody>
      </p:sp>
      <p:sp>
        <p:nvSpPr>
          <p:cNvPr id="13" name="shape-44-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Shorts and opens are idealisations; how badly they fail sets which parameter set you can actually measure at a given frequency.</a:t>
            </a:r>
            <a:endParaRPr lang="en-US" sz="1100" dirty="0"/>
          </a:p>
        </p:txBody>
      </p:sp>
      <p:sp>
        <p:nvSpPr>
          <p:cNvPr id="15" name="shape-44-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Left column "Ideal": a perfect short drawn as a zero-impedance bar and a perfect open drawn as a clean gap, each with a green tick. Right column "Real": the same short drawn with a small series inductor symbol…</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17, pp. 692-713</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L5  |  visual id: measurement-reality-check</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Measuring two-port parameters in practice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45-2"/>
          <p:cNvSpPr/>
          <p:nvPr/>
        </p:nvSpPr>
        <p:spPr>
          <a:xfrm>
            <a:off x="552450" y="1266825"/>
            <a:ext cx="990600" cy="47625"/>
          </a:xfrm>
          <a:prstGeom prst="rect">
            <a:avLst/>
          </a:prstGeom>
          <a:solidFill>
            <a:srgbClr val="0F6FC6"/>
          </a:solidFill>
          <a:ln/>
        </p:spPr>
      </p:sp>
      <p:sp>
        <p:nvSpPr>
          <p:cNvPr id="5" name="shape-4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Measuring two-port parameters in prac…</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45</a:t>
            </a:r>
            <a:endParaRPr lang="en-US" sz="900" dirty="0"/>
          </a:p>
        </p:txBody>
      </p:sp>
      <p:sp>
        <p:nvSpPr>
          <p:cNvPr id="9" name="shape-45-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Choose the parameter set whose terminations are realisable at the test frequency</a:t>
            </a:r>
            <a:endParaRPr lang="en-US" sz="1100" dirty="0"/>
          </a:p>
        </p:txBody>
      </p:sp>
      <p:sp>
        <p:nvSpPr>
          <p:cNvPr id="11" name="shape-45-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Characterise the test fixture and de-embed its parasitics</a:t>
            </a:r>
            <a:endParaRPr lang="en-US" sz="1100" dirty="0"/>
          </a:p>
        </p:txBody>
      </p:sp>
      <p:sp>
        <p:nvSpPr>
          <p:cNvPr id="13" name="shape-45-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Apply a known excitation and record both port responses</a:t>
            </a:r>
            <a:endParaRPr lang="en-US" sz="1100" dirty="0"/>
          </a:p>
        </p:txBody>
      </p:sp>
      <p:sp>
        <p:nvSpPr>
          <p:cNvPr id="15" name="shape-45-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Repeat with the excitation at the other port</a:t>
            </a:r>
            <a:endParaRPr lang="en-US" sz="1100" dirty="0"/>
          </a:p>
        </p:txBody>
      </p:sp>
      <p:sp>
        <p:nvSpPr>
          <p:cNvPr id="17" name="shape-45-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Record every parameter with its frequency and its units</a:t>
            </a:r>
            <a:endParaRPr lang="en-US" sz="1100" dirty="0"/>
          </a:p>
        </p:txBody>
      </p:sp>
      <p:sp>
        <p:nvSpPr>
          <p:cNvPr id="19" name="shape-45-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Verify reciprocity and symmetry conditions as a consistency check</a:t>
            </a:r>
            <a:endParaRPr lang="en-US" sz="1100" dirty="0"/>
          </a:p>
        </p:txBody>
      </p:sp>
      <p:sp>
        <p:nvSpPr>
          <p:cNvPr id="21" name="shape-45-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two measurements per frequency point</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two measurements plus a calibration per frequency point</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full de-embedding at every point in a wide sweep</a:t>
            </a:r>
            <a:endParaRPr lang="en-US" sz="1100" dirty="0"/>
          </a:p>
        </p:txBody>
      </p:sp>
      <p:sp>
        <p:nvSpPr>
          <p:cNvPr id="23" name="shape-45-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Calibration usually dominates the measurement time, not the measurement itself.</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17, pp. 692-713   |   CO5  |  Bloom L5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Measuring two-port parameters in practice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6-2"/>
          <p:cNvSpPr/>
          <p:nvPr/>
        </p:nvSpPr>
        <p:spPr>
          <a:xfrm>
            <a:off x="552450" y="1266825"/>
            <a:ext cx="990600" cy="47625"/>
          </a:xfrm>
          <a:prstGeom prst="rect">
            <a:avLst/>
          </a:prstGeom>
          <a:solidFill>
            <a:srgbClr val="0F6FC6"/>
          </a:solidFill>
          <a:ln/>
        </p:spPr>
      </p:sp>
      <p:sp>
        <p:nvSpPr>
          <p:cNvPr id="5" name="shape-4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Measuring two-port parameters in prac…</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46</a:t>
            </a:r>
            <a:endParaRPr lang="en-US" sz="900" dirty="0"/>
          </a:p>
        </p:txBody>
      </p:sp>
      <p:sp>
        <p:nvSpPr>
          <p:cNvPr id="9" name="shape-46-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y-parameter measurement attempted at 100 MHz with a 5 nH lead inductance forming the short.</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Ideal short impedance: 0 Ω</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Actual: Z = j·2π·100e6·5e−9 = j3.14 Ω</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If the network impedances are of order 50 Ω, that is a 6 % perturbation</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measured y₁₁ is correspondingly in error, and worse at higher frequencies</a:t>
            </a:r>
            <a:endParaRPr lang="en-US" sz="1100" dirty="0"/>
          </a:p>
        </p:txBody>
      </p:sp>
      <p:sp>
        <p:nvSpPr>
          <p:cNvPr id="15" name="shape-46-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 5 nH lead produces 3.14 Ω at 100 MHz — enough to corrupt a y-parameter measurement by several percent, which is why scattering parameters replace them at these frequencies.</a:t>
            </a:r>
            <a:endParaRPr lang="en-US" sz="1100" dirty="0"/>
          </a:p>
        </p:txBody>
      </p:sp>
      <p:sp>
        <p:nvSpPr>
          <p:cNvPr id="17" name="shape-46-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Z_short = jωL_lead = j·2π·10⁸·5e−9 = j3.14 Ω</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vs 50 Ω reference ⇒ ≈6% perturbation</a:t>
            </a:r>
            <a:endParaRPr lang="en-US" sz="1000" dirty="0"/>
          </a:p>
        </p:txBody>
      </p:sp>
      <p:sp>
        <p:nvSpPr>
          <p:cNvPr id="19" name="shape-46-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report parameters without stating the frequency at which they were measured. Every parameter of a network containing reactance is frequency-dependent, so an unlabelled set is not a description of anything.</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17, pp. 692-713   |   CO5  |  Bloom L5</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Choosing and converting between parameter sets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47-2"/>
          <p:cNvSpPr/>
          <p:nvPr/>
        </p:nvSpPr>
        <p:spPr>
          <a:xfrm>
            <a:off x="552450" y="1266825"/>
            <a:ext cx="990600" cy="47625"/>
          </a:xfrm>
          <a:prstGeom prst="rect">
            <a:avLst/>
          </a:prstGeom>
          <a:solidFill>
            <a:srgbClr val="0F6FC6"/>
          </a:solidFill>
          <a:ln/>
        </p:spPr>
      </p:sp>
      <p:sp>
        <p:nvSpPr>
          <p:cNvPr id="5" name="shape-47-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Choosing and converting between param…</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47</a:t>
            </a:r>
            <a:endParaRPr lang="en-US" sz="900" dirty="0"/>
          </a:p>
        </p:txBody>
      </p:sp>
      <p:sp>
        <p:nvSpPr>
          <p:cNvPr id="9" name="shape-47-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Conversions between sets are all algebraic and all hinge on a determinant. From z to y the relation is a matrix inverse using Δz = z₁₁z₂₂ − z₁₂z₂₁. From z to ABCD, A = z₁₁/z₂₁, B = Δz/z₂₁, C = 1/z₂₁ and D = z₂₂/z₂₁, which shows immediately that the conversion fails when z₂₁ is zero — a network with no forward transmission has no ABCD representation. Beyond cascading, the choice of set also follows the connection type: two-ports connected in parallel have y matrices that add, and two-ports connected in series have z matrices that add, provided the port conditions survive the interconnection.</a:t>
            </a:r>
            <a:endParaRPr lang="en-US" sz="1100" dirty="0"/>
          </a:p>
        </p:txBody>
      </p:sp>
      <p:sp>
        <p:nvSpPr>
          <p:cNvPr id="11" name="shape-47-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conversion formulas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determinant</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parallel connection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series connection</a:t>
            </a:r>
            <a:endParaRPr lang="en-US" sz="1100" dirty="0"/>
          </a:p>
        </p:txBody>
      </p:sp>
      <p:sp>
        <p:nvSpPr>
          <p:cNvPr id="13" name="shape-47-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Every conversion divides by something, so check what that something is before converting — a zero there means the target set does not exist.</a:t>
            </a:r>
            <a:endParaRPr lang="en-US" sz="1100" dirty="0"/>
          </a:p>
        </p:txBody>
      </p:sp>
      <p:sp>
        <p:nvSpPr>
          <p:cNvPr id="15" name="shape-47-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A hub-and-spoke diagram with four nodes arranged in a diamond: z at the top, y at the bottom, h on the left, ABCD on the right. Each connecting spoke is labelled with the quantity that must be non-zero for tha…</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17, pp. 692-720</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L5  |  visual id: conversion-hub</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Choosing and converting between parameter sets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48-2"/>
          <p:cNvSpPr/>
          <p:nvPr/>
        </p:nvSpPr>
        <p:spPr>
          <a:xfrm>
            <a:off x="552450" y="1266825"/>
            <a:ext cx="990600" cy="47625"/>
          </a:xfrm>
          <a:prstGeom prst="rect">
            <a:avLst/>
          </a:prstGeom>
          <a:solidFill>
            <a:srgbClr val="0F6FC6"/>
          </a:solidFill>
          <a:ln/>
        </p:spPr>
      </p:sp>
      <p:sp>
        <p:nvSpPr>
          <p:cNvPr id="5" name="shape-48-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Choosing and converting between param…</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48</a:t>
            </a:r>
            <a:endParaRPr lang="en-US" sz="900" dirty="0"/>
          </a:p>
        </p:txBody>
      </p:sp>
      <p:sp>
        <p:nvSpPr>
          <p:cNvPr id="9" name="shape-48-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Identify the set you have and the set you need</a:t>
            </a:r>
            <a:endParaRPr lang="en-US" sz="1100" dirty="0"/>
          </a:p>
        </p:txBody>
      </p:sp>
      <p:sp>
        <p:nvSpPr>
          <p:cNvPr id="11" name="shape-48-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Look up the conversion and identify its divisor</a:t>
            </a:r>
            <a:endParaRPr lang="en-US" sz="1100" dirty="0"/>
          </a:p>
        </p:txBody>
      </p:sp>
      <p:sp>
        <p:nvSpPr>
          <p:cNvPr id="13" name="shape-48-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Verify the divisor is non-zero</a:t>
            </a:r>
            <a:endParaRPr lang="en-US" sz="1100" dirty="0"/>
          </a:p>
        </p:txBody>
      </p:sp>
      <p:sp>
        <p:nvSpPr>
          <p:cNvPr id="15" name="shape-48-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Perform the conversion</a:t>
            </a:r>
            <a:endParaRPr lang="en-US" sz="1100" dirty="0"/>
          </a:p>
        </p:txBody>
      </p:sp>
      <p:sp>
        <p:nvSpPr>
          <p:cNvPr id="17" name="shape-48-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Re-check reciprocity and symmetry in the new set</a:t>
            </a:r>
            <a:endParaRPr lang="en-US" sz="1100" dirty="0"/>
          </a:p>
        </p:txBody>
      </p:sp>
      <p:sp>
        <p:nvSpPr>
          <p:cNvPr id="19" name="shape-48-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For interconnections, add y for parallel, add z for series, multiply ABCD for cascade</a:t>
            </a:r>
            <a:endParaRPr lang="en-US" sz="1100" dirty="0"/>
          </a:p>
        </p:txBody>
      </p:sp>
      <p:sp>
        <p:nvSpPr>
          <p:cNvPr id="21" name="shape-48-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 four arithmetic expressions</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O(1) plus a determinant</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O(1), but a zero divisor forces a different route entirely</a:t>
            </a:r>
            <a:endParaRPr lang="en-US" sz="1100" dirty="0"/>
          </a:p>
        </p:txBody>
      </p:sp>
      <p:sp>
        <p:nvSpPr>
          <p:cNvPr id="23" name="shape-48-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The conversions are trivial; the divisor check is the part that carries the engineering content.</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17, pp. 692-720   |   CO5  |  Bloom L5</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Choosing and converting between parameter sets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49-2"/>
          <p:cNvSpPr/>
          <p:nvPr/>
        </p:nvSpPr>
        <p:spPr>
          <a:xfrm>
            <a:off x="552450" y="1266825"/>
            <a:ext cx="990600" cy="47625"/>
          </a:xfrm>
          <a:prstGeom prst="rect">
            <a:avLst/>
          </a:prstGeom>
          <a:solidFill>
            <a:srgbClr val="0F6FC6"/>
          </a:solidFill>
          <a:ln/>
        </p:spPr>
      </p:sp>
      <p:sp>
        <p:nvSpPr>
          <p:cNvPr id="5" name="shape-49-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Choosing and converting between param…</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49</a:t>
            </a:r>
            <a:endParaRPr lang="en-US" sz="900" dirty="0"/>
          </a:p>
        </p:txBody>
      </p:sp>
      <p:sp>
        <p:nvSpPr>
          <p:cNvPr id="9" name="shape-49-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Convert z = [[30, 20], [20, 30]] Ω to ABCD.</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Δz = 30 × 30 − 20 × 20 = 500</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 z₁₁/z₂₁ = 30/20 = 1.5</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 = Δz/z₂₁ = 500/20 = 25 Ω</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 = 1/z₂₁ = 0.05 S, D = z₂₂/z₂₁ = 1.5</a:t>
            </a:r>
            <a:endParaRPr lang="en-US" sz="1100" dirty="0"/>
          </a:p>
        </p:txBody>
      </p:sp>
      <p:sp>
        <p:nvSpPr>
          <p:cNvPr id="15" name="shape-49-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ABCD = [[1.5, 25], [0.05, 1.5]]; the check AD − BC = 2.25 − 1.25 = 1 confirms reciprocity, and A = D confirms symmetry.</a:t>
            </a:r>
            <a:endParaRPr lang="en-US" sz="1100" dirty="0"/>
          </a:p>
        </p:txBody>
      </p:sp>
      <p:sp>
        <p:nvSpPr>
          <p:cNvPr id="17" name="shape-49-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Δz = 500</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A = z₁₁/z₂₁ = 1.5,  B = Δz/z₂₁ = 25 Ω</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C = 1/z₂₁ = 0.05 S, D = z₂₂/z₂₁ = 1.5</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AD − BC = 1 ✓,  A = D ⇒ symmetric</a:t>
            </a:r>
            <a:endParaRPr lang="en-US" sz="1000" dirty="0"/>
          </a:p>
        </p:txBody>
      </p:sp>
      <p:sp>
        <p:nvSpPr>
          <p:cNvPr id="19" name="shape-49-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convert without checking the divisor and obtain infinities or silent nonsense. A network with z₂₁ = 0 transmits nothing forward, and asking for its ABCD matrix is asking for the transmission properties of something that does not transmit.</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17, pp. 692-720   |   CO5  |  Bloom L5</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Putting it together: a fully terminated two-port</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What it is, why it works, and what it costs.</a:t>
            </a:r>
            <a:endParaRPr lang="en-US" sz="1100" dirty="0"/>
          </a:p>
        </p:txBody>
      </p:sp>
      <p:sp>
        <p:nvSpPr>
          <p:cNvPr id="4" name="shape-50-2"/>
          <p:cNvSpPr/>
          <p:nvPr/>
        </p:nvSpPr>
        <p:spPr>
          <a:xfrm>
            <a:off x="552450" y="1266825"/>
            <a:ext cx="990600" cy="47625"/>
          </a:xfrm>
          <a:prstGeom prst="rect">
            <a:avLst/>
          </a:prstGeom>
          <a:solidFill>
            <a:srgbClr val="0F6FC6"/>
          </a:solidFill>
          <a:ln/>
        </p:spPr>
      </p:sp>
      <p:sp>
        <p:nvSpPr>
          <p:cNvPr id="5" name="shape-50-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Putting it together: a fully terminat…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50</a:t>
            </a:r>
            <a:endParaRPr lang="en-US" sz="900" dirty="0"/>
          </a:p>
        </p:txBody>
      </p:sp>
      <p:sp>
        <p:nvSpPr>
          <p:cNvPr id="9" name="shape-50-7"/>
          <p:cNvSpPr/>
          <p:nvPr/>
        </p:nvSpPr>
        <p:spPr>
          <a:xfrm>
            <a:off x="552450" y="1543050"/>
            <a:ext cx="7048500" cy="2914650"/>
          </a:xfrm>
          <a:prstGeom prst="rect">
            <a:avLst/>
          </a:prstGeom>
          <a:solidFill>
            <a:srgbClr val="FFFFFF"/>
          </a:solidFill>
          <a:ln w="12700">
            <a:solidFill>
              <a:srgbClr val="D7DEE8"/>
            </a:solidFill>
            <a:prstDash val="solid"/>
          </a:ln>
        </p:spPr>
      </p:sp>
      <p:sp>
        <p:nvSpPr>
          <p:cNvPr id="10" name="text"/>
          <p:cNvSpPr/>
          <p:nvPr/>
        </p:nvSpPr>
        <p:spPr>
          <a:xfrm>
            <a:off x="742950" y="1714500"/>
            <a:ext cx="6667500" cy="25908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THE MECHANISM</a:t>
            </a:r>
            <a:endParaRPr lang="en-US" sz="1100" dirty="0"/>
          </a:p>
          <a:p>
            <a:pPr algn="l" indent="0" marL="0">
              <a:lnSpc>
                <a:spcPct val="105000"/>
              </a:lnSpc>
              <a:buNone/>
            </a:pPr>
            <a:r>
              <a:rPr lang="en-US" sz="1200" dirty="0">
                <a:solidFill>
                  <a:srgbClr val="12203A"/>
                </a:solidFill>
                <a:latin typeface="Segoe UI" pitchFamily="34" charset="0"/>
                <a:ea typeface="Segoe UI" pitchFamily="34" charset="-122"/>
                <a:cs typeface="Segoe UI" pitchFamily="34" charset="-120"/>
              </a:rPr>
              <a:t>With a source, a two-port and a load in place, every performance figure follows from the four parameters plus the two terminations. Input impedance uses the load, output impedance uses the source, and voltage gain follows from the z parameters and Z_L as V₂/V₁ = z₂₁Z_L/(z₁₁(z₂₂ + Z_L) − z₁₂z₂₁). Power gain then combines the voltage gain with the input and load impedances. This is where the module pays off: a black box characterised once by four measurements predicts its behaviour with any source and any load, without ever reopening it — and it links directly back to Module 2, since maximum output power requires the load to be the conjugate of Z_out.</a:t>
            </a:r>
            <a:endParaRPr lang="en-US" sz="1100" dirty="0"/>
          </a:p>
        </p:txBody>
      </p:sp>
      <p:sp>
        <p:nvSpPr>
          <p:cNvPr id="11" name="shape-50-9"/>
          <p:cNvSpPr/>
          <p:nvPr/>
        </p:nvSpPr>
        <p:spPr>
          <a:xfrm>
            <a:off x="7810500" y="1543050"/>
            <a:ext cx="3829050" cy="1390650"/>
          </a:xfrm>
          <a:prstGeom prst="rect">
            <a:avLst/>
          </a:prstGeom>
          <a:solidFill>
            <a:srgbClr val="F1F5FA"/>
          </a:solidFill>
          <a:ln/>
        </p:spPr>
      </p:sp>
      <p:sp>
        <p:nvSpPr>
          <p:cNvPr id="12" name="text"/>
          <p:cNvSpPr/>
          <p:nvPr/>
        </p:nvSpPr>
        <p:spPr>
          <a:xfrm>
            <a:off x="8001000" y="1695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KEY TERMS</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voltage gain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current gain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power gain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terminated performance</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 insertion loss</a:t>
            </a:r>
            <a:endParaRPr lang="en-US" sz="1100" dirty="0"/>
          </a:p>
        </p:txBody>
      </p:sp>
      <p:sp>
        <p:nvSpPr>
          <p:cNvPr id="13" name="shape-50-11"/>
          <p:cNvSpPr/>
          <p:nvPr/>
        </p:nvSpPr>
        <p:spPr>
          <a:xfrm>
            <a:off x="7810500" y="3067050"/>
            <a:ext cx="3829050" cy="1390650"/>
          </a:xfrm>
          <a:prstGeom prst="rect">
            <a:avLst/>
          </a:prstGeom>
          <a:solidFill>
            <a:srgbClr val="FDF3EC"/>
          </a:solidFill>
          <a:ln/>
        </p:spPr>
      </p:sp>
      <p:sp>
        <p:nvSpPr>
          <p:cNvPr id="14" name="text"/>
          <p:cNvSpPr/>
          <p:nvPr/>
        </p:nvSpPr>
        <p:spPr>
          <a:xfrm>
            <a:off x="8001000" y="3219450"/>
            <a:ext cx="3448050" cy="11239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TAKEAWAY</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Four parameters plus two terminations give every performance figure — that is the whole return on the two-port abstraction.</a:t>
            </a:r>
            <a:endParaRPr lang="en-US" sz="1100" dirty="0"/>
          </a:p>
        </p:txBody>
      </p:sp>
      <p:sp>
        <p:nvSpPr>
          <p:cNvPr id="15" name="shape-50-13"/>
          <p:cNvSpPr/>
          <p:nvPr/>
        </p:nvSpPr>
        <p:spPr>
          <a:xfrm>
            <a:off x="552450" y="4629150"/>
            <a:ext cx="11087100" cy="609600"/>
          </a:xfrm>
          <a:prstGeom prst="rect">
            <a:avLst/>
          </a:prstGeom>
          <a:solidFill>
            <a:srgbClr val="F1F5FA"/>
          </a:solidFill>
          <a:ln/>
        </p:spPr>
      </p:sp>
      <p:sp>
        <p:nvSpPr>
          <p:cNvPr id="16" name="text"/>
          <p:cNvSpPr/>
          <p:nvPr/>
        </p:nvSpPr>
        <p:spPr>
          <a:xfrm>
            <a:off x="742950" y="4724400"/>
            <a:ext cx="742950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5A6478"/>
                </a:solidFill>
                <a:latin typeface="Segoe UI" pitchFamily="34" charset="0"/>
                <a:ea typeface="Segoe UI" pitchFamily="34" charset="-122"/>
                <a:cs typeface="Segoe UI" pitchFamily="34" charset="-120"/>
              </a:rPr>
              <a:t>DIAGRAM FOR PHASE 2</a:t>
            </a:r>
            <a:endParaRPr lang="en-US" sz="1100" dirty="0"/>
          </a:p>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Centre: a full chain — source with Z_S, two-port box labelled with its z matrix, load Z_L. Radiating outward, four dashboard cards each fed by a line from the relevant part of the chain: "Z_in" fed from port 1…</a:t>
            </a:r>
            <a:endParaRPr lang="en-US" sz="1100" dirty="0"/>
          </a:p>
        </p:txBody>
      </p:sp>
      <p:sp>
        <p:nvSpPr>
          <p:cNvPr id="17" name="text"/>
          <p:cNvSpPr/>
          <p:nvPr/>
        </p:nvSpPr>
        <p:spPr>
          <a:xfrm>
            <a:off x="7810500" y="4705350"/>
            <a:ext cx="3657600" cy="2667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17, pp. 708-720</a:t>
            </a:r>
            <a:endParaRPr lang="en-US" sz="900" dirty="0"/>
          </a:p>
        </p:txBody>
      </p:sp>
      <p:sp>
        <p:nvSpPr>
          <p:cNvPr id="18" name="text"/>
          <p:cNvSpPr/>
          <p:nvPr/>
        </p:nvSpPr>
        <p:spPr>
          <a:xfrm>
            <a:off x="7810500" y="4972050"/>
            <a:ext cx="3657600" cy="20955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CO5  |  Bloom L5  |  visual id: terminated-performance-dashboard</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Putting it together: a fully terminated two-port - how it works</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The procedure in order, and what each pass costs you.</a:t>
            </a:r>
            <a:endParaRPr lang="en-US" sz="1100" dirty="0"/>
          </a:p>
        </p:txBody>
      </p:sp>
      <p:sp>
        <p:nvSpPr>
          <p:cNvPr id="4" name="shape-51-2"/>
          <p:cNvSpPr/>
          <p:nvPr/>
        </p:nvSpPr>
        <p:spPr>
          <a:xfrm>
            <a:off x="552450" y="1266825"/>
            <a:ext cx="990600" cy="47625"/>
          </a:xfrm>
          <a:prstGeom prst="rect">
            <a:avLst/>
          </a:prstGeom>
          <a:solidFill>
            <a:srgbClr val="0F6FC6"/>
          </a:solidFill>
          <a:ln/>
        </p:spPr>
      </p:sp>
      <p:sp>
        <p:nvSpPr>
          <p:cNvPr id="5" name="shape-51-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Putting it together: a fully terminat…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51</a:t>
            </a:r>
            <a:endParaRPr lang="en-US" sz="900" dirty="0"/>
          </a:p>
        </p:txBody>
      </p:sp>
      <p:sp>
        <p:nvSpPr>
          <p:cNvPr id="9" name="shape-51-7"/>
          <p:cNvSpPr/>
          <p:nvPr/>
        </p:nvSpPr>
        <p:spPr>
          <a:xfrm>
            <a:off x="552450" y="1600200"/>
            <a:ext cx="7239000" cy="476250"/>
          </a:xfrm>
          <a:prstGeom prst="rect">
            <a:avLst/>
          </a:prstGeom>
          <a:solidFill>
            <a:srgbClr val="F1F5FA"/>
          </a:solidFill>
          <a:ln w="12700">
            <a:solidFill>
              <a:srgbClr val="D7DEE8"/>
            </a:solidFill>
            <a:prstDash val="solid"/>
          </a:ln>
        </p:spPr>
      </p:sp>
      <p:sp>
        <p:nvSpPr>
          <p:cNvPr id="10" name="text"/>
          <p:cNvSpPr/>
          <p:nvPr/>
        </p:nvSpPr>
        <p:spPr>
          <a:xfrm>
            <a:off x="723900" y="17145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Measure or compute the four parameters at the frequency of interest</a:t>
            </a:r>
            <a:endParaRPr lang="en-US" sz="1100" dirty="0"/>
          </a:p>
        </p:txBody>
      </p:sp>
      <p:sp>
        <p:nvSpPr>
          <p:cNvPr id="11" name="shape-51-9"/>
          <p:cNvSpPr/>
          <p:nvPr/>
        </p:nvSpPr>
        <p:spPr>
          <a:xfrm>
            <a:off x="552450" y="2152650"/>
            <a:ext cx="7239000" cy="476250"/>
          </a:xfrm>
          <a:prstGeom prst="rect">
            <a:avLst/>
          </a:prstGeom>
          <a:solidFill>
            <a:srgbClr val="FFFFFF"/>
          </a:solidFill>
          <a:ln w="12700">
            <a:solidFill>
              <a:srgbClr val="D7DEE8"/>
            </a:solidFill>
            <a:prstDash val="solid"/>
          </a:ln>
        </p:spPr>
      </p:sp>
      <p:sp>
        <p:nvSpPr>
          <p:cNvPr id="12" name="text"/>
          <p:cNvSpPr/>
          <p:nvPr/>
        </p:nvSpPr>
        <p:spPr>
          <a:xfrm>
            <a:off x="723900" y="22669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Z_in using the load impedance</a:t>
            </a:r>
            <a:endParaRPr lang="en-US" sz="1100" dirty="0"/>
          </a:p>
        </p:txBody>
      </p:sp>
      <p:sp>
        <p:nvSpPr>
          <p:cNvPr id="13" name="shape-51-11"/>
          <p:cNvSpPr/>
          <p:nvPr/>
        </p:nvSpPr>
        <p:spPr>
          <a:xfrm>
            <a:off x="552450" y="2705100"/>
            <a:ext cx="7239000" cy="476250"/>
          </a:xfrm>
          <a:prstGeom prst="rect">
            <a:avLst/>
          </a:prstGeom>
          <a:solidFill>
            <a:srgbClr val="F1F5FA"/>
          </a:solidFill>
          <a:ln w="12700">
            <a:solidFill>
              <a:srgbClr val="D7DEE8"/>
            </a:solidFill>
            <a:prstDash val="solid"/>
          </a:ln>
        </p:spPr>
      </p:sp>
      <p:sp>
        <p:nvSpPr>
          <p:cNvPr id="14" name="text"/>
          <p:cNvSpPr/>
          <p:nvPr/>
        </p:nvSpPr>
        <p:spPr>
          <a:xfrm>
            <a:off x="723900" y="28194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Z_out using the source impedance</a:t>
            </a:r>
            <a:endParaRPr lang="en-US" sz="1100" dirty="0"/>
          </a:p>
        </p:txBody>
      </p:sp>
      <p:sp>
        <p:nvSpPr>
          <p:cNvPr id="15" name="shape-51-13"/>
          <p:cNvSpPr/>
          <p:nvPr/>
        </p:nvSpPr>
        <p:spPr>
          <a:xfrm>
            <a:off x="552450" y="3257550"/>
            <a:ext cx="7239000" cy="476250"/>
          </a:xfrm>
          <a:prstGeom prst="rect">
            <a:avLst/>
          </a:prstGeom>
          <a:solidFill>
            <a:srgbClr val="FFFFFF"/>
          </a:solidFill>
          <a:ln w="12700">
            <a:solidFill>
              <a:srgbClr val="D7DEE8"/>
            </a:solidFill>
            <a:prstDash val="solid"/>
          </a:ln>
        </p:spPr>
      </p:sp>
      <p:sp>
        <p:nvSpPr>
          <p:cNvPr id="16" name="text"/>
          <p:cNvSpPr/>
          <p:nvPr/>
        </p:nvSpPr>
        <p:spPr>
          <a:xfrm>
            <a:off x="723900" y="33718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Compute the voltage gain from the parameters and the load</a:t>
            </a:r>
            <a:endParaRPr lang="en-US" sz="1100" dirty="0"/>
          </a:p>
        </p:txBody>
      </p:sp>
      <p:sp>
        <p:nvSpPr>
          <p:cNvPr id="17" name="shape-51-15"/>
          <p:cNvSpPr/>
          <p:nvPr/>
        </p:nvSpPr>
        <p:spPr>
          <a:xfrm>
            <a:off x="552450" y="3810000"/>
            <a:ext cx="7239000" cy="476250"/>
          </a:xfrm>
          <a:prstGeom prst="rect">
            <a:avLst/>
          </a:prstGeom>
          <a:solidFill>
            <a:srgbClr val="F1F5FA"/>
          </a:solidFill>
          <a:ln w="12700">
            <a:solidFill>
              <a:srgbClr val="D7DEE8"/>
            </a:solidFill>
            <a:prstDash val="solid"/>
          </a:ln>
        </p:spPr>
      </p:sp>
      <p:sp>
        <p:nvSpPr>
          <p:cNvPr id="18" name="text"/>
          <p:cNvSpPr/>
          <p:nvPr/>
        </p:nvSpPr>
        <p:spPr>
          <a:xfrm>
            <a:off x="723900" y="392430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Combine into current and power gain as required</a:t>
            </a:r>
            <a:endParaRPr lang="en-US" sz="1100" dirty="0"/>
          </a:p>
        </p:txBody>
      </p:sp>
      <p:sp>
        <p:nvSpPr>
          <p:cNvPr id="19" name="shape-51-17"/>
          <p:cNvSpPr/>
          <p:nvPr/>
        </p:nvSpPr>
        <p:spPr>
          <a:xfrm>
            <a:off x="552450" y="4362450"/>
            <a:ext cx="7239000" cy="476250"/>
          </a:xfrm>
          <a:prstGeom prst="rect">
            <a:avLst/>
          </a:prstGeom>
          <a:solidFill>
            <a:srgbClr val="FFFFFF"/>
          </a:solidFill>
          <a:ln w="12700">
            <a:solidFill>
              <a:srgbClr val="D7DEE8"/>
            </a:solidFill>
            <a:prstDash val="solid"/>
          </a:ln>
        </p:spPr>
      </p:sp>
      <p:sp>
        <p:nvSpPr>
          <p:cNvPr id="20" name="text"/>
          <p:cNvSpPr/>
          <p:nvPr/>
        </p:nvSpPr>
        <p:spPr>
          <a:xfrm>
            <a:off x="723900" y="4476750"/>
            <a:ext cx="6915150" cy="3429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Apply the conjugate match at the output if maximum power is the goal</a:t>
            </a:r>
            <a:endParaRPr lang="en-US" sz="1100" dirty="0"/>
          </a:p>
        </p:txBody>
      </p:sp>
      <p:sp>
        <p:nvSpPr>
          <p:cNvPr id="21" name="shape-51-19"/>
          <p:cNvSpPr/>
          <p:nvPr/>
        </p:nvSpPr>
        <p:spPr>
          <a:xfrm>
            <a:off x="8020050" y="1543050"/>
            <a:ext cx="3619500" cy="2247900"/>
          </a:xfrm>
          <a:prstGeom prst="rect">
            <a:avLst/>
          </a:prstGeom>
          <a:solidFill>
            <a:srgbClr val="F1F5FA"/>
          </a:solidFill>
          <a:ln/>
        </p:spPr>
      </p:sp>
      <p:sp>
        <p:nvSpPr>
          <p:cNvPr id="22" name="text"/>
          <p:cNvSpPr/>
          <p:nvPr/>
        </p:nvSpPr>
        <p:spPr>
          <a:xfrm>
            <a:off x="8210550" y="1695450"/>
            <a:ext cx="3257550" cy="19621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COST AND BEHAVIOUR</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Best: O(1) per termination pair</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Typical: O(1) per frequency point</a:t>
            </a:r>
            <a:endParaRPr lang="en-US" sz="1100" dirty="0"/>
          </a:p>
          <a:p>
            <a:pPr algn="l" indent="0" marL="0">
              <a:lnSpc>
                <a:spcPct val="105000"/>
              </a:lnSpc>
              <a:buNone/>
            </a:pPr>
            <a:r>
              <a:rPr lang="en-US" sz="600" dirty="0">
                <a:solidFill>
                  <a:srgbClr val="12203A"/>
                </a:solidFill>
                <a:latin typeface="Segoe UI" pitchFamily="34" charset="0"/>
                <a:ea typeface="Segoe UI" pitchFamily="34" charset="-122"/>
                <a:cs typeface="Segoe UI" pitchFamily="34" charset="-120"/>
              </a:rPr>
              <a:t> </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Worst: full recomputation across a frequency sweep</a:t>
            </a:r>
            <a:endParaRPr lang="en-US" sz="1100" dirty="0"/>
          </a:p>
        </p:txBody>
      </p:sp>
      <p:sp>
        <p:nvSpPr>
          <p:cNvPr id="23" name="shape-51-21"/>
          <p:cNvSpPr/>
          <p:nvPr/>
        </p:nvSpPr>
        <p:spPr>
          <a:xfrm>
            <a:off x="8020050" y="3943350"/>
            <a:ext cx="3619500" cy="1257300"/>
          </a:xfrm>
          <a:prstGeom prst="rect">
            <a:avLst/>
          </a:prstGeom>
          <a:solidFill>
            <a:srgbClr val="FDF3EC"/>
          </a:solidFill>
          <a:ln/>
        </p:spPr>
      </p:sp>
      <p:sp>
        <p:nvSpPr>
          <p:cNvPr id="24" name="text"/>
          <p:cNvSpPr/>
          <p:nvPr/>
        </p:nvSpPr>
        <p:spPr>
          <a:xfrm>
            <a:off x="8210550" y="4076700"/>
            <a:ext cx="3257550" cy="10096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WHAT THAT MEANS</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One characterisation supports unlimited termination combinations, which is the entire economic argument for two-port modelling.</a:t>
            </a:r>
            <a:endParaRPr lang="en-US" sz="1100" dirty="0"/>
          </a:p>
        </p:txBody>
      </p:sp>
      <p:sp>
        <p:nvSpPr>
          <p:cNvPr id="25"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17, pp. 708-720   |   CO5  |  Bloom L5</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Putting it together: a fully terminated two-port - worked example</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One concrete case, carried all the way to a stated number.</a:t>
            </a:r>
            <a:endParaRPr lang="en-US" sz="1100" dirty="0"/>
          </a:p>
        </p:txBody>
      </p:sp>
      <p:sp>
        <p:nvSpPr>
          <p:cNvPr id="4" name="shape-52-2"/>
          <p:cNvSpPr/>
          <p:nvPr/>
        </p:nvSpPr>
        <p:spPr>
          <a:xfrm>
            <a:off x="552450" y="1266825"/>
            <a:ext cx="990600" cy="47625"/>
          </a:xfrm>
          <a:prstGeom prst="rect">
            <a:avLst/>
          </a:prstGeom>
          <a:solidFill>
            <a:srgbClr val="0F6FC6"/>
          </a:solidFill>
          <a:ln/>
        </p:spPr>
      </p:sp>
      <p:sp>
        <p:nvSpPr>
          <p:cNvPr id="5" name="shape-52-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Putting it together: a fully terminat…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52</a:t>
            </a:r>
            <a:endParaRPr lang="en-US" sz="900" dirty="0"/>
          </a:p>
        </p:txBody>
      </p:sp>
      <p:sp>
        <p:nvSpPr>
          <p:cNvPr id="9" name="shape-52-7"/>
          <p:cNvSpPr/>
          <p:nvPr/>
        </p:nvSpPr>
        <p:spPr>
          <a:xfrm>
            <a:off x="552450" y="1543050"/>
            <a:ext cx="7048500" cy="590550"/>
          </a:xfrm>
          <a:prstGeom prst="rect">
            <a:avLst/>
          </a:prstGeom>
          <a:solidFill>
            <a:srgbClr val="F1F5FA"/>
          </a:solidFill>
          <a:ln/>
        </p:spPr>
      </p:sp>
      <p:sp>
        <p:nvSpPr>
          <p:cNvPr id="10" name="text"/>
          <p:cNvSpPr/>
          <p:nvPr/>
        </p:nvSpPr>
        <p:spPr>
          <a:xfrm>
            <a:off x="723900" y="1657350"/>
            <a:ext cx="6724650" cy="4191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GIVEN</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z = [[30, 20], [20, 30]] Ω, Z_S = 10 Ω, Z_L = 50 Ω, driven by 1 V.</a:t>
            </a:r>
            <a:endParaRPr lang="en-US" sz="1100" dirty="0"/>
          </a:p>
        </p:txBody>
      </p:sp>
      <p:sp>
        <p:nvSpPr>
          <p:cNvPr id="11" name="text"/>
          <p:cNvSpPr/>
          <p:nvPr/>
        </p:nvSpPr>
        <p:spPr>
          <a:xfrm>
            <a:off x="723900" y="22669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Z_in = 30 − 400/80 = 25 Ω</a:t>
            </a:r>
            <a:endParaRPr lang="en-US" sz="1100" dirty="0"/>
          </a:p>
        </p:txBody>
      </p:sp>
      <p:sp>
        <p:nvSpPr>
          <p:cNvPr id="12" name="text"/>
          <p:cNvSpPr/>
          <p:nvPr/>
        </p:nvSpPr>
        <p:spPr>
          <a:xfrm>
            <a:off x="723900" y="27051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Z_out = 30 − 400/40 = 20 Ω</a:t>
            </a:r>
            <a:endParaRPr lang="en-US" sz="1100" dirty="0"/>
          </a:p>
        </p:txBody>
      </p:sp>
      <p:sp>
        <p:nvSpPr>
          <p:cNvPr id="13" name="text"/>
          <p:cNvSpPr/>
          <p:nvPr/>
        </p:nvSpPr>
        <p:spPr>
          <a:xfrm>
            <a:off x="723900" y="314325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A_v = z₂₁Z_L/(z₁₁(z₂₂+Z_L) − z₁₂z₂₁) = 20 × 50/(30 × 80 − 400) = 1000/2000 = 0.5</a:t>
            </a:r>
            <a:endParaRPr lang="en-US" sz="1100" dirty="0"/>
          </a:p>
        </p:txBody>
      </p:sp>
      <p:sp>
        <p:nvSpPr>
          <p:cNvPr id="14" name="text"/>
          <p:cNvSpPr/>
          <p:nvPr/>
        </p:nvSpPr>
        <p:spPr>
          <a:xfrm>
            <a:off x="723900" y="3581400"/>
            <a:ext cx="6877050" cy="381000"/>
          </a:xfrm>
          <a:prstGeom prst="rect">
            <a:avLst/>
          </a:prstGeom>
          <a:noFill/>
          <a:ln/>
        </p:spPr>
        <p:txBody>
          <a:bodyPr wrap="square" lIns="0" tIns="0" rIns="0" bIns="0" rtlCol="0" anchor="t">
            <a:normAutofit/>
          </a:bodyPr>
          <a:lstStyle/>
          <a:p>
            <a:pPr algn="l" indent="0" marL="0">
              <a:lnSpc>
                <a:spcPct val="105000"/>
              </a:lnSpc>
              <a:buNone/>
            </a:pPr>
            <a:r>
              <a:rPr lang="en-US" sz="1100" b="1" dirty="0">
                <a:solidFill>
                  <a:srgbClr val="0F6FC6"/>
                </a:solidFill>
                <a:latin typeface="Segoe UI" pitchFamily="34" charset="0"/>
                <a:ea typeface="Segoe UI" pitchFamily="34" charset="-122"/>
                <a:cs typeface="Segoe UI" pitchFamily="34" charset="-120"/>
              </a:rPr>
              <a:t>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Matched output would require Z_L = 20 Ω rather than 50 Ω</a:t>
            </a:r>
            <a:endParaRPr lang="en-US" sz="1100" dirty="0"/>
          </a:p>
        </p:txBody>
      </p:sp>
      <p:sp>
        <p:nvSpPr>
          <p:cNvPr id="15" name="shape-52-13"/>
          <p:cNvSpPr/>
          <p:nvPr/>
        </p:nvSpPr>
        <p:spPr>
          <a:xfrm>
            <a:off x="552450" y="4076700"/>
            <a:ext cx="7048500" cy="628650"/>
          </a:xfrm>
          <a:prstGeom prst="rect">
            <a:avLst/>
          </a:prstGeom>
          <a:solidFill>
            <a:srgbClr val="FDF3EC"/>
          </a:solidFill>
          <a:ln/>
        </p:spPr>
      </p:sp>
      <p:sp>
        <p:nvSpPr>
          <p:cNvPr id="16" name="text"/>
          <p:cNvSpPr/>
          <p:nvPr/>
        </p:nvSpPr>
        <p:spPr>
          <a:xfrm>
            <a:off x="723900" y="4191000"/>
            <a:ext cx="6724650" cy="4572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RESULT</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Z_in = 25 Ω, Z_out = 20 Ω and a voltage gain of 0.5 — and the 50 Ω load is mismatched, so output power is below the achievable maximum.</a:t>
            </a:r>
            <a:endParaRPr lang="en-US" sz="1100" dirty="0"/>
          </a:p>
        </p:txBody>
      </p:sp>
      <p:sp>
        <p:nvSpPr>
          <p:cNvPr id="17" name="shape-52-15"/>
          <p:cNvSpPr/>
          <p:nvPr/>
        </p:nvSpPr>
        <p:spPr>
          <a:xfrm>
            <a:off x="7810500" y="1543050"/>
            <a:ext cx="3829050" cy="1771650"/>
          </a:xfrm>
          <a:prstGeom prst="rect">
            <a:avLst/>
          </a:prstGeom>
          <a:solidFill>
            <a:srgbClr val="0E1726"/>
          </a:solidFill>
          <a:ln/>
        </p:spPr>
      </p:sp>
      <p:sp>
        <p:nvSpPr>
          <p:cNvPr id="18" name="text"/>
          <p:cNvSpPr/>
          <p:nvPr/>
        </p:nvSpPr>
        <p:spPr>
          <a:xfrm>
            <a:off x="7981950" y="1695450"/>
            <a:ext cx="3486150" cy="14859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Z_in  = z₁₁ − z₁₂z₂₁/(z₂₂+Z_L) = 25 Ω</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Z_out = z₂₂ − z₁₂z₂₁/(z₁₁+Z_S) = 20 Ω</a:t>
            </a:r>
            <a:endParaRPr lang="en-US" sz="1000" dirty="0"/>
          </a:p>
          <a:p>
            <a:pPr algn="l" indent="0" marL="0">
              <a:lnSpc>
                <a:spcPct val="120000"/>
              </a:lnSpc>
              <a:buNone/>
            </a:pPr>
            <a:r>
              <a:rPr lang="en-US" sz="1000" dirty="0">
                <a:solidFill>
                  <a:srgbClr val="E6EDF6"/>
                </a:solidFill>
                <a:latin typeface="Consolas" pitchFamily="34" charset="0"/>
                <a:ea typeface="Consolas" pitchFamily="34" charset="-122"/>
                <a:cs typeface="Consolas" pitchFamily="34" charset="-120"/>
              </a:rPr>
              <a:t>A_v   = z₂₁Z_L/(z₁₁(z₂₂+Z_L) − z₁₂z₂₁) = 0.5</a:t>
            </a:r>
            <a:endParaRPr lang="en-US" sz="1000" dirty="0"/>
          </a:p>
        </p:txBody>
      </p:sp>
      <p:sp>
        <p:nvSpPr>
          <p:cNvPr id="19" name="shape-52-17"/>
          <p:cNvSpPr/>
          <p:nvPr/>
        </p:nvSpPr>
        <p:spPr>
          <a:xfrm>
            <a:off x="7810500" y="3467100"/>
            <a:ext cx="3829050" cy="1733550"/>
          </a:xfrm>
          <a:prstGeom prst="rect">
            <a:avLst/>
          </a:prstGeom>
          <a:solidFill>
            <a:srgbClr val="FFFFFF"/>
          </a:solidFill>
          <a:ln w="19050">
            <a:solidFill>
              <a:srgbClr val="C2410C"/>
            </a:solidFill>
            <a:prstDash val="solid"/>
          </a:ln>
        </p:spPr>
      </p:sp>
      <p:sp>
        <p:nvSpPr>
          <p:cNvPr id="20" name="text"/>
          <p:cNvSpPr/>
          <p:nvPr/>
        </p:nvSpPr>
        <p:spPr>
          <a:xfrm>
            <a:off x="7981950" y="3600450"/>
            <a:ext cx="3486150" cy="14668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THE MISTAKE STUDENTS MAKE</a:t>
            </a:r>
            <a:endParaRPr lang="en-US" sz="1100" dirty="0"/>
          </a:p>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Students compute a voltage gain from the parameters alone and quote it as the gain of the stage. Gain depends on the terminations; the same two-port shows a different gain into every different load, which is why a datasheet always specifies the test conditions.</a:t>
            </a:r>
            <a:endParaRPr lang="en-US" sz="1100" dirty="0"/>
          </a:p>
        </p:txBody>
      </p:sp>
      <p:sp>
        <p:nvSpPr>
          <p:cNvPr id="21" name="text"/>
          <p:cNvSpPr/>
          <p:nvPr/>
        </p:nvSpPr>
        <p:spPr>
          <a:xfrm>
            <a:off x="552450" y="5295900"/>
            <a:ext cx="11087100" cy="2286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Source: Engineering Circuit Analysis, 8th ed., Ch. 17, pp. 708-720   |   CO5  |  Bloom L5</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One sentence per unit, six months from now</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1-7: what survives after the detail has gone.</a:t>
            </a:r>
            <a:endParaRPr lang="en-US" sz="1100" dirty="0"/>
          </a:p>
        </p:txBody>
      </p:sp>
      <p:sp>
        <p:nvSpPr>
          <p:cNvPr id="4" name="shape-53-2"/>
          <p:cNvSpPr/>
          <p:nvPr/>
        </p:nvSpPr>
        <p:spPr>
          <a:xfrm>
            <a:off x="552450" y="1266825"/>
            <a:ext cx="990600" cy="47625"/>
          </a:xfrm>
          <a:prstGeom prst="rect">
            <a:avLst/>
          </a:prstGeom>
          <a:solidFill>
            <a:srgbClr val="0F6FC6"/>
          </a:solidFill>
          <a:ln/>
        </p:spPr>
      </p:sp>
      <p:sp>
        <p:nvSpPr>
          <p:cNvPr id="5" name="shape-53-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Revision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53</a:t>
            </a:r>
            <a:endParaRPr lang="en-US" sz="900" dirty="0"/>
          </a:p>
        </p:txBody>
      </p:sp>
      <p:sp>
        <p:nvSpPr>
          <p:cNvPr id="9" name="shape-53-7"/>
          <p:cNvSpPr/>
          <p:nvPr/>
        </p:nvSpPr>
        <p:spPr>
          <a:xfrm>
            <a:off x="552450" y="1600200"/>
            <a:ext cx="11087100" cy="552450"/>
          </a:xfrm>
          <a:prstGeom prst="rect">
            <a:avLst/>
          </a:prstGeom>
          <a:solidFill>
            <a:srgbClr val="F1F5FA"/>
          </a:solidFill>
          <a:ln w="12700">
            <a:solidFill>
              <a:srgbClr val="D7DEE8"/>
            </a:solidFill>
            <a:prstDash val="solid"/>
          </a:ln>
        </p:spPr>
      </p:sp>
      <p:sp>
        <p:nvSpPr>
          <p:cNvPr id="10" name="text"/>
          <p:cNvSpPr/>
          <p:nvPr/>
        </p:nvSpPr>
        <p:spPr>
          <a:xfrm>
            <a:off x="762000" y="17145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 one-port is one number as a function of s — and only if the port condition actually holds.</a:t>
            </a:r>
            <a:endParaRPr lang="en-US" sz="1100" dirty="0"/>
          </a:p>
        </p:txBody>
      </p:sp>
      <p:sp>
        <p:nvSpPr>
          <p:cNvPr id="11" name="shape-53-9"/>
          <p:cNvSpPr/>
          <p:nvPr/>
        </p:nvSpPr>
        <p:spPr>
          <a:xfrm>
            <a:off x="552450" y="2228850"/>
            <a:ext cx="11087100" cy="552450"/>
          </a:xfrm>
          <a:prstGeom prst="rect">
            <a:avLst/>
          </a:prstGeom>
          <a:solidFill>
            <a:srgbClr val="FFFFFF"/>
          </a:solidFill>
          <a:ln w="12700">
            <a:solidFill>
              <a:srgbClr val="D7DEE8"/>
            </a:solidFill>
            <a:prstDash val="solid"/>
          </a:ln>
        </p:spPr>
      </p:sp>
      <p:sp>
        <p:nvSpPr>
          <p:cNvPr id="12" name="text"/>
          <p:cNvSpPr/>
          <p:nvPr/>
        </p:nvSpPr>
        <p:spPr>
          <a:xfrm>
            <a:off x="762000" y="23431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Four numbers describe any linear two-port at a given frequency, no matter how many parts are inside.</a:t>
            </a:r>
            <a:endParaRPr lang="en-US" sz="1100" dirty="0"/>
          </a:p>
        </p:txBody>
      </p:sp>
      <p:sp>
        <p:nvSpPr>
          <p:cNvPr id="13" name="shape-53-11"/>
          <p:cNvSpPr/>
          <p:nvPr/>
        </p:nvSpPr>
        <p:spPr>
          <a:xfrm>
            <a:off x="552450" y="2857500"/>
            <a:ext cx="11087100" cy="552450"/>
          </a:xfrm>
          <a:prstGeom prst="rect">
            <a:avLst/>
          </a:prstGeom>
          <a:solidFill>
            <a:srgbClr val="F1F5FA"/>
          </a:solidFill>
          <a:ln w="12700">
            <a:solidFill>
              <a:srgbClr val="D7DEE8"/>
            </a:solidFill>
            <a:prstDash val="solid"/>
          </a:ln>
        </p:spPr>
      </p:sp>
      <p:sp>
        <p:nvSpPr>
          <p:cNvPr id="14" name="text"/>
          <p:cNvSpPr/>
          <p:nvPr/>
        </p:nvSpPr>
        <p:spPr>
          <a:xfrm>
            <a:off x="762000" y="29718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y parameters are the short-circuit set — and short-circuit tests are easy at low frequency and awkward at high frequency.</a:t>
            </a:r>
            <a:endParaRPr lang="en-US" sz="1100" dirty="0"/>
          </a:p>
        </p:txBody>
      </p:sp>
      <p:sp>
        <p:nvSpPr>
          <p:cNvPr id="15" name="shape-53-13"/>
          <p:cNvSpPr/>
          <p:nvPr/>
        </p:nvSpPr>
        <p:spPr>
          <a:xfrm>
            <a:off x="552450" y="3486150"/>
            <a:ext cx="11087100" cy="552450"/>
          </a:xfrm>
          <a:prstGeom prst="rect">
            <a:avLst/>
          </a:prstGeom>
          <a:solidFill>
            <a:srgbClr val="FFFFFF"/>
          </a:solidFill>
          <a:ln w="12700">
            <a:solidFill>
              <a:srgbClr val="D7DEE8"/>
            </a:solidFill>
            <a:prstDash val="solid"/>
          </a:ln>
        </p:spPr>
      </p:sp>
      <p:sp>
        <p:nvSpPr>
          <p:cNvPr id="16" name="text"/>
          <p:cNvSpPr/>
          <p:nvPr/>
        </p:nvSpPr>
        <p:spPr>
          <a:xfrm>
            <a:off x="762000" y="36004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Three admittances reproduce any reciprocal two-port exactly — and a fourth element, a dependent source, is needed the moment it is not reciprocal.</a:t>
            </a:r>
            <a:endParaRPr lang="en-US" sz="1100" dirty="0"/>
          </a:p>
        </p:txBody>
      </p:sp>
      <p:sp>
        <p:nvSpPr>
          <p:cNvPr id="17" name="shape-53-15"/>
          <p:cNvSpPr/>
          <p:nvPr/>
        </p:nvSpPr>
        <p:spPr>
          <a:xfrm>
            <a:off x="552450" y="4114800"/>
            <a:ext cx="11087100" cy="552450"/>
          </a:xfrm>
          <a:prstGeom prst="rect">
            <a:avLst/>
          </a:prstGeom>
          <a:solidFill>
            <a:srgbClr val="F1F5FA"/>
          </a:solidFill>
          <a:ln w="12700">
            <a:solidFill>
              <a:srgbClr val="D7DEE8"/>
            </a:solidFill>
            <a:prstDash val="solid"/>
          </a:ln>
        </p:spPr>
      </p:sp>
      <p:sp>
        <p:nvSpPr>
          <p:cNvPr id="18" name="text"/>
          <p:cNvSpPr/>
          <p:nvPr/>
        </p:nvSpPr>
        <p:spPr>
          <a:xfrm>
            <a:off x="762000" y="42291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z parameters are the open-circuit set and map onto a T; y parameters are the short-circuit set and map onto a π.</a:t>
            </a:r>
            <a:endParaRPr lang="en-US" sz="1100" dirty="0"/>
          </a:p>
        </p:txBody>
      </p:sp>
      <p:sp>
        <p:nvSpPr>
          <p:cNvPr id="19" name="shape-53-17"/>
          <p:cNvSpPr/>
          <p:nvPr/>
        </p:nvSpPr>
        <p:spPr>
          <a:xfrm>
            <a:off x="552450" y="4743450"/>
            <a:ext cx="11087100" cy="552450"/>
          </a:xfrm>
          <a:prstGeom prst="rect">
            <a:avLst/>
          </a:prstGeom>
          <a:solidFill>
            <a:srgbClr val="FFFFFF"/>
          </a:solidFill>
          <a:ln w="12700">
            <a:solidFill>
              <a:srgbClr val="D7DEE8"/>
            </a:solidFill>
            <a:prstDash val="solid"/>
          </a:ln>
        </p:spPr>
      </p:sp>
      <p:sp>
        <p:nvSpPr>
          <p:cNvPr id="20" name="text"/>
          <p:cNvSpPr/>
          <p:nvPr/>
        </p:nvSpPr>
        <p:spPr>
          <a:xfrm>
            <a:off x="762000" y="48577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z and y are matrix inverses, and when the inverse does not exist that parameter set simply does not describe the network.</a:t>
            </a:r>
            <a:endParaRPr lang="en-US" sz="1100" dirty="0"/>
          </a:p>
        </p:txBody>
      </p:sp>
      <p:sp>
        <p:nvSpPr>
          <p:cNvPr id="21" name="shape-53-19"/>
          <p:cNvSpPr/>
          <p:nvPr/>
        </p:nvSpPr>
        <p:spPr>
          <a:xfrm>
            <a:off x="552450" y="5372100"/>
            <a:ext cx="11087100" cy="552450"/>
          </a:xfrm>
          <a:prstGeom prst="rect">
            <a:avLst/>
          </a:prstGeom>
          <a:solidFill>
            <a:srgbClr val="F1F5FA"/>
          </a:solidFill>
          <a:ln w="12700">
            <a:solidFill>
              <a:srgbClr val="D7DEE8"/>
            </a:solidFill>
            <a:prstDash val="solid"/>
          </a:ln>
        </p:spPr>
      </p:sp>
      <p:sp>
        <p:nvSpPr>
          <p:cNvPr id="22" name="text"/>
          <p:cNvSpPr/>
          <p:nvPr/>
        </p:nvSpPr>
        <p:spPr>
          <a:xfrm>
            <a:off x="762000" y="54864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07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h parameters exist because transistors are current-in, voltage-out devices — the mixed units follow from the physics, not from taste.</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Revision, continued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8-14: what survives after the detail has gone.</a:t>
            </a:r>
            <a:endParaRPr lang="en-US" sz="1100" dirty="0"/>
          </a:p>
        </p:txBody>
      </p:sp>
      <p:sp>
        <p:nvSpPr>
          <p:cNvPr id="4" name="shape-54-2"/>
          <p:cNvSpPr/>
          <p:nvPr/>
        </p:nvSpPr>
        <p:spPr>
          <a:xfrm>
            <a:off x="552450" y="1266825"/>
            <a:ext cx="990600" cy="47625"/>
          </a:xfrm>
          <a:prstGeom prst="rect">
            <a:avLst/>
          </a:prstGeom>
          <a:solidFill>
            <a:srgbClr val="0F6FC6"/>
          </a:solidFill>
          <a:ln/>
        </p:spPr>
      </p:sp>
      <p:sp>
        <p:nvSpPr>
          <p:cNvPr id="5" name="shape-54-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Revision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54</a:t>
            </a:r>
            <a:endParaRPr lang="en-US" sz="900" dirty="0"/>
          </a:p>
        </p:txBody>
      </p:sp>
      <p:sp>
        <p:nvSpPr>
          <p:cNvPr id="9" name="shape-54-7"/>
          <p:cNvSpPr/>
          <p:nvPr/>
        </p:nvSpPr>
        <p:spPr>
          <a:xfrm>
            <a:off x="552450" y="1600200"/>
            <a:ext cx="11087100" cy="552450"/>
          </a:xfrm>
          <a:prstGeom prst="rect">
            <a:avLst/>
          </a:prstGeom>
          <a:solidFill>
            <a:srgbClr val="F1F5FA"/>
          </a:solidFill>
          <a:ln w="12700">
            <a:solidFill>
              <a:srgbClr val="D7DEE8"/>
            </a:solidFill>
            <a:prstDash val="solid"/>
          </a:ln>
        </p:spPr>
      </p:sp>
      <p:sp>
        <p:nvSpPr>
          <p:cNvPr id="10" name="text"/>
          <p:cNvSpPr/>
          <p:nvPr/>
        </p:nvSpPr>
        <p:spPr>
          <a:xfrm>
            <a:off x="762000" y="17145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08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Choose the parameter set by the question — existence, ease of measurement, or what operation you are about to perform.</a:t>
            </a:r>
            <a:endParaRPr lang="en-US" sz="1100" dirty="0"/>
          </a:p>
        </p:txBody>
      </p:sp>
      <p:sp>
        <p:nvSpPr>
          <p:cNvPr id="11" name="shape-54-9"/>
          <p:cNvSpPr/>
          <p:nvPr/>
        </p:nvSpPr>
        <p:spPr>
          <a:xfrm>
            <a:off x="552450" y="2228850"/>
            <a:ext cx="11087100" cy="552450"/>
          </a:xfrm>
          <a:prstGeom prst="rect">
            <a:avLst/>
          </a:prstGeom>
          <a:solidFill>
            <a:srgbClr val="FFFFFF"/>
          </a:solidFill>
          <a:ln w="12700">
            <a:solidFill>
              <a:srgbClr val="D7DEE8"/>
            </a:solidFill>
            <a:prstDash val="solid"/>
          </a:ln>
        </p:spPr>
      </p:sp>
      <p:sp>
        <p:nvSpPr>
          <p:cNvPr id="12" name="text"/>
          <p:cNvSpPr/>
          <p:nvPr/>
        </p:nvSpPr>
        <p:spPr>
          <a:xfrm>
            <a:off x="762000" y="23431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09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ABCD looks backwards — input written in terms of output — and that is exactly what makes cascading into matrix multiplication.</a:t>
            </a:r>
            <a:endParaRPr lang="en-US" sz="1100" dirty="0"/>
          </a:p>
        </p:txBody>
      </p:sp>
      <p:sp>
        <p:nvSpPr>
          <p:cNvPr id="13" name="shape-54-11"/>
          <p:cNvSpPr/>
          <p:nvPr/>
        </p:nvSpPr>
        <p:spPr>
          <a:xfrm>
            <a:off x="552450" y="2857500"/>
            <a:ext cx="11087100" cy="552450"/>
          </a:xfrm>
          <a:prstGeom prst="rect">
            <a:avLst/>
          </a:prstGeom>
          <a:solidFill>
            <a:srgbClr val="F1F5FA"/>
          </a:solidFill>
          <a:ln w="12700">
            <a:solidFill>
              <a:srgbClr val="D7DEE8"/>
            </a:solidFill>
            <a:prstDash val="solid"/>
          </a:ln>
        </p:spPr>
      </p:sp>
      <p:sp>
        <p:nvSpPr>
          <p:cNvPr id="14" name="text"/>
          <p:cNvSpPr/>
          <p:nvPr/>
        </p:nvSpPr>
        <p:spPr>
          <a:xfrm>
            <a:off x="762000" y="29718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10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ABCD multiplication handles inter-stage loading automatically — which is exactly what naive transfer-function cascading gets wrong.</a:t>
            </a:r>
            <a:endParaRPr lang="en-US" sz="1100" dirty="0"/>
          </a:p>
        </p:txBody>
      </p:sp>
      <p:sp>
        <p:nvSpPr>
          <p:cNvPr id="15" name="shape-54-13"/>
          <p:cNvSpPr/>
          <p:nvPr/>
        </p:nvSpPr>
        <p:spPr>
          <a:xfrm>
            <a:off x="552450" y="3486150"/>
            <a:ext cx="11087100" cy="552450"/>
          </a:xfrm>
          <a:prstGeom prst="rect">
            <a:avLst/>
          </a:prstGeom>
          <a:solidFill>
            <a:srgbClr val="FFFFFF"/>
          </a:solidFill>
          <a:ln w="12700">
            <a:solidFill>
              <a:srgbClr val="D7DEE8"/>
            </a:solidFill>
            <a:prstDash val="solid"/>
          </a:ln>
        </p:spPr>
      </p:sp>
      <p:sp>
        <p:nvSpPr>
          <p:cNvPr id="16" name="text"/>
          <p:cNvSpPr/>
          <p:nvPr/>
        </p:nvSpPr>
        <p:spPr>
          <a:xfrm>
            <a:off x="762000" y="36004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11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Reciprocity is about swapping source and meter; symmetry is about swapping the ports themselves — and they are not the same claim.</a:t>
            </a:r>
            <a:endParaRPr lang="en-US" sz="1100" dirty="0"/>
          </a:p>
        </p:txBody>
      </p:sp>
      <p:sp>
        <p:nvSpPr>
          <p:cNvPr id="17" name="shape-54-15"/>
          <p:cNvSpPr/>
          <p:nvPr/>
        </p:nvSpPr>
        <p:spPr>
          <a:xfrm>
            <a:off x="552450" y="4114800"/>
            <a:ext cx="11087100" cy="552450"/>
          </a:xfrm>
          <a:prstGeom prst="rect">
            <a:avLst/>
          </a:prstGeom>
          <a:solidFill>
            <a:srgbClr val="F1F5FA"/>
          </a:solidFill>
          <a:ln w="12700">
            <a:solidFill>
              <a:srgbClr val="D7DEE8"/>
            </a:solidFill>
            <a:prstDash val="solid"/>
          </a:ln>
        </p:spPr>
      </p:sp>
      <p:sp>
        <p:nvSpPr>
          <p:cNvPr id="18" name="text"/>
          <p:cNvSpPr/>
          <p:nvPr/>
        </p:nvSpPr>
        <p:spPr>
          <a:xfrm>
            <a:off x="762000" y="42291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12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The load reflects back through the network and changes the input impedance — Z_in is never a property of the two-port alone.</a:t>
            </a:r>
            <a:endParaRPr lang="en-US" sz="1100" dirty="0"/>
          </a:p>
        </p:txBody>
      </p:sp>
      <p:sp>
        <p:nvSpPr>
          <p:cNvPr id="19" name="shape-54-17"/>
          <p:cNvSpPr/>
          <p:nvPr/>
        </p:nvSpPr>
        <p:spPr>
          <a:xfrm>
            <a:off x="552450" y="4743450"/>
            <a:ext cx="11087100" cy="552450"/>
          </a:xfrm>
          <a:prstGeom prst="rect">
            <a:avLst/>
          </a:prstGeom>
          <a:solidFill>
            <a:srgbClr val="FFFFFF"/>
          </a:solidFill>
          <a:ln w="12700">
            <a:solidFill>
              <a:srgbClr val="D7DEE8"/>
            </a:solidFill>
            <a:prstDash val="solid"/>
          </a:ln>
        </p:spPr>
      </p:sp>
      <p:sp>
        <p:nvSpPr>
          <p:cNvPr id="20" name="text"/>
          <p:cNvSpPr/>
          <p:nvPr/>
        </p:nvSpPr>
        <p:spPr>
          <a:xfrm>
            <a:off x="762000" y="48577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13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Z_out is Z_in's mirror image with the source replacing the load — and it is the Thévenin impedance a real load will meet.</a:t>
            </a:r>
            <a:endParaRPr lang="en-US" sz="1100" dirty="0"/>
          </a:p>
        </p:txBody>
      </p:sp>
      <p:sp>
        <p:nvSpPr>
          <p:cNvPr id="21" name="shape-54-19"/>
          <p:cNvSpPr/>
          <p:nvPr/>
        </p:nvSpPr>
        <p:spPr>
          <a:xfrm>
            <a:off x="552450" y="5372100"/>
            <a:ext cx="11087100" cy="552450"/>
          </a:xfrm>
          <a:prstGeom prst="rect">
            <a:avLst/>
          </a:prstGeom>
          <a:solidFill>
            <a:srgbClr val="F1F5FA"/>
          </a:solidFill>
          <a:ln w="12700">
            <a:solidFill>
              <a:srgbClr val="D7DEE8"/>
            </a:solidFill>
            <a:prstDash val="solid"/>
          </a:ln>
        </p:spPr>
      </p:sp>
      <p:sp>
        <p:nvSpPr>
          <p:cNvPr id="22" name="text"/>
          <p:cNvSpPr/>
          <p:nvPr/>
        </p:nvSpPr>
        <p:spPr>
          <a:xfrm>
            <a:off x="762000" y="54864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14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Shorts and opens are idealisations; how badly they fail sets which parameter set you can actually measure at a given frequency.</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Revision, continued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Units 15-16: what survives after the detail has gone.</a:t>
            </a:r>
            <a:endParaRPr lang="en-US" sz="1100" dirty="0"/>
          </a:p>
        </p:txBody>
      </p:sp>
      <p:sp>
        <p:nvSpPr>
          <p:cNvPr id="4" name="shape-55-2"/>
          <p:cNvSpPr/>
          <p:nvPr/>
        </p:nvSpPr>
        <p:spPr>
          <a:xfrm>
            <a:off x="552450" y="1266825"/>
            <a:ext cx="990600" cy="47625"/>
          </a:xfrm>
          <a:prstGeom prst="rect">
            <a:avLst/>
          </a:prstGeom>
          <a:solidFill>
            <a:srgbClr val="0F6FC6"/>
          </a:solidFill>
          <a:ln/>
        </p:spPr>
      </p:sp>
      <p:sp>
        <p:nvSpPr>
          <p:cNvPr id="5" name="shape-55-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Revision</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55</a:t>
            </a:r>
            <a:endParaRPr lang="en-US" sz="900" dirty="0"/>
          </a:p>
        </p:txBody>
      </p:sp>
      <p:sp>
        <p:nvSpPr>
          <p:cNvPr id="9" name="shape-55-7"/>
          <p:cNvSpPr/>
          <p:nvPr/>
        </p:nvSpPr>
        <p:spPr>
          <a:xfrm>
            <a:off x="552450" y="1600200"/>
            <a:ext cx="11087100" cy="552450"/>
          </a:xfrm>
          <a:prstGeom prst="rect">
            <a:avLst/>
          </a:prstGeom>
          <a:solidFill>
            <a:srgbClr val="F1F5FA"/>
          </a:solidFill>
          <a:ln w="12700">
            <a:solidFill>
              <a:srgbClr val="D7DEE8"/>
            </a:solidFill>
            <a:prstDash val="solid"/>
          </a:ln>
        </p:spPr>
      </p:sp>
      <p:sp>
        <p:nvSpPr>
          <p:cNvPr id="10" name="text"/>
          <p:cNvSpPr/>
          <p:nvPr/>
        </p:nvSpPr>
        <p:spPr>
          <a:xfrm>
            <a:off x="762000" y="171450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15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Every conversion divides by something, so check what that something is before converting — a zero there means the target set does not exist.</a:t>
            </a:r>
            <a:endParaRPr lang="en-US" sz="1100" dirty="0"/>
          </a:p>
        </p:txBody>
      </p:sp>
      <p:sp>
        <p:nvSpPr>
          <p:cNvPr id="11" name="shape-55-9"/>
          <p:cNvSpPr/>
          <p:nvPr/>
        </p:nvSpPr>
        <p:spPr>
          <a:xfrm>
            <a:off x="552450" y="2228850"/>
            <a:ext cx="11087100" cy="552450"/>
          </a:xfrm>
          <a:prstGeom prst="rect">
            <a:avLst/>
          </a:prstGeom>
          <a:solidFill>
            <a:srgbClr val="FFFFFF"/>
          </a:solidFill>
          <a:ln w="12700">
            <a:solidFill>
              <a:srgbClr val="D7DEE8"/>
            </a:solidFill>
            <a:prstDash val="solid"/>
          </a:ln>
        </p:spPr>
      </p:sp>
      <p:sp>
        <p:nvSpPr>
          <p:cNvPr id="12" name="text"/>
          <p:cNvSpPr/>
          <p:nvPr/>
        </p:nvSpPr>
        <p:spPr>
          <a:xfrm>
            <a:off x="762000" y="2343150"/>
            <a:ext cx="10706100" cy="381000"/>
          </a:xfrm>
          <a:prstGeom prst="rect">
            <a:avLst/>
          </a:prstGeom>
          <a:noFill/>
          <a:ln/>
        </p:spPr>
        <p:txBody>
          <a:bodyPr wrap="square" lIns="0" tIns="0" rIns="0" bIns="0" rtlCol="0" anchor="t">
            <a:normAutofit/>
          </a:bodyPr>
          <a:lstStyle/>
          <a:p>
            <a:pPr algn="l" indent="0" marL="0">
              <a:lnSpc>
                <a:spcPct val="105000"/>
              </a:lnSpc>
              <a:buNone/>
            </a:pPr>
            <a:r>
              <a:rPr lang="en-US" sz="1200" b="1" dirty="0">
                <a:solidFill>
                  <a:srgbClr val="0F6FC6"/>
                </a:solidFill>
                <a:latin typeface="Segoe UI" pitchFamily="34" charset="0"/>
                <a:ea typeface="Segoe UI" pitchFamily="34" charset="-122"/>
                <a:cs typeface="Segoe UI" pitchFamily="34" charset="-120"/>
              </a:rPr>
              <a:t>16   </a:t>
            </a:r>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Four parameters plus two terminations give every performance figure — that is the whole return on the two-port abstraction.</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itle"/>
          <p:cNvSpPr/>
          <p:nvPr/>
        </p:nvSpPr>
        <p:spPr>
          <a:xfrm>
            <a:off x="552450" y="361950"/>
            <a:ext cx="8858250" cy="514350"/>
          </a:xfrm>
          <a:prstGeom prst="rect">
            <a:avLst/>
          </a:prstGeom>
          <a:noFill/>
          <a:ln/>
        </p:spPr>
        <p:txBody>
          <a:bodyPr wrap="square" lIns="0" tIns="0" rIns="0" bIns="0" rtlCol="0" anchor="t">
            <a:normAutofit/>
          </a:bodyPr>
          <a:lstStyle/>
          <a:p>
            <a:pPr algn="l" indent="0" marL="0">
              <a:lnSpc>
                <a:spcPct val="105000"/>
              </a:lnSpc>
              <a:buNone/>
            </a:pPr>
            <a:r>
              <a:rPr lang="en-US" sz="2200" b="1" dirty="0">
                <a:solidFill>
                  <a:srgbClr val="12203A"/>
                </a:solidFill>
                <a:latin typeface="Segoe UI" pitchFamily="34" charset="0"/>
                <a:ea typeface="Segoe UI" pitchFamily="34" charset="-122"/>
                <a:cs typeface="Segoe UI" pitchFamily="34" charset="-120"/>
              </a:rPr>
              <a:t>How this module is assessed</a:t>
            </a:r>
            <a:endParaRPr lang="en-US" sz="2200" dirty="0"/>
          </a:p>
        </p:txBody>
      </p:sp>
      <p:sp>
        <p:nvSpPr>
          <p:cNvPr id="3" name="objective"/>
          <p:cNvSpPr/>
          <p:nvPr/>
        </p:nvSpPr>
        <p:spPr>
          <a:xfrm>
            <a:off x="590550" y="895350"/>
            <a:ext cx="7810500" cy="26670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Where the quiz and the assignment live, and what they test.</a:t>
            </a:r>
            <a:endParaRPr lang="en-US" sz="1100" dirty="0"/>
          </a:p>
        </p:txBody>
      </p:sp>
      <p:sp>
        <p:nvSpPr>
          <p:cNvPr id="4" name="shape-56-2"/>
          <p:cNvSpPr/>
          <p:nvPr/>
        </p:nvSpPr>
        <p:spPr>
          <a:xfrm>
            <a:off x="552450" y="1266825"/>
            <a:ext cx="990600" cy="47625"/>
          </a:xfrm>
          <a:prstGeom prst="rect">
            <a:avLst/>
          </a:prstGeom>
          <a:solidFill>
            <a:srgbClr val="0F6FC6"/>
          </a:solidFill>
          <a:ln/>
        </p:spPr>
      </p:sp>
      <p:sp>
        <p:nvSpPr>
          <p:cNvPr id="5" name="shape-56-3"/>
          <p:cNvSpPr/>
          <p:nvPr/>
        </p:nvSpPr>
        <p:spPr>
          <a:xfrm>
            <a:off x="0" y="6591300"/>
            <a:ext cx="12192000" cy="266700"/>
          </a:xfrm>
          <a:prstGeom prst="rect">
            <a:avLst/>
          </a:prstGeom>
          <a:solidFill>
            <a:srgbClr val="F1F5FA"/>
          </a:solidFill>
          <a:ln/>
        </p:spPr>
      </p:sp>
      <p:sp>
        <p:nvSpPr>
          <p:cNvPr id="6" name="text"/>
          <p:cNvSpPr/>
          <p:nvPr/>
        </p:nvSpPr>
        <p:spPr>
          <a:xfrm>
            <a:off x="419100" y="6629400"/>
            <a:ext cx="3143250" cy="19050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VTU BEC303 | Module 5</a:t>
            </a:r>
            <a:endParaRPr lang="en-US" sz="900" dirty="0"/>
          </a:p>
        </p:txBody>
      </p:sp>
      <p:sp>
        <p:nvSpPr>
          <p:cNvPr id="7" name="text"/>
          <p:cNvSpPr/>
          <p:nvPr/>
        </p:nvSpPr>
        <p:spPr>
          <a:xfrm>
            <a:off x="4667250" y="6629400"/>
            <a:ext cx="3143250" cy="190500"/>
          </a:xfrm>
          <a:prstGeom prst="rect">
            <a:avLst/>
          </a:prstGeom>
          <a:noFill/>
          <a:ln/>
        </p:spPr>
        <p:txBody>
          <a:bodyPr wrap="square" lIns="0" tIns="0" rIns="0" bIns="0" rtlCol="0" anchor="t">
            <a:normAutofit/>
          </a:bodyPr>
          <a:lstStyle/>
          <a:p>
            <a:pPr algn="ctr" indent="0" marL="0">
              <a:lnSpc>
                <a:spcPct val="105000"/>
              </a:lnSpc>
              <a:buNone/>
            </a:pPr>
            <a:r>
              <a:rPr lang="en-US" sz="900" dirty="0">
                <a:solidFill>
                  <a:srgbClr val="5A6478"/>
                </a:solidFill>
                <a:latin typeface="Segoe UI" pitchFamily="34" charset="0"/>
                <a:ea typeface="Segoe UI" pitchFamily="34" charset="-122"/>
                <a:cs typeface="Segoe UI" pitchFamily="34" charset="-120"/>
              </a:rPr>
              <a:t>Assessment</a:t>
            </a:r>
            <a:endParaRPr lang="en-US" sz="900" dirty="0"/>
          </a:p>
        </p:txBody>
      </p:sp>
      <p:sp>
        <p:nvSpPr>
          <p:cNvPr id="8" name="text"/>
          <p:cNvSpPr/>
          <p:nvPr/>
        </p:nvSpPr>
        <p:spPr>
          <a:xfrm>
            <a:off x="11144250" y="6629400"/>
            <a:ext cx="609600" cy="190500"/>
          </a:xfrm>
          <a:prstGeom prst="rect">
            <a:avLst/>
          </a:prstGeom>
          <a:noFill/>
          <a:ln/>
        </p:spPr>
        <p:txBody>
          <a:bodyPr wrap="square" lIns="0" tIns="0" rIns="0" bIns="0" rtlCol="0" anchor="t">
            <a:normAutofit/>
          </a:bodyPr>
          <a:lstStyle/>
          <a:p>
            <a:pPr algn="r" indent="0" marL="0">
              <a:lnSpc>
                <a:spcPct val="105000"/>
              </a:lnSpc>
              <a:buNone/>
            </a:pPr>
            <a:r>
              <a:rPr lang="en-US" sz="900" dirty="0">
                <a:solidFill>
                  <a:srgbClr val="5A6478"/>
                </a:solidFill>
                <a:latin typeface="Segoe UI" pitchFamily="34" charset="0"/>
                <a:ea typeface="Segoe UI" pitchFamily="34" charset="-122"/>
                <a:cs typeface="Segoe UI" pitchFamily="34" charset="-120"/>
              </a:rPr>
              <a:t>56</a:t>
            </a:r>
            <a:endParaRPr lang="en-US" sz="900" dirty="0"/>
          </a:p>
        </p:txBody>
      </p:sp>
      <p:sp>
        <p:nvSpPr>
          <p:cNvPr id="9" name="shape-56-7"/>
          <p:cNvSpPr/>
          <p:nvPr/>
        </p:nvSpPr>
        <p:spPr>
          <a:xfrm>
            <a:off x="552450" y="1543050"/>
            <a:ext cx="5429250" cy="2438400"/>
          </a:xfrm>
          <a:prstGeom prst="rect">
            <a:avLst/>
          </a:prstGeom>
          <a:solidFill>
            <a:srgbClr val="F1F5FA"/>
          </a:solidFill>
          <a:ln w="12700">
            <a:solidFill>
              <a:srgbClr val="D7DEE8"/>
            </a:solidFill>
            <a:prstDash val="solid"/>
          </a:ln>
        </p:spPr>
      </p:sp>
      <p:sp>
        <p:nvSpPr>
          <p:cNvPr id="10" name="text"/>
          <p:cNvSpPr/>
          <p:nvPr/>
        </p:nvSpPr>
        <p:spPr>
          <a:xfrm>
            <a:off x="742950" y="1695450"/>
            <a:ext cx="5048250" cy="102870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0F6FC6"/>
                </a:solidFill>
                <a:latin typeface="Segoe UI" pitchFamily="34" charset="0"/>
                <a:ea typeface="Segoe UI" pitchFamily="34" charset="-122"/>
                <a:cs typeface="Segoe UI" pitchFamily="34" charset="-120"/>
              </a:rPr>
              <a:t>MODULE 5 QUIZ</a:t>
            </a:r>
            <a:endParaRPr lang="en-US" sz="1100" dirty="0"/>
          </a:p>
          <a:p>
            <a:pPr algn="l" indent="0" marL="0">
              <a:lnSpc>
                <a:spcPct val="105000"/>
              </a:lnSpc>
              <a:buNone/>
            </a:pPr>
            <a:r>
              <a:rPr lang="en-US" sz="1100" dirty="0">
                <a:solidFill>
                  <a:srgbClr val="12203A"/>
                </a:solidFill>
                <a:latin typeface="Consolas" pitchFamily="34" charset="0"/>
                <a:ea typeface="Consolas" pitchFamily="34" charset="-122"/>
                <a:cs typeface="Consolas" pitchFamily="34" charset="-120"/>
              </a:rPr>
              <a:t>quizzes/Module_5_Quiz.pdf</a:t>
            </a:r>
            <a:endParaRPr lang="en-US" sz="1100" dirty="0"/>
          </a:p>
          <a:p>
            <a:pPr algn="l" indent="0" marL="0">
              <a:lnSpc>
                <a:spcPct val="105000"/>
              </a:lnSpc>
              <a:buNone/>
            </a:pPr>
            <a:r>
              <a:rPr lang="en-US" sz="1100" dirty="0">
                <a:solidFill>
                  <a:srgbClr val="12203A"/>
                </a:solidFill>
                <a:latin typeface="Consolas" pitchFamily="34" charset="0"/>
                <a:ea typeface="Consolas" pitchFamily="34" charset="-122"/>
                <a:cs typeface="Consolas" pitchFamily="34" charset="-120"/>
              </a:rPr>
              <a:t>quizzes/Module_5_Quiz.gift</a:t>
            </a:r>
            <a:endParaRPr lang="en-US" sz="1100" dirty="0"/>
          </a:p>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45 minutes  |  50 marks  |  pass 20  |  1 attempt</a:t>
            </a:r>
            <a:endParaRPr lang="en-US" sz="1100" dirty="0"/>
          </a:p>
        </p:txBody>
      </p:sp>
      <p:sp>
        <p:nvSpPr>
          <p:cNvPr id="11" name="text"/>
          <p:cNvSpPr/>
          <p:nvPr/>
        </p:nvSpPr>
        <p:spPr>
          <a:xfrm>
            <a:off x="742950" y="2781300"/>
            <a:ext cx="5048250" cy="4381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Part A: 20 MCQs, 1 mark each.</a:t>
            </a:r>
            <a:endParaRPr lang="en-US" sz="1100" dirty="0"/>
          </a:p>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Part B: 13 descriptive questions, 30 marks.</a:t>
            </a:r>
            <a:endParaRPr lang="en-US" sz="1100" dirty="0"/>
          </a:p>
        </p:txBody>
      </p:sp>
      <p:sp>
        <p:nvSpPr>
          <p:cNvPr id="12" name="text"/>
          <p:cNvSpPr/>
          <p:nvPr/>
        </p:nvSpPr>
        <p:spPr>
          <a:xfrm>
            <a:off x="742950" y="3276600"/>
            <a:ext cx="5048250" cy="2095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C2410C"/>
                </a:solidFill>
                <a:latin typeface="Segoe UI" pitchFamily="34" charset="0"/>
                <a:ea typeface="Segoe UI" pitchFamily="34" charset="-122"/>
                <a:cs typeface="Segoe UI" pitchFamily="34" charset="-120"/>
              </a:rPr>
              <a:t>Bloom spread: L1-L2 18%, L3-L4 67%, L5-L6 15%</a:t>
            </a:r>
            <a:endParaRPr lang="en-US" sz="1100" dirty="0"/>
          </a:p>
        </p:txBody>
      </p:sp>
      <p:sp>
        <p:nvSpPr>
          <p:cNvPr id="13" name="text"/>
          <p:cNvSpPr/>
          <p:nvPr/>
        </p:nvSpPr>
        <p:spPr>
          <a:xfrm>
            <a:off x="742950" y="3524250"/>
            <a:ext cx="5048250" cy="38100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5A6478"/>
                </a:solidFill>
                <a:latin typeface="Segoe UI" pitchFamily="34" charset="0"/>
                <a:ea typeface="Segoe UI" pitchFamily="34" charset="-122"/>
                <a:cs typeface="Segoe UI" pitchFamily="34" charset="-120"/>
              </a:rPr>
              <a:t>Every question carries a CO tag, a Bloom level and a chapter reference; distractor feedback names the misconception.</a:t>
            </a:r>
            <a:endParaRPr lang="en-US" sz="1000" dirty="0"/>
          </a:p>
        </p:txBody>
      </p:sp>
      <p:sp>
        <p:nvSpPr>
          <p:cNvPr id="14" name="shape-56-12"/>
          <p:cNvSpPr/>
          <p:nvPr/>
        </p:nvSpPr>
        <p:spPr>
          <a:xfrm>
            <a:off x="6210300" y="1543050"/>
            <a:ext cx="5429250" cy="2438400"/>
          </a:xfrm>
          <a:prstGeom prst="rect">
            <a:avLst/>
          </a:prstGeom>
          <a:solidFill>
            <a:srgbClr val="FDF3EC"/>
          </a:solidFill>
          <a:ln w="12700">
            <a:solidFill>
              <a:srgbClr val="D7DEE8"/>
            </a:solidFill>
            <a:prstDash val="solid"/>
          </a:ln>
        </p:spPr>
      </p:sp>
      <p:sp>
        <p:nvSpPr>
          <p:cNvPr id="15" name="text"/>
          <p:cNvSpPr/>
          <p:nvPr/>
        </p:nvSpPr>
        <p:spPr>
          <a:xfrm>
            <a:off x="6400800" y="1695450"/>
            <a:ext cx="5048250" cy="1162050"/>
          </a:xfrm>
          <a:prstGeom prst="rect">
            <a:avLst/>
          </a:prstGeom>
          <a:noFill/>
          <a:ln/>
        </p:spPr>
        <p:txBody>
          <a:bodyPr wrap="square" lIns="0" tIns="0" rIns="0" bIns="0" rtlCol="0" anchor="t">
            <a:normAutofit/>
          </a:bodyPr>
          <a:lstStyle/>
          <a:p>
            <a:pPr algn="l" indent="0" marL="0">
              <a:lnSpc>
                <a:spcPct val="105000"/>
              </a:lnSpc>
              <a:buNone/>
            </a:pPr>
            <a:r>
              <a:rPr lang="en-US" sz="1000" b="1" dirty="0">
                <a:solidFill>
                  <a:srgbClr val="C2410C"/>
                </a:solidFill>
                <a:latin typeface="Segoe UI" pitchFamily="34" charset="0"/>
                <a:ea typeface="Segoe UI" pitchFamily="34" charset="-122"/>
                <a:cs typeface="Segoe UI" pitchFamily="34" charset="-120"/>
              </a:rPr>
              <a:t>MODULE 5 ASSIGNMENT</a:t>
            </a:r>
            <a:endParaRPr lang="en-US" sz="1100" dirty="0"/>
          </a:p>
          <a:p>
            <a:pPr algn="l" indent="0" marL="0">
              <a:lnSpc>
                <a:spcPct val="105000"/>
              </a:lnSpc>
              <a:buNone/>
            </a:pPr>
            <a:r>
              <a:rPr lang="en-US" sz="1100" dirty="0">
                <a:solidFill>
                  <a:srgbClr val="12203A"/>
                </a:solidFill>
                <a:latin typeface="Consolas" pitchFamily="34" charset="0"/>
                <a:ea typeface="Consolas" pitchFamily="34" charset="-122"/>
                <a:cs typeface="Consolas" pitchFamily="34" charset="-120"/>
              </a:rPr>
              <a:t>assignments/Module_5_Assignment.pdf</a:t>
            </a:r>
            <a:endParaRPr lang="en-US" sz="1100" dirty="0"/>
          </a:p>
          <a:p>
            <a:pPr algn="l" indent="0" marL="0">
              <a:lnSpc>
                <a:spcPct val="105000"/>
              </a:lnSpc>
              <a:buNone/>
            </a:pPr>
            <a:r>
              <a:rPr lang="en-US" sz="1100" b="1" dirty="0">
                <a:solidFill>
                  <a:srgbClr val="12203A"/>
                </a:solidFill>
                <a:latin typeface="Segoe UI" pitchFamily="34" charset="0"/>
                <a:ea typeface="Segoe UI" pitchFamily="34" charset="-122"/>
                <a:cs typeface="Segoe UI" pitchFamily="34" charset="-120"/>
              </a:rPr>
              <a:t>Assignment 5 — Characterising and terminating two-port networks</a:t>
            </a:r>
            <a:endParaRPr lang="en-US" sz="1100" dirty="0"/>
          </a:p>
          <a:p>
            <a:pPr algn="l" indent="0" marL="0">
              <a:lnSpc>
                <a:spcPct val="105000"/>
              </a:lnSpc>
              <a:buNone/>
            </a:pPr>
            <a:r>
              <a:rPr lang="en-US" sz="1100" dirty="0">
                <a:solidFill>
                  <a:srgbClr val="5A6478"/>
                </a:solidFill>
                <a:latin typeface="Segoe UI" pitchFamily="34" charset="0"/>
                <a:ea typeface="Segoe UI" pitchFamily="34" charset="-122"/>
                <a:cs typeface="Segoe UI" pitchFamily="34" charset="-120"/>
              </a:rPr>
              <a:t>20 marks  |  10% of CIE  |  10 problems + 3 theory items</a:t>
            </a:r>
            <a:endParaRPr lang="en-US" sz="1100" dirty="0"/>
          </a:p>
        </p:txBody>
      </p:sp>
      <p:sp>
        <p:nvSpPr>
          <p:cNvPr id="16" name="text"/>
          <p:cNvSpPr/>
          <p:nvPr/>
        </p:nvSpPr>
        <p:spPr>
          <a:xfrm>
            <a:off x="6400800" y="2914650"/>
            <a:ext cx="5048250" cy="45720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12203A"/>
                </a:solidFill>
                <a:latin typeface="Segoe UI" pitchFamily="34" charset="0"/>
                <a:ea typeface="Segoe UI" pitchFamily="34" charset="-122"/>
                <a:cs typeface="Segoe UI" pitchFamily="34" charset="-120"/>
              </a:rPr>
              <a:t>Submit as PDF, single file, named &lt;USN&gt;_BEC303_Assignment5.pdf, via LMS upload. 10% per day, nothing after 5 days.</a:t>
            </a:r>
            <a:endParaRPr lang="en-US" sz="1000" dirty="0"/>
          </a:p>
        </p:txBody>
      </p:sp>
      <p:sp>
        <p:nvSpPr>
          <p:cNvPr id="17" name="text"/>
          <p:cNvSpPr/>
          <p:nvPr/>
        </p:nvSpPr>
        <p:spPr>
          <a:xfrm>
            <a:off x="6400800" y="3390900"/>
            <a:ext cx="5048250" cy="514350"/>
          </a:xfrm>
          <a:prstGeom prst="rect">
            <a:avLst/>
          </a:prstGeom>
          <a:noFill/>
          <a:ln/>
        </p:spPr>
        <p:txBody>
          <a:bodyPr wrap="square" lIns="0" tIns="0" rIns="0" bIns="0" rtlCol="0" anchor="t">
            <a:normAutofit/>
          </a:bodyPr>
          <a:lstStyle/>
          <a:p>
            <a:pPr algn="l" indent="0" marL="0">
              <a:lnSpc>
                <a:spcPct val="105000"/>
              </a:lnSpc>
              <a:buNone/>
            </a:pPr>
            <a:r>
              <a:rPr lang="en-US" sz="900" dirty="0">
                <a:solidFill>
                  <a:srgbClr val="5A6478"/>
                </a:solidFill>
                <a:latin typeface="Segoe UI" pitchFamily="34" charset="0"/>
                <a:ea typeface="Segoe UI" pitchFamily="34" charset="-122"/>
                <a:cs typeface="Segoe UI" pitchFamily="34" charset="-120"/>
              </a:rPr>
              <a:t>Rubric: Parameter determination and terminations (6); Conversion and existence reasoning (5); Cascading and equivalent circuits (4); Terminated performance and interpretation (5). Attainment: CO5 = 20.</a:t>
            </a:r>
            <a:endParaRPr lang="en-US" sz="900" dirty="0"/>
          </a:p>
        </p:txBody>
      </p:sp>
      <p:sp>
        <p:nvSpPr>
          <p:cNvPr id="18" name="text"/>
          <p:cNvSpPr/>
          <p:nvPr/>
        </p:nvSpPr>
        <p:spPr>
          <a:xfrm>
            <a:off x="552450" y="4133850"/>
            <a:ext cx="11087100" cy="438150"/>
          </a:xfrm>
          <a:prstGeom prst="rect">
            <a:avLst/>
          </a:prstGeom>
          <a:noFill/>
          <a:ln/>
        </p:spPr>
        <p:txBody>
          <a:bodyPr wrap="square" lIns="0" tIns="0" rIns="0" bIns="0" rtlCol="0" anchor="t">
            <a:normAutofit/>
          </a:bodyPr>
          <a:lstStyle/>
          <a:p>
            <a:pPr algn="l" indent="0" marL="0">
              <a:lnSpc>
                <a:spcPct val="105000"/>
              </a:lnSpc>
              <a:buNone/>
            </a:pPr>
            <a:r>
              <a:rPr lang="en-US" sz="1100" dirty="0">
                <a:solidFill>
                  <a:srgbClr val="12203A"/>
                </a:solidFill>
                <a:latin typeface="Segoe UI" pitchFamily="34" charset="0"/>
                <a:ea typeface="Segoe UI" pitchFamily="34" charset="-122"/>
                <a:cs typeface="Segoe UI" pitchFamily="34" charset="-120"/>
              </a:rPr>
              <a:t>Previous years' question papers for EC are indexed in pyq/PYQ_Index.pdf; the syllabus extract and the topic-to-slide mapping are in syllabus/Syllabus_Mapping.pdf.</a:t>
            </a:r>
            <a:endParaRPr lang="en-US" sz="1100" dirty="0"/>
          </a:p>
        </p:txBody>
      </p:sp>
      <p:sp>
        <p:nvSpPr>
          <p:cNvPr id="19" name="text"/>
          <p:cNvSpPr/>
          <p:nvPr/>
        </p:nvSpPr>
        <p:spPr>
          <a:xfrm>
            <a:off x="552450" y="4667250"/>
            <a:ext cx="11087100" cy="285750"/>
          </a:xfrm>
          <a:prstGeom prst="rect">
            <a:avLst/>
          </a:prstGeom>
          <a:noFill/>
          <a:ln/>
        </p:spPr>
        <p:txBody>
          <a:bodyPr wrap="square" lIns="0" tIns="0" rIns="0" bIns="0" rtlCol="0" anchor="t">
            <a:normAutofit/>
          </a:bodyPr>
          <a:lstStyle/>
          <a:p>
            <a:pPr algn="l" indent="0" marL="0">
              <a:lnSpc>
                <a:spcPct val="105000"/>
              </a:lnSpc>
              <a:buNone/>
            </a:pPr>
            <a:r>
              <a:rPr lang="en-US" sz="1000" dirty="0">
                <a:solidFill>
                  <a:srgbClr val="C2410C"/>
                </a:solidFill>
                <a:latin typeface="Segoe UI" pitchFamily="34" charset="0"/>
                <a:ea typeface="Segoe UI" pitchFamily="34" charset="-122"/>
                <a:cs typeface="Segoe UI" pitchFamily="34" charset="-120"/>
              </a:rPr>
              <a:t>Individual submission. Identical submissions score zero for both parties.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2026-09-11T19:47:51Z</dcterms:created>
  <dcterms:modified xsi:type="dcterms:W3CDTF">2026-09-11T19:47:51Z</dcterms:modified>
</cp:coreProperties>
</file>