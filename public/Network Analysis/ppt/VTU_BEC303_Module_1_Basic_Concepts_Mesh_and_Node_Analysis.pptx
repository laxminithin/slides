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15 contact hours and 16 teaching units, and that all of it exists to answer one question: Given any linear network, how do I write the smallest set of equations that fully determines it — in DC and in AC?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"Given any linear network, how do I write the smallest set of equations that fully determi…" to look like?
Animation instructions: Module title block fades in first, then the textbook panel slides in from the right, then the five arc beats appear left to right one at a time.
Transition style: Fade
[Sources] VTU BEC303 Network Analysis syllabus, 2025 scheme, Module 1: Basic Concepts — Mesh and Node Analysis, 15 hours, Hayt 8e Ch. 1 (1.1), Ch. 2 (2.3), Ch. 3 (3.2–3.3), Ch. 4 (4.1–4.4), Ch. 5 (5.2, 5.5), Ch. 10 (10.1–10.6), pp. 2–397.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BEC303 Network Analysis syllabus, 2025 scheme, Module 1: Basic Concepts — Mesh and Node Analysis, 15 hours, Hayt 8e Ch. 1 (1.1), Ch. 2 (2.3), Ch. 3 (3.2–3.3), Ch. 4 (4.1–4.4), Ch. 5 (5.2, 5.5), Ch. 10 (10.1–10.6), pp. 2–397.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1: Basic Concepts — Mesh and Node Analysis, 15 hours, Hayt 8e Ch. 1 (1.1), Ch. 2 (2.3), Ch. 3 (3.2–3.3), Ch. 4 (4.1–4.4), Ch. 5 (5.2, 5.5), Ch. 10 (10.1–10.6), pp. 2–397.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1: Basic Concepts — Mesh and Node Analysis, 15 hours, Hayt 8e Ch. 1 (1.1), Ch. 2 (2.3), Ch. 3 (3.2–3.3), Ch. 4 (4.1–4.4), Ch. 5 (5.2, 5.5), Ch. 10 (10.1–10.6), pp. 2–397.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Circuit analysis is the practice of replacing physical hardware with a lumped model — ideal elements joined by perfect conductors — and then solving that… Then add the part they are examined on - A circuit diagram is a claim that the hardware behaves like the model; every analysis result inherits that claim.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"circuit model" constrain here, and what would break if it did not hold?
Animation instructions: hardware block fades in, then the crossing arrow draws left to right, then the model panel fades in, then the discarded-effects strip slides up last.
Transition style: Fade
[Sources] VTU BEC303 Network Analysis syllabus, 2025 scheme, Module 1: Basic Concepts — Mesh and Node Analysis. TB1 as listed by the syllabus: W. H. Hayt, J. E. Kemmerly and S. M. Durbin, Engineering Circuit Analysis, McGraw-Hill / Tata McGraw-Hill, 8th ed., 2012; Ch. 1, pp. 2-4.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every physical part and its dominant electrical behaviour - and check everyone has written it before moving on. At the cost panel, translate it: n is the number of unknowns chosen, which is why the choice of node vs mesh variables matters more than the solver.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1, pp. 2-4.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9 V battery with 0.5 Ω internal resistance driving a 100 Ω resistor through 20 cm of copper wire. Work at the pace of the slowest note-taker and land hard on the result: I = 89.6 mA, V_load = 8.96 V; the 0.44 V lost is the modelled internal resistance, not the wire.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1, pp. 2-4.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source is the element that supplies energy to a network rather than constraining it passively. Then add the part they are examined on - Independent sources set the excitation; dependent sources set the gain, and both must appear before any conservation equatio…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"independent source" constrain here, and what would break if it did not hold?
Animation instructions: the divider draws first, then the two independent cells fade in together, then the four dependent diamonds pop in clockwise from top-left, then each gain symbol fades in last.
Transition style: Fade
[Sources] VTU BEC303 Network Analysis syllabus, 2025 scheme, Module 1: Basic Concepts — Mesh and Node Analysis. TB1 as listed by the syllabus: W. H. Hayt, J. E. Kemmerly and S. M. Durbin, Engineering Circuit Analysis, McGraw-Hill / Tata McGraw-Hill, 8th ed., 2012; Ch. 2, pp. 17-22.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Scan the schematic for circle symbols — these are independent sources - and check everyone has written it before moving on. At the cost panel, translate it: Dependent sources never increase the order of the system, only the bookkeeping.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2, pp. 17-22.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12 V independent source in series with 4 kΩ feeding a node, where a VCVS of value 3·v_x sits in the return path and v_x is the drop acros… Work at the pace of the slowest note-taker and land hard on the result: I = 0.75 mA and v_x = 3 V; the dependent source contributes 9 V of opposition even though it supplies no independent energy.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2, pp. 17-22.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KCL states that the algebraic sum of currents entering any node is zero at every instant. Then add the part they are examined on - KCL is a statement about a boundary, not about a dot on the page — draw the boundary wherever it makes the algebra smallest.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"node" constrain here, and what would break if it did not hold?
Animation instructions: node and its five arrows draw in one by one, then the first equation types in, then the dashed boundary draws around the two-node cluster, then the interior branch dims to grey to show it cancels, then the second equation appears.
Transition style: Fade
[Sources] VTU BEC303 Network Analysis syllabus, 2025 scheme, Module 1: Basic Concepts — Mesh and Node Analysis. TB1 as listed by the syllabus: W. H. Hayt, J. E. Kemmerly and S. M. Durbin, Engineering Circuit Analysis, McGraw-Hill / Tata McGraw-Hill, 8th ed., 2012; Ch. 3, pp. 40-42.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a node or draw a closed boundary around several nodes - and check everyone has written it before moving on. At the cost panel, translate it: The Nth KCL equation is always a linear combination of the others, so writing it adds nothing.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3, pp. 40-42.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node fed by 5 A and 3 A, with two exit branches, one carrying 6 A and one unknown. Work at the pace of the slowest note-taker and land hard on the result: i_x = 2 A leaving the node; a negative answer would simply have meant the assumed arrow was backwards.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3, pp. 40-42.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KVL states that the algebraic sum of voltages around any closed loop is zero. Then add the part they are examined on - KVL works because potential is single-valued; the loop you choose is free, but choosing meshes guarantees independence.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"loop" constrain here, and what would break if it did not hold?
Animation instructions: the loop rectangle draws, then the four polarity pairs fade in, then the walking marker animates clockwise one element at a time with its term appearing in sync, then the completed equation highlights.
Transition style: Fade
[Sources] VTU BEC303 Network Analysis syllabus, 2025 scheme, Module 1: Basic Concepts — Mesh and Node Analysis. TB1 as listed by the syllabus: W. H. Hayt, J. E. Kemmerly and S. M. Durbin, Engineering Circuit Analysis, McGraw-Hill / Tata McGraw-Hill, 8th ed., 2012; Ch. 3, pp. 42-46.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Pick a closed loop and a direction to traverse it - and check everyone has written it before moving on. At the cost panel, translate it: Any additional loop equation is a sum of mesh equations and carries no new information.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3, pp. 42-46.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20 V source driving 2 kΩ and 3 kΩ in series. Work at the pace of the slowest note-taker and land hard on the result: I = 4 mA with 8 V and 12 V across the two resistors, summing back to the 20 V source as KVL requires.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3, pp. 42-46.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Nodal analysis chooses node voltages as the unknowns and generates one KCL equation per non-reference node. Then add the part they are examined on - Nodal analysis trades a large number of branch currents for a small number of node voltages, and the count of equations is f…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"reference node" constrain here, and what would break if it did not hold?
Animation instructions: circuit fades in, reference node hatching appears, then v1 is highlighted and its KCL terms fly across to populate matrix row 1, then v2 highlights and populates row 2, then the symmetry of the off-diagonal pair is marked with a two-headed arrow.
Transition style: Fade
[Sources] VTU BEC303 Network Analysis syllabus, 2025 scheme, Module 1: Basic Concepts — Mesh and Node Analysis. TB1 as listed by the syllabus: W. H. Hayt, J. E. Kemmerly and S. M. Durbin, Engineering Circuit Analysis, McGraw-Hill / Tata McGraw-Hill, 8th ed., 2012; Ch. 4, pp. 80-89.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Count nodes N; choose the node with most connections as reference - and check everyone has written it before moving on. At the cost panel, translate it: Prefer nodal when the circuit has many voltage-defined branches and few loops.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4, pp. 80-89.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6 mA source into node v1, with 2 kΩ from v1 to ground, 1 kΩ from v1 to v2 and 3 kΩ from v2 to ground. Work at the pace of the slowest note-taker and land hard on the result: v1 = 8 V and v2 = 6 V; the 1 kΩ carries 2 mA, which checks against the 2 mA leaving v2 through the 3 kΩ.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4, pp. 80-89.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supernode is the repair for a voltage source that sits between two non-reference nodes, where neither node voltage is directly known and no current expr… Then add the part they are examined on - A floating voltage source removes a KCL equation and hands back a constraint equation; the equation count never changes.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"supernode" constrain here, and what would break if it did not hold?
Animation instructions: circuit fades in, the source between v2 and v3 flashes red as "no current expression", the dashed bubble draws around it, the internal current greys out, then the boundary KCL strip appears, then the constraint strip appears.
Transition style: Fade
[Sources] VTU BEC303 Network Analysis syllabus, 2025 scheme, Module 1: Basic Concepts — Mesh and Node Analysis. TB1 as listed by the syllabus: W. H. Hayt, J. E. Kemmerly and S. M. Durbin, Engineering Circuit Analysis, McGraw-Hill / Tata McGraw-Hill, 8th ed., 2012; Ch. 4, pp. 89-92.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Locate every voltage source not connected to the reference node - and check everyone has written it before moving on. At the cost panel, translate it: Matrix symmetry is lost but the solution cost is unchanged.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4, pp. 89-92.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Nodes v1 and v2 bridged by a floating 10 V source (+ at v1), with 5 kΩ from v1 to ground, 10 kΩ from v2 to ground, and 2 mA injected into v… Work at the pace of the slowest note-taker and land hard on the result: v1 = 10 V, v2 = 0 V; the source delivers 2 mA into the 5 kΩ and nothing through the 10 kΩ.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4, pp. 89-92.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Mesh analysis chooses circulating mesh currents as unknowns and writes one KVL equation per mesh. Then add the part they are examined on - Mesh currents are fictitious circulating variables; only their differences across shared branches are physically real.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"mesh" constrain here, and what would break if it did not hold?
Animation instructions: the ladder draws, then the blue loop animates around mesh 1, then the green loop animates around mesh 2, then the shared branch highlights and the difference annotation appears, then the matrix builds row by row.
Transition style: Fade
[Sources] VTU BEC303 Network Analysis syllabus, 2025 scheme, Module 1: Basic Concepts — Mesh and Node Analysis. TB1 as listed by the syllabus: W. H. Hayt, J. E. Kemmerly and S. M. Durbin, Engineering Circuit Analysis, McGraw-Hill / Tata McGraw-Hill, 8th ed., 2012; Ch. 4, pp. 92-98.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Confirm the circuit is planar and identify each mesh - and check everyone has written it before moving on. At the cost panel, translate it: Prefer mesh analysis when voltage sources dominate and the mesh count is below the node count.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4, pp. 92-98.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Two meshes: 10 V source and 1 kΩ in mesh 1, 2 kΩ shared, 3 kΩ in mesh 2 with no source. Work at the pace of the slowest note-taker and land hard on the result: i1 = 4.545 mA, i2 = 1.818 mA, and the shared 2 kΩ actually carries i1 − i2 = 2.727 mA.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4, pp. 92-98.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supermesh is the mesh-analysis counterpart of the supernode, used when a current source sits on a branch shared by two meshes and therefore has an unkno… Then add the part they are examined on - You cannot write KVL across a current source, so route the loop around it and recover the lost equation from the source valu…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"supermesh" constrain here, and what would break if it did not hold?
Animation instructions: both meshes fade in, the shared source flashes amber, the dividing branch dissolves to dotted grey, the outer loop traces around the perimeter, then the two equation strips appear in order.
Transition style: Fade
[Sources] VTU BEC303 Network Analysis syllabus, 2025 scheme, Module 1: Basic Concepts — Mesh and Node Analysis. TB1 as listed by the syllabus: W. H. Hayt, J. E. Kemmerly and S. M. Durbin, Engineering Circuit Analysis, McGraw-Hill / Tata McGraw-Hill, 8th ed., 2012; Ch. 4, pp. 98-101.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current sources on branches shared between two meshes - and check everyone has written it before moving on. At the cost panel, translate it: Like the supernode, symmetry is lost but the order of the system is not.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4, pp. 98-101.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Two meshes sharing a 3 mA source; mesh 1 has a 12 V source and 2 kΩ, mesh 2 has 4 kΩ. Work at the pace of the slowest note-taker and land hard on the result: i1 = 4 mA, i2 = 1 mA, and the voltage across the current source can now be recovered afterwards from either mesh equation.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4, pp. 98-101.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Adding a dependent source changes nothing structural about nodal or mesh analysis — the same KCL or KVL equations are written — but it introduces a contro… Then add the part they are examined on - Dependent sources cost one auxiliary equation each and destroy matrix symmetry, but never change how many unknowns you start…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"controlling variable" constrain here, and what would break if it did not hold?
Animation instructions: panel 1 fades in, arrow draws, panel 2 fades in, the amber terms pulse simultaneously in both panels, arrow draws, panel 3 fades in, then the red symmetry box appears last.
Transition style: Fade
[Sources] VTU BEC303 Network Analysis syllabus, 2025 scheme, Module 1: Basic Concepts — Mesh and Node Analysis. TB1 as listed by the syllabus: W. H. Hayt, J. E. Kemmerly and S. M. Durbin, Engineering Circuit Analysis, McGraw-Hill / Tata McGraw-Hill, 8th ed., 2012; Ch. 4, pp. 80-101.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nodal or mesh equations exactly as if all sources were independent - and check everyone has written it before moving on. At the cost panel, translate it: Symmetry loss removes some numerical shortcuts but not solvability.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4, pp. 80-101.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Node v1 fed by 5 mA, with 1 kΩ from v1 to ground and a VCCS of 2·v1 mA drawn from v1 to ground. Work at the pace of the slowest note-taker and land hard on the result: v1 = 1.667 V; the dependent source behaves here like an extra 500 Ω to ground, which is what a VCCS across its own control always…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4, pp. 80-101.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source transformation converts a voltage source V_s in series with R into a current source V_s/R in parallel with the same R, and back again. Then add the part they are examined on - Source transformation is terminal equivalence only — the outside world cannot tell the difference, but the inside of the sou…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"practical source" constrain here, and what would break if it did not hold?
Animation instructions: left fragment draws, right fragment draws, the double arrow animates between them, then the two identical readings light up green simultaneously, then the red warning panel slides in last.
Transition style: Fade
[Sources] VTU BEC303 Network Analysis syllabus, 2025 scheme, Module 1: Basic Concepts — Mesh and Node Analysis. TB1 as listed by the syllabus: W. H. Hayt, J. E. Kemmerly and S. M. Durbin, Engineering Circuit Analysis, McGraw-Hill / Tata McGraw-Hill, 8th ed., 2012; Ch. 5, pp. 133-141.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Find a voltage source in series with a resistance, or a current source in parallel with one - and check everyone has written it before moving on. At the cost panel, translate it: Purely a preprocessing step — it never changes the answer, only the effort.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5, pp. 133-141.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12 V source in series with 4 kΩ, feeding a 2 kΩ load to ground. Work at the pace of the slowest note-taker and land hard on the result: V_load = 4 V by both routes; note the transformed source dissipates a different internal power than the original, though the load…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5, pp. 133-141.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Delta-wye conversion replaces a three-terminal resistive mesh with an electrically equivalent three-terminal star, or the reverse. Then add the part they are examined on - Delta-wye is the tool for exactly one situation — when series-parallel reduction has run out of moves.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"delta (Δ)" constrain here, and what would break if it did not hold?
Animation instructions: terminals appear, delta edges draw, then each delta resistor slides inward and re-forms as a wye spoke one at a time, then the Δ→Y formula box types in, then the bridge badge flips red to green last.
Transition style: Fade
[Sources] VTU BEC303 Network Analysis syllabus, 2025 scheme, Module 1: Basic Concepts — Mesh and Node Analysis. TB1 as listed by the syllabus: W. H. Hayt, J. E. Kemmerly and S. M. Durbin, Engineering Circuit Analysis, McGraw-Hill / Tata McGraw-Hill, 8th ed., 2012; Ch. 5, pp. 154-157.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Confirm no two elements are in simple series or parallel - and check everyone has written it before moving on. At the cost panel, translate it: Cheap arithmetic; the skill is recognising when it is the only move left.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5, pp. 154-157.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delta with R_ab = 30 Ω, R_bc = 60 Ω, R_ca = 30 Ω. Work at the pace of the slowest note-taker and land hard on the result: Wye of 7.5 Ω, 15 Ω and 15 Ω; terminal a has the smallest spoke because it sits between the two smallest delta arms.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5, pp. 154-157.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sinusoid v(t) = V_m·cos(ωt + φ) is fixed by three numbers: amplitude V_m, angular frequency ω in radians per second, and phase φ. Then add the part they are examined on - In a linear circuit the frequency never changes — only amplitude and phase do, and that is what makes phasors possible.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"amplitude" constrain here, and what would break if it did not hold?
Animation instructions: reference cosine draws left to right, then V_m arrow appears, then the period arrow appears, then the shifted wave draws and the φ offset arrow appears, then the conversion strip fades in.
Transition style: Fade
[Sources] VTU BEC303 Network Analysis syllabus, 2025 scheme, Module 1: Basic Concepts — Mesh and Node Analysis. TB1 as listed by the syllabus: W. H. Hayt, J. E. Kemmerly and S. M. Durbin, Engineering Circuit Analysis, McGraw-Hill / Tata McGraw-Hill, 8th ed., 2012; Ch. 10, pp. 371-374.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every sinusoid as V_m·cos(ωt + φ) with V_m positive - and check everyone has written it before moving on. At the cost panel, translate it: All arithmetic; errors here are sign errors, not algebra errors.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10, pp. 371-374.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v1 = 5·sin(377t + 30°) and v2 = 4·cos(377t − 20°). Work at the pace of the slowest note-taker and land hard on the result: v1 lags v2 by 40°; without the sine-to-cosine conversion the naive comparison 30° vs −20° would have wrongly said v1 leads by 50°.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10, pp. 371-374.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Driving an RL or RC circuit with a sinusoid and solving the differential equation directly produces the right answer but demands laborious trigonometric c… Then add the part they are examined on - Complex forcing is not an approximation — it solves two real problems at once and you keep the half you asked for.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"forced response" constrain here, and what would break if it did not hold?
Animation instructions: the top node appears, the thin dashed direct route draws and greys out, then the three solid detour nodes appear left to right, then the returning Re{ } arrow draws, then the Euler box fades in.
Transition style: Fade
[Sources] VTU BEC303 Network Analysis syllabus, 2025 scheme, Module 1: Basic Concepts — Mesh and Node Analysis. TB1 as listed by the syllabus: W. H. Hayt, J. E. Kemmerly and S. M. Durbin, Engineering Circuit Analysis, McGraw-Hill / Tata McGraw-Hill, 8th ed., 2012; Ch. 10, pp. 374-383.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Replace the real sinusoidal source with its complex exponential form - and check everyone has written it before moving on. At the cost panel, translate it: The saving is in avoided trigonometry, not in asymptotic order.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10, pp. 374-383.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series RL circuit, R = 3 Ω, L = 4 mH, driven by 10·cos(1000t) V. Work at the pace of the slowest note-taker and land hard on the result: i(t) = 2·cos(1000t − 53.13°) A; the current lags by 53.13° because the inductive term contributed the +j4.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10, pp. 374-383.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phasor is the complex amplitude that survives after the common e^(jωt) factor has been cancelled: V_m·cos(ωt + φ) transforms to V = V_m∠φ. Then add the part they are examined on - A phasor is a full description of a sinusoid at a known frequency, and nothing at all about how the circuit got there.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"phasor" constrain here, and what would break if it did not hold?
Animation instructions: axes draw, then the arrow sweeps out from the origin to angle φ, then the two dotted projections drop, then the waveform draws right, then the tie line connects, then the conversion strip appears.
Transition style: Fade
[Sources] VTU BEC303 Network Analysis syllabus, 2025 scheme, Module 1: Basic Concepts — Mesh and Node Analysis. TB1 as listed by the syllabus: W. H. Hayt, J. E. Kemmerly and S. M. Durbin, Engineering Circuit Analysis, McGraw-Hill / Tata McGraw-Hill, 8th ed., 2012; Ch. 10, pp. 383-389.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source as a cosine with positive amplitude - and check everyone has written it before moving on. At the cost panel, translate it: Choosing the wrong form is the main source of arithmetic cost.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10, pp. 383-389.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Add v1 = 30·cos(ωt + 30°) and v2 = 40·cos(ωt − 60°). Work at the pace of the slowest note-taker and land hard on the result: v1 + v2 = 50·cos(ωt − 23.13°) V; note the amplitudes 30 and 40 combine to 50 exactly because the two phasors happen to be 90° apa…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10, pp. 383-389.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Impedance is the ratio of phasor voltage to phasor current, Z = V/I, measured in ohms and generally complex: Z = R + jX, where R is resistance and X is re… Then add the part they are examined on - Impedance makes AC analysis identical to DC analysis with complex numbers, at the price of redoing the whole calculation at…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"impedance Z" constrain here, and what would break if it did not hold?
Animation instructions: triangle draws R first then X then hypotenuse, θ arc appears, then the three element panels slide in from the right in order, then the frequency slider animates once from low to high with the triangle deforming in sync.
Transition style: Fade
[Sources] VTU BEC303 Network Analysis syllabus, 2025 scheme, Module 1: Basic Concepts — Mesh and Node Analysis. TB1 as listed by the syllabus: W. H. Hayt, J. E. Kemmerly and S. M. Durbin, Engineering Circuit Analysis, McGraw-Hill / Tata McGraw-Hill, 8th ed., 2012; Ch. 10, pp. 389-394.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Fix the operating frequency ω - and check everyone has written it before moving on. At the cost panel, translate it: A frequency sweep of k points costs k independent solutions — this is why the Laplace method in Module 4 exists.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10, pp. 389-394.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R = 100 Ω in series with L = 50 mH at ω = 2000 rad/s, driven by 10∠0° V. Work at the pace of the slowest note-taker and land hard on the result: I = 70.7∠−45° mA and V_L = 7.07∠45° V; the resistor and inductor voltages are each 7.07 V yet sum to 10 V, because they are 90° 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10, pp. 389-394.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Once every source is a phasor and every element an impedance, nodal and mesh analysis proceed without a single change of rule. Then add the part they are examined on - AC analysis introduces no new circuit theory at all — it introduces complex arithmetic into theory you already have.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"phasor nodal analysis" constrain here, and what would break if it did not hold?
Animation instructions: the left DC half fades in with its matrix, then the seam draws downward, then the right half fades in element by element mirroring the left, then the three green ticks pop in top to bottom.
Transition style: Fade
[Sources] VTU BEC303 Network Analysis syllabus, 2025 scheme, Module 1: Basic Concepts — Mesh and Node Analysis. TB1 as listed by the syllabus: W. H. Hayt, J. E. Kemmerly and S. M. Durbin, Engineering Circuit Analysis, McGraw-Hill / Tata McGraw-Hill, 8th ed., 2012; Ch. 10, pp. 394-397.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Convert all sources to phasors at the common frequency - and check everyone has written it before moving on. At the cost panel, translate it: Use nodal when parallel branches dominate, mesh when series loops dominate — the rule is unchanged from DC.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1: Basic Concepts — Mesh and Node Analysis. TB1 as listed by the syllabus: W. H. Hayt, J. E. Kemmerly and S. M. Durbin, Engineering Circuit Analysis, McGraw-Hill / Tata McGraw-Hill, 8th ed., 2012; Ch. 10, pp. 394-397.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Source 10∠0° V through Z1 = 5 Ω to node v, with Z2 = −j10 Ω from v to ground. Work at the pace of the slowest note-taker and land hard on the result: v = 8.944∠−26.57° V, i.e. v(t) = 8.944·cos(ωt − 26.57°); the capacitive branch pulls the node phase negative.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1: Basic Concepts — Mesh and Node Analysis. TB1 as listed by the syllabus: W. H. Hayt, J. E. Kemmerly and S. M. Durbin, Engineering Circuit Analysis, McGraw-Hill / Tata McGraw-Hill, 8th ed., 2012; Ch. 10, pp. 394-397.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1: Basic Concepts — Mesh and Node Analysis, 15 hours, Hayt 8e Ch. 1 (1.1), Ch. 2 (2.3), Ch. 3 (3.2–3.3), Ch. 4 (4.1–4.4), Ch. 5 (5.2, 5.5), Ch. 10 (10.1–10.6), pp. 2–397.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1: Basic Concepts — Mesh and Node Analysis, 15 hours, Hayt 8e Ch. 1 (1.1), Ch. 2 (2.3), Ch. 3 (3.2–3.3), Ch. 4 (4.1–4.4), Ch. 5 (5.2, 5.5), Ch. 10 (10.1–10.6), pp. 2–397.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1: Basic Concepts — Mesh and Node Analysis, 15 hours, Hayt 8e Ch. 1 (1.1), Ch. 2 (2.3), Ch. 3 (3.2–3.3), Ch. 4 (4.1–4.4), Ch. 5 (5.2, 5.5), Ch. 10 (10.1–10.6), pp. 2–397.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BEC303 Network Analysis syllabus, 2025 scheme, Module 1: Basic Concepts — Mesh and Node Analysis, 15 hours, Hayt 8e Ch. 1 (1.1), Ch. 2 (2.3), Ch. 3 (3.2–3.3), Ch. 4 (4.1–4.4), Ch. 5 (5.2, 5.5), Ch. 10 (10.1–10.6), pp. 2–397. TB1: W. H. Hayt, J. E. Kemmerly and S. M. Durbin, Engineering Circuit Analysis, McGraw-Hill / Tata McGraw-Hill, 8th ed., 2012.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Analysis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1 asks: Given any linear network, how do I write the smallest set of equations that fully determines it — in DC and…</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1</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Basic Concepts — Mesh and Node Analysis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15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Engineering Circuit Analysis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 H. Hayt, J. E. Kemmerly and S. M. Durbin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McGraw-Hill / Tata McGraw-Hill, 8th edition, 2012</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Hayt 8e Ch. 1 (1.1), Ch. 2 (2.3), Ch. 3 (3.2–3.3), Ch. 4 (4.1–4.4), Ch. 5 (5.2, 5.5), Ch. 10 (10.1–10.6), pp. 2–397</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Mesh &amp; Nodal Analysis   •   Network Theorems   •   Transient Response   •   Laplace / s-Domain   •   Two-Port Networks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Circuit models replace physical hardware   →   Sources supply, elements constrain   →   Two conservation laws generate equations   →   Node and mesh pick the variable   →   Phasors carry it into AC</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Given any linear network, how do I write the smallest set of equations that fully determines it — in DC and in AC?</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Circuit models replace physical hardware</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Sources supply, elements constrain</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Two conservation laws generate equations</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Node and mesh pick the variable</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Phasors carry it into AC</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the syllabus-listed Hayt 8e sections. Emphasis is on why nodal and mesh analysis are systematic rather than clever, on the supernode/supermesh repairs that keep them systematic when a source blocks the standard step, and on phasors as the device that makes the identical machinery work for sinusoidal steady state. Delta-wye and source transformation are presented as structure-changing shortcuts used before, not instead of, the systematic method.</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CO1</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What circuit analysis actually is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 pp. 2-4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CO1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Sources of electrical energy: independent and dependent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2, pp. 17-22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CO1 / L2</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Kirchhoff's Current Law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3, pp. 40-42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CO1 / L2</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Kirchhoff's Voltage Law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3, pp. 42-46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CO1 / L2</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Nodal analysis: the standard procedure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80-89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CO1 / L3</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supernode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89-92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CO1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Mesh analysis: the standard procedure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92-98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CO1 / L3</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supermesh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98-101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CO1 / L3</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Nodal and mesh analysis with dependent sources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4, pp. 80-101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CO1 / L4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transformations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133-141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CO1 / L3</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Delta-wye conversion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5, pp. 154-157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CO1 / L3</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Characteristics of sinusoids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371-374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CO1 / L2</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forced response to the complex forcing function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374-383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CO1 / L3</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phasor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383-389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CO1 / L3</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Impedance and admittance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389-394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CO1 / L3</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Nodal and mesh analysis of AC networks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10, pp. 394-397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CO1 / L4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circuit analysis actually is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circuit analysis actually 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Circuit analysis is the practice of replacing physical hardware with a lumped model — ideal elements joined by perfect conductors — and then solving that model exactly. The replacement is legitimate only when the device is small compared with the wavelength of the signals in it, so that voltage and current are meaningful at a terminal rather than varying along the body of the part. What you gain is a finite set of algebraic or differential equations with a unique solution; what you pay is every effect the model deliberately omits — lead inductance, stray capacitance, thermal drift. The method is worth learning because it scales: the same two conservation laws solve a two-resistor divider and a thousand-node integrated circuit.</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circuit model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lumped element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linearity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analysis vs design</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circuit diagram is a claim that the hardware behaves like the model; every analysis result inherits that claim.</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half: a photographed-style block labelled "Physical hardware" containing three rounded shapes — resistor body, wire, battery. Right half: a schematic panel labelled "Lumped model" with the standard R symb…</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 pp. 2-4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hardware-to-model-map</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circuit analysis actually is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circuit analysis actually 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every physical part and its dominant electrical behaviour</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part with its ideal lumped symbol</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every interconnect with a zero-resistance node</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Label a reference direction for every unknown current and voltage</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conservation equations and solve</a:t>
            </a:r>
            <a:endParaRPr lang="en-US" sz="1100" dirty="0"/>
          </a:p>
        </p:txBody>
      </p:sp>
      <p:sp>
        <p:nvSpPr>
          <p:cNvPr id="19" name="shape-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Sanity-check the answer against the discarded effects</a:t>
            </a:r>
            <a:endParaRPr lang="en-US" sz="1100" dirty="0"/>
          </a:p>
        </p:txBody>
      </p:sp>
      <p:sp>
        <p:nvSpPr>
          <p:cNvPr id="21" name="shape-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a series/parallel ladder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O(n^3) Gaussian elimination on n unknowns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O(n^3) with dense coupling</a:t>
            </a:r>
            <a:endParaRPr lang="en-US" sz="1100" dirty="0"/>
          </a:p>
        </p:txBody>
      </p:sp>
      <p:sp>
        <p:nvSpPr>
          <p:cNvPr id="23" name="shape-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n is the number of unknowns chosen, which is why the choice of node vs mesh variables matters more than the solver.</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 pp. 2-4   |   CO1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circuit analysis actually is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circuit analysis actually is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9 V battery with 0.5 Ω internal resistance driving a 100 Ω resistor through 20 cm of copper wire.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Wire resistance ≈ 0.01 Ω, small against 100 Ω → model wire as an ideal node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Battery becomes 9 V ideal source in series with 0.5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Series loop: I = 9 / (0.5 + 100) = 0.0896 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Load voltage = 0.0896 × 100 = 8.96 V</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 = 89.6 mA, V_load = 8.96 V; the 0.44 V lost is the modelled internal resistance, not the wire.</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V_source = I·(R_internal + R_load)</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9 = I·(0.5 + 100)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 = 0.0896 A</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the schematic as the truth and the hardware as an imperfect copy of it. It is the other way round — the schematic is the approximation, and when a measurement disagrees with the analysis the first suspect is a discarded effect, not arithmetic.</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 pp. 2-4   |   CO1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Sources of electrical energy: independent and dependent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Sources of electrical energy: indepen…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source is the element that supplies energy to a network rather than constraining it passively. An independent source fixes its voltage or its current at a value that does not depend on anything else in the circuit — an ideal voltage source holds V regardless of current drawn, an ideal current source holds I regardless of voltage across it. A dependent source fixes its output as a multiple of some other voltage or current in the same circuit, giving four types: VCVS, VCCS, CCVS, CCCS. Dependent sources are how transistor and op-amp models get their gain into a linear network, and they are the reason a linear circuit can amplify at all — passive elements alone can only divide.</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independent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dependent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VCVS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CCCS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active element</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Independent sources set the excitation; dependent sources set the gain, and both must appear before any conservation equation can be written.</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2×3 grid. Top row, two cells: "Independent voltage source" showing a circle with + / − and the caption "V fixed, I free", and "Independent current source" showing a circle with an arrow and "I fixed, V free"…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2, pp. 17-22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source-taxonomy-grid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Sources of electrical energy: independent and dependent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Sources of electrical energy: indepen…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Scan the schematic for circle symbols — these are independent sources</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Scan for diamond symbols — these are dependent sources</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each diamond, find and label its controlling variable elsewhere in the circuit</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that a controlling variable is an extra unknown unless it can be written in terms of chosen variables</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short an ideal voltage source or open an ideal current source when simplifying</a:t>
            </a:r>
            <a:endParaRPr lang="en-US" sz="1100" dirty="0"/>
          </a:p>
        </p:txBody>
      </p:sp>
      <p:sp>
        <p:nvSpPr>
          <p:cNvPr id="19" name="shape-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 extra unknowns when the controlling variable is already a chosen node voltage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constraint equation per dependent source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one extra unknown and one constraint per dependent source</a:t>
            </a:r>
            <a:endParaRPr lang="en-US" sz="1100" dirty="0"/>
          </a:p>
        </p:txBody>
      </p:sp>
      <p:sp>
        <p:nvSpPr>
          <p:cNvPr id="21" name="shape-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Dependent sources never increase the order of the system, only the bookkeeping.</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2, pp. 17-22   |   CO1  |  Bloom L2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Sources of electrical energy: independent and dependent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Sources of electrical energy: indepen…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12 V independent source in series with 4 kΩ feeding a node, where a VCVS of value 3·v_x sits in the return path and v_x is the drop across the 4 kΩ.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Let the loop current be I; v_x = 4000·I</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KVL round the loop: 12 − 4000·I − 3·v_x = 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the control law: 12 − 4000·I − 12000·I = 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 = 12 / 16000 = 0.75 mA</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 = 0.75 mA and v_x = 3 V; the dependent source contributes 9 V of opposition even though it supplies no independent energy.</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v_x = 4kΩ · I</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12 − 4000I − 3(4000I)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 = 0.75 mA,  v_x = 3 V</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kill a dependent source along with the independent ones when applying superposition or finding a Thévenin resistance. Dependent sources stay live — only independent sources are zeroed — because a dependent source carries the circuit's gain, not its excitation.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2, pp. 17-22   |   CO1  |  Bloom L2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Kirchhoff's Current Law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Kirchhoff's Current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KCL states that the algebraic sum of currents entering any node is zero at every instant. It is charge conservation applied to a point that can store no charge: a node in a lumped model has no capacitance to ground, so whatever arrives must leave. The law is not restricted to single nodes — it holds for any closed boundary drawn around a group of nodes, which is exactly what later licenses the supernode. KCL is instantaneous and independent of element type, so it applies unchanged to resistors, capacitors, dependent sources and nonlinear devices.</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KCL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charge conservation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supernode boundary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Gaussian surface</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KCL is a statement about a boundary, not about a dot on the page — draw the boundary wherever it makes the algebra smallest.</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a node dot with five branches radiating outward, three arrows pointing in labelled i1, i2, i3 and two pointing out labelled i4, i5. Beneath, the equation i1 + i2 + i3 = i4 + i5. A dashed closed curve 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3, pp. 40-42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kcl-boundary-bubble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Kirchhoff's Current Law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Kirchhoff's Current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node or draw a closed boundary around several nodes</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 a sign convention — entering positive is conventional</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List every branch that crosses the boundary</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each crossing current in terms of the chosen unknowns</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the algebraic sum to zero</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Ignore every branch entirely inside the boundary</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trivial at a two-branch node — the currents are simply equal</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usable equation per node minus one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N−1 independent equations for N nodes</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Nth KCL equation is always a linear combination of the others, so writing it adds nothing.</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3, pp. 40-42   |   CO1  |  Bloom L2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Kirchhoff's Current Law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Kirchhoff's Current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node fed by 5 A and 3 A, with two exit branches, one carrying 6 A and one unknown.</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Entering: 5 + 3 = 8 A</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Leaving: 6 + i_x</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KCL: 8 − 6 − i_x = 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i_x = 2 A</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i_x = 2 A leaving the node; a negative answer would simply have meant the assumed arrow was backwards.</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Σ i_in = Σ i_out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5 + 3 = 6 + i_x</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i_x = 2 A</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redraw arrows when an answer comes out negative. A negative current is a correct answer expressed against an assumed reference — changing the arrow midway through invalidates every other equation that used 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3, pp. 40-42   |   CO1  |  Bloom L2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Kirchhoff's Voltage Law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Kirchhoff's Voltage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KVL states that the algebraic sum of voltages around any closed loop is zero. It is energy conservation for a unit charge: carry one coulomb all the way round a loop and return it to its starting point, and the net work done on it must be zero because potential is a single-valued function of position. The law holds for any closed path, whether or not that path follows real wires, and it holds instantaneously for any element. In a planar circuit the natural choice of loops is the set of meshes — loops enclosing no other loop — because those give exactly the independent equations needed and no redundant ones.</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loop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mesh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KVL</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energy conservation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reference polarity</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KVL works because potential is single-valued; the loop you choose is free, but choosing meshes guarantees independence.</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rectangular loop with four elements on its sides: a source on the left marked + above −, and three resistors on the top, right and bottom with + / − polarities marked. A small walking marker travels clockwis…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3, pp. 42-46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kvl-loop-walk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Kirchhoff's Voltage Law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Kirchhoff's Voltage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Pick a closed loop and a direction to traverse it</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Mark a reference polarity on every element in the loop</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Start anywhere and walk the loop in the chosen direction</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the element voltage when you enter at + and subtract when you enter at −</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the total to zero</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for each mesh to get an independent set</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a single-loop circuit needs exactly one equation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B − N + 1 independent loop equations for B branches and N nodes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B − N + 1, the number of meshes in a planar network</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Any additional loop equation is a sum of mesh equations and carries no new information.</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3, pp. 42-46   |   CO1  |  Bloom L2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Kirchhoff's Voltage Law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Kirchhoff's Voltage Law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20 V source driving 2 kΩ and 3 kΩ in series.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Assume clockwise current I</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KVL: −20 + 2000·I + 3000·I = 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 = 20 / 5000 = 4 mA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v_2k = 8 V, v_3k = 12 V</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 = 4 mA with 8 V and 12 V across the two resistors, summing back to the 20 V source as KVL requires.</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−20 + 2000I + 3000I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 = 4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 = (8 V, 12 V),  Σv = 20 V ✓</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KVL only around paths made of real wire and conclude it cannot be used across an open switch or a capacitor gap. KVL applies to any closed path in a lumped model, including one that jumps an open circuit, where the term is simply the unknown open-circuit voltage.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3, pp. 42-46   |   CO1  |  Bloom L2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analysis: the standard procedure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analysis: the standard procedure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Nodal analysis chooses node voltages as the unknowns and generates one KCL equation per non-reference node. Choosing voltages rather than branch currents halves the bookkeeping because every element current can be written directly from the two node voltages at its ends and its own conductance. One node is declared the reference and assigned zero volts; this is a free choice that removes an arbitrary constant, not a physical statement about earth. The resulting system is a conductance matrix that is symmetric and diagonally dominant for a purely resistive network with independent sources only, which is why it always has a unique solution.</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reference node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node voltage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conductance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ground</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Nodal analysis trades a large number of branch currents for a small number of node voltages, and the count of equations is fixed before you look at a single element.</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three-node circuit with the bottom node hatched and labelled "reference, 0 V", and the two upper nodes circled and labelled v1 and v2, with conductances G1, G2, G3 drawn between them and a current sour…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80-89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nodal-matrix-build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analysis: the standard procedure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analysis: the standard procedure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Count nodes N; choose the node with most connections as reference</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Label the remaining N−1 node voltages</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KCL at each labelled node</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Express every branch current as (v_near − v_far)·G</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Move known source currents to the right-hand side</a:t>
            </a:r>
            <a:endParaRPr lang="en-US" sz="1100" dirty="0"/>
          </a:p>
        </p:txBody>
      </p:sp>
      <p:sp>
        <p:nvSpPr>
          <p:cNvPr id="19" name="shape-1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N−1 simultaneous equations</a:t>
            </a:r>
            <a:endParaRPr lang="en-US" sz="1100" dirty="0"/>
          </a:p>
        </p:txBody>
      </p:sp>
      <p:sp>
        <p:nvSpPr>
          <p:cNvPr id="21" name="shape-1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one node voltage is fixed directly by a grounded source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O((N−1)^3) elimination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O((N−1)^3) for a densely connected network</a:t>
            </a:r>
            <a:endParaRPr lang="en-US" sz="1100" dirty="0"/>
          </a:p>
        </p:txBody>
      </p:sp>
      <p:sp>
        <p:nvSpPr>
          <p:cNvPr id="23" name="shape-1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Prefer nodal when the circuit has many voltage-defined branches and few loops.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80-89   |   CO1  |  Bloom L3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analysis: the standard procedure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analysis: the standard procedure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6 mA source into node v1, with 2 kΩ from v1 to ground, 1 kΩ from v1 to v2 and 3 kΩ from v2 to ground.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Node v1: v1/2000 + (v1 − v2)/1000 = 0.006</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Node v2: (v2 − v1)/1000 + v2/3000 = 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node 2: v1 = v2·(1 + 1/3) = 1.3333·v2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1.3333v2/2000 + 0.3333v2/1000 = 0.006 → v2 = 6 V, v1 = 8 V</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v1 = 8 V and v2 = 6 V; the 1 kΩ carries 2 mA, which checks against the 2 mA leaving v2 through the 3 kΩ.</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[ 1/2k + 1/1k    −1/1k     ] [v1]   [6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−1/1k     1/1k + 1/3k ] [v2] = [  0  ]</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v1 = 8 V, v2 = 6 V</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the current through a resistor as v_node/R even when the far end is not at ground. The term is always (v_near − v_far)/R; dropping the far node silently grounds an element that was never grounded.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80-89   |   CO1  |  Bloom L3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supernode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supernode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supernode is the repair for a voltage source that sits between two non-reference nodes, where neither node voltage is directly known and no current expression exists for the source branch. The fix is to draw a closed boundary enclosing both nodes and the source, and apply KCL to that boundary — legitimate because KCL holds for any boundary, and the unknown source current is now internal and cancels. That gives one equation for two unknowns, so the missing second equation comes from the source itself: the constraint v_a − v_b equals the source value. The cost is that the tidy symmetric conductance matrix is lost, since one row is now a constraint rather than a KCL statement.</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supernode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floating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constraint equation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boundary KCL</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floating voltage source removes a KCL equation and hands back a constraint equation; the equation count never changes.</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four-node circuit with a voltage source V_s connected directly between nodes v2 and v3, neither of which is the reference. A dashed rounded rectangle is drawn enclosing v2, v3 and V_s together. Arrows for th…</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89-92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supernode-bubble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supernode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supernode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Locate every voltage source not connected to the reference node</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Enclose each such source and its two nodes in a supernode boundary</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one KCL equation for the whole boundary, ignoring internal branches</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constraint equation from the source value and polarity</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ordinary KCL at all remaining non-reference nodes</a:t>
            </a:r>
            <a:endParaRPr lang="en-US" sz="1100" dirty="0"/>
          </a:p>
        </p:txBody>
      </p:sp>
      <p:sp>
        <p:nvSpPr>
          <p:cNvPr id="19" name="shape-2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combined system</a:t>
            </a:r>
            <a:endParaRPr lang="en-US" sz="1100" dirty="0"/>
          </a:p>
        </p:txBody>
      </p:sp>
      <p:sp>
        <p:nvSpPr>
          <p:cNvPr id="21" name="shape-2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no supernodes needed when every source has one end grounded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supernode per floating source, equation count unchanged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supernodes chained when sources share nodes, forming one large boundary</a:t>
            </a:r>
            <a:endParaRPr lang="en-US" sz="1100" dirty="0"/>
          </a:p>
        </p:txBody>
      </p:sp>
      <p:sp>
        <p:nvSpPr>
          <p:cNvPr id="23" name="shape-2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Matrix symmetry is lost but the solution cost is unchanged.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89-92   |   CO1  |  Bloom L3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supernode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supernode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Nodes v1 and v2 bridged by a floating 10 V source (+ at v1), with 5 kΩ from v1 to ground, 10 kΩ from v2 to ground, and 2 mA injected into v1.</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Supernode boundary encloses v1, v2 and the 10 V source</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Boundary KCL: v1/5000 + v2/10000 = 0.002</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Constraint: v1 − v2 = 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v1 = v2 + 10: (v2+10)/5000 + v2/10000 = 0.002</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v1 = 10 V, v2 = 0 V; the source delivers 2 mA into the 5 kΩ and nothing through the 10 kΩ.</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boundary KCL: v1/5k + v2/10k = 2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constraint : v1 − v2 = 10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v1 = 10 V, v2 = 0 V</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write KCL separately at each node of the supernode and invent a symbol for the source current, then forget to eliminate it. The whole point of the boundary is that the source current never has to be named.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89-92   |   CO1  |  Bloom L3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Mesh analysis: the standard procedure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Mesh analysis: the standard procedure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Mesh analysis chooses circulating mesh currents as unknowns and writes one KVL equation per mesh. A mesh current is a mathematical device, not a measurable quantity: the physical branch current in an element shared by two meshes is the difference of the two mesh currents. The method requires a planar circuit — one that can be drawn without crossing wires — because only then do the meshes form a complete independent set. For a network of independent voltage sources and resistors the result is a symmetric resistance matrix whose diagonal is the total resistance around each mesh and whose off-diagonal entries are the negated shared resistances.</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mesh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mesh current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planar circuit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resistance matrix</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Mesh currents are fictitious circulating variables; only their differences across shared branches are physically real.</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two-mesh ladder circuit drawn as two adjacent rectangles sharing a vertical middle branch containing R2. A blue circular arrow labelled i1 loops clockwise inside the left rectangle, a green circular arrow la…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92-98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mesh-current-overlap</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Mesh analysis: the standard procedure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Mesh analysis: the standard procedure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circuit is planar and identify each mesh</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Assign a circulating current to every mesh, all in the same direction</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KVL around each mesh</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shared element use the difference of the two mesh currents</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Collect terms into a resistance matrix</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then convert mesh currents into branch currents</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single-mesh circuit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O(M^3) for M meshes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O(M^3), M = B − N + 1</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Prefer mesh analysis when voltage sources dominate and the mesh count is below the node count.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92-98   |   CO1  |  Bloom L3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Mesh analysis: the standard procedure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Mesh analysis: the standard procedure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Two meshes: 10 V source and 1 kΩ in mesh 1, 2 kΩ shared, 3 kΩ in mesh 2 with no source.</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Mesh 1: −10 + 1000·i1 + 2000·(i1 − i2) = 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Mesh 2: 2000·(i2 − i1) + 3000·i2 = 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From mesh 2: 5000·i2 = 2000·i1 → i2 = 0.4·i1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Mesh 1: 3000i1 − 2000(0.4i1) = 10 → 2200·i1 = 10 → i1 = 4.545 mA, i2 = 1.818 mA</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i1 = 4.545 mA, i2 = 1.818 mA, and the shared 2 kΩ actually carries i1 − i2 = 2.727 mA.</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[ 1k+2k   −2k  ] [i1]   [10]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−2k   2k+3k ] [i2] =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i1 = 4.545 mA, i2 = 1.818 mA</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report the mesh current as the current in a shared branch. In a shared element the reading on an ammeter would be i1 − i2; quoting i1 alone overstates the current in every branch the two meshes have in common.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92-98   |   CO1  |  Bloom L3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supermesh</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supermesh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supermesh is the mesh-analysis counterpart of the supernode, used when a current source sits on a branch shared by two meshes and therefore has an unknown and unexpressible voltage across it. The repair is to avoid traversing that branch: merge the two meshes into one larger loop and write KVL around the outside of the merged region only. The missing equation is supplied by the source itself, whose value fixes the difference between the two mesh currents. A current source on the outer boundary of a single mesh needs no supermesh at all — it simply sets that mesh current directly and removes an unknown.</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supermesh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shared current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merged loop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constraint equation</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You cannot write KVL across a current source, so route the loop around it and recover the lost equation from the source value.</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adjacent mesh rectangles sharing a vertical branch that contains a current source I_s drawn as a circle with an arrow. The shared branch flashes and is annotated "v across source unknown". The internal div…</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98-101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supermesh-merge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supermesh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supermesh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current sources on branches shared between two meshes</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Merge those two meshes and discard the shared branch from the traversal path</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one KVL equation around the merged outer path</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constraint relating the two mesh currents to the source value</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ordinary KVL for all unmerged meshes</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combined system</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source on an outer branch fixes a mesh current directly, reducing unknowns by one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supermesh per shared current source, equation count unchanged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chained supermeshes when sources share meshes</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Like the supernode, symmetry is lost but the order of the system is not.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98-101   |   CO1  |  Bloom L3</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supermesh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supermesh</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Two meshes sharing a 3 mA source; mesh 1 has a 12 V source and 2 kΩ, mesh 2 has 4 kΩ.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Constraint from the shared source: i1 − i2 = 0.003</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Supermesh KVL round the outside: −12 + 2000·i1 + 4000·i2 = 0</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i1 = i2 + 0.003: −12 + 2000i2 + 6 + 4000i2 = 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6000·i2 = 6 → i2 = 1 mA, i1 = 4 mA</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i1 = 4 mA, i2 = 1 mA, and the voltage across the current source can now be recovered afterwards from either mesh equation.</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constraint : i1 − i2 = 3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supermesh : −12 + 2k·i1 + 4k·i2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i1 = 4 mA, i2 = 1 mA</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include the shared branch in the supermesh KVL walk, adding an unknown source voltage they then cannot eliminate. The merged path must go around the source, never through 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98-101   |   CO1  |  Bloom L3</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with dependent sources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with dependen…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Adding a dependent source changes nothing structural about nodal or mesh analysis — the same KCL or KVL equations are written — but it introduces a controlling variable that must be expressed in terms of the chosen unknowns. If the controlling quantity happens to be a node voltage or a mesh current, substitution is immediate. If it is some other branch voltage or current, one auxiliary equation is written to relate it to the chosen variables and then eliminated. The practical consequence is that the coefficient matrix loses its symmetry, because a dependent source contributes a term to one row that has no matching term in the mirrored position.</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controlling variable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auxiliary equation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asymmetric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gain constraint</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Dependent sources cost one auxiliary equation each and destroy matrix symmetry, but never change how many unknowns you started with.</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Three panels left to right joined by arrows. Panel 1 "Write KCL as usual" shows a node equation containing the symbol 4·i_x highlighted amber. Panel 2 "Express the control" shows i_x = (v1 − v2)/R with the sam…</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80-101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dependent-substitution-chain</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with dependent sources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with dependen…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nodal or mesh equations exactly as if all sources were independent</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each controlling variable by name</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one auxiliary equation per controlling variable in terms of the chosen unknowns</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Substitute to eliminate the controlling variables</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Collect coefficients and solve</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Expect an asymmetric matrix and do not treat that as an error</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zero extra work when the control is already a chosen unknown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substitution per dependent source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one auxiliary equation per dependent source plus loss of symmetry</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Symmetry loss removes some numerical shortcuts but not solvability.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80-101   |   CO1  |  Bloom L4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with dependent sources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with dependen…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Node v1 fed by 5 mA, with 1 kΩ from v1 to ground and a VCCS of 2·v1 mA drawn from v1 to ground.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KCL at v1: v1/1000 + 0.002·v1 = 0.005</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Controlling variable is already v1, so no auxiliary equation is needed</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v1·(0.001 + 0.002) = 0.005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v1 = 0.005 / 0.003 = 1.667 V</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v1 = 1.667 V; the dependent source behaves here like an extra 500 Ω to ground, which is what a VCCS across its own control always does.</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v1/1k + 2e-3·v1 = 5 mA</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v1·(1e-3 + 2e-3) = 5e-3</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v1 = 1.667 V   (VCCS ≡ 500 Ω here)</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set a dependent source to zero when they are told to "turn off the sources". Only independent sources are deactivated; a dependent source is part of the network's structure, and zeroing it changes the circuit into a different one.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4, pp. 80-101   |   CO1  |  Bloom L4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Source transformations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transformations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source transformation converts a voltage source V_s in series with R into a current source V_s/R in parallel with the same R, and back again. The two are equivalent only at their external terminals: any load sees identical voltage and current from either arrangement, but the internal power dissipated in R differs, so the transformation may not be used to compute source efficiency. Its real value is procedural — each conversion can merge a source into a series or parallel group that was previously blocked, collapsing a multi-element network step by step until a single loop remains. Ideal sources cannot be transformed, because the transformation divides by or multiplies by R.</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practical source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source transformation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terminal equivalence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series-parallel reduction</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transformation is terminal equivalence only — the outside world cannot tell the difference, but the inside of the source can.</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 circuit fragments side by side, separated by a double-headed arrow labelled "V_s = I_s·R". Left fragment: a voltage source symbol in series with R, terminals a and b on the right edge. Right fragment: a cu…</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133-141</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source-transform-seesaw</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Source transformations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transformations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Find a voltage source in series with a resistance, or a current source in parallel with one</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equivalent using V_s = I_s·R</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Redraw with the converted source and the same R</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Merge any now-adjacent series or parallel elements</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until the network reduces to a single loop or node pair</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Never transform an ideal source with no series or parallel resistance</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transformation collapses a two-source network to one loop</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k transformations for k source-resistor pairs, O(k) work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no benefit when every source is ideal or the topology blocks merging</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Purely a preprocessing step — it never changes the answer, only the effort.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133-141   |   CO1  |  Bloom L3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Source transformations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transformations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12 V source in series with 4 kΩ, feeding a 2 kΩ load to ground.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Transform: I_s = 12/4000 = 3 mA in parallel with 4 kΩ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4 kΩ and the 2 kΩ load are now in parallel: 1.333 kΩ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V_load = 3 mA × 1.333 kΩ = 4 V</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with a plain divider on the original: 12 × 2/(2+4) = 4 V</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V_load = 4 V by both routes; note the transformed source dissipates a different internal power than the original, though the load cannot tell.</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V_s = I_s·R  ⇒  12 V + 4k  ≡  3 mA ∥ 4k</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V_load = 3 mA · (4k ∥ 2k) = 3 mA · 1.333k = 4 V</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transform a source and then answer a question about the power delivered by the source. Only the terminal behaviour is preserved; the internal dissipation changes, so any internal quantity must be computed on the original circuit.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133-141   |   CO1  |  Bloom L3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Delta-wye conversion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Delta-wye conversion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Delta-wye conversion replaces a three-terminal resistive mesh with an electrically equivalent three-terminal star, or the reverse. It exists because some networks — the classic bridge — contain no two resistors that are purely in series or purely in parallel, so series-parallel reduction stalls completely. Converting one delta into a wye breaks the deadlock and makes the rest of the network collapse by ordinary reduction. Each wye resistance is the product of the two adjacent delta resistances divided by the sum of all three; the reverse formula divides the sum of pairwise products by the opposite wye resistance. The equivalence holds at the three terminals only, and both networks must be purely passive for it to apply.</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delta (Δ)</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wye (Y)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bridge network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three-terminal equivalence</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Delta-wye is the tool for exactly one situation — when series-parallel reduction has run out of moves.</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three labelled terminals a, b, c arranged as a triangle. Inside the triangle, on the left state, three resistors R_ab, R_bc, R_ca form the delta along the triangle edges. A morph arrow labelled "R_a =…</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154-157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delta-wye-morph</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Delta-wye conversion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Delta-wye conversion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no two elements are in simple series or parallel</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Pick a three-terminal delta or wye sub-network</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R_a = R_ab·R_ca / (R_ab + R_bc + R_ca) for each wye branch</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Redraw the whole network with the converted sub-network</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Reduce the rest by ordinary series and parallel combination</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back only if the original terminal labels are needed</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one conversion unblocks a bridge entirely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three divisions per conversion, O(1)</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repeated conversions on a ladder of bridges</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Cheap arithmetic; the skill is recognising when it is the only move left.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154-157   |   CO1  |  Bloom L3</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Delta-wye conversion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Delta-wye conversion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delta with R_ab = 30 Ω, R_bc = 60 Ω, R_ca = 30 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Sum = 30 + 60 + 30 = 120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R_a = (30 × 30)/120 = 7.5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R_b = (30 × 60)/120 = 15 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R_c = (60 × 30)/120 = 15 Ω</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Wye of 7.5 Ω, 15 Ω and 15 Ω; terminal a has the smallest spoke because it sits between the two smallest delta arms.</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R_a = R_ab·R_ca / (R_ab+R_bc+R_ca) = 30·30/120 = 7.5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R_b = R_ab·R_bc / Σ = 15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R_c = R_bc·R_ca / Σ = 15 Ω</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pair each wye resistance with the delta resistance directly opposite it. The Δ→Y numerator uses the two delta arms that touch that terminal, not the one facing it — getting this backwards produces a plausible-looking but wrong set of three values.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5, pp. 154-157   |   CO1  |  Bloom L3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Characteristics of sinusoids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Characteristics of sinusoids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sinusoid v(t) = V_m·cos(ωt + φ) is fixed by three numbers: amplitude V_m, angular frequency ω in radians per second, and phase φ. Sinusoids matter in circuit analysis for a structural reason, not an aesthetic one — they are the only waveform whose shape survives differentiation and integration, so a linear circuit driven by a sinusoid produces a sinusoid at the same frequency in every branch, with only amplitude and phase changing. Comparing two sinusoids is only meaningful when both are written in the same form, conventionally cosine with positive amplitude; a sine must be converted using sin(x) = cos(x − 90°) before any lead or lag can be read off.</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amplitude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angular frequency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phase angle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lead and lag</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period</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a linear circuit the frequency never changes — only amplitude and phase do, and that is what makes phasors possible.</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single cosine wave drawn across the panel with three callouts: a vertical double arrow at the crest labelled V_m, a horizontal double arrow between two crests labelled T = 2π/ω, and a short horizontal offset…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371-374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L2  |  visual id: sinusoid-three-parameters</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Characteristics of sinusoids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Characteristics of sinusoids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every sinusoid as V_m·cos(ωt + φ) with V_m positive</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sines using sin(x) = cos(x − 90°)</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Flip a negative amplitude using −cos(x) = cos(x ± 180°)</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both signals share the same ω before comparing</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Subtract phases: a larger φ leads</a:t>
            </a:r>
            <a:endParaRPr lang="en-US" sz="1100" dirty="0"/>
          </a:p>
        </p:txBody>
      </p:sp>
      <p:sp>
        <p:nvSpPr>
          <p:cNvPr id="19" name="shape-39-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when both waveforms are already cosines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or two identity substitutions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multiple conversions for mixed sine/negative forms</a:t>
            </a:r>
            <a:endParaRPr lang="en-US" sz="1100" dirty="0"/>
          </a:p>
        </p:txBody>
      </p:sp>
      <p:sp>
        <p:nvSpPr>
          <p:cNvPr id="21" name="shape-39-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All arithmetic; errors here are sign errors, not algebra errors.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371-374   |   CO1  |  Bloom L2</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Characteristics of sinusoids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Characteristics of sinusoids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v1 = 5·sin(377t + 30°) and v2 = 4·cos(377t − 20°).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v1: 5·sin(377t + 30°) = 5·cos(377t + 30° − 90°) = 5·cos(377t − 60°)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Both now cosine at ω = 377 rad/s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Phase of v1 = −60°, phase of v2 = −20°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Difference = −60 − (−20) = −40°</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v1 lags v2 by 40°; without the sine-to-cosine conversion the naive comparison 30° vs −20° would have wrongly said v1 leads by 50°.</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sin(x) = cos(x − 90°)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5 sin(377t+30°) = 5 cos(377t−60°)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Δφ = −60° − (−20°) = −40°  → v1 lags v2 by 40°</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compare a sine against a cosine directly and report the phase difference straight from the written angles. Mixed forms must be reduced to one convention first, or the answer is off by exactly 90°.</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371-374   |   CO1  |  Bloom L2</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From forced response to the complex forcing function</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From forced response to the complex 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Driving an RL or RC circuit with a sinusoid and solving the differential equation directly produces the right answer but demands laborious trigonometric collection of sine and cosine terms. The complex forcing function replaces the real drive V_m·cos(ωt) with V_m·e^(j(ωt+φ)), solves the now far simpler equation, and takes the real part at the end. This is legitimate because the circuit is linear: a complex source is just a real source plus j times a second real source in quadrature, and superposition guarantees the real part of the response belongs to the real part of the drive. Every e^(jωt) factor then appears in every term and cancels, which is what leaves behind the purely algebraic phasor equation.</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forced response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steady state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complex forcing function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Euler's identity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superposition of real and imaginary</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Complex forcing is not an approximation — it solves two real problems at once and you keep the half you asked for.</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flowchart shaped like a detour. Top-left node "Real sinusoid V_m cos(ωt+φ)" has a straight downward arrow labelled "hard: trig collection" to a bottom node "Real answer", drawn thin and dashed. A parallel ro…</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374-383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complex-forcing-detour</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From forced response to the complex forcing function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From forced response to the complex 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the real sinusoidal source with its complex exponential form</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differential equation for the circuit</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Assume a response of the form A·e^(jωt) and substitute</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Cancel the common e^(jωt) factor from every term</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remaining algebraic equation for the complex amplitude</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Take the real part to recover the physical response</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first-order circuit — one algebraic division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complex division per unknown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equivalent to the real method for a single element, gains grow with circuit size</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saving is in avoided trigonometry, not in asymptotic order.</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374-383   |   CO1  |  Bloom L3</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From forced response to the complex forcing function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From forced response to the complex f…</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series RL circuit, R = 3 Ω, L = 4 mH, driven by 10·cos(1000t) V.</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Complex drive: 10·e^(j1000t)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Equation: 3·i + 0.004·di/dt = 10·e^(j1000t)</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Assume i = I·e^(j1000t): (3 + j4)·I = 10</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 = 10/(3 + j4) = 2∠−53.13° A</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i(t) = 2·cos(1000t − 53.13°) A; the current lags by 53.13° because the inductive term contributed the +j4.</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3i + 0.004 di/dt = 10 e^{j1000t}</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(3 + j4)I = 10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 = 2∠−53.13°  ⇒  i(t) = 2cos(1000t − 53.13°) A</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to take the real part and quote a complex number as the time-domain current. The complex result is an intermediate; only Re{I·e^(jωt)} is a physical waveform.</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374-383   |   CO1  |  Bloom L3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phasor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phasor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phasor is the complex amplitude that survives after the common e^(jωt) factor has been cancelled: V_m·cos(ωt + φ) transforms to V = V_m∠φ. It carries amplitude and phase and deliberately discards frequency, which is safe precisely because a linear circuit cannot change frequency. Phasor addition corresponds to adding time-domain waveforms, which is why rectangular form is used for sums and differences; multiplication and division correspond to scaling and shifting, which is why polar form is used for impedance arithmetic. The transformation is exact and reversible, but it applies only to steady state — the transient part of the response is invisible in phasor form.</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phasor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polar 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rectangular form</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time-domain transform pair</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phasor is a full description of a sinusoid at a known frequency, and nothing at all about how the circuit got there.</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complex plane with a single arrow of length V_m at angle φ from the real axis, labelled V = V_m∠φ, with dotted projections onto the real and imaginary axes labelled V_m cos φ and V_m sin φ. Right: the…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383-389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phasor-rotating-arrow</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phasor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phasor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source as a cosine with positive amplitude</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Read off V_m and φ</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phasor V = V_m∠φ</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rectangular form for addition and subtraction</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polar form for multiplication and division</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back by multiplying by e^(jωt) and taking the real part</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transform per source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per element, with polar/rectangular conversions as needed</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repeated conversion overhead in mixed-operation problems</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Choosing the wrong form is the main source of arithmetic cost.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383-389   |   CO1  |  Bloom L3</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phasor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phasor</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Add v1 = 30·cos(ωt + 30°) and v2 = 40·cos(ωt − 60°).</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V1 = 30∠30° = 25.98 + j15.00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V2 = 40∠−60° = 20.00 − j34.64</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Sum = 45.98 − j19.64</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Magnitude = 50.0, angle = −23.13°</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v1 + v2 = 50·cos(ωt − 23.13°) V; note the amplitudes 30 and 40 combine to 50 exactly because the two phasors happen to be 90° apart.</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30∠30° = 25.98 + j15.00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40∠−60° = 20.00 − j34.64</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Σ = 45.98 − j19.64 = 50∠−23.13°</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phasor magnitudes and average the angles. Addition is only valid in rectangular form; 30∠30° + 40∠−60° is 50∠−23.13°, not 70 at some intermediate angle.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383-389   |   CO1  |  Bloom L3</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Impedance and admittance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Impedance and admittance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Impedance is the ratio of phasor voltage to phasor current, Z = V/I, measured in ohms and generally complex: Z = R + jX, where R is resistance and X is reactance. A resistor contributes R with no phase shift, an inductor contributes jωL which grows with frequency, and a capacitor contributes 1/(jωC) = −j/(ωC) which shrinks with frequency. Because impedance is defined as a ratio of phasors, impedances in series add and impedances in parallel combine reciprocally — exactly like resistances — which is the real payoff: every DC technique already learned transfers to AC unchanged. Admittance Y = 1/Z = G + jB is simply the more convenient form for parallel combinations.</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impedance Z</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admittance 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reactance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susceptance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frequency dependence</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Impedance makes AC analysis identical to DC analysis with complex numbers, at the price of redoing the whole calculation at each new frequency.</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an impedance triangle in the complex plane with horizontal leg R, vertical leg X, hypotenuse |Z| and angle θ marked at the origin. Right: three small element panels stacked — resistor with "Z = R, flat 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389-394</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L3  |  visual id: impedance-triangle-sweep</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Impedance and admittance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Impedance and admittance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Fix the operating frequency ω</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R by Z = R</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L by Z = jωL</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Replace each C by Z = 1/(jωC)</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in series and parallel exactly as with resistances</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Recompute everything from scratch if ω changes</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for a pure series or parallel chain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same cost as the equivalent DC problem, with complex arithmetic</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full recomputation per frequency point in a sweep</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A frequency sweep of k points costs k independent solutions — this is why the Laplace method in Module 4 exists.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389-394   |   CO1  |  Bloom L3</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Impedance and admittance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Impedance and admittance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 = 100 Ω in series with L = 50 mH at ω = 2000 rad/s, driven by 10∠0° V.</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Z_L = j·2000·0.05 = j100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Z_total = 100 + j100 = 141.4∠45°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 = 10∠0° / 141.4∠45° = 0.0707∠−45° A</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V_L = I·Z_L = 0.0707∠−45° × 100∠90° = 7.07∠45° V</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I = 70.7∠−45° mA and V_L = 7.07∠45° V; the resistor and inductor voltages are each 7.07 V yet sum to 10 V, because they are 90° apart.</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Z_L = jωL = j100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 = 100 + j100 = 141.4∠45°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 = 10∠0° / 141.4∠45° = 70.7∠−45° mA</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the magnitudes of series impedances: |100| + |100| = 200 Ω. Impedances add as complex numbers, giving 141.4 Ω here — a 41% error that then propagates into every current and power figure.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389-394   |   CO1  |  Bloom L3</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of AC networks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of AC networks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Once every source is a phasor and every element an impedance, nodal and mesh analysis proceed without a single change of rule. KCL and KVL hold for phasors because they hold instantaneously and the transform is linear, so the same equations are assembled — only now the coefficient matrix is complex. Supernodes and supermeshes are formed for exactly the same reasons as in DC, and dependent sources are handled with the same auxiliary equations. The only genuinely new burden is arithmetic: solving a 2×2 complex system by hand is roughly four times the work of the real case, which is why systematic elimination rather than ad-hoc substitution becomes worth the discipline.</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phasor nodal analysis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complex conductance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AC mesh analysis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steady-state solution</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 analysis introduces no new circuit theory at all — it introduces complex arithmetic into theory you already have.</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split panel with a vertical seam. Left half shows a DC two-node circuit with resistor values and a real 2×2 conductance matrix beneath. Right half shows the identical topology with impedance labels Z1, Z2, Z…</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394-397</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CO1  |  Bloom L4  |  visual id: dc-to-ac-overlay</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of AC networks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of AC networks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all sources to phasors at the common frequency</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all elements to impedances at that frequency</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nodal or mesh analysis exactly as in DC</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supernodes or supermeshes where sources demand it</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Solve the complex simultaneous equations</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the phasor answers back to time-domain waveforms</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for a single-node phasor divider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O(n^3) complex operations, about 4× the real-arithmetic cost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O(n^3) per frequency point in a sweep</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Use nodal when parallel branches dominate, mesh when series loops dominate — the rule is unchanged from DC.</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394-397   |   CO1  |  Bloom L4</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Nodal and mesh analysis of AC networks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Nodal and mesh analysis of AC networks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10∠0° V through Z1 = 5 Ω to node v, with Z2 = −j10 Ω from v to ground.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KCL at v: (v − 10∠0°)/5 + v/(−j10) = 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through: (v − 10)·(−j10) + v·5 = 0 after clearing denominators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Collect: v·(1/5 + j0.1) = 2</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 = 2 / (0.2 + j0.1) = 8.944∠−26.57° V</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 = 8.944∠−26.57° V, i.e. v(t) = 8.944·cos(ωt − 26.57°); the capacitive branch pulls the node phase negative.</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 − 10)/5 + v/(−j10) = 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v(0.2 + j0.1) = 2</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 = 8.944∠−26.57° V</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mix a source given in volts RMS with element values solved in peak amplitude and never state which convention they used. Fix one convention at the start of the problem; a silent switch scales every power result by a factor of two.</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10, pp. 394-397   |   CO1  |  Bloom L4</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circuit diagram is a claim that the hardware behaves like the model; every analysis result inherits that claim.</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Independent sources set the excitation; dependent sources set the gain, and both must appear before any conservation equation can be written.</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KCL is a statement about a boundary, not about a dot on the page — draw the boundary wherever it makes the algebra smallest.</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KVL works because potential is single-valued; the loop you choose is free, but choosing meshes guarantees independence.</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Nodal analysis trades a large number of branch currents for a small number of node voltages, and the count of equations is fixed before you look at a single element.</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floating voltage source removes a KCL equation and hands back a constraint equation; the equation count never changes.</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Mesh currents are fictitious circulating variables; only their differences across shared branches are physically real.</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You cannot write KVL across a current source, so route the loop around it and recover the lost equation from the source value.</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Dependent sources cost one auxiliary equation each and destroy matrix symmetry, but never change how many unknowns you started with.</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Source transformation is terminal equivalence only — the outside world cannot tell the difference, but the inside of the source can.</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Delta-wye is the tool for exactly one situation — when series-parallel reduction has run out of moves.</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 a linear circuit the frequency never changes — only amplitude and phase do, and that is what makes phasors possible.</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Complex forcing is not an approximation — it solves two real problems at once and you keep the half you asked for.</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phasor is a full description of a sinusoid at a known frequency, and nothing at all about how the circuit got there.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Impedance makes AC analysis identical to DC analysis with complex numbers, at the price of redoing the whole calculation at each new frequency.</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 analysis introduces no new circuit theory at all — it introduces complex arithmetic into theory you already have.</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1</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1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quizzes/Module_1_Quiz.pdf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quizzes/Module_1_Quiz.gift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52%, L3-L4 48%, L5-L6 0%</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1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assignments/Module_1_Assignment.pdf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1 — Systematic analysis of DC and AC networks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&lt;USN&gt;_BEC303_Assignment1.pdf,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Correctness of equations and solution (8); Method selection and justification (5); Handling of special cases (supernode, supermesh, dependent sources) (4); Presentation, units and phasor conventions (3). Attainment: CO1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2026-09-11T19:47:51Z</dcterms:created>
  <dcterms:modified xsi:type="dcterms:W3CDTF">2026-09-11T19:47:51Z</dcterms:modified>
</cp:coreProperties>
</file>