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notesMasterIdLst>
    <p:notesMasterId r:id="rId5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notesMaster" Target="notesMasters/notesMaster1.xml"/><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Open by putting the whole module on one page. Tell them this is 13 contact hours and 16 teaching units, and that all of it exists to answer one question: When I do not need every branch current, which theorem gets me the one answer I want with the least work — and when does the shortcut stop being valid? Name the prescribed textbook out loud and say which chapters they will be living in, so nobody is reading the wrong book by week two.
Pause cue: Pause after reading the driving question aloud, before naming the textbook.
Pointing cue: Point at the module title block, then at the textbook panel, then run a finger along the five-beat arc.
Question to ask students: Ask: before we start, what do you already expect the answer to "When I do not need every branch current, which theorem gets me the one answer I want with…" to look like?
Animation instructions: Module title block fades in first, then the textbook panel slides in from the right, then the five arc beats appear left to right one at a time.
Transition style: Fade
[Sources] VTU BEC303 Network Analysis syllabus, 2025 scheme, Module 2: Network Theorems for DC and AC Circuits, 13 hours, Hayt 8e Ch. 5 (5.1, 5.3, 5.4), Ch. 10 (10.7), pp. 123–154 and 397–406; reciprocity from syllabus TB2 (Channa Venkatesh &amp; Ganesh Rao) §4.9. TB1: W. H. Hayt, J. E. Kemmerly and S. M. Durbin, Engineering Circuit Analysis, McGraw-Hill / Tata McGraw-Hill, 8th ed., 2012.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map before the territory. Read the driving question once more, then walk the five beats across the slide and say in one sentence what changes between each beat and the next. Finish on the scope paragraph, because knowing what a module does not cover saves more marks than anything else on this slide.
Pause cue: Pause for four or five seconds after the five beats appear, before moving to scope.
Pointing cue: Point at the driving question panel, then at each numbered beat in turn, then at the scope paragraph.
Question to ask students: Ask: which of these five beats do you expect to find hardest, and why that one?
Animation instructions: The driving question panel fades in, then the five numbered beats appear left to right one at a time, then the scope paragraph fades in beneath them.
Transition style: Fade
[Sources] VTU BEC303 Network Analysis syllabus, 2025 scheme, Module 2: Network Theorems for DC and AC Circuits, 13 hours, Hayt 8e Ch. 5 (5.1, 5.3, 5.4), Ch. 10 (10.7), pp. 123–154 and 397–406; reciprocity from syllabus TB2 (Channa Venkatesh &amp; Ganesh Rao) §4.9. TB1: W. H. Hayt, J. E. Kemmerly and S. M. Durbin, Engineering Circuit Analysis, McGraw-Hill / Tata McGraw-Hill, 8th ed., 2012.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Tell them this is the slide to photograph. Every unit in the module is listed against a real chapter and a real page range, so there is no ambiguity about what to read. Point out the slide-number column and say plainly that if they miss a lecture, those are the slides covering that unit. Say that the page ranges come from the book's own table of contents rather than a guess.
Pause cue: Pause for ten seconds and let them photograph the table before saying anything else.
Pointing cue: Run a finger down the chapter-and-pages column, then across one complete row.
Question to ask students: Ask: pick any row - which chapter would you open first, and what would you expect in the first paragraph?
Animation instructions: Header row appears first, then the unit rows fade in one at a time from the top, then the chapter-and-pages column highlights.
Transition style: Cut
[Sources] VTU BEC303 Network Analysis syllabus, 2025 scheme, Module 2: Network Theorems for DC and AC Circuits, 13 hours, Hayt 8e Ch. 5 (5.1, 5.3, 5.4), Ch. 10 (10.7), pp. 123–154 and 397–406; reciprocity from syllabus TB2 (Channa Venkatesh &amp; Ganesh Rao) §4.9. TB1: W. H. Hayt, J. E. Kemmerly and S. M. Durbin, Engineering Circuit Analysis, McGraw-Hill / Tata McGraw-Hill, 8th ed., 2012. Mapping covers all 16 teaching units.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Tell them this is the slide to photograph. Every unit in the module is listed against a real chapter and a real page range, so there is no ambiguity about what to read. Point out the slide-number column and say plainly that if they miss a lecture, those are the slides covering that unit. Say that the page ranges come from the book's own table of contents rather than a guess.
Pause cue: Pause for ten seconds and let them photograph the table before saying anything else.
Pointing cue: Run a finger down the chapter-and-pages column, then across one complete row.
Question to ask students: Ask: pick any row - which chapter would you open first, and what would you expect in the first paragraph?
Animation instructions: Header row appears first, then the unit rows fade in one at a time from the top, then the chapter-and-pages column highlights.
Transition style: Cut
[Sources] VTU BEC303 Network Analysis syllabus, 2025 scheme, Module 2: Network Theorems for DC and AC Circuits, 13 hours, Hayt 8e Ch. 5 (5.1, 5.3, 5.4), Ch. 10 (10.7), pp. 123–154 and 397–406; reciprocity from syllabus TB2 (Channa Venkatesh &amp; Ganesh Rao) §4.9. TB1: W. H. Hayt, J. E. Kemmerly and S. M. Durbin, Engineering Circuit Analysis, McGraw-Hill / Tata McGraw-Hill, 8th ed., 2012. Mapping covers all 16 teaching units.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A circuit is linear when its response obeys two properties together: homogeneity, meaning scaling every source by k scales every response by k, and additi… Then add the part they are examined on - Linearity is not a convenience assumption — it is the single hypothesis that makes superposition, Thévenin and reciprocity t…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"homogeneity" constrain here, and what would break if it did not hold?
Animation instructions: left pillar rises, right pillar rises, then the lintel slides across on top, then the theorem names appear one by one along it, then the cracked power block drops in last with the red X.
Transition style: Fade
[Sources] VTU BEC303 Network Analysis syllabus, 2025 scheme, Module 2: Network Theorems for DC and AC Circuits. TB1 as listed by the syllabus: W. H. Hayt, J. E. Kemmerly and S. M. Durbin, Engineering Circuit Analysis, McGraw-Hill / Tata McGraw-Hill, 8th ed., 2012; Ch. 5, pp. 123-133.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Check every element against the linear list before invoking any theorem - and check everyone has written it before moving on. At the cost panel, translate it: The check is cheap; skipping it is what makes later work worthless.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BEC303 Network Analysis syllabus, 2025 scheme, Module 2: Network Theorems for DC and AC Circuits. TB1 as listed by the syllabus: W. H. Hayt, J. E. Kemmerly and S. M. Durbin, Engineering Circuit Analysis, McGraw-Hill / Tata McGraw-Hill, 8th ed., 2012; Ch. 5, pp. 123-133.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A resistive divider gives 4 V at the output from a 12 V source. The source is raised to 30 V. Work at the pace of the slowest note-taker and land hard on the result: Output rises to 10 V but load power rises 6.25-fold — the clearest demonstration that voltage is linear and power is not.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BEC303 Network Analysis syllabus, 2025 scheme, Module 2: Network Theorems for DC and AC Circuits. TB1 as listed by the syllabus: W. H. Hayt, J. E. Kemmerly and S. M. Durbin, Engineering Circuit Analysis, McGraw-Hill / Tata McGraw-Hill, 8th ed., 2012; Ch. 5, pp. 123-133.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Superposition states that in a linear circuit the current or voltage at any point is the algebraic sum of the responses produced by each independent sourc… Then add the part they are examined on - Superposition is a diagnostic tool first and a solving method second — use it when you need to know which source caused what.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"superposition" constrain here, and what would break if it did not hold?
Animation instructions: the top circuit fades in, the two fan-out arrows draw simultaneously, the left copy appears with the source deactivation animating, then the right copy the same way, then both converge arrows draw into the summation box which highlights green.
Transition style: Fade
[Sources] VTU BEC303 Network Analysis syllabus, 2025 scheme, Module 2: Network Theorems for DC and AC Circuits. TB1 as listed by the syllabus: W. H. Hayt, J. E. Kemmerly and S. M. Durbin, Engineering Circuit Analysis, McGraw-Hill / Tata McGraw-Hill, 8th ed., 2012; Ch. 5, pp. 123-133.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Confirm the circuit is linear - and check everyone has written it before moving on. At the cost panel, translate it: Always slower than direct analysis; the payoff is attribution, not speed.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BEC303 Network Analysis syllabus, 2025 scheme, Module 2: Network Theorems for DC and AC Circuits. TB1 as listed by the syllabus: W. H. Hayt, J. E. Kemmerly and S. M. Durbin, Engineering Circuit Analysis, McGraw-Hill / Tata McGraw-Hill, 8th ed., 2012; Ch. 5, pp. 123-133.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A 10 V source in series with 2 kΩ and a 3 mA source both feeding a common 6 kΩ load to ground. Work at the pace of the slowest note-taker and land hard on the result: v = 12 V, of which the voltage source contributes 7.5 V and the current source 4.5 V — an attribution that a single nodal solve w…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BEC303 Network Analysis syllabus, 2025 scheme, Module 2: Network Theorems for DC and AC Circuits. TB1 as listed by the syllabus: W. H. Hayt, J. E. Kemmerly and S. M. Durbin, Engineering Circuit Analysis, McGraw-Hill / Tata McGraw-Hill, 8th ed., 2012; Ch. 5, pp. 123-133.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Deactivating an independent voltage source means setting its terminal voltage to zero, which is a short circuit; deactivating an independent current sourc… Then add the part they are examined on - Zeroing a source removes its excitation, never its resistance, and never applies to a dependent source.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"zeroing a source" constrain here, and what would break if it did not hold?
Animation instructions: rows appear top to bottom, each with the symbol morphing from before to after; then the green tick lands on row 3; then the amber side panel slides in last.
Transition style: Fade
[Sources] VTU BEC303 Network Analysis syllabus, 2025 scheme, Module 2: Network Theorems for DC and AC Circuits. TB1 as listed by the syllabus: W. H. Hayt, J. E. Kemmerly and S. M. Durbin, Engineering Circuit Analysis, McGraw-Hill / Tata McGraw-Hill, 8th ed., 2012; Ch. 5, pp. 123-133.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List every source and label it independent or dependent - and check everyone has written it before moving on. At the cost panel, translate it: The redraw is where most arithmetic errors enter — do it explicitly.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BEC303 Network Analysis syllabus, 2025 scheme, Module 2: Network Theorems for DC and AC Circuits. TB1 as listed by the syllabus: W. H. Hayt, J. E. Kemmerly and S. M. Durbin, Engineering Circuit Analysis, McGraw-Hill / Tata McGraw-Hill, 8th ed., 2012; Ch. 5, pp. 123-133.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A practical source of 10 V with 2 Ω internal resistance, in a circuit with a second 5 A ideal source, is to be deactivated for a superposit… Work at the pace of the slowest note-taker and land hard on the result: The branch reduces to 2 Ω, not to an open or a plain wire — deleting the 2 Ω would change the parallel combination and every down…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BEC303 Network Analysis syllabus, 2025 scheme, Module 2: Network Theorems for DC and AC Circuits. TB1 as listed by the syllabus: W. H. Hayt, J. E. Kemmerly and S. M. Durbin, Engineering Circuit Analysis, McGraw-Hill / Tata McGraw-Hill, 8th ed., 2012; Ch. 5, pp. 123-133.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When a circuit is driven by sources at different frequencies, no single phasor domain can hold them, because impedance itself is a function of ω. Then add the part they are examined on - Different frequencies may only be combined in the time domain — phasors from different ω values are not addable at all.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"multi-frequency excitation" constrain here, and what would break if it did not hold?
Animation instructions: lanes appear top to bottom, each computing left to right, then the three arrows converge into the sum node, then the red crossed shortcut appears last.
Transition style: Fade
[Sources] VTU BEC303 Network Analysis syllabus, 2025 scheme, Module 2: Network Theorems for DC and AC Circuits. TB1 as listed by the syllabus: W. H. Hayt, J. E. Kemmerly and S. M. Durbin, Engineering Circuit Analysis, McGraw-Hill / Tata McGraw-Hill, 8th ed., 2012; Ch. 5, pp. 123-133.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Group the sources by frequency - and check everyone has written it before moving on. At the cost panel, translate it: Cost grows with the number of distinct frequencies, not the number of sources.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BEC303 Network Analysis syllabus, 2025 scheme, Module 2: Network Theorems for DC and AC Circuits. TB1 as listed by the syllabus: W. H. Hayt, J. E. Kemmerly and S. M. Durbin, Engineering Circuit Analysis, McGraw-Hill / Tata McGraw-Hill, 8th ed., 2012; Ch. 5, pp. 123-133.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A series R = 1 kΩ, C = 1 µF branch driven by 5 V DC plus 10·cos(1000t) V. Work at the pace of the slowest note-taker and land hard on the result: v_C(t) = 5 + 7.07·cos(1000t − 45°) V — a DC level with an AC ripple riding on it, which no single phasor could have represented.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BEC303 Network Analysis syllabus, 2025 scheme, Module 2: Network Theorems for DC and AC Circuits. TB1 as listed by the syllabus: W. H. Hayt, J. E. Kemmerly and S. M. Durbin, Engineering Circuit Analysis, McGraw-Hill / Tata McGraw-Hill, 8th ed., 2012; Ch. 5, pp. 123-133.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Power is a quadratic function of the response, p = i²R, so expanding the square of a sum produces a cross term: (i₁ + i₂)²R = i₁²R + i₂²R + 2i₁i₂R. Then add the part they are examined on - Superpose the response, then square; never square, then superpose.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"quadratic response" constrain here, and what would break if it did not hold?
Animation instructions: the expansion types in chunk by chunk with the red cross term appearing last and pulsing, then the naive bar grows, then the true bar grows with the red segment stacking visibly on top, then the error badge pops in.
Transition style: Fade
[Sources] VTU BEC303 Network Analysis syllabus, 2025 scheme, Module 2: Network Theorems for DC and AC Circuits. TB1 as listed by the syllabus: W. H. Hayt, J. E. Kemmerly and S. M. Durbin, Engineering Circuit Analysis, McGraw-Hill / Tata McGraw-Hill, 8th ed., 2012; Ch. 5, pp. 123-133.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Use superposition to find the total current or voltage - and check everyone has written it before moving on. At the cost panel, translate it: The only situation where partial powers happen to add is when the partial responses are orthogonal, e.g. at different frequencies over a fu…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BEC303 Network Analysis syllabus, 2025 scheme, Module 2: Network Theorems for DC and AC Circuits. TB1 as listed by the syllabus: W. H. Hayt, J. E. Kemmerly and S. M. Durbin, Engineering Circuit Analysis, McGraw-Hill / Tata McGraw-Hill, 8th ed., 2012; Ch. 5, pp. 123-133.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Two sources each produce 2 mA through a shared 1 kΩ resistor. Work at the pace of the slowest note-taker and land hard on the result: True power is 16 mW against a naive 8 mW — the discarded cross term was equal to the entire naive answer.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BEC303 Network Analysis syllabus, 2025 scheme, Module 2: Network Theorems for DC and AC Circuits. TB1 as listed by the syllabus: W. H. Hayt, J. E. Kemmerly and S. M. Durbin, Engineering Circuit Analysis, McGraw-Hill / Tata McGraw-Hill, 8th ed., 2012; Ch. 5, pp. 123-133.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Reciprocity states that in a linear, passive, bilateral network with a single source, interchanging the positions of the excitation and the response leave… Then add the part they are examined on - Reciprocity says a passive bilateral network cannot tell which of two ports you are pushing on.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"reciprocity" constrain here, and what would break if it did not hold?
Animation instructions: the upper box draws with its source and meter, the reading appears, the curved swap arrow sweeps down, the lower box draws with the swapped placement, its reading appears, then the green equals sign flashes between the two readings.
Transition style: Fade
[Sources] VTU BEC303 Network Analysis syllabus, 2025 scheme, Module 2: Network Theorems for DC and AC Circuits. Assigned by the syllabus to TB2: K. Channa Venkatesh and D. Ganesh Rao, Network Analysis - A Simplified Approach, Cengage India, 2nd ed., 2012; TB2 §4.9. TB2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Confirm the network is linear, passive and bilateral - and check everyone has written it before moving on. At the cost panel, translate it: The theorem is a shortcut and a verification check in equal measure.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BEC303 Network Analysis syllabus, 2025 scheme, Module 2: Network Theorems for DC and AC Circuits. Assigned by the syllabus to TB2: K. Channa Venkatesh and D. Ganesh Rao, Network Analysis - A Simplified Approach, Cengage India, 2nd ed., 2012; TB2 §4.9. TB2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A 20 V source in branch A of a passive ladder produces 4 mA in branch B. Work at the pace of the slowest note-taker and land hard on the result: The same 4 mA appears in branch A, without solving the network a second time.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BEC303 Network Analysis syllabus, 2025 scheme, Module 2: Network Theorems for DC and AC Circuits. Assigned by the syllabus to TB2: K. Channa Venkatesh and D. Ganesh Rao, Network Analysis - A Simplified Approach, Cengage India, 2nd ed., 2012; TB2 §4.9. TB2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Reciprocity holds only under four conditions taken together. Then add the part they are examined on - Four conditions, all required — and the one students forget is that dependent sources destroy bilaterality.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"bilateral element" constrain here, and what would break if it did not hold?
Animation instructions: the four bars stack in from the left, the green token descends passing each bar which turns green in turn, then the bottom badge lights, then the red token and its stopped state fade in beside it.
Transition style: Fade
[Sources] VTU BEC303 Network Analysis syllabus, 2025 scheme, Module 2: Network Theorems for DC and AC Circuits. Assigned by the syllabus to TB2: K. Channa Venkatesh and D. Ganesh Rao, Network Analysis - A Simplified Approach, Cengage India, 2nd ed., 2012; TB2 §4.9. TB2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Check linearity of every element - and check everyone has written it before moving on. At the cost panel, translate it: The check costs far less than a wrong answer built on it.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BEC303 Network Analysis syllabus, 2025 scheme, Module 2: Network Theorems for DC and AC Circuits. Assigned by the syllabus to TB2: K. Channa Venkatesh and D. Ganesh Rao, Network Analysis - A Simplified Approach, Cengage India, 2nd ed., 2012; TB2 §4.9. TB2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A network of resistors and one ideal transformer, with a single 12 V source and no stored energy. Work at the pace of the slowest note-taker and land hard on the result: All four conditions hold, so the excitation and response may be interchanged without re-solving the network.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BEC303 Network Analysis syllabus, 2025 scheme, Module 2: Network Theorems for DC and AC Circuits. Assigned by the syllabus to TB2: K. Channa Venkatesh and D. Ganesh Rao, Network Analysis - A Simplified Approach, Cengage India, 2nd ed., 2012; TB2 §4.9. TB2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A purely resistive ladder, an LC filter and a passive transformer-coupled network are reciprocal: interchange source and meter and the reading is unchange… Then add the part they are examined on - Reciprocity is a feature of passive networks and a bug in anything meant to have an input and an output.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"reciprocal network" constrain here, and what would break if it did not hold?
Animation instructions: the divider draws, left thumbnails appear top to bottom with their double arrows animating both ways, then right thumbnails appear with their arrows animating forward only and the reverse attempt bouncing back, then the caption strip slides up.
Transition style: Fade
[Sources] VTU BEC303 Network Analysis syllabus, 2025 scheme, Module 2: Network Theorems for DC and AC Circuits. Assigned by the syllabus to TB2: K. Channa Venkatesh and D. Ganesh Rao, Network Analysis - A Simplified Approach, Cengage India, 2nd ed., 2012; TB2 §4.9. TB2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Identify whether the network contains any dependent source - and check everyone has written it before moving on. At the cost panel, translate it: This classification is what Module 5 will reuse when testing z₁₂ = z₂₁.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BEC303 Network Analysis syllabus, 2025 scheme, Module 2: Network Theorems for DC and AC Circuits. Assigned by the syllabus to TB2: K. Channa Venkatesh and D. Ganesh Rao, Network Analysis - A Simplified Approach, Cengage India, 2nd ed., 2012; TB2 §4.9. TB2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A common-emitter amplifier modelled as r_π with a current-controlled current source β·i_b driving R_C. Work at the pace of the slowest note-taker and land hard on the result: The network is non-reciprocal, and that asymmetry is precisely what makes it useful as an amplifier rather than a filter.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BEC303 Network Analysis syllabus, 2025 scheme, Module 2: Network Theorems for DC and AC Circuits. Assigned by the syllabus to TB2: K. Channa Venkatesh and D. Ganesh Rao, Network Analysis - A Simplified Approach, Cengage India, 2nd ed., 2012; TB2 §4.9. TB2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Thévenin's theorem states that any linear two-terminal network may be replaced, as far as anything connected to those two terminals can tell, by a single… Then add the part they are examined on - Thévenin collapses everything behind a port into two numbers, and those two numbers are valid for any load you care to attac…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"Thévenin equivalent" constrain here, and what would break if it did not hold?
Animation instructions: the cloud network fades in with the load, the collapse arrow sweeps right while the cloud shrinks into the two-element form, then the two meter readings light up and the green equals sign appears, then the two captions fade in.
Transition style: Fade
[Sources] VTU BEC303 Network Analysis syllabus, 2025 scheme, Module 2: Network Theorems for DC and AC Circuits. TB1 as listed by the syllabus: W. H. Hayt, J. E. Kemmerly and S. M. Durbin, Engineering Circuit Analysis, McGraw-Hill / Tata McGraw-Hill, 8th ed., 2012; Ch. 5, pp. 141-152.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Identify the two terminals that define the port - and check everyone has written it before moving on. At the cost panel, translate it: Break-even against direct analysis occurs at about three different load values.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BEC303 Network Analysis syllabus, 2025 scheme, Module 2: Network Theorems for DC and AC Circuits. TB1 as listed by the syllabus: W. H. Hayt, J. E. Kemmerly and S. M. Durbin, Engineering Circuit Analysis, McGraw-Hill / Tata McGraw-Hill, 8th ed., 2012; Ch. 5, pp. 141-152.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A 12 V source in series with 4 kΩ, with 6 kΩ to ground, and the port taken across the 6 kΩ. Work at the pace of the slowest note-taker and land hard on the result: V_th = 7.2 V, R_th = 2.4 kΩ; attaching a 2.4 kΩ load now gives 3.6 V in one line instead of re-solving the divider.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BEC303 Network Analysis syllabus, 2025 scheme, Module 2: Network Theorems for DC and AC Circuits. TB1 as listed by the syllabus: W. H. Hayt, J. E. Kemmerly and S. M. Durbin, Engineering Circuit Analysis, McGraw-Hill / Tata McGraw-Hill, 8th ed., 2012; Ch. 5, pp. 141-152.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There are three ways to find R_th and the choice is dictated by what the network contains. Then add the part they are examined on - No dependent sources means look back and reduce; dependent sources means apply a test source — there is no third option that…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"look-back resistance" constrain here, and what would break if it did not hold?
Animation instructions: the diamond appears, the No branch draws left with its box, the Yes branch draws right with its box, then the dotted lines and the shared V_oc/I_sc box appear, then the amber negative-resistance badge pops in.
Transition style: Fade
[Sources] VTU BEC303 Network Analysis syllabus, 2025 scheme, Module 2: Network Theorems for DC and AC Circuits. TB1 as listed by the syllabus: W. H. Hayt, J. E. Kemmerly and S. M. Durbin, Engineering Circuit Analysis, McGraw-Hill / Tata McGraw-Hill, 8th ed., 2012; Ch. 5, pp. 141-152.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Detach the load and inspect the network for dependent sources - and check everyone has written it before moving on. At the cost panel, translate it: The test-source method is the only one that never fails, which is why it is the fallback.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BEC303 Network Analysis syllabus, 2025 scheme, Module 2: Network Theorems for DC and AC Circuits. TB1 as listed by the syllabus: W. H. Hayt, J. E. Kemmerly and S. M. Durbin, Engineering Circuit Analysis, McGraw-Hill / Tata McGraw-Hill, 8th ed., 2012; Ch. 5, pp. 141-152.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A port with a 2 kΩ resistor and a CCVS of 3000·i_x in series, where i_x is the port current itself. Work at the pace of the slowest note-taker and land hard on the result: R_th = 5 kΩ, not the 2 kΩ a naive deactivation would have given — the dependent source contributed 3 kΩ of apparent resistance.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BEC303 Network Analysis syllabus, 2025 scheme, Module 2: Network Theorems for DC and AC Circuits. TB1 as listed by the syllabus: W. H. Hayt, J. E. Kemmerly and S. M. Durbin, Engineering Circuit Analysis, McGraw-Hill / Tata McGraw-Hill, 8th ed., 2012; Ch. 5, pp. 141-152.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Norton's theorem is the current-source dual of Thévenin's: any linear two-terminal network may be replaced by a current source I_N in parallel with a resi… Then add the part they are examined on - Thévenin and Norton are the same two facts about a port written in two different notations; choose the one that matches the…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"Norton equivalent" constrain here, and what would break if it did not hold?
Animation instructions: Thévenin form draws, Norton form draws, the double arrow animates between them, the two measurement badges drop in, then the two load thumbnails slide up with their green preference arrows.
Transition style: Fade
[Sources] VTU BEC303 Network Analysis syllabus, 2025 scheme, Module 2: Network Theorems for DC and AC Circuits. TB1 as listed by the syllabus: W. H. Hayt, J. E. Kemmerly and S. M. Durbin, Engineering Circuit Analysis, McGraw-Hill / Tata McGraw-Hill, 8th ed., 2012; Ch. 5, pp. 141-152.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Detach the load at the port - and check everyone has written it before moving on. At the cost panel, translate it: Never compute both from scratch — derive the second from the first.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BEC303 Network Analysis syllabus, 2025 scheme, Module 2: Network Theorems for DC and AC Circuits. TB1 as listed by the syllabus: W. H. Hayt, J. E. Kemmerly and S. M. Durbin, Engineering Circuit Analysis, McGraw-Hill / Tata McGraw-Hill, 8th ed., 2012; Ch. 5, pp. 141-152.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A port whose Thévenin equivalent is 7.2 V in series with 2.4 kΩ. Work at the pace of the slowest note-taker and land hard on the result: Norton form is 3 mA ∥ 2.4 kΩ, and it reproduces the 3.6 V load voltage found from the Thévenin form, as it must.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BEC303 Network Analysis syllabus, 2025 scheme, Module 2: Network Theorems for DC and AC Circuits. TB1 as listed by the syllabus: W. H. Hayt, J. E. Kemmerly and S. M. Durbin, Engineering Circuit Analysis, McGraw-Hill / Tata McGraw-Hill, 8th ed., 2012; Ch. 5, pp. 141-152.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Maximum power is delivered to a load when the load resistance equals the Thévenin resistance of the source network. Then add the part they are examined on - Matching maximises delivered power and caps efficiency at 50 % — those are two different design goals and you may only have…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"matched load" constrain here, and what would break if it did not hold?
Animation instructions: axes draw, the power curve traces left to right, the peak dashed line drops, the two flatness bands shade in simultaneously, then the efficiency curve traces as a dashed line, then the 50% crossing callout appears last.
Transition style: Fade
[Sources] VTU BEC303 Network Analysis syllabus, 2025 scheme, Module 2: Network Theorems for DC and AC Circuits. TB1 as listed by the syllabus: W. H. Hayt, J. E. Kemmerly and S. M. Durbin, Engineering Circuit Analysis, McGraw-Hill / Tata McGraw-Hill, 8th ed., 2012; Ch. 5, pp. 152-154.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Find the Thévenin equivalent of the network feeding the load - and check everyone has written it before moving on. At the cost panel, translate it: The flatness of the optimum means a 2:1 component tolerance costs about 11 % of peak power.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BEC303 Network Analysis syllabus, 2025 scheme, Module 2: Network Theorems for DC and AC Circuits. TB1 as listed by the syllabus: W. H. Hayt, J. E. Kemmerly and S. M. Durbin, Engineering Circuit Analysis, McGraw-Hill / Tata McGraw-Hill, 8th ed., 2012; Ch. 5, pp. 152-154.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A source network with V_th = 12 V and R_th = 50 Ω. Work at the pace of the slowest note-taker and land hard on the result: p_max = 0.72 W at R_L = 50 Ω; doubling the load to 100 Ω still delivers 0.64 W but raises efficiency to 67 %.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BEC303 Network Analysis syllabus, 2025 scheme, Module 2: Network Theorems for DC and AC Circuits. TB1 as listed by the syllabus: W. H. Hayt, J. E. Kemmerly and S. M. Durbin, Engineering Circuit Analysis, McGraw-Hill / Tata McGraw-Hill, 8th ed., 2012; Ch. 5, pp. 152-154.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Real designs choose between three matching regimes according to what is scarce. Then add the part they are examined on - Match for power when signal power is scarce, match for reflection when the line is long, and mismatch deliberately everywher…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"impedance matching" constrain here, and what would break if it did not hold?
Animation instructions: panels appear left to right; in panel 1 the red reflection animates then the green matched case replaces it; panel 2 and 3 fade in with their annotations; then the footer strip types in left to right.
Transition style: Fade
[Sources] VTU BEC303 Network Analysis syllabus, 2025 scheme, Module 2: Network Theorems for DC and AC Circuits. TB1 as listed by the syllabus: W. H. Hayt, J. E. Kemmerly and S. M. Durbin, Engineering Circuit Analysis, McGraw-Hill / Tata McGraw-Hill, 8th ed., 2012; Ch. 5, pp. 152-154.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Identify the scarce resource: signal power, efficiency, or signal fidelity - and check everyone has written it before moving on. At the cost panel, translate it: Matching is inherently frequency-dependent; a match at one frequency is a mismatch at another.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BEC303 Network Analysis syllabus, 2025 scheme, Module 2: Network Theorems for DC and AC Circuits. TB1 as listed by the syllabus: W. H. Hayt, J. E. Kemmerly and S. M. Durbin, Engineering Circuit Analysis, McGraw-Hill / Tata McGraw-Hill, 8th ed., 2012; Ch. 5, pp. 152-154.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An antenna with source impedance 50 + j30 Ω feeding a receiver front end. Work at the pace of the slowest note-taker and land hard on the result: A 50 − j30 Ω input presents the conjugate match and extracts the maximum available signal power; a plain 50 Ω resistive input wou…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BEC303 Network Analysis syllabus, 2025 scheme, Module 2: Network Theorems for DC and AC Circuits. TB1 as listed by the syllabus: W. H. Hayt, J. E. Kemmerly and S. M. Durbin, Engineering Circuit Analysis, McGraw-Hill / Tata McGraw-Hill, 8th ed., 2012; Ch. 5, pp. 152-154.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Every theorem in this module transfers to sinusoidal steady state by a single substitution: resistance becomes impedance and real arithmetic becomes compl… Then add the part they are examined on - All the DC theorems survive into AC unchanged except maximum power transfer, which becomes a conjugate match.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"phasor superposition" constrain here, and what would break if it did not hold?
Animation instructions: the two banks draw, the four DC tiles appear, then each green span extends left to right revealing its AC tile, then the amber conjugate span extends last and pulses, then the legend fades in.
Transition style: Fade
[Sources] VTU BEC303 Network Analysis syllabus, 2025 scheme, Module 2: Network Theorems for DC and AC Circuits. TB1 as listed by the syllabus: W. H. Hayt, J. E. Kemmerly and S. M. Durbin, Engineering Circuit Analysis, McGraw-Hill / Tata McGraw-Hill, 8th ed., 2012; Ch. 10, pp. 397-406.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Convert every source to a phasor and every element to an impedance - and check everyone has written it before moving on. At the cost panel, translate it: No new theory is introduced; all the additional cost is complex arithmetic.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BEC303 Network Analysis syllabus, 2025 scheme, Module 2: Network Theorems for DC and AC Circuits. TB1 as listed by the syllabus: W. H. Hayt, J. E. Kemmerly and S. M. Durbin, Engineering Circuit Analysis, McGraw-Hill / Tata McGraw-Hill, 8th ed., 2012; Ch. 10, pp. 397-406.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A source 20∠0° V with Z_th = 30 + j40 Ω, delivering to a load chosen for maximum power. Work at the pace of the slowest note-taker and land hard on the result: Maximum delivered power is 3.33 W with Z_L = 30 − j40 Ω; the two independent routes to the same number confirm the conjugate rule.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BEC303 Network Analysis syllabus, 2025 scheme, Module 2: Network Theorems for DC and AC Circuits. TB1 as listed by the syllabus: W. H. Hayt, J. E. Kemmerly and S. M. Durbin, Engineering Circuit Analysis, McGraw-Hill / Tata McGraw-Hill, 8th ed., 2012; Ch. 10, pp. 397-406.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The theorems are not interchangeable and choosing badly costs more work than it saves. Then add the part they are examined on - Pick the theorem by what the question asks for, not by what is easiest to recall.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"method selection" constrain here, and what would break if it did not hold?
Animation instructions: the root appears, then each branch draws in turn with its leaf fading in, then all five cost badges appear together at the end.
Transition style: Fade
[Sources] VTU BEC303 Network Analysis syllabus, 2025 scheme, Module 2: Network Theorems for DC and AC Circuits. TB1 as listed by the syllabus: W. H. Hayt, J. E. Kemmerly and S. M. Durbin, Engineering Circuit Analysis, McGraw-Hill / Tata McGraw-Hill, 8th ed., 2012; Ch. 5, pp. 123-154.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Read the question and identify the single quantity actually required - and check everyone has written it before moving on. At the cost panel, translate it: The worst case is entirely self-inflicted and is the most common exam time loss.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BEC303 Network Analysis syllabus, 2025 scheme, Module 2: Network Theorems for DC and AC Circuits. TB1 as listed by the syllabus: W. H. Hayt, J. E. Kemmerly and S. M. Durbin, Engineering Circuit Analysis, McGraw-Hill / Tata McGraw-Hill, 8th ed., 2012; Ch. 5, pp. 123-154.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A question asks for the power in a load resistor as the load is stepped through 1 kΩ, 2 kΩ and 5 kΩ. Work at the pace of the slowest note-taker and land hard on the result: The Thévenin route is cheaper from the second load value onward, and the margin widens with every additional value requested.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BEC303 Network Analysis syllabus, 2025 scheme, Module 2: Network Theorems for DC and AC Circuits. TB1 as listed by the syllabus: W. H. Hayt, J. E. Kemmerly and S. M. Durbin, Engineering Circuit Analysis, McGraw-Hill / Tata McGraw-Hill, 8th ed., 2012; Ch. 5, pp. 123-154.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Every theorem result should be checked, because the failure modes of these methods are silent — a wrong R_th produces a plausible number rather than an ob… Then add the part they are examined on - A theorem result that has not been checked against a limiting case is a guess with arithmetic attached.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"sanity check" constrain here, and what would break if it did not hold?
Animation instructions: the three cards flip in left to right, each internal tick or equals sign lighting green after the card settles, then the cost strip slides up.
Transition style: Fade
[Sources] VTU BEC303 Network Analysis syllabus, 2025 scheme, Module 2: Network Theorems for DC and AC Circuits. TB1 as listed by the syllabus: W. H. Hayt, J. E. Kemmerly and S. M. Durbin, Engineering Circuit Analysis, McGraw-Hill / Tata McGraw-Hill, 8th ed., 2012; Ch. 5, pp. 141-152.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Compute the total response first, never from partial responses - and check everyone has written it before moving on. At the cost panel, translate it: The limiting-case check costs almost nothing and catches the majority of R_th errors.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BEC303 Network Analysis syllabus, 2025 scheme, Module 2: Network Theorems for DC and AC Circuits. TB1 as listed by the syllabus: W. H. Hayt, J. E. Kemmerly and S. M. Durbin, Engineering Circuit Analysis, McGraw-Hill / Tata McGraw-Hill, 8th ed., 2012; Ch. 5, pp. 141-152.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A claimed equivalent of V_th = 7.2 V, R_th = 2.4 kΩ for the divider of an earlier unit. Work at the pace of the slowest note-taker and land hard on the result: Both limits agree, which pins down both parameters — a single limiting case would have confirmed only one of them.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BEC303 Network Analysis syllabus, 2025 scheme, Module 2: Network Theorems for DC and AC Circuits. TB1 as listed by the syllabus: W. H. Hayt, J. E. Kemmerly and S. M. Durbin, Engineering Circuit Analysis, McGraw-Hill / Tata McGraw-Hill, 8th ed., 2012; Ch. 5, pp. 141-152.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Slow right down here. Read each takeaway aloud and then stop talking for a beat, because these are the sentences that should still be in their heads when they sit the SEE. Tell them explicitly that if they can reconstruct the reasoning behind any one of these lines they understand that unit, and if they can only recite it they do not.
Pause cue: Pause for three seconds after each takeaway before moving to the next.
Pointing cue: Point at each numbered takeaway in turn as you read it.
Question to ask students: Ask: choose the takeaway you trust least and tell me what you would have to check to believe it.
Animation instructions: Takeaway rows reveal one at a time from the top, each row highlighting briefly as it appears.
Transition style: Fade
[Sources] VTU BEC303 Network Analysis syllabus, 2025 scheme, Module 2: Network Theorems for DC and AC Circuits, 13 hours, Hayt 8e Ch. 5 (5.1, 5.3, 5.4), Ch. 10 (10.7), pp. 123–154 and 397–406; reciprocity from syllabus TB2 (Channa Venkatesh &amp; Ganesh Rao) §4.9. TB1: W. H. Hayt, J. E. Kemmerly and S. M. Durbin, Engineering Circuit Analysis, McGraw-Hill / Tata McGraw-Hill, 8th ed., 2012. Revision consolidates all 16 unit takeaways.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Slow right down here. Read each takeaway aloud and then stop talking for a beat, because these are the sentences that should still be in their heads when they sit the SEE. Tell them explicitly that if they can reconstruct the reasoning behind any one of these lines they understand that unit, and if they can only recite it they do not.
Pause cue: Pause for three seconds after each takeaway before moving to the next.
Pointing cue: Point at each numbered takeaway in turn as you read it.
Question to ask students: Ask: choose the takeaway you trust least and tell me what you would have to check to believe it.
Animation instructions: Takeaway rows reveal one at a time from the top, each row highlighting briefly as it appears.
Transition style: Fade
[Sources] VTU BEC303 Network Analysis syllabus, 2025 scheme, Module 2: Network Theorems for DC and AC Circuits, 13 hours, Hayt 8e Ch. 5 (5.1, 5.3, 5.4), Ch. 10 (10.7), pp. 123–154 and 397–406; reciprocity from syllabus TB2 (Channa Venkatesh &amp; Ganesh Rao) §4.9. TB1: W. H. Hayt, J. E. Kemmerly and S. M. Durbin, Engineering Circuit Analysis, McGraw-Hill / Tata McGraw-Hill, 8th ed., 2012. Revision consolidates all 16 unit takeaways.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Slow right down here. Read each takeaway aloud and then stop talking for a beat, because these are the sentences that should still be in their heads when they sit the SEE. Tell them explicitly that if they can reconstruct the reasoning behind any one of these lines they understand that unit, and if they can only recite it they do not.
Pause cue: Pause for three seconds after each takeaway before moving to the next.
Pointing cue: Point at each numbered takeaway in turn as you read it.
Question to ask students: Ask: choose the takeaway you trust least and tell me what you would have to check to believe it.
Animation instructions: Takeaway rows reveal one at a time from the top, each row highlighting briefly as it appears.
Transition style: Fade
[Sources] VTU BEC303 Network Analysis syllabus, 2025 scheme, Module 2: Network Theorems for DC and AC Circuits, 13 hours, Hayt 8e Ch. 5 (5.1, 5.3, 5.4), Ch. 10 (10.7), pp. 123–154 and 397–406; reciprocity from syllabus TB2 (Channa Venkatesh &amp; Ganesh Rao) §4.9. TB1: W. H. Hayt, J. E. Kemmerly and S. M. Durbin, Engineering Circuit Analysis, McGraw-Hill / Tata McGraw-Hill, 8th ed., 2012. Revision consolidates all 16 unit takeaways.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Close by telling them exactly where the assessment lives and what it tests. Name the two files, say the mark split out loud, and read the Bloom spread so they understand that roughly a quarter of the paper is not recall at all. Then read the integrity line word for word, because ambiguity there costs students more than any technical error in this module.
Pause cue: Pause after the Bloom spread and before the integrity statement.
Pointing cue: Point at the quiz panel, then the assignment panel, then the integrity line at the bottom.
Question to ask students: Ask: which course outcome do you feel least ready on, and which unit would you reread tonight to fix it?
Animation instructions: Quiz panel fades in from the left, then the assignment panel from the right, then the pointers strip appears, then the integrity line fades in last.
Transition style: Fade
[Sources] VTU BEC303 Network Analysis syllabus, 2025 scheme, Module 2: Network Theorems for DC and AC Circuits, 13 hours, Hayt 8e Ch. 5 (5.1, 5.3, 5.4), Ch. 10 (10.7), pp. 123–154 and 397–406; reciprocity from syllabus TB2 (Channa Venkatesh &amp; Ganesh Rao) §4.9. TB1: W. H. Hayt, J. E. Kemmerly and S. M. Durbin, Engineering Circuit Analysis, McGraw-Hill / Tata McGraw-Hill, 8th ed., 2012. Assessment counts: 20 MCQs, 13 descriptive questions, 13 assignment items.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Network Analysis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Module 2 asks: When I do not need every branch current, which theorem gets me the one answer I want with the least work —…</a:t>
            </a:r>
            <a:endParaRPr lang="en-US" sz="1100" dirty="0"/>
          </a:p>
        </p:txBody>
      </p:sp>
      <p:sp>
        <p:nvSpPr>
          <p:cNvPr id="4" name="shape-1-2"/>
          <p:cNvSpPr/>
          <p:nvPr/>
        </p:nvSpPr>
        <p:spPr>
          <a:xfrm>
            <a:off x="552450" y="1266825"/>
            <a:ext cx="990600" cy="47625"/>
          </a:xfrm>
          <a:prstGeom prst="rect">
            <a:avLst/>
          </a:prstGeom>
          <a:solidFill>
            <a:srgbClr val="0F6FC6"/>
          </a:solidFill>
          <a:ln/>
        </p:spPr>
      </p:sp>
      <p:sp>
        <p:nvSpPr>
          <p:cNvPr id="5" name="shape-1-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Opening</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01</a:t>
            </a:r>
            <a:endParaRPr lang="en-US" sz="900" dirty="0"/>
          </a:p>
        </p:txBody>
      </p:sp>
      <p:sp>
        <p:nvSpPr>
          <p:cNvPr id="9" name="shape-1-7"/>
          <p:cNvSpPr/>
          <p:nvPr/>
        </p:nvSpPr>
        <p:spPr>
          <a:xfrm>
            <a:off x="742950" y="1600200"/>
            <a:ext cx="5334000" cy="2038350"/>
          </a:xfrm>
          <a:prstGeom prst="rect">
            <a:avLst/>
          </a:prstGeom>
          <a:solidFill>
            <a:srgbClr val="FFFFFF"/>
          </a:solidFill>
          <a:ln w="12700">
            <a:solidFill>
              <a:srgbClr val="D7DEE8"/>
            </a:solidFill>
            <a:prstDash val="solid"/>
          </a:ln>
        </p:spPr>
      </p:sp>
      <p:sp>
        <p:nvSpPr>
          <p:cNvPr id="10" name="text"/>
          <p:cNvSpPr/>
          <p:nvPr/>
        </p:nvSpPr>
        <p:spPr>
          <a:xfrm>
            <a:off x="933450" y="1771650"/>
            <a:ext cx="4953000" cy="17145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MODULE 2</a:t>
            </a:r>
            <a:endParaRPr lang="en-US" sz="1100" dirty="0"/>
          </a:p>
          <a:p>
            <a:pPr algn="l" indent="0" marL="0">
              <a:lnSpc>
                <a:spcPct val="105000"/>
              </a:lnSpc>
              <a:buNone/>
            </a:pPr>
            <a:r>
              <a:rPr lang="en-US" sz="2600" b="1" dirty="0">
                <a:solidFill>
                  <a:srgbClr val="12203A"/>
                </a:solidFill>
                <a:latin typeface="Segoe UI" pitchFamily="34" charset="0"/>
                <a:ea typeface="Segoe UI" pitchFamily="34" charset="-122"/>
                <a:cs typeface="Segoe UI" pitchFamily="34" charset="-120"/>
              </a:rPr>
              <a:t>Network Theorems for DC and AC Circuits</a:t>
            </a:r>
            <a:endParaRPr lang="en-US" sz="1100" dirty="0"/>
          </a:p>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13 contact hours  |  16 teaching units  |  56 slides</a:t>
            </a:r>
            <a:endParaRPr lang="en-US" sz="1100" dirty="0"/>
          </a:p>
        </p:txBody>
      </p:sp>
      <p:sp>
        <p:nvSpPr>
          <p:cNvPr id="11" name="shape-1-9"/>
          <p:cNvSpPr/>
          <p:nvPr/>
        </p:nvSpPr>
        <p:spPr>
          <a:xfrm>
            <a:off x="6572250" y="1600200"/>
            <a:ext cx="4762500" cy="2038350"/>
          </a:xfrm>
          <a:prstGeom prst="rect">
            <a:avLst/>
          </a:prstGeom>
          <a:solidFill>
            <a:srgbClr val="F1F5FA"/>
          </a:solidFill>
          <a:ln w="12700">
            <a:solidFill>
              <a:srgbClr val="D7DEE8"/>
            </a:solidFill>
            <a:prstDash val="solid"/>
          </a:ln>
        </p:spPr>
      </p:sp>
      <p:sp>
        <p:nvSpPr>
          <p:cNvPr id="12" name="text"/>
          <p:cNvSpPr/>
          <p:nvPr/>
        </p:nvSpPr>
        <p:spPr>
          <a:xfrm>
            <a:off x="6781800" y="1771650"/>
            <a:ext cx="4343400" cy="17145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PRESCRIBED TEXTBOOK</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Engineering Circuit Analysis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 H. Hayt, J. E. Kemmerly and S. M. Durbin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McGraw-Hill / Tata McGraw-Hill, 8th edition, 2012</a:t>
            </a:r>
            <a:endParaRPr lang="en-US" sz="1100" dirty="0"/>
          </a:p>
          <a:p>
            <a:pPr algn="l" indent="0" marL="0">
              <a:lnSpc>
                <a:spcPct val="105000"/>
              </a:lnSpc>
              <a:buNone/>
            </a:pPr>
            <a:r>
              <a:rPr lang="en-US" sz="1000" dirty="0">
                <a:solidFill>
                  <a:srgbClr val="5A6478"/>
                </a:solidFill>
                <a:latin typeface="Segoe UI" pitchFamily="34" charset="0"/>
                <a:ea typeface="Segoe UI" pitchFamily="34" charset="-122"/>
                <a:cs typeface="Segoe UI" pitchFamily="34" charset="-120"/>
              </a:rPr>
              <a:t>Hayt 8e Ch. 5 (5.1, 5.3, 5.4), Ch. 10 (10.7), pp. 123–154 and 397–406; reciprocity from syllabus TB2 (Channa Venkatesh &amp; Ganesh Rao) §4.9</a:t>
            </a:r>
            <a:endParaRPr lang="en-US" sz="1100" dirty="0"/>
          </a:p>
        </p:txBody>
      </p:sp>
      <p:sp>
        <p:nvSpPr>
          <p:cNvPr id="13" name="text"/>
          <p:cNvSpPr/>
          <p:nvPr/>
        </p:nvSpPr>
        <p:spPr>
          <a:xfrm>
            <a:off x="742950" y="3810000"/>
            <a:ext cx="10572750" cy="24765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Mesh &amp; Nodal Analysis   •   Network Theorems   •   Transient Response   •   Laplace / s-Domain   •   Two-Port Networks</a:t>
            </a:r>
            <a:endParaRPr lang="en-US" sz="1100" dirty="0"/>
          </a:p>
        </p:txBody>
      </p:sp>
      <p:sp>
        <p:nvSpPr>
          <p:cNvPr id="14" name="text"/>
          <p:cNvSpPr/>
          <p:nvPr/>
        </p:nvSpPr>
        <p:spPr>
          <a:xfrm>
            <a:off x="742950" y="4133850"/>
            <a:ext cx="10572750" cy="533400"/>
          </a:xfrm>
          <a:prstGeom prst="rect">
            <a:avLst/>
          </a:prstGeom>
          <a:noFill/>
          <a:ln/>
        </p:spPr>
        <p:txBody>
          <a:bodyPr wrap="square" lIns="0" tIns="0" rIns="0" bIns="0" rtlCol="0" anchor="t">
            <a:normAutofit/>
          </a:bodyPr>
          <a:lstStyle/>
          <a:p>
            <a:pPr algn="l" indent="0" marL="0">
              <a:lnSpc>
                <a:spcPct val="105000"/>
              </a:lnSpc>
              <a:buNone/>
            </a:pPr>
            <a:r>
              <a:rPr lang="en-US" sz="1300" b="1" dirty="0">
                <a:solidFill>
                  <a:srgbClr val="12203A"/>
                </a:solidFill>
                <a:latin typeface="Segoe UI" pitchFamily="34" charset="0"/>
                <a:ea typeface="Segoe UI" pitchFamily="34" charset="-122"/>
                <a:cs typeface="Segoe UI" pitchFamily="34" charset="-120"/>
              </a:rPr>
              <a:t>Linearity licenses every theorem   →   Split the problem by source   →   Ports behave symmetrically   →   Collapse a network to two numbers   →   Match the load, pay the efficiency</a:t>
            </a:r>
            <a:endParaRPr lang="en-US" sz="1300" dirty="0"/>
          </a:p>
        </p:txBody>
      </p:sp>
      <p:sp>
        <p:nvSpPr>
          <p:cNvPr id="15" name="text"/>
          <p:cNvSpPr/>
          <p:nvPr/>
        </p:nvSpPr>
        <p:spPr>
          <a:xfrm>
            <a:off x="742950" y="4838700"/>
            <a:ext cx="10572750" cy="209550"/>
          </a:xfrm>
          <a:prstGeom prst="rect">
            <a:avLst/>
          </a:prstGeom>
          <a:noFill/>
          <a:ln/>
        </p:spPr>
        <p:txBody>
          <a:bodyPr wrap="square" lIns="0" tIns="0" rIns="0" bIns="0" rtlCol="0" anchor="t">
            <a:normAutofit/>
          </a:bodyPr>
          <a:lstStyle/>
          <a:p>
            <a:pPr algn="l" indent="0" marL="0">
              <a:lnSpc>
                <a:spcPct val="105000"/>
              </a:lnSpc>
              <a:buNone/>
            </a:pPr>
            <a:r>
              <a:rPr lang="en-US" sz="1000" dirty="0">
                <a:solidFill>
                  <a:srgbClr val="5A6478"/>
                </a:solidFill>
                <a:latin typeface="Segoe UI" pitchFamily="34" charset="0"/>
                <a:ea typeface="Segoe UI" pitchFamily="34" charset="-122"/>
                <a:cs typeface="Segoe UI" pitchFamily="34" charset="-120"/>
              </a:rPr>
              <a:t>EC · Semester 3 · BEC303 · generated for Phase 2 conversion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What this module is actually for</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question, five beats, and the scope it does not cover.</a:t>
            </a:r>
            <a:endParaRPr lang="en-US" sz="1100" dirty="0"/>
          </a:p>
        </p:txBody>
      </p:sp>
      <p:sp>
        <p:nvSpPr>
          <p:cNvPr id="4" name="shape-2-2"/>
          <p:cNvSpPr/>
          <p:nvPr/>
        </p:nvSpPr>
        <p:spPr>
          <a:xfrm>
            <a:off x="552450" y="1266825"/>
            <a:ext cx="990600" cy="47625"/>
          </a:xfrm>
          <a:prstGeom prst="rect">
            <a:avLst/>
          </a:prstGeom>
          <a:solidFill>
            <a:srgbClr val="0F6FC6"/>
          </a:solidFill>
          <a:ln/>
        </p:spPr>
      </p:sp>
      <p:sp>
        <p:nvSpPr>
          <p:cNvPr id="5" name="shape-2-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Overview</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02</a:t>
            </a:r>
            <a:endParaRPr lang="en-US" sz="900" dirty="0"/>
          </a:p>
        </p:txBody>
      </p:sp>
      <p:sp>
        <p:nvSpPr>
          <p:cNvPr id="9" name="shape-2-7"/>
          <p:cNvSpPr/>
          <p:nvPr/>
        </p:nvSpPr>
        <p:spPr>
          <a:xfrm>
            <a:off x="552450" y="1524000"/>
            <a:ext cx="11087100" cy="800100"/>
          </a:xfrm>
          <a:prstGeom prst="rect">
            <a:avLst/>
          </a:prstGeom>
          <a:solidFill>
            <a:srgbClr val="FDF3EC"/>
          </a:solidFill>
          <a:ln w="12700">
            <a:solidFill>
              <a:srgbClr val="D7DEE8"/>
            </a:solidFill>
            <a:prstDash val="solid"/>
          </a:ln>
        </p:spPr>
      </p:sp>
      <p:sp>
        <p:nvSpPr>
          <p:cNvPr id="10" name="text"/>
          <p:cNvSpPr/>
          <p:nvPr/>
        </p:nvSpPr>
        <p:spPr>
          <a:xfrm>
            <a:off x="742950" y="1676400"/>
            <a:ext cx="10668000" cy="5905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DRIVING QUESTION</a:t>
            </a:r>
            <a:endParaRPr lang="en-US" sz="1100" dirty="0"/>
          </a:p>
          <a:p>
            <a:pPr algn="l" indent="0" marL="0">
              <a:lnSpc>
                <a:spcPct val="105000"/>
              </a:lnSpc>
              <a:buNone/>
            </a:pPr>
            <a:r>
              <a:rPr lang="en-US" sz="1300" b="1" dirty="0">
                <a:solidFill>
                  <a:srgbClr val="12203A"/>
                </a:solidFill>
                <a:latin typeface="Segoe UI" pitchFamily="34" charset="0"/>
                <a:ea typeface="Segoe UI" pitchFamily="34" charset="-122"/>
                <a:cs typeface="Segoe UI" pitchFamily="34" charset="-120"/>
              </a:rPr>
              <a:t>When I do not need every branch current, which theorem gets me the one answer I want with the least work — and when does the shortcut stop being valid?</a:t>
            </a:r>
            <a:endParaRPr lang="en-US" sz="1100" dirty="0"/>
          </a:p>
        </p:txBody>
      </p:sp>
      <p:sp>
        <p:nvSpPr>
          <p:cNvPr id="11" name="shape-2-9"/>
          <p:cNvSpPr/>
          <p:nvPr/>
        </p:nvSpPr>
        <p:spPr>
          <a:xfrm>
            <a:off x="552450" y="2552700"/>
            <a:ext cx="2076450" cy="1162050"/>
          </a:xfrm>
          <a:prstGeom prst="rect">
            <a:avLst/>
          </a:prstGeom>
          <a:solidFill>
            <a:srgbClr val="F1F5FA"/>
          </a:solidFill>
          <a:ln w="12700">
            <a:solidFill>
              <a:srgbClr val="D7DEE8"/>
            </a:solidFill>
            <a:prstDash val="solid"/>
          </a:ln>
        </p:spPr>
      </p:sp>
      <p:sp>
        <p:nvSpPr>
          <p:cNvPr id="12" name="text"/>
          <p:cNvSpPr/>
          <p:nvPr/>
        </p:nvSpPr>
        <p:spPr>
          <a:xfrm>
            <a:off x="704850" y="2705100"/>
            <a:ext cx="1771650" cy="9144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Linearity licenses every theorem</a:t>
            </a:r>
            <a:endParaRPr lang="en-US" sz="1100" dirty="0"/>
          </a:p>
        </p:txBody>
      </p:sp>
      <p:sp>
        <p:nvSpPr>
          <p:cNvPr id="13" name="shape-2-11"/>
          <p:cNvSpPr/>
          <p:nvPr/>
        </p:nvSpPr>
        <p:spPr>
          <a:xfrm>
            <a:off x="2781300" y="2552700"/>
            <a:ext cx="2076450" cy="1162050"/>
          </a:xfrm>
          <a:prstGeom prst="rect">
            <a:avLst/>
          </a:prstGeom>
          <a:solidFill>
            <a:srgbClr val="F1F5FA"/>
          </a:solidFill>
          <a:ln w="12700">
            <a:solidFill>
              <a:srgbClr val="D7DEE8"/>
            </a:solidFill>
            <a:prstDash val="solid"/>
          </a:ln>
        </p:spPr>
      </p:sp>
      <p:sp>
        <p:nvSpPr>
          <p:cNvPr id="14" name="text"/>
          <p:cNvSpPr/>
          <p:nvPr/>
        </p:nvSpPr>
        <p:spPr>
          <a:xfrm>
            <a:off x="2933700" y="2705100"/>
            <a:ext cx="1771650" cy="9144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Split the problem by source</a:t>
            </a:r>
            <a:endParaRPr lang="en-US" sz="1100" dirty="0"/>
          </a:p>
        </p:txBody>
      </p:sp>
      <p:sp>
        <p:nvSpPr>
          <p:cNvPr id="15" name="shape-2-13"/>
          <p:cNvSpPr/>
          <p:nvPr/>
        </p:nvSpPr>
        <p:spPr>
          <a:xfrm>
            <a:off x="5010150" y="2552700"/>
            <a:ext cx="2076450" cy="1162050"/>
          </a:xfrm>
          <a:prstGeom prst="rect">
            <a:avLst/>
          </a:prstGeom>
          <a:solidFill>
            <a:srgbClr val="F1F5FA"/>
          </a:solidFill>
          <a:ln w="12700">
            <a:solidFill>
              <a:srgbClr val="D7DEE8"/>
            </a:solidFill>
            <a:prstDash val="solid"/>
          </a:ln>
        </p:spPr>
      </p:sp>
      <p:sp>
        <p:nvSpPr>
          <p:cNvPr id="16" name="text"/>
          <p:cNvSpPr/>
          <p:nvPr/>
        </p:nvSpPr>
        <p:spPr>
          <a:xfrm>
            <a:off x="5162550" y="2705100"/>
            <a:ext cx="1771650" cy="9144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Ports behave symmetrically</a:t>
            </a:r>
            <a:endParaRPr lang="en-US" sz="1100" dirty="0"/>
          </a:p>
        </p:txBody>
      </p:sp>
      <p:sp>
        <p:nvSpPr>
          <p:cNvPr id="17" name="shape-2-15"/>
          <p:cNvSpPr/>
          <p:nvPr/>
        </p:nvSpPr>
        <p:spPr>
          <a:xfrm>
            <a:off x="7239000" y="2552700"/>
            <a:ext cx="2076450" cy="1162050"/>
          </a:xfrm>
          <a:prstGeom prst="rect">
            <a:avLst/>
          </a:prstGeom>
          <a:solidFill>
            <a:srgbClr val="F1F5FA"/>
          </a:solidFill>
          <a:ln w="12700">
            <a:solidFill>
              <a:srgbClr val="D7DEE8"/>
            </a:solidFill>
            <a:prstDash val="solid"/>
          </a:ln>
        </p:spPr>
      </p:sp>
      <p:sp>
        <p:nvSpPr>
          <p:cNvPr id="18" name="text"/>
          <p:cNvSpPr/>
          <p:nvPr/>
        </p:nvSpPr>
        <p:spPr>
          <a:xfrm>
            <a:off x="7391400" y="2705100"/>
            <a:ext cx="1771650" cy="9144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Collapse a network to two numbers</a:t>
            </a:r>
            <a:endParaRPr lang="en-US" sz="1100" dirty="0"/>
          </a:p>
        </p:txBody>
      </p:sp>
      <p:sp>
        <p:nvSpPr>
          <p:cNvPr id="19" name="shape-2-17"/>
          <p:cNvSpPr/>
          <p:nvPr/>
        </p:nvSpPr>
        <p:spPr>
          <a:xfrm>
            <a:off x="9467850" y="2552700"/>
            <a:ext cx="2076450" cy="1162050"/>
          </a:xfrm>
          <a:prstGeom prst="rect">
            <a:avLst/>
          </a:prstGeom>
          <a:solidFill>
            <a:srgbClr val="F1F5FA"/>
          </a:solidFill>
          <a:ln w="12700">
            <a:solidFill>
              <a:srgbClr val="D7DEE8"/>
            </a:solidFill>
            <a:prstDash val="solid"/>
          </a:ln>
        </p:spPr>
      </p:sp>
      <p:sp>
        <p:nvSpPr>
          <p:cNvPr id="20" name="text"/>
          <p:cNvSpPr/>
          <p:nvPr/>
        </p:nvSpPr>
        <p:spPr>
          <a:xfrm>
            <a:off x="9620250" y="2705100"/>
            <a:ext cx="1771650" cy="9144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Match the load, pay the efficiency</a:t>
            </a:r>
            <a:endParaRPr lang="en-US" sz="1100" dirty="0"/>
          </a:p>
        </p:txBody>
      </p:sp>
      <p:sp>
        <p:nvSpPr>
          <p:cNvPr id="21" name="text"/>
          <p:cNvSpPr/>
          <p:nvPr/>
        </p:nvSpPr>
        <p:spPr>
          <a:xfrm>
            <a:off x="552450" y="3867150"/>
            <a:ext cx="11087100" cy="12954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SCOPE AND PROVENANCE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Built from the syllabus-listed Hayt 8e sections plus the syllabus-listed TB2 section for reciprocity. Emphasis throughout is on the validity boundary of each theorem rather than its mechanics: superposition is exact for voltage and current and wrong for power; Thévenin requires linearity inside the port but nothing of the load; reciprocity fails the moment a dependent source appears. The maximum power transfer case study is developed as an engineering trade-off — maximum power is not maximum efficiency.</a:t>
            </a:r>
            <a:endParaRPr lang="en-US" sz="1100" dirty="0"/>
          </a:p>
        </p:txBody>
      </p:sp>
      <p:sp>
        <p:nvSpPr>
          <p:cNvPr id="22" name="text"/>
          <p:cNvSpPr/>
          <p:nvPr/>
        </p:nvSpPr>
        <p:spPr>
          <a:xfrm>
            <a:off x="552450" y="5257800"/>
            <a:ext cx="5715000" cy="209550"/>
          </a:xfrm>
          <a:prstGeom prst="rect">
            <a:avLst/>
          </a:prstGeom>
          <a:noFill/>
          <a:ln/>
        </p:spPr>
        <p:txBody>
          <a:bodyPr wrap="square" lIns="0" tIns="0" rIns="0" bIns="0" rtlCol="0" anchor="t">
            <a:normAutofit/>
          </a:bodyPr>
          <a:lstStyle/>
          <a:p>
            <a:pPr algn="l" indent="0" marL="0">
              <a:lnSpc>
                <a:spcPct val="105000"/>
              </a:lnSpc>
              <a:buNone/>
            </a:pPr>
            <a:r>
              <a:rPr lang="en-US" sz="1000" dirty="0">
                <a:solidFill>
                  <a:srgbClr val="5A6478"/>
                </a:solidFill>
                <a:latin typeface="Segoe UI" pitchFamily="34" charset="0"/>
                <a:ea typeface="Segoe UI" pitchFamily="34" charset="-122"/>
                <a:cs typeface="Segoe UI" pitchFamily="34" charset="-120"/>
              </a:rPr>
              <a:t>Course outcomes exercised: CO2</a:t>
            </a:r>
            <a:endParaRPr lang="en-US" sz="1000" dirty="0"/>
          </a:p>
        </p:txBody>
      </p:sp>
      <p:sp>
        <p:nvSpPr>
          <p:cNvPr id="23" name="text"/>
          <p:cNvSpPr/>
          <p:nvPr/>
        </p:nvSpPr>
        <p:spPr>
          <a:xfrm>
            <a:off x="6286500" y="5257800"/>
            <a:ext cx="5353050" cy="209550"/>
          </a:xfrm>
          <a:prstGeom prst="rect">
            <a:avLst/>
          </a:prstGeom>
          <a:noFill/>
          <a:ln/>
        </p:spPr>
        <p:txBody>
          <a:bodyPr wrap="square" lIns="0" tIns="0" rIns="0" bIns="0" rtlCol="0" anchor="t">
            <a:normAutofit/>
          </a:bodyPr>
          <a:lstStyle/>
          <a:p>
            <a:pPr algn="r" indent="0" marL="0">
              <a:lnSpc>
                <a:spcPct val="105000"/>
              </a:lnSpc>
              <a:buNone/>
            </a:pPr>
            <a:r>
              <a:rPr lang="en-US" sz="1000" dirty="0">
                <a:solidFill>
                  <a:srgbClr val="5A6478"/>
                </a:solidFill>
                <a:latin typeface="Segoe UI" pitchFamily="34" charset="0"/>
                <a:ea typeface="Segoe UI" pitchFamily="34" charset="-122"/>
                <a:cs typeface="Segoe UI" pitchFamily="34" charset="-120"/>
              </a:rPr>
              <a:t>Assessment: 20 MCQs + 13 descriptive questions + 13 assignment items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Every unit against its chapter and pages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Units 1-9 of 16, with the deck slides that teach each one.</a:t>
            </a:r>
            <a:endParaRPr lang="en-US" sz="1100" dirty="0"/>
          </a:p>
        </p:txBody>
      </p:sp>
      <p:sp>
        <p:nvSpPr>
          <p:cNvPr id="4" name="shape-3-2"/>
          <p:cNvSpPr/>
          <p:nvPr/>
        </p:nvSpPr>
        <p:spPr>
          <a:xfrm>
            <a:off x="552450" y="1266825"/>
            <a:ext cx="990600" cy="47625"/>
          </a:xfrm>
          <a:prstGeom prst="rect">
            <a:avLst/>
          </a:prstGeom>
          <a:solidFill>
            <a:srgbClr val="0F6FC6"/>
          </a:solidFill>
          <a:ln/>
        </p:spPr>
      </p:sp>
      <p:sp>
        <p:nvSpPr>
          <p:cNvPr id="5" name="shape-3-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Syllabus mapping</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03</a:t>
            </a:r>
            <a:endParaRPr lang="en-US" sz="900" dirty="0"/>
          </a:p>
        </p:txBody>
      </p:sp>
      <p:sp>
        <p:nvSpPr>
          <p:cNvPr id="9" name="shape-3-7"/>
          <p:cNvSpPr/>
          <p:nvPr/>
        </p:nvSpPr>
        <p:spPr>
          <a:xfrm>
            <a:off x="552450" y="1543050"/>
            <a:ext cx="11087100" cy="285750"/>
          </a:xfrm>
          <a:prstGeom prst="rect">
            <a:avLst/>
          </a:prstGeom>
          <a:solidFill>
            <a:srgbClr val="F1F5FA"/>
          </a:solidFill>
          <a:ln/>
        </p:spPr>
      </p:sp>
      <p:sp>
        <p:nvSpPr>
          <p:cNvPr id="10" name="text"/>
          <p:cNvSpPr/>
          <p:nvPr/>
        </p:nvSpPr>
        <p:spPr>
          <a:xfrm>
            <a:off x="685800" y="1600200"/>
            <a:ext cx="10858500" cy="2095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Consolas" pitchFamily="34" charset="0"/>
                <a:ea typeface="Consolas" pitchFamily="34" charset="-122"/>
                <a:cs typeface="Consolas" pitchFamily="34" charset="-120"/>
              </a:rPr>
              <a:t>#  —  Teaching unit  —  Book chapter and pages  —  Deck slides  —  CO / Bloom</a:t>
            </a:r>
            <a:endParaRPr lang="en-US" sz="1000" dirty="0"/>
          </a:p>
        </p:txBody>
      </p:sp>
      <p:sp>
        <p:nvSpPr>
          <p:cNvPr id="11" name="text"/>
          <p:cNvSpPr/>
          <p:nvPr/>
        </p:nvSpPr>
        <p:spPr>
          <a:xfrm>
            <a:off x="685800" y="19050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Linearity: the property every theorem rests on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5, pp. 123-133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5, 6, 7  —  CO2 / L2</a:t>
            </a:r>
            <a:endParaRPr lang="en-US" sz="1100" dirty="0"/>
          </a:p>
        </p:txBody>
      </p:sp>
      <p:sp>
        <p:nvSpPr>
          <p:cNvPr id="12" name="shape-3-10"/>
          <p:cNvSpPr/>
          <p:nvPr/>
        </p:nvSpPr>
        <p:spPr>
          <a:xfrm>
            <a:off x="552450" y="2343150"/>
            <a:ext cx="11087100" cy="438150"/>
          </a:xfrm>
          <a:prstGeom prst="rect">
            <a:avLst/>
          </a:prstGeom>
          <a:solidFill>
            <a:srgbClr val="F1F5FA"/>
          </a:solidFill>
          <a:ln/>
        </p:spPr>
      </p:sp>
      <p:sp>
        <p:nvSpPr>
          <p:cNvPr id="13" name="text"/>
          <p:cNvSpPr/>
          <p:nvPr/>
        </p:nvSpPr>
        <p:spPr>
          <a:xfrm>
            <a:off x="685800" y="23812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superposition theorem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5, pp. 123-133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8, 9, 10  —  CO2 / L3</a:t>
            </a:r>
            <a:endParaRPr lang="en-US" sz="1100" dirty="0"/>
          </a:p>
        </p:txBody>
      </p:sp>
      <p:sp>
        <p:nvSpPr>
          <p:cNvPr id="14" name="text"/>
          <p:cNvSpPr/>
          <p:nvPr/>
        </p:nvSpPr>
        <p:spPr>
          <a:xfrm>
            <a:off x="685800" y="28575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Deactivating sources correctly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5, pp. 123-133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11, 12, 13  —  CO2 / L2</a:t>
            </a:r>
            <a:endParaRPr lang="en-US" sz="1100" dirty="0"/>
          </a:p>
        </p:txBody>
      </p:sp>
      <p:sp>
        <p:nvSpPr>
          <p:cNvPr id="15" name="shape-3-13"/>
          <p:cNvSpPr/>
          <p:nvPr/>
        </p:nvSpPr>
        <p:spPr>
          <a:xfrm>
            <a:off x="552450" y="3295650"/>
            <a:ext cx="11087100" cy="438150"/>
          </a:xfrm>
          <a:prstGeom prst="rect">
            <a:avLst/>
          </a:prstGeom>
          <a:solidFill>
            <a:srgbClr val="F1F5FA"/>
          </a:solidFill>
          <a:ln/>
        </p:spPr>
      </p:sp>
      <p:sp>
        <p:nvSpPr>
          <p:cNvPr id="16" name="text"/>
          <p:cNvSpPr/>
          <p:nvPr/>
        </p:nvSpPr>
        <p:spPr>
          <a:xfrm>
            <a:off x="685800" y="33337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Superposition with sources at different frequencies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5, pp. 123-133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14, 15, 16  —  CO2 / L4</a:t>
            </a:r>
            <a:endParaRPr lang="en-US" sz="1100" dirty="0"/>
          </a:p>
        </p:txBody>
      </p:sp>
      <p:sp>
        <p:nvSpPr>
          <p:cNvPr id="17" name="text"/>
          <p:cNvSpPr/>
          <p:nvPr/>
        </p:nvSpPr>
        <p:spPr>
          <a:xfrm>
            <a:off x="685800" y="38100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Why superposition fails for power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5, pp. 123-133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17, 18, 19  —  CO2 / L4</a:t>
            </a:r>
            <a:endParaRPr lang="en-US" sz="1100" dirty="0"/>
          </a:p>
        </p:txBody>
      </p:sp>
      <p:sp>
        <p:nvSpPr>
          <p:cNvPr id="18" name="shape-3-16"/>
          <p:cNvSpPr/>
          <p:nvPr/>
        </p:nvSpPr>
        <p:spPr>
          <a:xfrm>
            <a:off x="552450" y="4248150"/>
            <a:ext cx="11087100" cy="438150"/>
          </a:xfrm>
          <a:prstGeom prst="rect">
            <a:avLst/>
          </a:prstGeom>
          <a:solidFill>
            <a:srgbClr val="F1F5FA"/>
          </a:solidFill>
          <a:ln/>
        </p:spPr>
      </p:sp>
      <p:sp>
        <p:nvSpPr>
          <p:cNvPr id="19" name="text"/>
          <p:cNvSpPr/>
          <p:nvPr/>
        </p:nvSpPr>
        <p:spPr>
          <a:xfrm>
            <a:off x="685800" y="42862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reciprocity theorem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TB2 §4.9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20, 21, 22  —  CO2 / L2</a:t>
            </a:r>
            <a:endParaRPr lang="en-US" sz="1100" dirty="0"/>
          </a:p>
        </p:txBody>
      </p:sp>
      <p:sp>
        <p:nvSpPr>
          <p:cNvPr id="20" name="text"/>
          <p:cNvSpPr/>
          <p:nvPr/>
        </p:nvSpPr>
        <p:spPr>
          <a:xfrm>
            <a:off x="685800" y="47625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07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Conditions for reciprocity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TB2 §4.9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23, 24, 25  —  CO2 / L3</a:t>
            </a:r>
            <a:endParaRPr lang="en-US" sz="1100" dirty="0"/>
          </a:p>
        </p:txBody>
      </p:sp>
      <p:sp>
        <p:nvSpPr>
          <p:cNvPr id="21" name="shape-3-19"/>
          <p:cNvSpPr/>
          <p:nvPr/>
        </p:nvSpPr>
        <p:spPr>
          <a:xfrm>
            <a:off x="552450" y="5200650"/>
            <a:ext cx="11087100" cy="438150"/>
          </a:xfrm>
          <a:prstGeom prst="rect">
            <a:avLst/>
          </a:prstGeom>
          <a:solidFill>
            <a:srgbClr val="F1F5FA"/>
          </a:solidFill>
          <a:ln/>
        </p:spPr>
      </p:sp>
      <p:sp>
        <p:nvSpPr>
          <p:cNvPr id="22" name="text"/>
          <p:cNvSpPr/>
          <p:nvPr/>
        </p:nvSpPr>
        <p:spPr>
          <a:xfrm>
            <a:off x="685800" y="52387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08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Reciprocal and non-reciprocal circuits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TB2 §4.9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26, 27, 28  —  CO2 / L4</a:t>
            </a:r>
            <a:endParaRPr lang="en-US" sz="1100" dirty="0"/>
          </a:p>
        </p:txBody>
      </p:sp>
      <p:sp>
        <p:nvSpPr>
          <p:cNvPr id="23" name="text"/>
          <p:cNvSpPr/>
          <p:nvPr/>
        </p:nvSpPr>
        <p:spPr>
          <a:xfrm>
            <a:off x="685800" y="57150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09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Thévenin's theorem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5, pp. 141-152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29, 30, 31  —  CO2 / L3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Syllabus mapping, continued</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Units 10-16 of 16, with the deck slides that teach each one.</a:t>
            </a:r>
            <a:endParaRPr lang="en-US" sz="1100" dirty="0"/>
          </a:p>
        </p:txBody>
      </p:sp>
      <p:sp>
        <p:nvSpPr>
          <p:cNvPr id="4" name="shape-4-2"/>
          <p:cNvSpPr/>
          <p:nvPr/>
        </p:nvSpPr>
        <p:spPr>
          <a:xfrm>
            <a:off x="552450" y="1266825"/>
            <a:ext cx="990600" cy="47625"/>
          </a:xfrm>
          <a:prstGeom prst="rect">
            <a:avLst/>
          </a:prstGeom>
          <a:solidFill>
            <a:srgbClr val="0F6FC6"/>
          </a:solidFill>
          <a:ln/>
        </p:spPr>
      </p:sp>
      <p:sp>
        <p:nvSpPr>
          <p:cNvPr id="5" name="shape-4-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Syllabus mapping</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04</a:t>
            </a:r>
            <a:endParaRPr lang="en-US" sz="900" dirty="0"/>
          </a:p>
        </p:txBody>
      </p:sp>
      <p:sp>
        <p:nvSpPr>
          <p:cNvPr id="9" name="shape-4-7"/>
          <p:cNvSpPr/>
          <p:nvPr/>
        </p:nvSpPr>
        <p:spPr>
          <a:xfrm>
            <a:off x="552450" y="1543050"/>
            <a:ext cx="11087100" cy="285750"/>
          </a:xfrm>
          <a:prstGeom prst="rect">
            <a:avLst/>
          </a:prstGeom>
          <a:solidFill>
            <a:srgbClr val="F1F5FA"/>
          </a:solidFill>
          <a:ln/>
        </p:spPr>
      </p:sp>
      <p:sp>
        <p:nvSpPr>
          <p:cNvPr id="10" name="text"/>
          <p:cNvSpPr/>
          <p:nvPr/>
        </p:nvSpPr>
        <p:spPr>
          <a:xfrm>
            <a:off x="685800" y="1600200"/>
            <a:ext cx="10858500" cy="2095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Consolas" pitchFamily="34" charset="0"/>
                <a:ea typeface="Consolas" pitchFamily="34" charset="-122"/>
                <a:cs typeface="Consolas" pitchFamily="34" charset="-120"/>
              </a:rPr>
              <a:t>#  —  Teaching unit  —  Book chapter and pages  —  Deck slides  —  CO / Bloom</a:t>
            </a:r>
            <a:endParaRPr lang="en-US" sz="1000" dirty="0"/>
          </a:p>
        </p:txBody>
      </p:sp>
      <p:sp>
        <p:nvSpPr>
          <p:cNvPr id="11" name="text"/>
          <p:cNvSpPr/>
          <p:nvPr/>
        </p:nvSpPr>
        <p:spPr>
          <a:xfrm>
            <a:off x="685800" y="19050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10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Finding R_th: three methods and when each applies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5, pp. 141-152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32, 33, 34  —  CO2 / L4</a:t>
            </a:r>
            <a:endParaRPr lang="en-US" sz="1100" dirty="0"/>
          </a:p>
        </p:txBody>
      </p:sp>
      <p:sp>
        <p:nvSpPr>
          <p:cNvPr id="12" name="shape-4-10"/>
          <p:cNvSpPr/>
          <p:nvPr/>
        </p:nvSpPr>
        <p:spPr>
          <a:xfrm>
            <a:off x="552450" y="2343150"/>
            <a:ext cx="11087100" cy="438150"/>
          </a:xfrm>
          <a:prstGeom prst="rect">
            <a:avLst/>
          </a:prstGeom>
          <a:solidFill>
            <a:srgbClr val="F1F5FA"/>
          </a:solidFill>
          <a:ln/>
        </p:spPr>
      </p:sp>
      <p:sp>
        <p:nvSpPr>
          <p:cNvPr id="13" name="text"/>
          <p:cNvSpPr/>
          <p:nvPr/>
        </p:nvSpPr>
        <p:spPr>
          <a:xfrm>
            <a:off x="685800" y="23812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Norton's theorem and Thévenin–Norton duality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5, pp. 141-152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35, 36, 37  —  CO2 / L3</a:t>
            </a:r>
            <a:endParaRPr lang="en-US" sz="1100" dirty="0"/>
          </a:p>
        </p:txBody>
      </p:sp>
      <p:sp>
        <p:nvSpPr>
          <p:cNvPr id="14" name="text"/>
          <p:cNvSpPr/>
          <p:nvPr/>
        </p:nvSpPr>
        <p:spPr>
          <a:xfrm>
            <a:off x="685800" y="28575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maximum power transfer theorem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5, pp. 152-154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38, 39, 40  —  CO2 / L4</a:t>
            </a:r>
            <a:endParaRPr lang="en-US" sz="1100" dirty="0"/>
          </a:p>
        </p:txBody>
      </p:sp>
      <p:sp>
        <p:nvSpPr>
          <p:cNvPr id="15" name="shape-4-13"/>
          <p:cNvSpPr/>
          <p:nvPr/>
        </p:nvSpPr>
        <p:spPr>
          <a:xfrm>
            <a:off x="552450" y="3295650"/>
            <a:ext cx="11087100" cy="438150"/>
          </a:xfrm>
          <a:prstGeom prst="rect">
            <a:avLst/>
          </a:prstGeom>
          <a:solidFill>
            <a:srgbClr val="F1F5FA"/>
          </a:solidFill>
          <a:ln/>
        </p:spPr>
      </p:sp>
      <p:sp>
        <p:nvSpPr>
          <p:cNvPr id="16" name="text"/>
          <p:cNvSpPr/>
          <p:nvPr/>
        </p:nvSpPr>
        <p:spPr>
          <a:xfrm>
            <a:off x="685800" y="33337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Case study: maximum power transfer in electronic systems design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5, pp. 152-154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41, 42, 43  —  CO2 / L5</a:t>
            </a:r>
            <a:endParaRPr lang="en-US" sz="1100" dirty="0"/>
          </a:p>
        </p:txBody>
      </p:sp>
      <p:sp>
        <p:nvSpPr>
          <p:cNvPr id="17" name="text"/>
          <p:cNvSpPr/>
          <p:nvPr/>
        </p:nvSpPr>
        <p:spPr>
          <a:xfrm>
            <a:off x="685800" y="38100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Network theorems in the phasor domain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10, pp. 397-406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44, 45, 46  —  CO2 / L4</a:t>
            </a:r>
            <a:endParaRPr lang="en-US" sz="1100" dirty="0"/>
          </a:p>
        </p:txBody>
      </p:sp>
      <p:sp>
        <p:nvSpPr>
          <p:cNvPr id="18" name="shape-4-16"/>
          <p:cNvSpPr/>
          <p:nvPr/>
        </p:nvSpPr>
        <p:spPr>
          <a:xfrm>
            <a:off x="552450" y="4248150"/>
            <a:ext cx="11087100" cy="438150"/>
          </a:xfrm>
          <a:prstGeom prst="rect">
            <a:avLst/>
          </a:prstGeom>
          <a:solidFill>
            <a:srgbClr val="F1F5FA"/>
          </a:solidFill>
          <a:ln/>
        </p:spPr>
      </p:sp>
      <p:sp>
        <p:nvSpPr>
          <p:cNvPr id="19" name="text"/>
          <p:cNvSpPr/>
          <p:nvPr/>
        </p:nvSpPr>
        <p:spPr>
          <a:xfrm>
            <a:off x="685800" y="42862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Choosing between theorems: a decision procedure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5, pp. 123-154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47, 48, 49  —  CO2 / L5</a:t>
            </a:r>
            <a:endParaRPr lang="en-US" sz="1100" dirty="0"/>
          </a:p>
        </p:txBody>
      </p:sp>
      <p:sp>
        <p:nvSpPr>
          <p:cNvPr id="20" name="text"/>
          <p:cNvSpPr/>
          <p:nvPr/>
        </p:nvSpPr>
        <p:spPr>
          <a:xfrm>
            <a:off x="685800" y="47625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Verifying a theorem result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5, pp. 141-152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50, 51, 52  —  CO2 / L5</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Linearity: the property every theorem rests on</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5-2"/>
          <p:cNvSpPr/>
          <p:nvPr/>
        </p:nvSpPr>
        <p:spPr>
          <a:xfrm>
            <a:off x="552450" y="1266825"/>
            <a:ext cx="990600" cy="47625"/>
          </a:xfrm>
          <a:prstGeom prst="rect">
            <a:avLst/>
          </a:prstGeom>
          <a:solidFill>
            <a:srgbClr val="0F6FC6"/>
          </a:solidFill>
          <a:ln/>
        </p:spPr>
      </p:sp>
      <p:sp>
        <p:nvSpPr>
          <p:cNvPr id="5" name="shape-5-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Linearity: the property every theorem…</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05</a:t>
            </a:r>
            <a:endParaRPr lang="en-US" sz="900" dirty="0"/>
          </a:p>
        </p:txBody>
      </p:sp>
      <p:sp>
        <p:nvSpPr>
          <p:cNvPr id="9" name="shape-5-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A circuit is linear when its response obeys two properties together: homogeneity, meaning scaling every source by k scales every response by k, and additivity, meaning the response to a sum of sources is the sum of the individual responses. Resistors, inductors, capacitors and all four dependent source types are linear elements; diodes, transistors outside their small-signal region and any element with a square or product law are not. Every theorem in this module is a corollary of these two properties, which is why none of them may be applied to a circuit containing a genuinely nonlinear element. Power is the standard counterexample: p = i²R is quadratic in the response, so power never inherits linearity even in a fully linear circuit.</a:t>
            </a:r>
            <a:endParaRPr lang="en-US" sz="1100" dirty="0"/>
          </a:p>
        </p:txBody>
      </p:sp>
      <p:sp>
        <p:nvSpPr>
          <p:cNvPr id="11" name="shape-5-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homogeneity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additivity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linear element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linear circuit</a:t>
            </a:r>
            <a:endParaRPr lang="en-US" sz="1100" dirty="0"/>
          </a:p>
        </p:txBody>
      </p:sp>
      <p:sp>
        <p:nvSpPr>
          <p:cNvPr id="13" name="shape-5-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Linearity is not a convenience assumption — it is the single hypothesis that makes superposition, Thévenin and reciprocity true at all.</a:t>
            </a:r>
            <a:endParaRPr lang="en-US" sz="1100" dirty="0"/>
          </a:p>
        </p:txBody>
      </p:sp>
      <p:sp>
        <p:nvSpPr>
          <p:cNvPr id="15" name="shape-5-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Two stone-pillar shapes side by side supporting a horizontal lintel. Left pillar is labelled "Homogeneity: k·source → k·response" with a small graph beneath showing a straight line through the origin. Right pi…</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5, pp. 123-133</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CO2  |  Bloom L2  |  visual id: linearity-two-pillars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Linearity: the property every theorem rests on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6-2"/>
          <p:cNvSpPr/>
          <p:nvPr/>
        </p:nvSpPr>
        <p:spPr>
          <a:xfrm>
            <a:off x="552450" y="1266825"/>
            <a:ext cx="990600" cy="47625"/>
          </a:xfrm>
          <a:prstGeom prst="rect">
            <a:avLst/>
          </a:prstGeom>
          <a:solidFill>
            <a:srgbClr val="0F6FC6"/>
          </a:solidFill>
          <a:ln/>
        </p:spPr>
      </p:sp>
      <p:sp>
        <p:nvSpPr>
          <p:cNvPr id="5" name="shape-6-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Linearity: the property every theorem…</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06</a:t>
            </a:r>
            <a:endParaRPr lang="en-US" sz="900" dirty="0"/>
          </a:p>
        </p:txBody>
      </p:sp>
      <p:sp>
        <p:nvSpPr>
          <p:cNvPr id="9" name="shape-6-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Check every element against the linear list before invoking any theorem</a:t>
            </a:r>
            <a:endParaRPr lang="en-US" sz="1100" dirty="0"/>
          </a:p>
        </p:txBody>
      </p:sp>
      <p:sp>
        <p:nvSpPr>
          <p:cNvPr id="11" name="shape-6-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Test homogeneity: does doubling all sources double the answer?</a:t>
            </a:r>
            <a:endParaRPr lang="en-US" sz="1100" dirty="0"/>
          </a:p>
        </p:txBody>
      </p:sp>
      <p:sp>
        <p:nvSpPr>
          <p:cNvPr id="13" name="shape-6-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Test additivity: does the answer decompose across sources?</a:t>
            </a:r>
            <a:endParaRPr lang="en-US" sz="1100" dirty="0"/>
          </a:p>
        </p:txBody>
      </p:sp>
      <p:sp>
        <p:nvSpPr>
          <p:cNvPr id="15" name="shape-6-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Classify dependent sources as linear — they are</a:t>
            </a:r>
            <a:endParaRPr lang="en-US" sz="1100" dirty="0"/>
          </a:p>
        </p:txBody>
      </p:sp>
      <p:sp>
        <p:nvSpPr>
          <p:cNvPr id="17" name="shape-6-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Refuse to apply any theorem if a diode or saturating device is inside the region of interest</a:t>
            </a:r>
            <a:endParaRPr lang="en-US" sz="1100" dirty="0"/>
          </a:p>
        </p:txBody>
      </p:sp>
      <p:sp>
        <p:nvSpPr>
          <p:cNvPr id="19" name="shape-6-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Remember that a linear circuit still has nonlinear power</a:t>
            </a:r>
            <a:endParaRPr lang="en-US" sz="1100" dirty="0"/>
          </a:p>
        </p:txBody>
      </p:sp>
      <p:sp>
        <p:nvSpPr>
          <p:cNvPr id="21" name="shape-6-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O(1) — inspection of the element list</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O(n) over n elements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O(n) plus a judgement call on small-signal validity</a:t>
            </a:r>
            <a:endParaRPr lang="en-US" sz="1100" dirty="0"/>
          </a:p>
        </p:txBody>
      </p:sp>
      <p:sp>
        <p:nvSpPr>
          <p:cNvPr id="23" name="shape-6-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The check is cheap; skipping it is what makes later work worthless.</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5, pp. 123-133   |   CO2  |  Bloom L2</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Linearity: the property every theorem rests on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7-2"/>
          <p:cNvSpPr/>
          <p:nvPr/>
        </p:nvSpPr>
        <p:spPr>
          <a:xfrm>
            <a:off x="552450" y="1266825"/>
            <a:ext cx="990600" cy="47625"/>
          </a:xfrm>
          <a:prstGeom prst="rect">
            <a:avLst/>
          </a:prstGeom>
          <a:solidFill>
            <a:srgbClr val="0F6FC6"/>
          </a:solidFill>
          <a:ln/>
        </p:spPr>
      </p:sp>
      <p:sp>
        <p:nvSpPr>
          <p:cNvPr id="5" name="shape-7-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Linearity: the property every theorem…</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07</a:t>
            </a:r>
            <a:endParaRPr lang="en-US" sz="900" dirty="0"/>
          </a:p>
        </p:txBody>
      </p:sp>
      <p:sp>
        <p:nvSpPr>
          <p:cNvPr id="9" name="shape-7-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resistive divider gives 4 V at the output from a 12 V source. The source is raised to 30 V.</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Circuit is purely resistive, therefore linear</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Homogeneity: scale factor k = 30/12 = 2.5</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New output = 2.5 × 4 = 10 V</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Power in the load, however, scales by k² = 6.25, not 2.5</a:t>
            </a:r>
            <a:endParaRPr lang="en-US" sz="1100" dirty="0"/>
          </a:p>
        </p:txBody>
      </p:sp>
      <p:sp>
        <p:nvSpPr>
          <p:cNvPr id="15" name="shape-7-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Output rises to 10 V but load power rises 6.25-fold — the clearest demonstration that voltage is linear and power is not.</a:t>
            </a:r>
            <a:endParaRPr lang="en-US" sz="1100" dirty="0"/>
          </a:p>
        </p:txBody>
      </p:sp>
      <p:sp>
        <p:nvSpPr>
          <p:cNvPr id="17" name="shape-7-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v_out(k·V_s) = k·v_out(V_s)      (linear)</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p_out(k·V_s) = k²·p_out(V_s)     (NOT linear)</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k = 2.5 ⇒ v: 4→10 V,  p: ×6.25</a:t>
            </a:r>
            <a:endParaRPr lang="en-US" sz="1000" dirty="0"/>
          </a:p>
        </p:txBody>
      </p:sp>
      <p:sp>
        <p:nvSpPr>
          <p:cNvPr id="19" name="shape-7-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assume that because a circuit is called linear, everything computed from it is linear. Voltage and current are; power, energy and RMS values are quadratic and must always be computed from the final total response.</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5, pp. 123-133   |   CO2  |  Bloom L2</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superposition theorem</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8-2"/>
          <p:cNvSpPr/>
          <p:nvPr/>
        </p:nvSpPr>
        <p:spPr>
          <a:xfrm>
            <a:off x="552450" y="1266825"/>
            <a:ext cx="990600" cy="47625"/>
          </a:xfrm>
          <a:prstGeom prst="rect">
            <a:avLst/>
          </a:prstGeom>
          <a:solidFill>
            <a:srgbClr val="0F6FC6"/>
          </a:solidFill>
          <a:ln/>
        </p:spPr>
      </p:sp>
      <p:sp>
        <p:nvSpPr>
          <p:cNvPr id="5" name="shape-8-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superposition theorem</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08</a:t>
            </a:r>
            <a:endParaRPr lang="en-US" sz="900" dirty="0"/>
          </a:p>
        </p:txBody>
      </p:sp>
      <p:sp>
        <p:nvSpPr>
          <p:cNvPr id="9" name="shape-8-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Superposition states that in a linear circuit the current or voltage at any point is the algebraic sum of the responses produced by each independent source acting alone, with all other independent sources deactivated. Its value is not speed — for a two-source circuit it is usually slower than nodal analysis — but insight: it isolates which source is responsible for how much of an output, which is exactly what is needed when diagnosing an unwanted offset or identifying the dominant noise contributor. It also lets a circuit with sources at different frequencies be solved at all, since each frequency must be handled in its own phasor domain and only the time-domain results can be added.</a:t>
            </a:r>
            <a:endParaRPr lang="en-US" sz="1100" dirty="0"/>
          </a:p>
        </p:txBody>
      </p:sp>
      <p:sp>
        <p:nvSpPr>
          <p:cNvPr id="11" name="shape-8-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superposition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partial response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one source at a time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algebraic sum</a:t>
            </a:r>
            <a:endParaRPr lang="en-US" sz="1100" dirty="0"/>
          </a:p>
        </p:txBody>
      </p:sp>
      <p:sp>
        <p:nvSpPr>
          <p:cNvPr id="13" name="shape-8-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Superposition is a diagnostic tool first and a solving method second — use it when you need to know which source caused what.</a:t>
            </a:r>
            <a:endParaRPr lang="en-US" sz="1100" dirty="0"/>
          </a:p>
        </p:txBody>
      </p:sp>
      <p:sp>
        <p:nvSpPr>
          <p:cNvPr id="15" name="shape-8-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single circuit at the top containing two independent sources, V_s and I_s, and a load marked with output v_o. Two arrows fan downward to two copies of the circuit: the left copy keeps V_s live and shows I_s…</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5, pp. 123-133</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CO2  |  Bloom L3  |  visual id: superposition-split-merge</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superposition theorem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9-2"/>
          <p:cNvSpPr/>
          <p:nvPr/>
        </p:nvSpPr>
        <p:spPr>
          <a:xfrm>
            <a:off x="552450" y="1266825"/>
            <a:ext cx="990600" cy="47625"/>
          </a:xfrm>
          <a:prstGeom prst="rect">
            <a:avLst/>
          </a:prstGeom>
          <a:solidFill>
            <a:srgbClr val="0F6FC6"/>
          </a:solidFill>
          <a:ln/>
        </p:spPr>
      </p:sp>
      <p:sp>
        <p:nvSpPr>
          <p:cNvPr id="5" name="shape-9-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superposition theorem</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09</a:t>
            </a:r>
            <a:endParaRPr lang="en-US" sz="900" dirty="0"/>
          </a:p>
        </p:txBody>
      </p:sp>
      <p:sp>
        <p:nvSpPr>
          <p:cNvPr id="9" name="shape-9-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Confirm the circuit is linear</a:t>
            </a:r>
            <a:endParaRPr lang="en-US" sz="1100" dirty="0"/>
          </a:p>
        </p:txBody>
      </p:sp>
      <p:sp>
        <p:nvSpPr>
          <p:cNvPr id="11" name="shape-9-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Select one independent source and deactivate all the others</a:t>
            </a:r>
            <a:endParaRPr lang="en-US" sz="1100" dirty="0"/>
          </a:p>
        </p:txBody>
      </p:sp>
      <p:sp>
        <p:nvSpPr>
          <p:cNvPr id="13" name="shape-9-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Replace deactivated voltage sources by shorts and current sources by opens</a:t>
            </a:r>
            <a:endParaRPr lang="en-US" sz="1100" dirty="0"/>
          </a:p>
        </p:txBody>
      </p:sp>
      <p:sp>
        <p:nvSpPr>
          <p:cNvPr id="15" name="shape-9-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Leave every dependent source active</a:t>
            </a:r>
            <a:endParaRPr lang="en-US" sz="1100" dirty="0"/>
          </a:p>
        </p:txBody>
      </p:sp>
      <p:sp>
        <p:nvSpPr>
          <p:cNvPr id="17" name="shape-9-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Solve for the partial response, keeping its sign</a:t>
            </a:r>
            <a:endParaRPr lang="en-US" sz="1100" dirty="0"/>
          </a:p>
        </p:txBody>
      </p:sp>
      <p:sp>
        <p:nvSpPr>
          <p:cNvPr id="19" name="shape-9-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Repeat for every independent source and add the partial responses algebraically</a:t>
            </a:r>
            <a:endParaRPr lang="en-US" sz="1100" dirty="0"/>
          </a:p>
        </p:txBody>
      </p:sp>
      <p:sp>
        <p:nvSpPr>
          <p:cNvPr id="21" name="shape-9-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two sources, one trivial sub-circuit each</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k sub-circuit solutions for k independent sources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k full network solutions, i.e. k times the cost of a single nodal analysis</a:t>
            </a:r>
            <a:endParaRPr lang="en-US" sz="1100" dirty="0"/>
          </a:p>
        </p:txBody>
      </p:sp>
      <p:sp>
        <p:nvSpPr>
          <p:cNvPr id="23" name="shape-9-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Always slower than direct analysis; the payoff is attribution, not speed.</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5, pp. 123-133   |   CO2  |  Bloom L3</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superposition theorem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10-2"/>
          <p:cNvSpPr/>
          <p:nvPr/>
        </p:nvSpPr>
        <p:spPr>
          <a:xfrm>
            <a:off x="552450" y="1266825"/>
            <a:ext cx="990600" cy="47625"/>
          </a:xfrm>
          <a:prstGeom prst="rect">
            <a:avLst/>
          </a:prstGeom>
          <a:solidFill>
            <a:srgbClr val="0F6FC6"/>
          </a:solidFill>
          <a:ln/>
        </p:spPr>
      </p:sp>
      <p:sp>
        <p:nvSpPr>
          <p:cNvPr id="5" name="shape-10-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superposition theorem</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10</a:t>
            </a:r>
            <a:endParaRPr lang="en-US" sz="900" dirty="0"/>
          </a:p>
        </p:txBody>
      </p:sp>
      <p:sp>
        <p:nvSpPr>
          <p:cNvPr id="9" name="shape-10-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10 V source in series with 2 kΩ and a 3 mA source both feeding a common 6 kΩ load to ground.</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Source 1 alone: open the 3 mA source; v′ = 10 × 6/(2+6) = 7.5 V</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Source 2 alone: short the 10 V source; the 2 kΩ and 6 kΩ are now in parallel = 1.5 kΩ</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v″ = 3 mA × 1.5 kΩ = 4.5 V</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Total: v = 7.5 + 4.5 = 12 V</a:t>
            </a:r>
            <a:endParaRPr lang="en-US" sz="1100" dirty="0"/>
          </a:p>
        </p:txBody>
      </p:sp>
      <p:sp>
        <p:nvSpPr>
          <p:cNvPr id="15" name="shape-10-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v = 12 V, of which the voltage source contributes 7.5 V and the current source 4.5 V — an attribution that a single nodal solve would not reveal.</a:t>
            </a:r>
            <a:endParaRPr lang="en-US" sz="1100" dirty="0"/>
          </a:p>
        </p:txBody>
      </p:sp>
      <p:sp>
        <p:nvSpPr>
          <p:cNvPr id="17" name="shape-10-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v' = 10·6k/(2k+6k) = 7.5 V</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v'' = 3 mA·(2k ∥ 6k) = 3 mA·1.5k = 4.5 V</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v  = 7.5 + 4.5 = 12 V</a:t>
            </a:r>
            <a:endParaRPr lang="en-US" sz="1000" dirty="0"/>
          </a:p>
        </p:txBody>
      </p:sp>
      <p:sp>
        <p:nvSpPr>
          <p:cNvPr id="19" name="shape-10-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add the partial responses as magnitudes and lose the sign. A partial response that opposes the others must be subtracted; superposition is an algebraic sum, and a source that fights the output is precisely the case the method exists to expose.</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5, pp. 123-133   |   CO2  |  Bloom L3</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Deactivating sources correctly</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11-2"/>
          <p:cNvSpPr/>
          <p:nvPr/>
        </p:nvSpPr>
        <p:spPr>
          <a:xfrm>
            <a:off x="552450" y="1266825"/>
            <a:ext cx="990600" cy="47625"/>
          </a:xfrm>
          <a:prstGeom prst="rect">
            <a:avLst/>
          </a:prstGeom>
          <a:solidFill>
            <a:srgbClr val="0F6FC6"/>
          </a:solidFill>
          <a:ln/>
        </p:spPr>
      </p:sp>
      <p:sp>
        <p:nvSpPr>
          <p:cNvPr id="5" name="shape-11-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Deactivating sources correctly</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11</a:t>
            </a:r>
            <a:endParaRPr lang="en-US" sz="900" dirty="0"/>
          </a:p>
        </p:txBody>
      </p:sp>
      <p:sp>
        <p:nvSpPr>
          <p:cNvPr id="9" name="shape-11-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Deactivating an independent voltage source means setting its terminal voltage to zero, which is a short circuit; deactivating an independent current source means setting its current to zero, which is an open circuit. The resistance associated with a practical source is not part of the source and always stays in the circuit — a 10 V source with 2 Ω internal resistance deactivates to a plain 2 Ω, not to nothing. Dependent sources are never deactivated because their value is determined by the circuit rather than imposed on it; removing one changes the network topology and produces the wrong answer for every subsequent step.</a:t>
            </a:r>
            <a:endParaRPr lang="en-US" sz="1100" dirty="0"/>
          </a:p>
        </p:txBody>
      </p:sp>
      <p:sp>
        <p:nvSpPr>
          <p:cNvPr id="11" name="shape-11-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zeroing a source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short circuit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open circuit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practical vs ideal source</a:t>
            </a:r>
            <a:endParaRPr lang="en-US" sz="1100" dirty="0"/>
          </a:p>
        </p:txBody>
      </p:sp>
      <p:sp>
        <p:nvSpPr>
          <p:cNvPr id="13" name="shape-11-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Zeroing a source removes its excitation, never its resistance, and never applies to a dependent source.</a:t>
            </a:r>
            <a:endParaRPr lang="en-US" sz="1100" dirty="0"/>
          </a:p>
        </p:txBody>
      </p:sp>
      <p:sp>
        <p:nvSpPr>
          <p:cNvPr id="15" name="shape-11-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three-row lookup table drawn as cards. Row 1: "Independent voltage source" with a before-symbol (circle, +/−) and an after-symbol (plain wire), joined by an arrow labelled "V = 0 ⇒ short". Row 2: "Independen…</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5, pp. 123-133</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CO2  |  Bloom L2  |  visual id: deactivation-lookup</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Deactivating sources correctly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12-2"/>
          <p:cNvSpPr/>
          <p:nvPr/>
        </p:nvSpPr>
        <p:spPr>
          <a:xfrm>
            <a:off x="552450" y="1266825"/>
            <a:ext cx="990600" cy="47625"/>
          </a:xfrm>
          <a:prstGeom prst="rect">
            <a:avLst/>
          </a:prstGeom>
          <a:solidFill>
            <a:srgbClr val="0F6FC6"/>
          </a:solidFill>
          <a:ln/>
        </p:spPr>
      </p:sp>
      <p:sp>
        <p:nvSpPr>
          <p:cNvPr id="5" name="shape-12-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Deactivating sources correctly</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12</a:t>
            </a:r>
            <a:endParaRPr lang="en-US" sz="900" dirty="0"/>
          </a:p>
        </p:txBody>
      </p:sp>
      <p:sp>
        <p:nvSpPr>
          <p:cNvPr id="9" name="shape-12-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List every source and label it independent or dependent</a:t>
            </a:r>
            <a:endParaRPr lang="en-US" sz="1100" dirty="0"/>
          </a:p>
        </p:txBody>
      </p:sp>
      <p:sp>
        <p:nvSpPr>
          <p:cNvPr id="11" name="shape-12-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Replace each deactivated independent voltage source with a wire</a:t>
            </a:r>
            <a:endParaRPr lang="en-US" sz="1100" dirty="0"/>
          </a:p>
        </p:txBody>
      </p:sp>
      <p:sp>
        <p:nvSpPr>
          <p:cNvPr id="13" name="shape-12-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Replace each deactivated independent current source with a gap</a:t>
            </a:r>
            <a:endParaRPr lang="en-US" sz="1100" dirty="0"/>
          </a:p>
        </p:txBody>
      </p:sp>
      <p:sp>
        <p:nvSpPr>
          <p:cNvPr id="15" name="shape-12-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Keep every series or parallel resistance associated with a practical source</a:t>
            </a:r>
            <a:endParaRPr lang="en-US" sz="1100" dirty="0"/>
          </a:p>
        </p:txBody>
      </p:sp>
      <p:sp>
        <p:nvSpPr>
          <p:cNvPr id="17" name="shape-12-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Leave all dependent sources exactly as drawn</a:t>
            </a:r>
            <a:endParaRPr lang="en-US" sz="1100" dirty="0"/>
          </a:p>
        </p:txBody>
      </p:sp>
      <p:sp>
        <p:nvSpPr>
          <p:cNvPr id="19" name="shape-12-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Redraw the simplified network before solving</a:t>
            </a:r>
            <a:endParaRPr lang="en-US" sz="1100" dirty="0"/>
          </a:p>
        </p:txBody>
      </p:sp>
      <p:sp>
        <p:nvSpPr>
          <p:cNvPr id="21" name="shape-12-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O(1) per source</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O(k) for k sources per sub-circuit</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O(k) plus a redraw that may change the series-parallel structure entirely</a:t>
            </a:r>
            <a:endParaRPr lang="en-US" sz="1100" dirty="0"/>
          </a:p>
        </p:txBody>
      </p:sp>
      <p:sp>
        <p:nvSpPr>
          <p:cNvPr id="23" name="shape-12-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The redraw is where most arithmetic errors enter — do it explicitly.</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5, pp. 123-133   |   CO2  |  Bloom L2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Deactivating sources correctly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13-2"/>
          <p:cNvSpPr/>
          <p:nvPr/>
        </p:nvSpPr>
        <p:spPr>
          <a:xfrm>
            <a:off x="552450" y="1266825"/>
            <a:ext cx="990600" cy="47625"/>
          </a:xfrm>
          <a:prstGeom prst="rect">
            <a:avLst/>
          </a:prstGeom>
          <a:solidFill>
            <a:srgbClr val="0F6FC6"/>
          </a:solidFill>
          <a:ln/>
        </p:spPr>
      </p:sp>
      <p:sp>
        <p:nvSpPr>
          <p:cNvPr id="5" name="shape-13-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Deactivating sources correctly</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13</a:t>
            </a:r>
            <a:endParaRPr lang="en-US" sz="900" dirty="0"/>
          </a:p>
        </p:txBody>
      </p:sp>
      <p:sp>
        <p:nvSpPr>
          <p:cNvPr id="9" name="shape-13-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practical source of 10 V with 2 Ω internal resistance, in a circuit with a second 5 A ideal source, is to be deactivated for a superposition step.</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10 V ideal part becomes a short circuit</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2 Ω internal resistance remains in place</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branch is now simply a 2 Ω path</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5 A source stays live for this step</a:t>
            </a:r>
            <a:endParaRPr lang="en-US" sz="1100" dirty="0"/>
          </a:p>
        </p:txBody>
      </p:sp>
      <p:sp>
        <p:nvSpPr>
          <p:cNvPr id="15" name="shape-13-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The branch reduces to 2 Ω, not to an open or a plain wire — deleting the 2 Ω would change the parallel combination and every downstream current.</a:t>
            </a:r>
            <a:endParaRPr lang="en-US" sz="1100" dirty="0"/>
          </a:p>
        </p:txBody>
      </p:sp>
      <p:sp>
        <p:nvSpPr>
          <p:cNvPr id="17" name="shape-13-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10 V ⊕ 2 Ω  --deactivate--&gt;  2 Ω</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(not a wire, not an open)</a:t>
            </a:r>
            <a:endParaRPr lang="en-US" sz="1000" dirty="0"/>
          </a:p>
        </p:txBody>
      </p:sp>
      <p:sp>
        <p:nvSpPr>
          <p:cNvPr id="19" name="shape-13-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remove the entire practical source branch, resistance included. The internal resistance belongs to the network, not to the excitation, and dropping it typically changes the equivalent resistance by tens of percent.</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5, pp. 123-133   |   CO2  |  Bloom L2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Superposition with sources at different frequencies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14-2"/>
          <p:cNvSpPr/>
          <p:nvPr/>
        </p:nvSpPr>
        <p:spPr>
          <a:xfrm>
            <a:off x="552450" y="1266825"/>
            <a:ext cx="990600" cy="47625"/>
          </a:xfrm>
          <a:prstGeom prst="rect">
            <a:avLst/>
          </a:prstGeom>
          <a:solidFill>
            <a:srgbClr val="0F6FC6"/>
          </a:solidFill>
          <a:ln/>
        </p:spPr>
      </p:sp>
      <p:sp>
        <p:nvSpPr>
          <p:cNvPr id="5" name="shape-14-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Superposition with sources at differe…</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14</a:t>
            </a:r>
            <a:endParaRPr lang="en-US" sz="900" dirty="0"/>
          </a:p>
        </p:txBody>
      </p:sp>
      <p:sp>
        <p:nvSpPr>
          <p:cNvPr id="9" name="shape-14-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When a circuit is driven by sources at different frequencies, no single phasor domain can hold them, because impedance itself is a function of ω. Superposition is then not merely convenient but mandatory: each source is solved in its own phasor domain with impedances evaluated at that source's frequency, the partial answers are converted back to the time domain, and only then are they added. A DC source is handled as the ω = 0 case, where an inductor becomes a short and a capacitor an open. Adding the phasors directly is meaningless, since two phasors at different frequencies have no fixed relative phase.</a:t>
            </a:r>
            <a:endParaRPr lang="en-US" sz="1100" dirty="0"/>
          </a:p>
        </p:txBody>
      </p:sp>
      <p:sp>
        <p:nvSpPr>
          <p:cNvPr id="11" name="shape-14-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multi-frequency excitation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per-frequency phasor domain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time-domain recombination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DC plus AC</a:t>
            </a:r>
            <a:endParaRPr lang="en-US" sz="1100" dirty="0"/>
          </a:p>
        </p:txBody>
      </p:sp>
      <p:sp>
        <p:nvSpPr>
          <p:cNvPr id="13" name="shape-14-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Different frequencies may only be combined in the time domain — phasors from different ω values are not addable at all.</a:t>
            </a:r>
            <a:endParaRPr lang="en-US" sz="1100" dirty="0"/>
          </a:p>
        </p:txBody>
      </p:sp>
      <p:sp>
        <p:nvSpPr>
          <p:cNvPr id="15" name="shape-14-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Three horizontal lanes stacked. Lane 1 labelled "ω = 0 (DC)" shows L as a wire and C as a gap, ending in a box "v₀(t) = const". Lane 2 labelled "ω = 377" shows impedance values jωL and 1/jωC computed at 377, e…</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5, pp. 123-133</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CO2  |  Bloom L4  |  visual id: multi-frequency-lanes</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Superposition with sources at different frequencies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15-2"/>
          <p:cNvSpPr/>
          <p:nvPr/>
        </p:nvSpPr>
        <p:spPr>
          <a:xfrm>
            <a:off x="552450" y="1266825"/>
            <a:ext cx="990600" cy="47625"/>
          </a:xfrm>
          <a:prstGeom prst="rect">
            <a:avLst/>
          </a:prstGeom>
          <a:solidFill>
            <a:srgbClr val="0F6FC6"/>
          </a:solidFill>
          <a:ln/>
        </p:spPr>
      </p:sp>
      <p:sp>
        <p:nvSpPr>
          <p:cNvPr id="5" name="shape-15-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Superposition with sources at differe…</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15</a:t>
            </a:r>
            <a:endParaRPr lang="en-US" sz="900" dirty="0"/>
          </a:p>
        </p:txBody>
      </p:sp>
      <p:sp>
        <p:nvSpPr>
          <p:cNvPr id="9" name="shape-15-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Group the sources by frequency</a:t>
            </a:r>
            <a:endParaRPr lang="en-US" sz="1100" dirty="0"/>
          </a:p>
        </p:txBody>
      </p:sp>
      <p:sp>
        <p:nvSpPr>
          <p:cNvPr id="11" name="shape-15-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For each distinct frequency, deactivate all sources of other frequencies</a:t>
            </a:r>
            <a:endParaRPr lang="en-US" sz="1100" dirty="0"/>
          </a:p>
        </p:txBody>
      </p:sp>
      <p:sp>
        <p:nvSpPr>
          <p:cNvPr id="13" name="shape-15-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Evaluate every impedance at that frequency</a:t>
            </a:r>
            <a:endParaRPr lang="en-US" sz="1100" dirty="0"/>
          </a:p>
        </p:txBody>
      </p:sp>
      <p:sp>
        <p:nvSpPr>
          <p:cNvPr id="15" name="shape-15-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Solve the phasor circuit and convert the answer to the time domain</a:t>
            </a:r>
            <a:endParaRPr lang="en-US" sz="1100" dirty="0"/>
          </a:p>
        </p:txBody>
      </p:sp>
      <p:sp>
        <p:nvSpPr>
          <p:cNvPr id="17" name="shape-15-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Handle DC as ω = 0 with L shorted and C opened</a:t>
            </a:r>
            <a:endParaRPr lang="en-US" sz="1100" dirty="0"/>
          </a:p>
        </p:txBody>
      </p:sp>
      <p:sp>
        <p:nvSpPr>
          <p:cNvPr id="19" name="shape-15-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Add all time-domain partial responses</a:t>
            </a:r>
            <a:endParaRPr lang="en-US" sz="1100" dirty="0"/>
          </a:p>
        </p:txBody>
      </p:sp>
      <p:sp>
        <p:nvSpPr>
          <p:cNvPr id="21" name="shape-15-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two frequencies, two simple solves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one full solve per distinct frequency</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m solves for m frequencies, each O(n^3)</a:t>
            </a:r>
            <a:endParaRPr lang="en-US" sz="1100" dirty="0"/>
          </a:p>
        </p:txBody>
      </p:sp>
      <p:sp>
        <p:nvSpPr>
          <p:cNvPr id="23" name="shape-15-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Cost grows with the number of distinct frequencies, not the number of sources.</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5, pp. 123-133   |   CO2  |  Bloom L4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Superposition with sources at different frequencies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16-2"/>
          <p:cNvSpPr/>
          <p:nvPr/>
        </p:nvSpPr>
        <p:spPr>
          <a:xfrm>
            <a:off x="552450" y="1266825"/>
            <a:ext cx="990600" cy="47625"/>
          </a:xfrm>
          <a:prstGeom prst="rect">
            <a:avLst/>
          </a:prstGeom>
          <a:solidFill>
            <a:srgbClr val="0F6FC6"/>
          </a:solidFill>
          <a:ln/>
        </p:spPr>
      </p:sp>
      <p:sp>
        <p:nvSpPr>
          <p:cNvPr id="5" name="shape-16-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Superposition with sources at differe…</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16</a:t>
            </a:r>
            <a:endParaRPr lang="en-US" sz="900" dirty="0"/>
          </a:p>
        </p:txBody>
      </p:sp>
      <p:sp>
        <p:nvSpPr>
          <p:cNvPr id="9" name="shape-16-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series R = 1 kΩ, C = 1 µF branch driven by 5 V DC plus 10·cos(1000t) V.</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DC step: capacitor is open, so no DC current flows and the full 5 V appears across C</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AC step: Z_C = 1/(j·1000·1e−6) = −j1000 Ω, Z_total = 1000 − j1000 = 1414∠−45° Ω</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 = 10∠0°/1414∠−45° = 7.07∠45° mA, V_C = I × 1000∠−90° = 7.07∠−45° V</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Add in the time domain: v_C(t) = 5 + 7.07·cos(1000t − 45°) V</a:t>
            </a:r>
            <a:endParaRPr lang="en-US" sz="1100" dirty="0"/>
          </a:p>
        </p:txBody>
      </p:sp>
      <p:sp>
        <p:nvSpPr>
          <p:cNvPr id="15" name="shape-16-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v_C(t) = 5 + 7.07·cos(1000t − 45°) V — a DC level with an AC ripple riding on it, which no single phasor could have represented.</a:t>
            </a:r>
            <a:endParaRPr lang="en-US" sz="1100" dirty="0"/>
          </a:p>
        </p:txBody>
      </p:sp>
      <p:sp>
        <p:nvSpPr>
          <p:cNvPr id="17" name="shape-16-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DC (ω=0):  C open  ⇒ V_C,dc = 5 V</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AC (ω=1000): Z_C = −j1000, V_C,ac = 7.07∠−45° V</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v_C(t) = 5 + 7.07 cos(1000t − 45°) V</a:t>
            </a:r>
            <a:endParaRPr lang="en-US" sz="1000" dirty="0"/>
          </a:p>
        </p:txBody>
      </p:sp>
      <p:sp>
        <p:nvSpPr>
          <p:cNvPr id="19" name="shape-16-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add a DC value to a phasor magnitude and quote a single number. A DC level and a sinusoid are different functions of time; the only correct combination is a time-domain sum, which is why the answer has two terms and not one.</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5, pp. 123-133   |   CO2  |  Bloom L4</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Why superposition fails for power</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17-2"/>
          <p:cNvSpPr/>
          <p:nvPr/>
        </p:nvSpPr>
        <p:spPr>
          <a:xfrm>
            <a:off x="552450" y="1266825"/>
            <a:ext cx="990600" cy="47625"/>
          </a:xfrm>
          <a:prstGeom prst="rect">
            <a:avLst/>
          </a:prstGeom>
          <a:solidFill>
            <a:srgbClr val="0F6FC6"/>
          </a:solidFill>
          <a:ln/>
        </p:spPr>
      </p:sp>
      <p:sp>
        <p:nvSpPr>
          <p:cNvPr id="5" name="shape-17-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Why superposition fails for power</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17</a:t>
            </a:r>
            <a:endParaRPr lang="en-US" sz="900" dirty="0"/>
          </a:p>
        </p:txBody>
      </p:sp>
      <p:sp>
        <p:nvSpPr>
          <p:cNvPr id="9" name="shape-17-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Power is a quadratic function of the response, p = i²R, so expanding the square of a sum produces a cross term: (i₁ + i₂)²R = i₁²R + i₂²R + 2i₁i₂R. The first two terms are what superposition of powers would predict; the third is the interaction term that superposition of powers silently discards. The error is not small — if the two partial currents are equal, the true power is four times one partial power while the naive sum gives two, a 100 % error. The correct procedure is always to superpose currents or voltages first, obtain the total response, and only then compute power from that total.</a:t>
            </a:r>
            <a:endParaRPr lang="en-US" sz="1100" dirty="0"/>
          </a:p>
        </p:txBody>
      </p:sp>
      <p:sp>
        <p:nvSpPr>
          <p:cNvPr id="11" name="shape-17-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quadratic response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cross term</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power superposition fallacy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total response first</a:t>
            </a:r>
            <a:endParaRPr lang="en-US" sz="1100" dirty="0"/>
          </a:p>
        </p:txBody>
      </p:sp>
      <p:sp>
        <p:nvSpPr>
          <p:cNvPr id="13" name="shape-17-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Superpose the response, then square; never square, then superpose.</a:t>
            </a:r>
            <a:endParaRPr lang="en-US" sz="1100" dirty="0"/>
          </a:p>
        </p:txBody>
      </p:sp>
      <p:sp>
        <p:nvSpPr>
          <p:cNvPr id="15" name="shape-17-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Centre: a large algebraic expansion typeset in three coloured chunks — (i₁ + i₂)²R expanding to i₁²R (blue) + i₂²R (green) + 2i₁i₂R (red). Beneath, two result bars side by side: a short bar labelled "naive Σp…</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5, pp. 123-133</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CO2  |  Bloom L4  |  visual id: power-cross-term</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Why superposition fails for power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18-2"/>
          <p:cNvSpPr/>
          <p:nvPr/>
        </p:nvSpPr>
        <p:spPr>
          <a:xfrm>
            <a:off x="552450" y="1266825"/>
            <a:ext cx="990600" cy="47625"/>
          </a:xfrm>
          <a:prstGeom prst="rect">
            <a:avLst/>
          </a:prstGeom>
          <a:solidFill>
            <a:srgbClr val="0F6FC6"/>
          </a:solidFill>
          <a:ln/>
        </p:spPr>
      </p:sp>
      <p:sp>
        <p:nvSpPr>
          <p:cNvPr id="5" name="shape-18-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Why superposition fails for power</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18</a:t>
            </a:r>
            <a:endParaRPr lang="en-US" sz="900" dirty="0"/>
          </a:p>
        </p:txBody>
      </p:sp>
      <p:sp>
        <p:nvSpPr>
          <p:cNvPr id="9" name="shape-18-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Use superposition to find the total current or voltage</a:t>
            </a:r>
            <a:endParaRPr lang="en-US" sz="1100" dirty="0"/>
          </a:p>
        </p:txBody>
      </p:sp>
      <p:sp>
        <p:nvSpPr>
          <p:cNvPr id="11" name="shape-18-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Stop — do not compute any partial powers</a:t>
            </a:r>
            <a:endParaRPr lang="en-US" sz="1100" dirty="0"/>
          </a:p>
        </p:txBody>
      </p:sp>
      <p:sp>
        <p:nvSpPr>
          <p:cNvPr id="13" name="shape-18-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Square the total response</a:t>
            </a:r>
            <a:endParaRPr lang="en-US" sz="1100" dirty="0"/>
          </a:p>
        </p:txBody>
      </p:sp>
      <p:sp>
        <p:nvSpPr>
          <p:cNvPr id="15" name="shape-18-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Multiply by R, or use v·i for the total quantities</a:t>
            </a:r>
            <a:endParaRPr lang="en-US" sz="1100" dirty="0"/>
          </a:p>
        </p:txBody>
      </p:sp>
      <p:sp>
        <p:nvSpPr>
          <p:cNvPr id="17" name="shape-18-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If partial powers were computed, discard them</a:t>
            </a:r>
            <a:endParaRPr lang="en-US" sz="1100" dirty="0"/>
          </a:p>
        </p:txBody>
      </p:sp>
      <p:sp>
        <p:nvSpPr>
          <p:cNvPr id="19" name="shape-18-17"/>
          <p:cNvSpPr/>
          <p:nvPr/>
        </p:nvSpPr>
        <p:spPr>
          <a:xfrm>
            <a:off x="8020050" y="1543050"/>
            <a:ext cx="3619500" cy="2247900"/>
          </a:xfrm>
          <a:prstGeom prst="rect">
            <a:avLst/>
          </a:prstGeom>
          <a:solidFill>
            <a:srgbClr val="F1F5FA"/>
          </a:solidFill>
          <a:ln/>
        </p:spPr>
      </p:sp>
      <p:sp>
        <p:nvSpPr>
          <p:cNvPr id="20"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no extra cost — power is one multiplication after the total is known</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same as a standard superposition solve plus one squaring</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unbounded error if the rule is violated</a:t>
            </a:r>
            <a:endParaRPr lang="en-US" sz="1100" dirty="0"/>
          </a:p>
        </p:txBody>
      </p:sp>
      <p:sp>
        <p:nvSpPr>
          <p:cNvPr id="21" name="shape-18-19"/>
          <p:cNvSpPr/>
          <p:nvPr/>
        </p:nvSpPr>
        <p:spPr>
          <a:xfrm>
            <a:off x="8020050" y="3943350"/>
            <a:ext cx="3619500" cy="1257300"/>
          </a:xfrm>
          <a:prstGeom prst="rect">
            <a:avLst/>
          </a:prstGeom>
          <a:solidFill>
            <a:srgbClr val="FDF3EC"/>
          </a:solidFill>
          <a:ln/>
        </p:spPr>
      </p:sp>
      <p:sp>
        <p:nvSpPr>
          <p:cNvPr id="22"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The only situation where partial powers happen to add is when the partial responses are orthogonal, e.g. at different frequencies over a full period.</a:t>
            </a:r>
            <a:endParaRPr lang="en-US" sz="1100" dirty="0"/>
          </a:p>
        </p:txBody>
      </p:sp>
      <p:sp>
        <p:nvSpPr>
          <p:cNvPr id="23"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5, pp. 123-133   |   CO2  |  Bloom L4</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Why superposition fails for power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19-2"/>
          <p:cNvSpPr/>
          <p:nvPr/>
        </p:nvSpPr>
        <p:spPr>
          <a:xfrm>
            <a:off x="552450" y="1266825"/>
            <a:ext cx="990600" cy="47625"/>
          </a:xfrm>
          <a:prstGeom prst="rect">
            <a:avLst/>
          </a:prstGeom>
          <a:solidFill>
            <a:srgbClr val="0F6FC6"/>
          </a:solidFill>
          <a:ln/>
        </p:spPr>
      </p:sp>
      <p:sp>
        <p:nvSpPr>
          <p:cNvPr id="5" name="shape-19-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Why superposition fails for power</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19</a:t>
            </a:r>
            <a:endParaRPr lang="en-US" sz="900" dirty="0"/>
          </a:p>
        </p:txBody>
      </p:sp>
      <p:sp>
        <p:nvSpPr>
          <p:cNvPr id="9" name="shape-19-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Two sources each produce 2 mA through a shared 1 kΩ resistor.</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Naive: p₁ = (0.002)² × 1000 = 4 mW, p₂ = 4 mW, naive sum = 8 mW</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Correct: i_total = 2 + 2 = 4 mA</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 = (0.004)² × 1000 = 16 mW</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Cross term = 2 × 0.002 × 0.002 × 1000 = 8 mW, the exact shortfall</a:t>
            </a:r>
            <a:endParaRPr lang="en-US" sz="1100" dirty="0"/>
          </a:p>
        </p:txBody>
      </p:sp>
      <p:sp>
        <p:nvSpPr>
          <p:cNvPr id="15" name="shape-19-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True power is 16 mW against a naive 8 mW — the discarded cross term was equal to the entire naive answer.</a:t>
            </a:r>
            <a:endParaRPr lang="en-US" sz="1100" dirty="0"/>
          </a:p>
        </p:txBody>
      </p:sp>
      <p:sp>
        <p:nvSpPr>
          <p:cNvPr id="17" name="shape-19-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(i₁+i₂)²R = i₁²R + i₂²R + 2i₁i₂R</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naive : 4 + 4 = 8 mW</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true  : (4 mA)²·1k = 16 mW   (cross term = 8 mW)</a:t>
            </a:r>
            <a:endParaRPr lang="en-US" sz="1000" dirty="0"/>
          </a:p>
        </p:txBody>
      </p:sp>
      <p:sp>
        <p:nvSpPr>
          <p:cNvPr id="19" name="shape-19-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apply superposition to power because it worked for current in the same problem five minutes earlier. The theorem is a statement about linear responses only, and power is the one quantity in a linear circuit that is not a linear response.</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5, pp. 123-133   |   CO2  |  Bloom L4</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reciprocity theorem</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20-2"/>
          <p:cNvSpPr/>
          <p:nvPr/>
        </p:nvSpPr>
        <p:spPr>
          <a:xfrm>
            <a:off x="552450" y="1266825"/>
            <a:ext cx="990600" cy="47625"/>
          </a:xfrm>
          <a:prstGeom prst="rect">
            <a:avLst/>
          </a:prstGeom>
          <a:solidFill>
            <a:srgbClr val="0F6FC6"/>
          </a:solidFill>
          <a:ln/>
        </p:spPr>
      </p:sp>
      <p:sp>
        <p:nvSpPr>
          <p:cNvPr id="5" name="shape-20-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reciprocity theorem</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20</a:t>
            </a:r>
            <a:endParaRPr lang="en-US" sz="900" dirty="0"/>
          </a:p>
        </p:txBody>
      </p:sp>
      <p:sp>
        <p:nvSpPr>
          <p:cNvPr id="9" name="shape-20-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Reciprocity states that in a linear, passive, bilateral network with a single source, interchanging the positions of the excitation and the response leaves the ratio between them unchanged. Put concretely, if a voltage source in branch A produces a current I in branch B, then moving that same source to branch B produces exactly the same current I in branch A. The ratio excitation/response is called the transfer resistance or transfer impedance, and reciprocity is the statement that this quantity is symmetric between any two branches. It is what allows a measurement made at one accessible port to predict behaviour at an inaccessible one, and it is the network-theory ancestor of the symmetry of the z and y matrices met in Module 5.</a:t>
            </a:r>
            <a:endParaRPr lang="en-US" sz="1100" dirty="0"/>
          </a:p>
        </p:txBody>
      </p:sp>
      <p:sp>
        <p:nvSpPr>
          <p:cNvPr id="11" name="shape-20-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reciprocity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excitation-response interchange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transfer resistance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bilateral network</a:t>
            </a:r>
            <a:endParaRPr lang="en-US" sz="1100" dirty="0"/>
          </a:p>
        </p:txBody>
      </p:sp>
      <p:sp>
        <p:nvSpPr>
          <p:cNvPr id="13" name="shape-20-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Reciprocity says a passive bilateral network cannot tell which of two ports you are pushing on.</a:t>
            </a:r>
            <a:endParaRPr lang="en-US" sz="1100" dirty="0"/>
          </a:p>
        </p:txBody>
      </p:sp>
      <p:sp>
        <p:nvSpPr>
          <p:cNvPr id="15" name="shape-20-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Two identical network boxes stacked vertically, each with branch A on the left edge and branch B on the right edge. In the upper box a source symbol sits in branch A and an ammeter reading "I = 2 mA" sits in b…</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Network Analysis - A Simplified Approach (TB2, not supplied) - TB2 §4.9</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CO2  |  Bloom L2  |  visual id: reciprocity-swap</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reciprocity theorem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21-2"/>
          <p:cNvSpPr/>
          <p:nvPr/>
        </p:nvSpPr>
        <p:spPr>
          <a:xfrm>
            <a:off x="552450" y="1266825"/>
            <a:ext cx="990600" cy="47625"/>
          </a:xfrm>
          <a:prstGeom prst="rect">
            <a:avLst/>
          </a:prstGeom>
          <a:solidFill>
            <a:srgbClr val="0F6FC6"/>
          </a:solidFill>
          <a:ln/>
        </p:spPr>
      </p:sp>
      <p:sp>
        <p:nvSpPr>
          <p:cNvPr id="5" name="shape-21-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reciprocity theorem</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21</a:t>
            </a:r>
            <a:endParaRPr lang="en-US" sz="900" dirty="0"/>
          </a:p>
        </p:txBody>
      </p:sp>
      <p:sp>
        <p:nvSpPr>
          <p:cNvPr id="9" name="shape-21-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Confirm the network is linear, passive and bilateral</a:t>
            </a:r>
            <a:endParaRPr lang="en-US" sz="1100" dirty="0"/>
          </a:p>
        </p:txBody>
      </p:sp>
      <p:sp>
        <p:nvSpPr>
          <p:cNvPr id="11" name="shape-21-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Confirm there is exactly one independent source</a:t>
            </a:r>
            <a:endParaRPr lang="en-US" sz="1100" dirty="0"/>
          </a:p>
        </p:txBody>
      </p:sp>
      <p:sp>
        <p:nvSpPr>
          <p:cNvPr id="13" name="shape-21-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Record the excitation in branch A and the response in branch B</a:t>
            </a:r>
            <a:endParaRPr lang="en-US" sz="1100" dirty="0"/>
          </a:p>
        </p:txBody>
      </p:sp>
      <p:sp>
        <p:nvSpPr>
          <p:cNvPr id="15" name="shape-21-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Move the source to branch B, preserving its value and polarity convention</a:t>
            </a:r>
            <a:endParaRPr lang="en-US" sz="1100" dirty="0"/>
          </a:p>
        </p:txBody>
      </p:sp>
      <p:sp>
        <p:nvSpPr>
          <p:cNvPr id="17" name="shape-21-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Measure or compute the response now appearing in branch A</a:t>
            </a:r>
            <a:endParaRPr lang="en-US" sz="1100" dirty="0"/>
          </a:p>
        </p:txBody>
      </p:sp>
      <p:sp>
        <p:nvSpPr>
          <p:cNvPr id="19" name="shape-21-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Confirm the two ratios are equal</a:t>
            </a:r>
            <a:endParaRPr lang="en-US" sz="1100" dirty="0"/>
          </a:p>
        </p:txBody>
      </p:sp>
      <p:sp>
        <p:nvSpPr>
          <p:cNvPr id="21" name="shape-21-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one solve replaces two when reciprocity can be invoked</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halves the work for a two-configuration problem</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no benefit if any hypothesis fails</a:t>
            </a:r>
            <a:endParaRPr lang="en-US" sz="1100" dirty="0"/>
          </a:p>
        </p:txBody>
      </p:sp>
      <p:sp>
        <p:nvSpPr>
          <p:cNvPr id="23" name="shape-21-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The theorem is a shortcut and a verification check in equal measure.</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Network Analysis - A Simplified Approach (TB2, not supplied) - TB2 §4.9   |   CO2  |  Bloom L2</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reciprocity theorem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22-2"/>
          <p:cNvSpPr/>
          <p:nvPr/>
        </p:nvSpPr>
        <p:spPr>
          <a:xfrm>
            <a:off x="552450" y="1266825"/>
            <a:ext cx="990600" cy="47625"/>
          </a:xfrm>
          <a:prstGeom prst="rect">
            <a:avLst/>
          </a:prstGeom>
          <a:solidFill>
            <a:srgbClr val="0F6FC6"/>
          </a:solidFill>
          <a:ln/>
        </p:spPr>
      </p:sp>
      <p:sp>
        <p:nvSpPr>
          <p:cNvPr id="5" name="shape-22-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reciprocity theorem</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22</a:t>
            </a:r>
            <a:endParaRPr lang="en-US" sz="900" dirty="0"/>
          </a:p>
        </p:txBody>
      </p:sp>
      <p:sp>
        <p:nvSpPr>
          <p:cNvPr id="9" name="shape-22-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20 V source in branch A of a passive ladder produces 4 mA in branch B.</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Transfer resistance = 20 / 0.004 = 5000 Ω</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Move the 20 V source to branch B</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Reciprocity asserts the transfer resistance is unchanged</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Current now in branch A = 20 / 5000 = 4 mA</a:t>
            </a:r>
            <a:endParaRPr lang="en-US" sz="1100" dirty="0"/>
          </a:p>
        </p:txBody>
      </p:sp>
      <p:sp>
        <p:nvSpPr>
          <p:cNvPr id="15" name="shape-22-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The same 4 mA appears in branch A, without solving the network a second time.</a:t>
            </a:r>
            <a:endParaRPr lang="en-US" sz="1100" dirty="0"/>
          </a:p>
        </p:txBody>
      </p:sp>
      <p:sp>
        <p:nvSpPr>
          <p:cNvPr id="17" name="shape-22-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R_transfer = V_A / I_B = 20 / 4 mA = 5 kΩ</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swap ⇒ I_A = V_B / R_transfer = 20 / 5 kΩ = 4 mA</a:t>
            </a:r>
            <a:endParaRPr lang="en-US" sz="1000" dirty="0"/>
          </a:p>
        </p:txBody>
      </p:sp>
      <p:sp>
        <p:nvSpPr>
          <p:cNvPr id="19" name="shape-22-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apply reciprocity to a circuit that contains a transistor small-signal model. That model contains a dependent source, which makes the network non-bilateral, and the swapped measurement will not match — this is exactly why amplifiers have an input and an output rather than two interchangeable ports.</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Network Analysis - A Simplified Approach (TB2, not supplied) - TB2 §4.9   |   CO2  |  Bloom L2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Conditions for reciprocity</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23-2"/>
          <p:cNvSpPr/>
          <p:nvPr/>
        </p:nvSpPr>
        <p:spPr>
          <a:xfrm>
            <a:off x="552450" y="1266825"/>
            <a:ext cx="990600" cy="47625"/>
          </a:xfrm>
          <a:prstGeom prst="rect">
            <a:avLst/>
          </a:prstGeom>
          <a:solidFill>
            <a:srgbClr val="0F6FC6"/>
          </a:solidFill>
          <a:ln/>
        </p:spPr>
      </p:sp>
      <p:sp>
        <p:nvSpPr>
          <p:cNvPr id="5" name="shape-23-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Conditions for reciprocity</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23</a:t>
            </a:r>
            <a:endParaRPr lang="en-US" sz="900" dirty="0"/>
          </a:p>
        </p:txBody>
      </p:sp>
      <p:sp>
        <p:nvSpPr>
          <p:cNvPr id="9" name="shape-23-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Reciprocity holds only under four conditions taken together. The network must be linear; it must be passive, containing no independent or dependent sources other than the single excitation being moved; every element must be bilateral, meaning it presents the same behaviour to current in either direction; and all initial conditions must be zero, so that no stored energy contributes a second, unmoved excitation. Resistors, inductors, capacitors and ideal transformers are bilateral. Dependent sources, diodes, gyrators and any device with a preferred direction are not. If any single condition fails the theorem gives no guarantee, and in practice the swapped measurement differs sharply rather than slightly.</a:t>
            </a:r>
            <a:endParaRPr lang="en-US" sz="1100" dirty="0"/>
          </a:p>
        </p:txBody>
      </p:sp>
      <p:sp>
        <p:nvSpPr>
          <p:cNvPr id="11" name="shape-23-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bilateral element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passivity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single excitation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initial conditions zero</a:t>
            </a:r>
            <a:endParaRPr lang="en-US" sz="1100" dirty="0"/>
          </a:p>
        </p:txBody>
      </p:sp>
      <p:sp>
        <p:nvSpPr>
          <p:cNvPr id="13" name="shape-23-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Four conditions, all required — and the one students forget is that dependent sources destroy bilaterality.</a:t>
            </a:r>
            <a:endParaRPr lang="en-US" sz="1100" dirty="0"/>
          </a:p>
        </p:txBody>
      </p:sp>
      <p:sp>
        <p:nvSpPr>
          <p:cNvPr id="15" name="shape-23-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vertical gate made of four horizontal bars, each a condition: "Linear", "Passive — single excitation only", "Bilateral elements", "Zero initial conditions". A test circuit token travels downward and must pas…</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Network Analysis - A Simplified Approach (TB2, not supplied) - TB2 §4.9</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CO2  |  Bloom L3  |  visual id: reciprocity-checklist-gate</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Conditions for reciprocity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24-2"/>
          <p:cNvSpPr/>
          <p:nvPr/>
        </p:nvSpPr>
        <p:spPr>
          <a:xfrm>
            <a:off x="552450" y="1266825"/>
            <a:ext cx="990600" cy="47625"/>
          </a:xfrm>
          <a:prstGeom prst="rect">
            <a:avLst/>
          </a:prstGeom>
          <a:solidFill>
            <a:srgbClr val="0F6FC6"/>
          </a:solidFill>
          <a:ln/>
        </p:spPr>
      </p:sp>
      <p:sp>
        <p:nvSpPr>
          <p:cNvPr id="5" name="shape-24-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Conditions for reciprocity</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24</a:t>
            </a:r>
            <a:endParaRPr lang="en-US" sz="900" dirty="0"/>
          </a:p>
        </p:txBody>
      </p:sp>
      <p:sp>
        <p:nvSpPr>
          <p:cNvPr id="9" name="shape-24-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Check linearity of every element</a:t>
            </a:r>
            <a:endParaRPr lang="en-US" sz="1100" dirty="0"/>
          </a:p>
        </p:txBody>
      </p:sp>
      <p:sp>
        <p:nvSpPr>
          <p:cNvPr id="11" name="shape-24-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Check that no source other than the excitation is present</a:t>
            </a:r>
            <a:endParaRPr lang="en-US" sz="1100" dirty="0"/>
          </a:p>
        </p:txBody>
      </p:sp>
      <p:sp>
        <p:nvSpPr>
          <p:cNvPr id="13" name="shape-24-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Check each element for bilateral behaviour</a:t>
            </a:r>
            <a:endParaRPr lang="en-US" sz="1100" dirty="0"/>
          </a:p>
        </p:txBody>
      </p:sp>
      <p:sp>
        <p:nvSpPr>
          <p:cNvPr id="15" name="shape-24-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Check that all capacitor voltages and inductor currents start at zero</a:t>
            </a:r>
            <a:endParaRPr lang="en-US" sz="1100" dirty="0"/>
          </a:p>
        </p:txBody>
      </p:sp>
      <p:sp>
        <p:nvSpPr>
          <p:cNvPr id="17" name="shape-24-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Only then invoke reciprocity</a:t>
            </a:r>
            <a:endParaRPr lang="en-US" sz="1100" dirty="0"/>
          </a:p>
        </p:txBody>
      </p:sp>
      <p:sp>
        <p:nvSpPr>
          <p:cNvPr id="19" name="shape-24-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If any check fails, solve the swapped configuration explicitly</a:t>
            </a:r>
            <a:endParaRPr lang="en-US" sz="1100" dirty="0"/>
          </a:p>
        </p:txBody>
      </p:sp>
      <p:sp>
        <p:nvSpPr>
          <p:cNvPr id="21" name="shape-24-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O(n) inspection</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O(n) over n elements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O(n) plus an explicit second solve when the check fails</a:t>
            </a:r>
            <a:endParaRPr lang="en-US" sz="1100" dirty="0"/>
          </a:p>
        </p:txBody>
      </p:sp>
      <p:sp>
        <p:nvSpPr>
          <p:cNvPr id="23" name="shape-24-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The check costs far less than a wrong answer built on it.</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Network Analysis - A Simplified Approach (TB2, not supplied) - TB2 §4.9   |   CO2  |  Bloom L3</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Conditions for reciprocity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25-2"/>
          <p:cNvSpPr/>
          <p:nvPr/>
        </p:nvSpPr>
        <p:spPr>
          <a:xfrm>
            <a:off x="552450" y="1266825"/>
            <a:ext cx="990600" cy="47625"/>
          </a:xfrm>
          <a:prstGeom prst="rect">
            <a:avLst/>
          </a:prstGeom>
          <a:solidFill>
            <a:srgbClr val="0F6FC6"/>
          </a:solidFill>
          <a:ln/>
        </p:spPr>
      </p:sp>
      <p:sp>
        <p:nvSpPr>
          <p:cNvPr id="5" name="shape-25-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Conditions for reciprocity</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25</a:t>
            </a:r>
            <a:endParaRPr lang="en-US" sz="900" dirty="0"/>
          </a:p>
        </p:txBody>
      </p:sp>
      <p:sp>
        <p:nvSpPr>
          <p:cNvPr id="9" name="shape-25-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network of resistors and one ideal transformer, with a single 12 V source and no stored energy.</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Linear — resistors and ideal transformers are linear: pass</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Passive apart from the single excitation: pass</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Bilateral — an ideal transformer transmits equally in both directions: pass</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Zero initial conditions — purely resistive plus transformer, no stored energy: pass</a:t>
            </a:r>
            <a:endParaRPr lang="en-US" sz="1100" dirty="0"/>
          </a:p>
        </p:txBody>
      </p:sp>
      <p:sp>
        <p:nvSpPr>
          <p:cNvPr id="15" name="shape-25-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All four conditions hold, so the excitation and response may be interchanged without re-solving the network.</a:t>
            </a:r>
            <a:endParaRPr lang="en-US" sz="1100" dirty="0"/>
          </a:p>
        </p:txBody>
      </p:sp>
      <p:sp>
        <p:nvSpPr>
          <p:cNvPr id="17" name="shape-25-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linear ∧ passive ∧ bilateral ∧ IC = 0</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V_A/I_B = V_B/I_A</a:t>
            </a:r>
            <a:endParaRPr lang="en-US" sz="1000" dirty="0"/>
          </a:p>
        </p:txBody>
      </p:sp>
      <p:sp>
        <p:nvSpPr>
          <p:cNvPr id="19" name="shape-25-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check only for linearity, since that is the condition the other theorems in this module emphasise. Superposition and Thévenin survive dependent sources; reciprocity does not, and that difference is the whole point of stating four conditions instead of one.</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Network Analysis - A Simplified Approach (TB2, not supplied) - TB2 §4.9   |   CO2  |  Bloom L3</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Reciprocal and non-reciprocal circuits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26-2"/>
          <p:cNvSpPr/>
          <p:nvPr/>
        </p:nvSpPr>
        <p:spPr>
          <a:xfrm>
            <a:off x="552450" y="1266825"/>
            <a:ext cx="990600" cy="47625"/>
          </a:xfrm>
          <a:prstGeom prst="rect">
            <a:avLst/>
          </a:prstGeom>
          <a:solidFill>
            <a:srgbClr val="0F6FC6"/>
          </a:solidFill>
          <a:ln/>
        </p:spPr>
      </p:sp>
      <p:sp>
        <p:nvSpPr>
          <p:cNvPr id="5" name="shape-26-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Reciprocal and non-reciprocal circuits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26</a:t>
            </a:r>
            <a:endParaRPr lang="en-US" sz="900" dirty="0"/>
          </a:p>
        </p:txBody>
      </p:sp>
      <p:sp>
        <p:nvSpPr>
          <p:cNvPr id="9" name="shape-26-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A purely resistive ladder, an LC filter and a passive transformer-coupled network are reciprocal: interchange source and meter and the reading is unchanged. A transistor amplifier, an op-amp stage, a gyrator and a microwave isolator are non-reciprocal, because each contains a dependent source or a directionally biased medium that transmits differently forwards and backwards. The distinction is engineering-critical rather than academic: non-reciprocity is exactly what makes one-way signal flow possible, so an amplifier does not amplify backwards and an isolator protects a source from a reflected wave. Reciprocity is therefore a property to be exploited in passive design and deliberately broken in active design.</a:t>
            </a:r>
            <a:endParaRPr lang="en-US" sz="1100" dirty="0"/>
          </a:p>
        </p:txBody>
      </p:sp>
      <p:sp>
        <p:nvSpPr>
          <p:cNvPr id="11" name="shape-26-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reciprocal network</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non-reciprocal network</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gyrator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isolator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amplifier asymmetry</a:t>
            </a:r>
            <a:endParaRPr lang="en-US" sz="1100" dirty="0"/>
          </a:p>
        </p:txBody>
      </p:sp>
      <p:sp>
        <p:nvSpPr>
          <p:cNvPr id="13" name="shape-26-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Reciprocity is a feature of passive networks and a bug in anything meant to have an input and an output.</a:t>
            </a:r>
            <a:endParaRPr lang="en-US" sz="1100" dirty="0"/>
          </a:p>
        </p:txBody>
      </p:sp>
      <p:sp>
        <p:nvSpPr>
          <p:cNvPr id="15" name="shape-26-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Two panels side by side with a dividing line. Left panel headed "Reciprocal" contains three thumbnails — a resistive ladder, an LC filter, a transformer — each with a symmetric double-headed arrow across it an…</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Network Analysis - A Simplified Approach (TB2, not supplied) - TB2 §4.9</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CO2  |  Bloom L4  |  visual id: reciprocal-vs-not-panels</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Reciprocal and non-reciprocal circuits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27-2"/>
          <p:cNvSpPr/>
          <p:nvPr/>
        </p:nvSpPr>
        <p:spPr>
          <a:xfrm>
            <a:off x="552450" y="1266825"/>
            <a:ext cx="990600" cy="47625"/>
          </a:xfrm>
          <a:prstGeom prst="rect">
            <a:avLst/>
          </a:prstGeom>
          <a:solidFill>
            <a:srgbClr val="0F6FC6"/>
          </a:solidFill>
          <a:ln/>
        </p:spPr>
      </p:sp>
      <p:sp>
        <p:nvSpPr>
          <p:cNvPr id="5" name="shape-27-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Reciprocal and non-reciprocal circuits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27</a:t>
            </a:r>
            <a:endParaRPr lang="en-US" sz="900" dirty="0"/>
          </a:p>
        </p:txBody>
      </p:sp>
      <p:sp>
        <p:nvSpPr>
          <p:cNvPr id="9" name="shape-27-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Identify whether the network contains any dependent source</a:t>
            </a:r>
            <a:endParaRPr lang="en-US" sz="1100" dirty="0"/>
          </a:p>
        </p:txBody>
      </p:sp>
      <p:sp>
        <p:nvSpPr>
          <p:cNvPr id="11" name="shape-27-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Identify any element with a directional medium or bias</a:t>
            </a:r>
            <a:endParaRPr lang="en-US" sz="1100" dirty="0"/>
          </a:p>
        </p:txBody>
      </p:sp>
      <p:sp>
        <p:nvSpPr>
          <p:cNvPr id="13" name="shape-27-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Classify as reciprocal only if neither is present</a:t>
            </a:r>
            <a:endParaRPr lang="en-US" sz="1100" dirty="0"/>
          </a:p>
        </p:txBody>
      </p:sp>
      <p:sp>
        <p:nvSpPr>
          <p:cNvPr id="15" name="shape-27-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For reciprocal networks, exploit symmetry to halve the analysis</a:t>
            </a:r>
            <a:endParaRPr lang="en-US" sz="1100" dirty="0"/>
          </a:p>
        </p:txBody>
      </p:sp>
      <p:sp>
        <p:nvSpPr>
          <p:cNvPr id="17" name="shape-27-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For non-reciprocal networks, analyse each direction separately</a:t>
            </a:r>
            <a:endParaRPr lang="en-US" sz="1100" dirty="0"/>
          </a:p>
        </p:txBody>
      </p:sp>
      <p:sp>
        <p:nvSpPr>
          <p:cNvPr id="19" name="shape-27-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Expect z and y matrices to be symmetric only in the reciprocal case</a:t>
            </a:r>
            <a:endParaRPr lang="en-US" sz="1100" dirty="0"/>
          </a:p>
        </p:txBody>
      </p:sp>
      <p:sp>
        <p:nvSpPr>
          <p:cNvPr id="21" name="shape-27-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inspection, O(1) for a small network</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O(n) element scan</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O(n) plus two full solves for a non-reciprocal network</a:t>
            </a:r>
            <a:endParaRPr lang="en-US" sz="1100" dirty="0"/>
          </a:p>
        </p:txBody>
      </p:sp>
      <p:sp>
        <p:nvSpPr>
          <p:cNvPr id="23" name="shape-27-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This classification is what Module 5 will reuse when testing z₁₂ = z₂₁.</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Network Analysis - A Simplified Approach (TB2, not supplied) - TB2 §4.9   |   CO2  |  Bloom L4</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Reciprocal and non-reciprocal circuits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28-2"/>
          <p:cNvSpPr/>
          <p:nvPr/>
        </p:nvSpPr>
        <p:spPr>
          <a:xfrm>
            <a:off x="552450" y="1266825"/>
            <a:ext cx="990600" cy="47625"/>
          </a:xfrm>
          <a:prstGeom prst="rect">
            <a:avLst/>
          </a:prstGeom>
          <a:solidFill>
            <a:srgbClr val="0F6FC6"/>
          </a:solidFill>
          <a:ln/>
        </p:spPr>
      </p:sp>
      <p:sp>
        <p:nvSpPr>
          <p:cNvPr id="5" name="shape-28-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Reciprocal and non-reciprocal circuits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28</a:t>
            </a:r>
            <a:endParaRPr lang="en-US" sz="900" dirty="0"/>
          </a:p>
        </p:txBody>
      </p:sp>
      <p:sp>
        <p:nvSpPr>
          <p:cNvPr id="9" name="shape-28-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common-emitter amplifier modelled as r_π with a current-controlled current source β·i_b driving R_C.</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Forward: a signal at the base produces β·i_b through R_C — substantial gain</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Reverse: a signal applied at the collector finds no path that controls i_b</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dependent source transmits in one direction only</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Swapped excitation and response give completely different readings</a:t>
            </a:r>
            <a:endParaRPr lang="en-US" sz="1100" dirty="0"/>
          </a:p>
        </p:txBody>
      </p:sp>
      <p:sp>
        <p:nvSpPr>
          <p:cNvPr id="15" name="shape-28-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The network is non-reciprocal, and that asymmetry is precisely what makes it useful as an amplifier rather than a filter.</a:t>
            </a:r>
            <a:endParaRPr lang="en-US" sz="1100" dirty="0"/>
          </a:p>
        </p:txBody>
      </p:sp>
      <p:sp>
        <p:nvSpPr>
          <p:cNvPr id="17" name="shape-28-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forward : i_c = β·i_b        (gain)</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reverse : i_b ≠ f(i_c)       (no path)</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z₁₂ ≠ z₂₁  — non-reciprocal</a:t>
            </a:r>
            <a:endParaRPr lang="en-US" sz="1000" dirty="0"/>
          </a:p>
        </p:txBody>
      </p:sp>
      <p:sp>
        <p:nvSpPr>
          <p:cNvPr id="19" name="shape-28-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describe a network as non-reciprocal because it is asymmetric in layout. Physical asymmetry is irrelevant; an unbalanced but purely passive ladder is perfectly reciprocal. Only dependent sources and directional media break it.</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Network Analysis - A Simplified Approach (TB2, not supplied) - TB2 §4.9   |   CO2  |  Bloom L4</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Thévenin's theorem</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29-2"/>
          <p:cNvSpPr/>
          <p:nvPr/>
        </p:nvSpPr>
        <p:spPr>
          <a:xfrm>
            <a:off x="552450" y="1266825"/>
            <a:ext cx="990600" cy="47625"/>
          </a:xfrm>
          <a:prstGeom prst="rect">
            <a:avLst/>
          </a:prstGeom>
          <a:solidFill>
            <a:srgbClr val="0F6FC6"/>
          </a:solidFill>
          <a:ln/>
        </p:spPr>
      </p:sp>
      <p:sp>
        <p:nvSpPr>
          <p:cNvPr id="5" name="shape-29-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Thévenin's theorem</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29</a:t>
            </a:r>
            <a:endParaRPr lang="en-US" sz="900" dirty="0"/>
          </a:p>
        </p:txBody>
      </p:sp>
      <p:sp>
        <p:nvSpPr>
          <p:cNvPr id="9" name="shape-29-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Thévenin's theorem states that any linear two-terminal network may be replaced, as far as anything connected to those two terminals can tell, by a single voltage source V_th in series with a single resistance R_th. The theorem's power comes from what it does not require: the load may be nonlinear, time-varying, or completely unknown, because the linearity hypothesis applies only inside the port. This is what makes it the standard tool for repeated-load problems — compute the equivalent once, then sweep the load as many times as needed with a two-element circuit instead of the full network. The equivalent is exact at the terminals and says nothing whatever about internal currents or internal power.</a:t>
            </a:r>
            <a:endParaRPr lang="en-US" sz="1100" dirty="0"/>
          </a:p>
        </p:txBody>
      </p:sp>
      <p:sp>
        <p:nvSpPr>
          <p:cNvPr id="11" name="shape-29-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Thévenin equivalent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port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V_th</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R_th</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load independence</a:t>
            </a:r>
            <a:endParaRPr lang="en-US" sz="1100" dirty="0"/>
          </a:p>
        </p:txBody>
      </p:sp>
      <p:sp>
        <p:nvSpPr>
          <p:cNvPr id="13" name="shape-29-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Thévenin collapses everything behind a port into two numbers, and those two numbers are valid for any load you care to attach.</a:t>
            </a:r>
            <a:endParaRPr lang="en-US" sz="1100" dirty="0"/>
          </a:p>
        </p:txBody>
      </p:sp>
      <p:sp>
        <p:nvSpPr>
          <p:cNvPr id="15" name="shape-29-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Left: a complicated network drawn as a cloud containing several sources and resistors, with two terminals a and b protruding on the right and a load box R_L attached. A large arrow labelled "collapse" points r…</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5, pp. 141-152</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CO2  |  Bloom L3  |  visual id: thevenin-collapse</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Thévenin's theorem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30-2"/>
          <p:cNvSpPr/>
          <p:nvPr/>
        </p:nvSpPr>
        <p:spPr>
          <a:xfrm>
            <a:off x="552450" y="1266825"/>
            <a:ext cx="990600" cy="47625"/>
          </a:xfrm>
          <a:prstGeom prst="rect">
            <a:avLst/>
          </a:prstGeom>
          <a:solidFill>
            <a:srgbClr val="0F6FC6"/>
          </a:solidFill>
          <a:ln/>
        </p:spPr>
      </p:sp>
      <p:sp>
        <p:nvSpPr>
          <p:cNvPr id="5" name="shape-30-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Thévenin's theorem</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30</a:t>
            </a:r>
            <a:endParaRPr lang="en-US" sz="900" dirty="0"/>
          </a:p>
        </p:txBody>
      </p:sp>
      <p:sp>
        <p:nvSpPr>
          <p:cNvPr id="9" name="shape-30-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Identify the two terminals that define the port</a:t>
            </a:r>
            <a:endParaRPr lang="en-US" sz="1100" dirty="0"/>
          </a:p>
        </p:txBody>
      </p:sp>
      <p:sp>
        <p:nvSpPr>
          <p:cNvPr id="11" name="shape-30-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Detach the load at those terminals</a:t>
            </a:r>
            <a:endParaRPr lang="en-US" sz="1100" dirty="0"/>
          </a:p>
        </p:txBody>
      </p:sp>
      <p:sp>
        <p:nvSpPr>
          <p:cNvPr id="13" name="shape-30-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Find the open-circuit voltage across the terminals — this is V_th</a:t>
            </a:r>
            <a:endParaRPr lang="en-US" sz="1100" dirty="0"/>
          </a:p>
        </p:txBody>
      </p:sp>
      <p:sp>
        <p:nvSpPr>
          <p:cNvPr id="15" name="shape-30-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Find the resistance looking back into the terminals — this is R_th</a:t>
            </a:r>
            <a:endParaRPr lang="en-US" sz="1100" dirty="0"/>
          </a:p>
        </p:txBody>
      </p:sp>
      <p:sp>
        <p:nvSpPr>
          <p:cNvPr id="17" name="shape-30-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Redraw as V_th in series with R_th</a:t>
            </a:r>
            <a:endParaRPr lang="en-US" sz="1100" dirty="0"/>
          </a:p>
        </p:txBody>
      </p:sp>
      <p:sp>
        <p:nvSpPr>
          <p:cNvPr id="19" name="shape-30-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Reattach the load and solve the two-element circuit</a:t>
            </a:r>
            <a:endParaRPr lang="en-US" sz="1100" dirty="0"/>
          </a:p>
        </p:txBody>
      </p:sp>
      <p:sp>
        <p:nvSpPr>
          <p:cNvPr id="21" name="shape-30-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O(1) when the network is a simple divider</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two solves — one for V_th, one for R_th</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two full network solves, then O(1) per load value</a:t>
            </a:r>
            <a:endParaRPr lang="en-US" sz="1100" dirty="0"/>
          </a:p>
        </p:txBody>
      </p:sp>
      <p:sp>
        <p:nvSpPr>
          <p:cNvPr id="23" name="shape-30-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Break-even against direct analysis occurs at about three different load values.</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5, pp. 141-152   |   CO2  |  Bloom L3</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Thévenin's theorem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31-2"/>
          <p:cNvSpPr/>
          <p:nvPr/>
        </p:nvSpPr>
        <p:spPr>
          <a:xfrm>
            <a:off x="552450" y="1266825"/>
            <a:ext cx="990600" cy="47625"/>
          </a:xfrm>
          <a:prstGeom prst="rect">
            <a:avLst/>
          </a:prstGeom>
          <a:solidFill>
            <a:srgbClr val="0F6FC6"/>
          </a:solidFill>
          <a:ln/>
        </p:spPr>
      </p:sp>
      <p:sp>
        <p:nvSpPr>
          <p:cNvPr id="5" name="shape-31-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Thévenin's theorem</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31</a:t>
            </a:r>
            <a:endParaRPr lang="en-US" sz="900" dirty="0"/>
          </a:p>
        </p:txBody>
      </p:sp>
      <p:sp>
        <p:nvSpPr>
          <p:cNvPr id="9" name="shape-31-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12 V source in series with 4 kΩ, with 6 kΩ to ground, and the port taken across the 6 kΩ.</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Remove the load; V_th = 12 × 6/(4+6) = 7.2 V</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Deactivate the 12 V source (short it)</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Looking back: 4 kΩ ∥ 6 kΩ = 2.4 kΩ = R_th</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Equivalent: 7.2 V in series with 2.4 kΩ</a:t>
            </a:r>
            <a:endParaRPr lang="en-US" sz="1100" dirty="0"/>
          </a:p>
        </p:txBody>
      </p:sp>
      <p:sp>
        <p:nvSpPr>
          <p:cNvPr id="15" name="shape-31-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V_th = 7.2 V, R_th = 2.4 kΩ; attaching a 2.4 kΩ load now gives 3.6 V in one line instead of re-solving the divider.</a:t>
            </a:r>
            <a:endParaRPr lang="en-US" sz="1100" dirty="0"/>
          </a:p>
        </p:txBody>
      </p:sp>
      <p:sp>
        <p:nvSpPr>
          <p:cNvPr id="17" name="shape-31-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V_th = 12·6k/(4k+6k) = 7.2 V</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R_th = 4k ∥ 6k = 2.4 kΩ</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with R_L = 2.4k: v = 7.2/2 = 3.6 V</a:t>
            </a:r>
            <a:endParaRPr lang="en-US" sz="1000" dirty="0"/>
          </a:p>
        </p:txBody>
      </p:sp>
      <p:sp>
        <p:nvSpPr>
          <p:cNvPr id="19" name="shape-31-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compute V_th with the load still connected. The Thévenin voltage is by definition the open-circuit voltage; leaving the load in place loads the divider and produces a value that is always too low.</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5, pp. 141-152   |   CO2  |  Bloom L3</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Finding R_th: three methods and when each applies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32-2"/>
          <p:cNvSpPr/>
          <p:nvPr/>
        </p:nvSpPr>
        <p:spPr>
          <a:xfrm>
            <a:off x="552450" y="1266825"/>
            <a:ext cx="990600" cy="47625"/>
          </a:xfrm>
          <a:prstGeom prst="rect">
            <a:avLst/>
          </a:prstGeom>
          <a:solidFill>
            <a:srgbClr val="0F6FC6"/>
          </a:solidFill>
          <a:ln/>
        </p:spPr>
      </p:sp>
      <p:sp>
        <p:nvSpPr>
          <p:cNvPr id="5" name="shape-32-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Finding R_th: three methods and when…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32</a:t>
            </a:r>
            <a:endParaRPr lang="en-US" sz="900" dirty="0"/>
          </a:p>
        </p:txBody>
      </p:sp>
      <p:sp>
        <p:nvSpPr>
          <p:cNvPr id="9" name="shape-32-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There are three ways to find R_th and the choice is dictated by what the network contains. If the network has only independent sources, deactivate them all and reduce the remaining resistive network by series-parallel and delta-wye — the fastest route. If dependent sources are present, deactivation is not permitted, so instead apply a 1 V test source across the dead port, compute the resulting current, and take R_th = 1/I; this works in every case. The third method takes the ratio of open-circuit voltage to short-circuit current, R_th = V_oc/I_sc, which is convenient when both quantities are being computed anyway but fails when V_oc and I_sc are both zero. Networks with dependent sources can legitimately yield a negative R_th, which is a real effect and not an arithmetic error.</a:t>
            </a:r>
            <a:endParaRPr lang="en-US" sz="1100" dirty="0"/>
          </a:p>
        </p:txBody>
      </p:sp>
      <p:sp>
        <p:nvSpPr>
          <p:cNvPr id="11" name="shape-32-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look-back resistance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test source method</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open-circuit/short-circuit method</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negative resistance</a:t>
            </a:r>
            <a:endParaRPr lang="en-US" sz="1100" dirty="0"/>
          </a:p>
        </p:txBody>
      </p:sp>
      <p:sp>
        <p:nvSpPr>
          <p:cNvPr id="13" name="shape-32-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No dependent sources means look back and reduce; dependent sources means apply a test source — there is no third option that is always safe.</a:t>
            </a:r>
            <a:endParaRPr lang="en-US" sz="1100" dirty="0"/>
          </a:p>
        </p:txBody>
      </p:sp>
      <p:sp>
        <p:nvSpPr>
          <p:cNvPr id="15" name="shape-32-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decision diamond at the top reading "Dependent sources present?" with two branches. The "No" branch leads to a box "Deactivate all sources, reduce network" with a small series-parallel thumbnail. The "Yes" b…</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5, pp. 141-152</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CO2  |  Bloom L4  |  visual id: rth-three-routes</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Finding R_th: three methods and when each applies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33-2"/>
          <p:cNvSpPr/>
          <p:nvPr/>
        </p:nvSpPr>
        <p:spPr>
          <a:xfrm>
            <a:off x="552450" y="1266825"/>
            <a:ext cx="990600" cy="47625"/>
          </a:xfrm>
          <a:prstGeom prst="rect">
            <a:avLst/>
          </a:prstGeom>
          <a:solidFill>
            <a:srgbClr val="0F6FC6"/>
          </a:solidFill>
          <a:ln/>
        </p:spPr>
      </p:sp>
      <p:sp>
        <p:nvSpPr>
          <p:cNvPr id="5" name="shape-33-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Finding R_th: three methods and when…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33</a:t>
            </a:r>
            <a:endParaRPr lang="en-US" sz="900" dirty="0"/>
          </a:p>
        </p:txBody>
      </p:sp>
      <p:sp>
        <p:nvSpPr>
          <p:cNvPr id="9" name="shape-33-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Detach the load and inspect the network for dependent sources</a:t>
            </a:r>
            <a:endParaRPr lang="en-US" sz="1100" dirty="0"/>
          </a:p>
        </p:txBody>
      </p:sp>
      <p:sp>
        <p:nvSpPr>
          <p:cNvPr id="11" name="shape-33-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If none, deactivate every independent source and reduce the resistive network</a:t>
            </a:r>
            <a:endParaRPr lang="en-US" sz="1100" dirty="0"/>
          </a:p>
        </p:txBody>
      </p:sp>
      <p:sp>
        <p:nvSpPr>
          <p:cNvPr id="13" name="shape-33-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If any, leave all sources as drawn, deactivate only independent ones, and apply a 1 V test source at the port</a:t>
            </a:r>
            <a:endParaRPr lang="en-US" sz="1100" dirty="0"/>
          </a:p>
        </p:txBody>
      </p:sp>
      <p:sp>
        <p:nvSpPr>
          <p:cNvPr id="15" name="shape-33-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Compute the test current and take R_th = V_test / I_test</a:t>
            </a:r>
            <a:endParaRPr lang="en-US" sz="1100" dirty="0"/>
          </a:p>
        </p:txBody>
      </p:sp>
      <p:sp>
        <p:nvSpPr>
          <p:cNvPr id="17" name="shape-33-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Alternatively compute V_oc and I_sc and take their ratio</a:t>
            </a:r>
            <a:endParaRPr lang="en-US" sz="1100" dirty="0"/>
          </a:p>
        </p:txBody>
      </p:sp>
      <p:sp>
        <p:nvSpPr>
          <p:cNvPr id="19" name="shape-33-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Accept a negative R_th as a genuine result when dependent sources are present</a:t>
            </a:r>
            <a:endParaRPr lang="en-US" sz="1100" dirty="0"/>
          </a:p>
        </p:txBody>
      </p:sp>
      <p:sp>
        <p:nvSpPr>
          <p:cNvPr id="21" name="shape-33-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O(n) series-parallel reduction with independent sources only</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one extra network solve for the test-source method</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two solves for the V_oc/I_sc route</a:t>
            </a:r>
            <a:endParaRPr lang="en-US" sz="1100" dirty="0"/>
          </a:p>
        </p:txBody>
      </p:sp>
      <p:sp>
        <p:nvSpPr>
          <p:cNvPr id="23" name="shape-33-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The test-source method is the only one that never fails, which is why it is the fallback.</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5, pp. 141-152   |   CO2  |  Bloom L4</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Finding R_th: three methods and when each applies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34-2"/>
          <p:cNvSpPr/>
          <p:nvPr/>
        </p:nvSpPr>
        <p:spPr>
          <a:xfrm>
            <a:off x="552450" y="1266825"/>
            <a:ext cx="990600" cy="47625"/>
          </a:xfrm>
          <a:prstGeom prst="rect">
            <a:avLst/>
          </a:prstGeom>
          <a:solidFill>
            <a:srgbClr val="0F6FC6"/>
          </a:solidFill>
          <a:ln/>
        </p:spPr>
      </p:sp>
      <p:sp>
        <p:nvSpPr>
          <p:cNvPr id="5" name="shape-34-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Finding R_th: three methods and when…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34</a:t>
            </a:r>
            <a:endParaRPr lang="en-US" sz="900" dirty="0"/>
          </a:p>
        </p:txBody>
      </p:sp>
      <p:sp>
        <p:nvSpPr>
          <p:cNvPr id="9" name="shape-34-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port with a 2 kΩ resistor and a CCVS of 3000·i_x in series, where i_x is the port current itself.</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Dependent source present, so deactivation is not allowed</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Apply a 1 V test source: 1 = 2000·i_x + 3000·i_x</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i_x = 1/5000 = 0.2 mA</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R_th = 1 / 0.0002 = 5000 Ω</a:t>
            </a:r>
            <a:endParaRPr lang="en-US" sz="1100" dirty="0"/>
          </a:p>
        </p:txBody>
      </p:sp>
      <p:sp>
        <p:nvSpPr>
          <p:cNvPr id="15" name="shape-34-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R_th = 5 kΩ, not the 2 kΩ a naive deactivation would have given — the dependent source contributed 3 kΩ of apparent resistance.</a:t>
            </a:r>
            <a:endParaRPr lang="en-US" sz="1100" dirty="0"/>
          </a:p>
        </p:txBody>
      </p:sp>
      <p:sp>
        <p:nvSpPr>
          <p:cNvPr id="17" name="shape-34-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apply V_test = 1 V</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1 = 2000·i + 3000·i  ⇒ i = 0.2 mA</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R_th = V_test/i = 5 kΩ  (not 2 kΩ)</a:t>
            </a:r>
            <a:endParaRPr lang="en-US" sz="1000" dirty="0"/>
          </a:p>
        </p:txBody>
      </p:sp>
      <p:sp>
        <p:nvSpPr>
          <p:cNvPr id="19" name="shape-34-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deactivate dependent sources to make the look-back reduction work. In the worked example that shortcut gives 2 kΩ against a true 5 kΩ — a 60 % error, and the maximum-power load derived from it would be badly wrong.</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5, pp. 141-152   |   CO2  |  Bloom L4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Norton's theorem and Thévenin–Norton duality</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35-2"/>
          <p:cNvSpPr/>
          <p:nvPr/>
        </p:nvSpPr>
        <p:spPr>
          <a:xfrm>
            <a:off x="552450" y="1266825"/>
            <a:ext cx="990600" cy="47625"/>
          </a:xfrm>
          <a:prstGeom prst="rect">
            <a:avLst/>
          </a:prstGeom>
          <a:solidFill>
            <a:srgbClr val="0F6FC6"/>
          </a:solidFill>
          <a:ln/>
        </p:spPr>
      </p:sp>
      <p:sp>
        <p:nvSpPr>
          <p:cNvPr id="5" name="shape-35-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Norton's theorem and Thévenin–Norton…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35</a:t>
            </a:r>
            <a:endParaRPr lang="en-US" sz="900" dirty="0"/>
          </a:p>
        </p:txBody>
      </p:sp>
      <p:sp>
        <p:nvSpPr>
          <p:cNvPr id="9" name="shape-35-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Norton's theorem is the current-source dual of Thévenin's: any linear two-terminal network may be replaced by a current source I_N in parallel with a resistance R_N, where I_N is the short-circuit current at the port and R_N equals R_th. The two equivalents are related by exactly the source transformation of Module 1, V_th = I_N·R_th, so either can be derived from the other in one line. Which to use is a matter of the load topology rather than principle — a Thévenin form suits a load in series, a Norton form suits a load in parallel with other branches. Both are exact at the terminals and both are silent about anything inside.</a:t>
            </a:r>
            <a:endParaRPr lang="en-US" sz="1100" dirty="0"/>
          </a:p>
        </p:txBody>
      </p:sp>
      <p:sp>
        <p:nvSpPr>
          <p:cNvPr id="11" name="shape-35-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Norton equivalent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I_N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short-circuit current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duality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equivalence transformation</a:t>
            </a:r>
            <a:endParaRPr lang="en-US" sz="1100" dirty="0"/>
          </a:p>
        </p:txBody>
      </p:sp>
      <p:sp>
        <p:nvSpPr>
          <p:cNvPr id="13" name="shape-35-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Thévenin and Norton are the same two facts about a port written in two different notations; choose the one that matches the load.</a:t>
            </a:r>
            <a:endParaRPr lang="en-US" sz="1100" dirty="0"/>
          </a:p>
        </p:txBody>
      </p:sp>
      <p:sp>
        <p:nvSpPr>
          <p:cNvPr id="15" name="shape-35-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central vertical axis with the Thévenin form on the left — V_th in series with R_th, terminals a-b — and the Norton form on the right — I_N in parallel with R_N, terminals a-b. A double-headed horizontal arr…</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5, pp. 141-152</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CO2  |  Bloom L3  |  visual id: thevenin-norton-duality</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Norton's theorem and Thévenin–Norton duality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36-2"/>
          <p:cNvSpPr/>
          <p:nvPr/>
        </p:nvSpPr>
        <p:spPr>
          <a:xfrm>
            <a:off x="552450" y="1266825"/>
            <a:ext cx="990600" cy="47625"/>
          </a:xfrm>
          <a:prstGeom prst="rect">
            <a:avLst/>
          </a:prstGeom>
          <a:solidFill>
            <a:srgbClr val="0F6FC6"/>
          </a:solidFill>
          <a:ln/>
        </p:spPr>
      </p:sp>
      <p:sp>
        <p:nvSpPr>
          <p:cNvPr id="5" name="shape-36-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Norton's theorem and Thévenin–Norton…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36</a:t>
            </a:r>
            <a:endParaRPr lang="en-US" sz="900" dirty="0"/>
          </a:p>
        </p:txBody>
      </p:sp>
      <p:sp>
        <p:nvSpPr>
          <p:cNvPr id="9" name="shape-36-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Detach the load at the port</a:t>
            </a:r>
            <a:endParaRPr lang="en-US" sz="1100" dirty="0"/>
          </a:p>
        </p:txBody>
      </p:sp>
      <p:sp>
        <p:nvSpPr>
          <p:cNvPr id="11" name="shape-36-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Short the terminals and compute the short-circuit current — this is I_N</a:t>
            </a:r>
            <a:endParaRPr lang="en-US" sz="1100" dirty="0"/>
          </a:p>
        </p:txBody>
      </p:sp>
      <p:sp>
        <p:nvSpPr>
          <p:cNvPr id="13" name="shape-36-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Compute R_th by the appropriate method; R_N equals it</a:t>
            </a:r>
            <a:endParaRPr lang="en-US" sz="1100" dirty="0"/>
          </a:p>
        </p:txBody>
      </p:sp>
      <p:sp>
        <p:nvSpPr>
          <p:cNvPr id="15" name="shape-36-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Draw I_N in parallel with R_N</a:t>
            </a:r>
            <a:endParaRPr lang="en-US" sz="1100" dirty="0"/>
          </a:p>
        </p:txBody>
      </p:sp>
      <p:sp>
        <p:nvSpPr>
          <p:cNvPr id="17" name="shape-36-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Convert to Thévenin form when needed using V_th = I_N·R_th</a:t>
            </a:r>
            <a:endParaRPr lang="en-US" sz="1100" dirty="0"/>
          </a:p>
        </p:txBody>
      </p:sp>
      <p:sp>
        <p:nvSpPr>
          <p:cNvPr id="19" name="shape-36-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Reattach the load and solve</a:t>
            </a:r>
            <a:endParaRPr lang="en-US" sz="1100" dirty="0"/>
          </a:p>
        </p:txBody>
      </p:sp>
      <p:sp>
        <p:nvSpPr>
          <p:cNvPr id="21" name="shape-36-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O(1) conversion when the other equivalent is already known</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two solves, identical in cost to the Thévenin route</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two full network solves</a:t>
            </a:r>
            <a:endParaRPr lang="en-US" sz="1100" dirty="0"/>
          </a:p>
        </p:txBody>
      </p:sp>
      <p:sp>
        <p:nvSpPr>
          <p:cNvPr id="23" name="shape-36-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Never compute both from scratch — derive the second from the first.</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5, pp. 141-152   |   CO2  |  Bloom L3</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Norton's theorem and Thévenin–Norton duality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37-2"/>
          <p:cNvSpPr/>
          <p:nvPr/>
        </p:nvSpPr>
        <p:spPr>
          <a:xfrm>
            <a:off x="552450" y="1266825"/>
            <a:ext cx="990600" cy="47625"/>
          </a:xfrm>
          <a:prstGeom prst="rect">
            <a:avLst/>
          </a:prstGeom>
          <a:solidFill>
            <a:srgbClr val="0F6FC6"/>
          </a:solidFill>
          <a:ln/>
        </p:spPr>
      </p:sp>
      <p:sp>
        <p:nvSpPr>
          <p:cNvPr id="5" name="shape-37-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Norton's theorem and Thévenin–Norton…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37</a:t>
            </a:r>
            <a:endParaRPr lang="en-US" sz="900" dirty="0"/>
          </a:p>
        </p:txBody>
      </p:sp>
      <p:sp>
        <p:nvSpPr>
          <p:cNvPr id="9" name="shape-37-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port whose Thévenin equivalent is 7.2 V in series with 2.4 kΩ.</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I_N = V_th / R_th = 7.2 / 2400 = 3 mA</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R_N = R_th = 2.4 kΩ</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Norton form: 3 mA in parallel with 2.4 kΩ</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Check with a 2.4 kΩ load: current divides equally, load current = 1.5 mA, load voltage = 3.6 V</a:t>
            </a:r>
            <a:endParaRPr lang="en-US" sz="1100" dirty="0"/>
          </a:p>
        </p:txBody>
      </p:sp>
      <p:sp>
        <p:nvSpPr>
          <p:cNvPr id="15" name="shape-37-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Norton form is 3 mA ∥ 2.4 kΩ, and it reproduces the 3.6 V load voltage found from the Thévenin form, as it must.</a:t>
            </a:r>
            <a:endParaRPr lang="en-US" sz="1100" dirty="0"/>
          </a:p>
        </p:txBody>
      </p:sp>
      <p:sp>
        <p:nvSpPr>
          <p:cNvPr id="17" name="shape-37-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I_N = V_th/R_th = 7.2/2.4k = 3 mA</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R_N = R_th = 2.4 kΩ</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check R_L = 2.4k ⇒ I_L = 1.5 mA, v = 3.6 V ✓</a:t>
            </a:r>
            <a:endParaRPr lang="en-US" sz="1000" dirty="0"/>
          </a:p>
        </p:txBody>
      </p:sp>
      <p:sp>
        <p:nvSpPr>
          <p:cNvPr id="19" name="shape-37-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compute I_N by dividing V_th by the load resistance instead of by R_th. I_N is the short-circuit current at the port, a property of the network alone, and it must not involve the load in any way.</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5, pp. 141-152   |   CO2  |  Bloom L3</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maximum power transfer theorem</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38-2"/>
          <p:cNvSpPr/>
          <p:nvPr/>
        </p:nvSpPr>
        <p:spPr>
          <a:xfrm>
            <a:off x="552450" y="1266825"/>
            <a:ext cx="990600" cy="47625"/>
          </a:xfrm>
          <a:prstGeom prst="rect">
            <a:avLst/>
          </a:prstGeom>
          <a:solidFill>
            <a:srgbClr val="0F6FC6"/>
          </a:solidFill>
          <a:ln/>
        </p:spPr>
      </p:sp>
      <p:sp>
        <p:nvSpPr>
          <p:cNvPr id="5" name="shape-38-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maximum power transfer theorem</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38</a:t>
            </a:r>
            <a:endParaRPr lang="en-US" sz="900" dirty="0"/>
          </a:p>
        </p:txBody>
      </p:sp>
      <p:sp>
        <p:nvSpPr>
          <p:cNvPr id="9" name="shape-38-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Maximum power is delivered to a load when the load resistance equals the Thévenin resistance of the source network. The derivation is a single differentiation: p = V_th²·R_L/(R_th + R_L)², and setting dp/dR_L = 0 gives R_L = R_th, at which point p_max = V_th²/(4R_th). Two consequences are routinely missed. First, the optimum is flat — a load mismatched by a factor of two still delivers about 89 % of the maximum, which is why exact matching is rarely worth expensive components. Second, at the match exactly half the total power is dissipated inside the source, so efficiency is 50 %, and any design that values efficiency over delivered power must deliberately mismatch.</a:t>
            </a:r>
            <a:endParaRPr lang="en-US" sz="1100" dirty="0"/>
          </a:p>
        </p:txBody>
      </p:sp>
      <p:sp>
        <p:nvSpPr>
          <p:cNvPr id="11" name="shape-38-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matched load</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R_L = R_th</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power maximum</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flat optimum</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efficiency</a:t>
            </a:r>
            <a:endParaRPr lang="en-US" sz="1100" dirty="0"/>
          </a:p>
        </p:txBody>
      </p:sp>
      <p:sp>
        <p:nvSpPr>
          <p:cNvPr id="13" name="shape-38-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Matching maximises delivered power and caps efficiency at 50 % — those are two different design goals and you may only have one.</a:t>
            </a:r>
            <a:endParaRPr lang="en-US" sz="1100" dirty="0"/>
          </a:p>
        </p:txBody>
      </p:sp>
      <p:sp>
        <p:nvSpPr>
          <p:cNvPr id="15" name="shape-38-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curve of delivered power p against the ratio R_L/R_th on a logarithmic horizontal axis from 0.1 to 10. The curve rises to a broad rounded peak at ratio 1, marked with a vertical dashed line and the label p_m…</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5, pp. 152-154</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CO2  |  Bloom L4  |  visual id: max-power-curve</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maximum power transfer theorem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39-2"/>
          <p:cNvSpPr/>
          <p:nvPr/>
        </p:nvSpPr>
        <p:spPr>
          <a:xfrm>
            <a:off x="552450" y="1266825"/>
            <a:ext cx="990600" cy="47625"/>
          </a:xfrm>
          <a:prstGeom prst="rect">
            <a:avLst/>
          </a:prstGeom>
          <a:solidFill>
            <a:srgbClr val="0F6FC6"/>
          </a:solidFill>
          <a:ln/>
        </p:spPr>
      </p:sp>
      <p:sp>
        <p:nvSpPr>
          <p:cNvPr id="5" name="shape-39-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maximum power transfer theorem</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39</a:t>
            </a:r>
            <a:endParaRPr lang="en-US" sz="900" dirty="0"/>
          </a:p>
        </p:txBody>
      </p:sp>
      <p:sp>
        <p:nvSpPr>
          <p:cNvPr id="9" name="shape-39-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Find the Thévenin equivalent of the network feeding the load</a:t>
            </a:r>
            <a:endParaRPr lang="en-US" sz="1100" dirty="0"/>
          </a:p>
        </p:txBody>
      </p:sp>
      <p:sp>
        <p:nvSpPr>
          <p:cNvPr id="11" name="shape-39-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Set R_L = R_th for maximum delivered power</a:t>
            </a:r>
            <a:endParaRPr lang="en-US" sz="1100" dirty="0"/>
          </a:p>
        </p:txBody>
      </p:sp>
      <p:sp>
        <p:nvSpPr>
          <p:cNvPr id="13" name="shape-39-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Compute p_max = V_th² / (4·R_th)</a:t>
            </a:r>
            <a:endParaRPr lang="en-US" sz="1100" dirty="0"/>
          </a:p>
        </p:txBody>
      </p:sp>
      <p:sp>
        <p:nvSpPr>
          <p:cNvPr id="15" name="shape-39-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Check the efficiency: it is 50 % at the match, by construction</a:t>
            </a:r>
            <a:endParaRPr lang="en-US" sz="1100" dirty="0"/>
          </a:p>
        </p:txBody>
      </p:sp>
      <p:sp>
        <p:nvSpPr>
          <p:cNvPr id="17" name="shape-39-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If efficiency matters more than delivered power, choose R_L ≫ R_th instead</a:t>
            </a:r>
            <a:endParaRPr lang="en-US" sz="1100" dirty="0"/>
          </a:p>
        </p:txBody>
      </p:sp>
      <p:sp>
        <p:nvSpPr>
          <p:cNvPr id="19" name="shape-39-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For AC, match the complex conjugate: Z_L = Z_th*</a:t>
            </a:r>
            <a:endParaRPr lang="en-US" sz="1100" dirty="0"/>
          </a:p>
        </p:txBody>
      </p:sp>
      <p:sp>
        <p:nvSpPr>
          <p:cNvPr id="21" name="shape-39-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O(1) once the Thévenin equivalent is known</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cost of one Thévenin reduction plus one division</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full network reduction first</a:t>
            </a:r>
            <a:endParaRPr lang="en-US" sz="1100" dirty="0"/>
          </a:p>
        </p:txBody>
      </p:sp>
      <p:sp>
        <p:nvSpPr>
          <p:cNvPr id="23" name="shape-39-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The flatness of the optimum means a 2:1 component tolerance costs about 11 % of peak power.</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5, pp. 152-154   |   CO2  |  Bloom L4</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maximum power transfer theorem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40-2"/>
          <p:cNvSpPr/>
          <p:nvPr/>
        </p:nvSpPr>
        <p:spPr>
          <a:xfrm>
            <a:off x="552450" y="1266825"/>
            <a:ext cx="990600" cy="47625"/>
          </a:xfrm>
          <a:prstGeom prst="rect">
            <a:avLst/>
          </a:prstGeom>
          <a:solidFill>
            <a:srgbClr val="0F6FC6"/>
          </a:solidFill>
          <a:ln/>
        </p:spPr>
      </p:sp>
      <p:sp>
        <p:nvSpPr>
          <p:cNvPr id="5" name="shape-40-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maximum power transfer theorem</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40</a:t>
            </a:r>
            <a:endParaRPr lang="en-US" sz="900" dirty="0"/>
          </a:p>
        </p:txBody>
      </p:sp>
      <p:sp>
        <p:nvSpPr>
          <p:cNvPr id="9" name="shape-40-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source network with V_th = 12 V and R_th = 50 Ω.</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Matched load: R_L = 50 Ω</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p_max = 12² / (4 × 50) = 144/200 = 0.72 W</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Source dissipation at the match = also 0.72 W, so efficiency = 50 %</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Mismatch check at R_L = 100 Ω: p = 144 × 100/150² = 0.64 W, i.e. 89 % of peak</a:t>
            </a:r>
            <a:endParaRPr lang="en-US" sz="1100" dirty="0"/>
          </a:p>
        </p:txBody>
      </p:sp>
      <p:sp>
        <p:nvSpPr>
          <p:cNvPr id="15" name="shape-40-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p_max = 0.72 W at R_L = 50 Ω; doubling the load to 100 Ω still delivers 0.64 W but raises efficiency to 67 %.</a:t>
            </a:r>
            <a:endParaRPr lang="en-US" sz="1100" dirty="0"/>
          </a:p>
        </p:txBody>
      </p:sp>
      <p:sp>
        <p:nvSpPr>
          <p:cNvPr id="17" name="shape-40-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p(R_L) = V_th²·R_L/(R_th+R_L)²</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dp/dR_L = 0 ⇒ R_L = R_th</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p_max = 12²/(4·50) = 0.72 W,  η = 50%</a:t>
            </a:r>
            <a:endParaRPr lang="en-US" sz="1000" dirty="0"/>
          </a:p>
        </p:txBody>
      </p:sp>
      <p:sp>
        <p:nvSpPr>
          <p:cNvPr id="19" name="shape-40-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describe the matched condition as the most efficient operating point. It is the opposite — it is the point at which the source wastes as much power as it delivers, and power utilities deliberately operate at R_L ≫ R_th for exactly that reason.</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5, pp. 152-154   |   CO2  |  Bloom L4</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Case study: maximum power transfer in electronic systems design</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41-2"/>
          <p:cNvSpPr/>
          <p:nvPr/>
        </p:nvSpPr>
        <p:spPr>
          <a:xfrm>
            <a:off x="552450" y="1266825"/>
            <a:ext cx="990600" cy="47625"/>
          </a:xfrm>
          <a:prstGeom prst="rect">
            <a:avLst/>
          </a:prstGeom>
          <a:solidFill>
            <a:srgbClr val="0F6FC6"/>
          </a:solidFill>
          <a:ln/>
        </p:spPr>
      </p:sp>
      <p:sp>
        <p:nvSpPr>
          <p:cNvPr id="5" name="shape-41-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Case study: maximum power transfer in…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41</a:t>
            </a:r>
            <a:endParaRPr lang="en-US" sz="900" dirty="0"/>
          </a:p>
        </p:txBody>
      </p:sp>
      <p:sp>
        <p:nvSpPr>
          <p:cNvPr id="9" name="shape-41-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Real designs choose between three matching regimes according to what is scarce. In RF and transmission-line systems the load is matched to 50 Ω not for maximum power but to eliminate reflections, because a mismatch sends energy back down the line and corrupts the signal. In audio power stages the amplifier output impedance is deliberately made far smaller than the loudspeaker impedance, giving a high damping factor and good efficiency rather than maximum transferred power. In sensor front ends the amplifier input impedance is made far larger than the source impedance so that the measured voltage is not loaded down. Maximum power transfer is therefore the right criterion in only a minority of designs — typically small-signal antenna and transducer interfaces where the available signal power is the scarce resource.</a:t>
            </a:r>
            <a:endParaRPr lang="en-US" sz="1100" dirty="0"/>
          </a:p>
        </p:txBody>
      </p:sp>
      <p:sp>
        <p:nvSpPr>
          <p:cNvPr id="11" name="shape-41-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impedance matching</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audio power amplifier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RF 50 Ω system</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signal integrity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conjugate match</a:t>
            </a:r>
            <a:endParaRPr lang="en-US" sz="1100" dirty="0"/>
          </a:p>
        </p:txBody>
      </p:sp>
      <p:sp>
        <p:nvSpPr>
          <p:cNvPr id="13" name="shape-41-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Match for power when signal power is scarce, match for reflection when the line is long, and mismatch deliberately everywhere else.</a:t>
            </a:r>
            <a:endParaRPr lang="en-US" sz="1100" dirty="0"/>
          </a:p>
        </p:txBody>
      </p:sp>
      <p:sp>
        <p:nvSpPr>
          <p:cNvPr id="15" name="shape-41-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Three vertical panels. Panel 1 "RF / transmission line": a source, a length of line drawn as parallel rails, and a 50 Ω termination, with a reflected wave arrow shown bouncing back in red when the termination…</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5, pp. 152-154</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CO2  |  Bloom L5  |  visual id: matching-regimes-triptych</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Case study: maximum power transfer in electronic system…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42-2"/>
          <p:cNvSpPr/>
          <p:nvPr/>
        </p:nvSpPr>
        <p:spPr>
          <a:xfrm>
            <a:off x="552450" y="1266825"/>
            <a:ext cx="990600" cy="47625"/>
          </a:xfrm>
          <a:prstGeom prst="rect">
            <a:avLst/>
          </a:prstGeom>
          <a:solidFill>
            <a:srgbClr val="0F6FC6"/>
          </a:solidFill>
          <a:ln/>
        </p:spPr>
      </p:sp>
      <p:sp>
        <p:nvSpPr>
          <p:cNvPr id="5" name="shape-42-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Case study: maximum power transfer in…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42</a:t>
            </a:r>
            <a:endParaRPr lang="en-US" sz="900" dirty="0"/>
          </a:p>
        </p:txBody>
      </p:sp>
      <p:sp>
        <p:nvSpPr>
          <p:cNvPr id="9" name="shape-42-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Identify the scarce resource: signal power, efficiency, or signal fidelity</a:t>
            </a:r>
            <a:endParaRPr lang="en-US" sz="1100" dirty="0"/>
          </a:p>
        </p:txBody>
      </p:sp>
      <p:sp>
        <p:nvSpPr>
          <p:cNvPr id="11" name="shape-42-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If signal power is scarce, conjugate match Z_L = Z_th*</a:t>
            </a:r>
            <a:endParaRPr lang="en-US" sz="1100" dirty="0"/>
          </a:p>
        </p:txBody>
      </p:sp>
      <p:sp>
        <p:nvSpPr>
          <p:cNvPr id="13" name="shape-42-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If the interconnect is electrically long, match to the line impedance to prevent reflection</a:t>
            </a:r>
            <a:endParaRPr lang="en-US" sz="1100" dirty="0"/>
          </a:p>
        </p:txBody>
      </p:sp>
      <p:sp>
        <p:nvSpPr>
          <p:cNvPr id="15" name="shape-42-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If efficiency or damping matters, make R_out ≪ R_L</a:t>
            </a:r>
            <a:endParaRPr lang="en-US" sz="1100" dirty="0"/>
          </a:p>
        </p:txBody>
      </p:sp>
      <p:sp>
        <p:nvSpPr>
          <p:cNvPr id="17" name="shape-42-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If voltage fidelity matters, make R_in ≫ R_source</a:t>
            </a:r>
            <a:endParaRPr lang="en-US" sz="1100" dirty="0"/>
          </a:p>
        </p:txBody>
      </p:sp>
      <p:sp>
        <p:nvSpPr>
          <p:cNvPr id="19" name="shape-42-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State the chosen criterion explicitly in the design documentation</a:t>
            </a:r>
            <a:endParaRPr lang="en-US" sz="1100" dirty="0"/>
          </a:p>
        </p:txBody>
      </p:sp>
      <p:sp>
        <p:nvSpPr>
          <p:cNvPr id="21" name="shape-42-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one matching network for a single frequency</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a matching network per band of interest</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broadband matching, which trades bandwidth against match quality</a:t>
            </a:r>
            <a:endParaRPr lang="en-US" sz="1100" dirty="0"/>
          </a:p>
        </p:txBody>
      </p:sp>
      <p:sp>
        <p:nvSpPr>
          <p:cNvPr id="23" name="shape-42-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Matching is inherently frequency-dependent; a match at one frequency is a mismatch at another.</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5, pp. 152-154   |   CO2  |  Bloom L5</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Case study: maximum power transfer in electronic system…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43-2"/>
          <p:cNvSpPr/>
          <p:nvPr/>
        </p:nvSpPr>
        <p:spPr>
          <a:xfrm>
            <a:off x="552450" y="1266825"/>
            <a:ext cx="990600" cy="47625"/>
          </a:xfrm>
          <a:prstGeom prst="rect">
            <a:avLst/>
          </a:prstGeom>
          <a:solidFill>
            <a:srgbClr val="0F6FC6"/>
          </a:solidFill>
          <a:ln/>
        </p:spPr>
      </p:sp>
      <p:sp>
        <p:nvSpPr>
          <p:cNvPr id="5" name="shape-43-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Case study: maximum power transfer in…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43</a:t>
            </a:r>
            <a:endParaRPr lang="en-US" sz="900" dirty="0"/>
          </a:p>
        </p:txBody>
      </p:sp>
      <p:sp>
        <p:nvSpPr>
          <p:cNvPr id="9" name="shape-43-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An antenna with source impedance 50 + j30 Ω feeding a receiver front end.</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Signal power from an antenna is the scarce resource, so match for maximum power</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Conjugate match requires Z_L = 50 − j30 Ω</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−j30 cancels the antenna reactance, leaving a purely resistive 100 Ω loop</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Delivered power = |V_th|²/(4 × 50), the maximum available</a:t>
            </a:r>
            <a:endParaRPr lang="en-US" sz="1100" dirty="0"/>
          </a:p>
        </p:txBody>
      </p:sp>
      <p:sp>
        <p:nvSpPr>
          <p:cNvPr id="15" name="shape-43-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A 50 − j30 Ω input presents the conjugate match and extracts the maximum available signal power; a plain 50 Ω resistive input would lose power to the uncancelled reactance.</a:t>
            </a:r>
            <a:endParaRPr lang="en-US" sz="1100" dirty="0"/>
          </a:p>
        </p:txBody>
      </p:sp>
      <p:sp>
        <p:nvSpPr>
          <p:cNvPr id="17" name="shape-43-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Z_th = 50 + j30 Ω</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Z_L  = Z_th* = 50 − j30 Ω</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loop = 100 Ω purely real ⇒ p = |V_th|²/(4·50)</a:t>
            </a:r>
            <a:endParaRPr lang="en-US" sz="1000" dirty="0"/>
          </a:p>
        </p:txBody>
      </p:sp>
      <p:sp>
        <p:nvSpPr>
          <p:cNvPr id="19" name="shape-43-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match the magnitude of the impedance instead of taking the complex conjugate. Setting |Z_L| = |Z_th| leaves the reactances adding rather than cancelling, and the delivered power falls well short of the available maximum.</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5, pp. 152-154   |   CO2  |  Bloom L5</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Network theorems in the phasor domain</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44-2"/>
          <p:cNvSpPr/>
          <p:nvPr/>
        </p:nvSpPr>
        <p:spPr>
          <a:xfrm>
            <a:off x="552450" y="1266825"/>
            <a:ext cx="990600" cy="47625"/>
          </a:xfrm>
          <a:prstGeom prst="rect">
            <a:avLst/>
          </a:prstGeom>
          <a:solidFill>
            <a:srgbClr val="0F6FC6"/>
          </a:solidFill>
          <a:ln/>
        </p:spPr>
      </p:sp>
      <p:sp>
        <p:nvSpPr>
          <p:cNvPr id="5" name="shape-44-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Network theorems in the phasor domain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44</a:t>
            </a:r>
            <a:endParaRPr lang="en-US" sz="900" dirty="0"/>
          </a:p>
        </p:txBody>
      </p:sp>
      <p:sp>
        <p:nvSpPr>
          <p:cNvPr id="9" name="shape-44-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Every theorem in this module transfers to sinusoidal steady state by a single substitution: resistance becomes impedance and real arithmetic becomes complex arithmetic. Superposition applies to phasors at a common frequency and to time-domain waveforms across frequencies. Thévenin yields V_th as a phasor and Z_th as a complex impedance, found by the same three methods as before. Source transformation becomes V_th = I_N·Z_th. The single genuine modification is maximum power transfer, where the optimum is the conjugate Z_L = Z_th* rather than Z_L = Z_th, because the load reactance must cancel the source reactance before the resistive match can do its work.</a:t>
            </a:r>
            <a:endParaRPr lang="en-US" sz="1100" dirty="0"/>
          </a:p>
        </p:txBody>
      </p:sp>
      <p:sp>
        <p:nvSpPr>
          <p:cNvPr id="11" name="shape-44-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phasor superposition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Thévenin impedance Z_th</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complex source transformation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AC theorem transfer</a:t>
            </a:r>
            <a:endParaRPr lang="en-US" sz="1100" dirty="0"/>
          </a:p>
        </p:txBody>
      </p:sp>
      <p:sp>
        <p:nvSpPr>
          <p:cNvPr id="13" name="shape-44-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All the DC theorems survive into AC unchanged except maximum power transfer, which becomes a conjugate match.</a:t>
            </a:r>
            <a:endParaRPr lang="en-US" sz="1100" dirty="0"/>
          </a:p>
        </p:txBody>
      </p:sp>
      <p:sp>
        <p:nvSpPr>
          <p:cNvPr id="15" name="shape-44-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bridge spanning two banks. Left bank labelled "DC" carries four tiles: Superposition, Thévenin, Norton, Max power. Right bank labelled "AC (phasor)" carries four matching tiles. Three of the four pairs are j…</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10, pp. 397-406</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CO2  |  Bloom L4  |  visual id: theorem-transfer-bridge</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Network theorems in the phasor domain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45-2"/>
          <p:cNvSpPr/>
          <p:nvPr/>
        </p:nvSpPr>
        <p:spPr>
          <a:xfrm>
            <a:off x="552450" y="1266825"/>
            <a:ext cx="990600" cy="47625"/>
          </a:xfrm>
          <a:prstGeom prst="rect">
            <a:avLst/>
          </a:prstGeom>
          <a:solidFill>
            <a:srgbClr val="0F6FC6"/>
          </a:solidFill>
          <a:ln/>
        </p:spPr>
      </p:sp>
      <p:sp>
        <p:nvSpPr>
          <p:cNvPr id="5" name="shape-45-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Network theorems in the phasor domain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45</a:t>
            </a:r>
            <a:endParaRPr lang="en-US" sz="900" dirty="0"/>
          </a:p>
        </p:txBody>
      </p:sp>
      <p:sp>
        <p:nvSpPr>
          <p:cNvPr id="9" name="shape-45-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Convert every source to a phasor and every element to an impedance</a:t>
            </a:r>
            <a:endParaRPr lang="en-US" sz="1100" dirty="0"/>
          </a:p>
        </p:txBody>
      </p:sp>
      <p:sp>
        <p:nvSpPr>
          <p:cNvPr id="11" name="shape-45-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Apply the required theorem with resistance replaced by impedance</a:t>
            </a:r>
            <a:endParaRPr lang="en-US" sz="1100" dirty="0"/>
          </a:p>
        </p:txBody>
      </p:sp>
      <p:sp>
        <p:nvSpPr>
          <p:cNvPr id="13" name="shape-45-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For superposition across different frequencies, recombine only in the time domain</a:t>
            </a:r>
            <a:endParaRPr lang="en-US" sz="1100" dirty="0"/>
          </a:p>
        </p:txBody>
      </p:sp>
      <p:sp>
        <p:nvSpPr>
          <p:cNvPr id="15" name="shape-45-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For Thévenin, compute V_th as a phasor and Z_th by test source or look-back</a:t>
            </a:r>
            <a:endParaRPr lang="en-US" sz="1100" dirty="0"/>
          </a:p>
        </p:txBody>
      </p:sp>
      <p:sp>
        <p:nvSpPr>
          <p:cNvPr id="17" name="shape-45-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For maximum power, use the conjugate Z_L = Z_th*</a:t>
            </a:r>
            <a:endParaRPr lang="en-US" sz="1100" dirty="0"/>
          </a:p>
        </p:txBody>
      </p:sp>
      <p:sp>
        <p:nvSpPr>
          <p:cNvPr id="19" name="shape-45-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Convert the final phasor answers back to the time domain</a:t>
            </a:r>
            <a:endParaRPr lang="en-US" sz="1100" dirty="0"/>
          </a:p>
        </p:txBody>
      </p:sp>
      <p:sp>
        <p:nvSpPr>
          <p:cNvPr id="21" name="shape-45-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identical structure to the DC case</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about four times the arithmetic of the real case</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one full solve per frequency in a multi-frequency problem</a:t>
            </a:r>
            <a:endParaRPr lang="en-US" sz="1100" dirty="0"/>
          </a:p>
        </p:txBody>
      </p:sp>
      <p:sp>
        <p:nvSpPr>
          <p:cNvPr id="23" name="shape-45-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No new theory is introduced; all the additional cost is complex arithmetic.</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10, pp. 397-406   |   CO2  |  Bloom L4</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Network theorems in the phasor domain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46-2"/>
          <p:cNvSpPr/>
          <p:nvPr/>
        </p:nvSpPr>
        <p:spPr>
          <a:xfrm>
            <a:off x="552450" y="1266825"/>
            <a:ext cx="990600" cy="47625"/>
          </a:xfrm>
          <a:prstGeom prst="rect">
            <a:avLst/>
          </a:prstGeom>
          <a:solidFill>
            <a:srgbClr val="0F6FC6"/>
          </a:solidFill>
          <a:ln/>
        </p:spPr>
      </p:sp>
      <p:sp>
        <p:nvSpPr>
          <p:cNvPr id="5" name="shape-46-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Network theorems in the phasor domain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46</a:t>
            </a:r>
            <a:endParaRPr lang="en-US" sz="900" dirty="0"/>
          </a:p>
        </p:txBody>
      </p:sp>
      <p:sp>
        <p:nvSpPr>
          <p:cNvPr id="9" name="shape-46-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source 20∠0° V with Z_th = 30 + j40 Ω, delivering to a load chosen for maximum power.</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Conjugate match: Z_L = 30 − j40 Ω</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Loop impedance = 60 + j0 = 60 Ω purely resistive</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 = 20∠0°/60 = 0.3333∠0° A</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p_L = |I|²·Re{Z_L} = 0.1111 × 30 = 3.33 W, matching V_th²/(4·R_th) = 400/120 = 3.33 W</a:t>
            </a:r>
            <a:endParaRPr lang="en-US" sz="1100" dirty="0"/>
          </a:p>
        </p:txBody>
      </p:sp>
      <p:sp>
        <p:nvSpPr>
          <p:cNvPr id="15" name="shape-46-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Maximum delivered power is 3.33 W with Z_L = 30 − j40 Ω; the two independent routes to the same number confirm the conjugate rule.</a:t>
            </a:r>
            <a:endParaRPr lang="en-US" sz="1100" dirty="0"/>
          </a:p>
        </p:txBody>
      </p:sp>
      <p:sp>
        <p:nvSpPr>
          <p:cNvPr id="17" name="shape-46-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Z_L = Z_th* = 30 − j40 Ω</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I = 20∠0°/(60) = 0.333 A</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p = |I|²·30 = 3.33 W = |V_th|²/(4·30) ✓</a:t>
            </a:r>
            <a:endParaRPr lang="en-US" sz="1000" dirty="0"/>
          </a:p>
        </p:txBody>
      </p:sp>
      <p:sp>
        <p:nvSpPr>
          <p:cNvPr id="19" name="shape-46-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carry the DC rule R_L = R_th straight into AC and set Z_L = Z_th. That leaves the total loop reactance at 2X instead of zero, and the delivered power drops well below the achievable maximum.</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10, pp. 397-406   |   CO2  |  Bloom L4</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Choosing between theorems: a decision procedure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47-2"/>
          <p:cNvSpPr/>
          <p:nvPr/>
        </p:nvSpPr>
        <p:spPr>
          <a:xfrm>
            <a:off x="552450" y="1266825"/>
            <a:ext cx="990600" cy="47625"/>
          </a:xfrm>
          <a:prstGeom prst="rect">
            <a:avLst/>
          </a:prstGeom>
          <a:solidFill>
            <a:srgbClr val="0F6FC6"/>
          </a:solidFill>
          <a:ln/>
        </p:spPr>
      </p:sp>
      <p:sp>
        <p:nvSpPr>
          <p:cNvPr id="5" name="shape-47-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Choosing between theorems: a decision…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47</a:t>
            </a:r>
            <a:endParaRPr lang="en-US" sz="900" dirty="0"/>
          </a:p>
        </p:txBody>
      </p:sp>
      <p:sp>
        <p:nvSpPr>
          <p:cNvPr id="9" name="shape-47-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The theorems are not interchangeable and choosing badly costs more work than it saves. Use Thévenin or Norton when one load is going to be varied repeatedly, because the equivalent is computed once and reused. Use superposition when the question asks which source is responsible for an observed output, or when sources operate at different frequencies and no other method applies. Use reciprocity to halve the work when a passive network is to be measured or driven from two different ports. Use straightforward nodal or mesh analysis when all branch quantities are wanted at once, since every theorem here gives a single answer at a single point and would have to be repeated for every other branch.</a:t>
            </a:r>
            <a:endParaRPr lang="en-US" sz="1100" dirty="0"/>
          </a:p>
        </p:txBody>
      </p:sp>
      <p:sp>
        <p:nvSpPr>
          <p:cNvPr id="11" name="shape-47-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method selection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repeated load</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attribution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equation economy</a:t>
            </a:r>
            <a:endParaRPr lang="en-US" sz="1100" dirty="0"/>
          </a:p>
        </p:txBody>
      </p:sp>
      <p:sp>
        <p:nvSpPr>
          <p:cNvPr id="13" name="shape-47-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Pick the theorem by what the question asks for, not by what is easiest to recall.</a:t>
            </a:r>
            <a:endParaRPr lang="en-US" sz="1100" dirty="0"/>
          </a:p>
        </p:txBody>
      </p:sp>
      <p:sp>
        <p:nvSpPr>
          <p:cNvPr id="15" name="shape-47-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decision tree flowing top to bottom. Root: "What does the question ask?". Four branches: "One load, many values" → leaf "Thévenin / Norton"; "Which source caused this?" → leaf "Superposition"; "Different fre…</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5, pp. 123-154</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CO2  |  Bloom L5  |  visual id: theorem-decision-tree</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Choosing between theorems: a decision procedure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48-2"/>
          <p:cNvSpPr/>
          <p:nvPr/>
        </p:nvSpPr>
        <p:spPr>
          <a:xfrm>
            <a:off x="552450" y="1266825"/>
            <a:ext cx="990600" cy="47625"/>
          </a:xfrm>
          <a:prstGeom prst="rect">
            <a:avLst/>
          </a:prstGeom>
          <a:solidFill>
            <a:srgbClr val="0F6FC6"/>
          </a:solidFill>
          <a:ln/>
        </p:spPr>
      </p:sp>
      <p:sp>
        <p:nvSpPr>
          <p:cNvPr id="5" name="shape-48-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Choosing between theorems: a decision…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48</a:t>
            </a:r>
            <a:endParaRPr lang="en-US" sz="900" dirty="0"/>
          </a:p>
        </p:txBody>
      </p:sp>
      <p:sp>
        <p:nvSpPr>
          <p:cNvPr id="9" name="shape-48-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Read the question and identify the single quantity actually required</a:t>
            </a:r>
            <a:endParaRPr lang="en-US" sz="1100" dirty="0"/>
          </a:p>
        </p:txBody>
      </p:sp>
      <p:sp>
        <p:nvSpPr>
          <p:cNvPr id="11" name="shape-48-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If a load will be swept, build a Thévenin or Norton equivalent</a:t>
            </a:r>
            <a:endParaRPr lang="en-US" sz="1100" dirty="0"/>
          </a:p>
        </p:txBody>
      </p:sp>
      <p:sp>
        <p:nvSpPr>
          <p:cNvPr id="13" name="shape-48-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If attribution across sources is wanted, use superposition</a:t>
            </a:r>
            <a:endParaRPr lang="en-US" sz="1100" dirty="0"/>
          </a:p>
        </p:txBody>
      </p:sp>
      <p:sp>
        <p:nvSpPr>
          <p:cNvPr id="15" name="shape-48-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If sources differ in frequency, superposition is mandatory</a:t>
            </a:r>
            <a:endParaRPr lang="en-US" sz="1100" dirty="0"/>
          </a:p>
        </p:txBody>
      </p:sp>
      <p:sp>
        <p:nvSpPr>
          <p:cNvPr id="17" name="shape-48-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If the network is passive and two ports are involved, consider reciprocity</a:t>
            </a:r>
            <a:endParaRPr lang="en-US" sz="1100" dirty="0"/>
          </a:p>
        </p:txBody>
      </p:sp>
      <p:sp>
        <p:nvSpPr>
          <p:cNvPr id="19" name="shape-48-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If every branch quantity is wanted, use nodal or mesh analysis directly</a:t>
            </a:r>
            <a:endParaRPr lang="en-US" sz="1100" dirty="0"/>
          </a:p>
        </p:txBody>
      </p:sp>
      <p:sp>
        <p:nvSpPr>
          <p:cNvPr id="21" name="shape-48-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1 solve with the right choice</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2 solves for an equivalent-based route</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k solves when superposition is applied to a k-source problem that only needed one nodal analysis</a:t>
            </a:r>
            <a:endParaRPr lang="en-US" sz="1100" dirty="0"/>
          </a:p>
        </p:txBody>
      </p:sp>
      <p:sp>
        <p:nvSpPr>
          <p:cNvPr id="23" name="shape-48-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The worst case is entirely self-inflicted and is the most common exam time loss.</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5, pp. 123-154   |   CO2  |  Bloom L5</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Choosing between theorems: a decision procedure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49-2"/>
          <p:cNvSpPr/>
          <p:nvPr/>
        </p:nvSpPr>
        <p:spPr>
          <a:xfrm>
            <a:off x="552450" y="1266825"/>
            <a:ext cx="990600" cy="47625"/>
          </a:xfrm>
          <a:prstGeom prst="rect">
            <a:avLst/>
          </a:prstGeom>
          <a:solidFill>
            <a:srgbClr val="0F6FC6"/>
          </a:solidFill>
          <a:ln/>
        </p:spPr>
      </p:sp>
      <p:sp>
        <p:nvSpPr>
          <p:cNvPr id="5" name="shape-49-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Choosing between theorems: a decision…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49</a:t>
            </a:r>
            <a:endParaRPr lang="en-US" sz="900" dirty="0"/>
          </a:p>
        </p:txBody>
      </p:sp>
      <p:sp>
        <p:nvSpPr>
          <p:cNvPr id="9" name="shape-49-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question asks for the power in a load resistor as the load is stepped through 1 kΩ, 2 kΩ and 5 kΩ.</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load is being swept, so an equivalent is the right tool</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Compute V_th and R_th once: two network solves</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Each load value now costs one divider calculation</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Total: 2 solves plus 3 trivial evaluations, against 3 full network solves the direct way</a:t>
            </a:r>
            <a:endParaRPr lang="en-US" sz="1100" dirty="0"/>
          </a:p>
        </p:txBody>
      </p:sp>
      <p:sp>
        <p:nvSpPr>
          <p:cNvPr id="15" name="shape-49-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The Thévenin route is cheaper from the second load value onward, and the margin widens with every additional value requested.</a:t>
            </a:r>
            <a:endParaRPr lang="en-US" sz="1100" dirty="0"/>
          </a:p>
        </p:txBody>
      </p:sp>
      <p:sp>
        <p:nvSpPr>
          <p:cNvPr id="17" name="shape-49-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direct    : 3 full solves</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Thévenin  : 2 solves + 3 dividers</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break-even at 3 load values</a:t>
            </a:r>
            <a:endParaRPr lang="en-US" sz="1000" dirty="0"/>
          </a:p>
        </p:txBody>
      </p:sp>
      <p:sp>
        <p:nvSpPr>
          <p:cNvPr id="19" name="shape-49-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reach for superposition on every multi-source problem because it is the theorem they learned first. If the question wants all the branch currents, superposition requires a full solve per source and then a recombination per branch — several times the work of one nodal analysis.</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5, pp. 123-154   |   CO2  |  Bloom L5</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Verifying a theorem result</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50-2"/>
          <p:cNvSpPr/>
          <p:nvPr/>
        </p:nvSpPr>
        <p:spPr>
          <a:xfrm>
            <a:off x="552450" y="1266825"/>
            <a:ext cx="990600" cy="47625"/>
          </a:xfrm>
          <a:prstGeom prst="rect">
            <a:avLst/>
          </a:prstGeom>
          <a:solidFill>
            <a:srgbClr val="0F6FC6"/>
          </a:solidFill>
          <a:ln/>
        </p:spPr>
      </p:sp>
      <p:sp>
        <p:nvSpPr>
          <p:cNvPr id="5" name="shape-50-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Verifying a theorem result</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50</a:t>
            </a:r>
            <a:endParaRPr lang="en-US" sz="900" dirty="0"/>
          </a:p>
        </p:txBody>
      </p:sp>
      <p:sp>
        <p:nvSpPr>
          <p:cNvPr id="9" name="shape-50-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Every theorem result should be checked, because the failure modes of these methods are silent — a wrong R_th produces a plausible number rather than an obvious contradiction. Three cheap checks catch most errors. A power balance confirms that the total power supplied by the sources equals the total dissipated, computed from the final total responses rather than any partial ones. A limiting case substitutes an extreme load: an open circuit must give V_th at the terminals and a short must give I_N. An independent recomputation by a different route — nodal analysis for a result obtained by Thévenin — is the most expensive check and the most conclusive.</a:t>
            </a:r>
            <a:endParaRPr lang="en-US" sz="1100" dirty="0"/>
          </a:p>
        </p:txBody>
      </p:sp>
      <p:sp>
        <p:nvSpPr>
          <p:cNvPr id="11" name="shape-50-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sanity check</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power balance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limiting case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independent recomputation</a:t>
            </a:r>
            <a:endParaRPr lang="en-US" sz="1100" dirty="0"/>
          </a:p>
        </p:txBody>
      </p:sp>
      <p:sp>
        <p:nvSpPr>
          <p:cNvPr id="13" name="shape-50-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theorem result that has not been checked against a limiting case is a guess with arithmetic attached.</a:t>
            </a:r>
            <a:endParaRPr lang="en-US" sz="1100" dirty="0"/>
          </a:p>
        </p:txBody>
      </p:sp>
      <p:sp>
        <p:nvSpPr>
          <p:cNvPr id="15" name="shape-50-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Three check cards arranged in a row, each with a magnifier icon. Card 1 "Power balance": a small bar chart with a supplied bar and a dissipated bar of equal height, joined by an equals sign. Card 2 "Limiting c…</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5, pp. 141-152</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CO2  |  Bloom L5  |  visual id: verification-three-checks</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Verifying a theorem result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51-2"/>
          <p:cNvSpPr/>
          <p:nvPr/>
        </p:nvSpPr>
        <p:spPr>
          <a:xfrm>
            <a:off x="552450" y="1266825"/>
            <a:ext cx="990600" cy="47625"/>
          </a:xfrm>
          <a:prstGeom prst="rect">
            <a:avLst/>
          </a:prstGeom>
          <a:solidFill>
            <a:srgbClr val="0F6FC6"/>
          </a:solidFill>
          <a:ln/>
        </p:spPr>
      </p:sp>
      <p:sp>
        <p:nvSpPr>
          <p:cNvPr id="5" name="shape-51-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Verifying a theorem result</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51</a:t>
            </a:r>
            <a:endParaRPr lang="en-US" sz="900" dirty="0"/>
          </a:p>
        </p:txBody>
      </p:sp>
      <p:sp>
        <p:nvSpPr>
          <p:cNvPr id="9" name="shape-51-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Compute the total response first, never from partial responses</a:t>
            </a:r>
            <a:endParaRPr lang="en-US" sz="1100" dirty="0"/>
          </a:p>
        </p:txBody>
      </p:sp>
      <p:sp>
        <p:nvSpPr>
          <p:cNvPr id="11" name="shape-51-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Sum the power supplied by all sources and the power dissipated in all resistors</a:t>
            </a:r>
            <a:endParaRPr lang="en-US" sz="1100" dirty="0"/>
          </a:p>
        </p:txBody>
      </p:sp>
      <p:sp>
        <p:nvSpPr>
          <p:cNvPr id="13" name="shape-51-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Confirm the two sums agree within rounding</a:t>
            </a:r>
            <a:endParaRPr lang="en-US" sz="1100" dirty="0"/>
          </a:p>
        </p:txBody>
      </p:sp>
      <p:sp>
        <p:nvSpPr>
          <p:cNvPr id="15" name="shape-51-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Substitute an open-circuit load and confirm the terminal voltage equals V_th</a:t>
            </a:r>
            <a:endParaRPr lang="en-US" sz="1100" dirty="0"/>
          </a:p>
        </p:txBody>
      </p:sp>
      <p:sp>
        <p:nvSpPr>
          <p:cNvPr id="17" name="shape-51-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Substitute a short-circuit load and confirm the current equals I_N</a:t>
            </a:r>
            <a:endParaRPr lang="en-US" sz="1100" dirty="0"/>
          </a:p>
        </p:txBody>
      </p:sp>
      <p:sp>
        <p:nvSpPr>
          <p:cNvPr id="19" name="shape-51-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If time allows, recompute by an unrelated method</a:t>
            </a:r>
            <a:endParaRPr lang="en-US" sz="1100" dirty="0"/>
          </a:p>
        </p:txBody>
      </p:sp>
      <p:sp>
        <p:nvSpPr>
          <p:cNvPr id="21" name="shape-51-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O(1) for a limiting-case check</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O(n) for a power balance over n elements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a second full solve for an independent recomputation</a:t>
            </a:r>
            <a:endParaRPr lang="en-US" sz="1100" dirty="0"/>
          </a:p>
        </p:txBody>
      </p:sp>
      <p:sp>
        <p:nvSpPr>
          <p:cNvPr id="23" name="shape-51-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The limiting-case check costs almost nothing and catches the majority of R_th errors.</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5, pp. 141-152   |   CO2  |  Bloom L5</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Verifying a theorem result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52-2"/>
          <p:cNvSpPr/>
          <p:nvPr/>
        </p:nvSpPr>
        <p:spPr>
          <a:xfrm>
            <a:off x="552450" y="1266825"/>
            <a:ext cx="990600" cy="47625"/>
          </a:xfrm>
          <a:prstGeom prst="rect">
            <a:avLst/>
          </a:prstGeom>
          <a:solidFill>
            <a:srgbClr val="0F6FC6"/>
          </a:solidFill>
          <a:ln/>
        </p:spPr>
      </p:sp>
      <p:sp>
        <p:nvSpPr>
          <p:cNvPr id="5" name="shape-52-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Verifying a theorem result</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52</a:t>
            </a:r>
            <a:endParaRPr lang="en-US" sz="900" dirty="0"/>
          </a:p>
        </p:txBody>
      </p:sp>
      <p:sp>
        <p:nvSpPr>
          <p:cNvPr id="9" name="shape-52-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claimed equivalent of V_th = 7.2 V, R_th = 2.4 kΩ for the divider of an earlier unit.</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Open-circuit check: equivalent gives 7.2 V; original divider gives 12 × 6/10 = 7.2 V — agrees</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Short-circuit check: equivalent gives 7.2/2400 = 3 mA</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Original with terminals shorted: the 6 kΩ is bypassed, so I = 12/4000 = 3 mA — agrees</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Both limiting cases match, so V_th and R_th are jointly confirmed</a:t>
            </a:r>
            <a:endParaRPr lang="en-US" sz="1100" dirty="0"/>
          </a:p>
        </p:txBody>
      </p:sp>
      <p:sp>
        <p:nvSpPr>
          <p:cNvPr id="15" name="shape-52-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Both limits agree, which pins down both parameters — a single limiting case would have confirmed only one of them.</a:t>
            </a:r>
            <a:endParaRPr lang="en-US" sz="1100" dirty="0"/>
          </a:p>
        </p:txBody>
      </p:sp>
      <p:sp>
        <p:nvSpPr>
          <p:cNvPr id="17" name="shape-52-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open : 7.2 V  vs  12·6k/10k = 7.2 V ✓</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short: 7.2/2.4k = 3 mA  vs  12/4k = 3 mA ✓</a:t>
            </a:r>
            <a:endParaRPr lang="en-US" sz="1000" dirty="0"/>
          </a:p>
        </p:txBody>
      </p:sp>
      <p:sp>
        <p:nvSpPr>
          <p:cNvPr id="19" name="shape-52-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check only the open-circuit case, which verifies V_th but leaves R_th completely untested. Two limiting cases are needed because the equivalent has two parameters.</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5, pp. 141-152   |   CO2  |  Bloom L5</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One sentence per unit, six months from now</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Units 1-7: what survives after the detail has gone.</a:t>
            </a:r>
            <a:endParaRPr lang="en-US" sz="1100" dirty="0"/>
          </a:p>
        </p:txBody>
      </p:sp>
      <p:sp>
        <p:nvSpPr>
          <p:cNvPr id="4" name="shape-53-2"/>
          <p:cNvSpPr/>
          <p:nvPr/>
        </p:nvSpPr>
        <p:spPr>
          <a:xfrm>
            <a:off x="552450" y="1266825"/>
            <a:ext cx="990600" cy="47625"/>
          </a:xfrm>
          <a:prstGeom prst="rect">
            <a:avLst/>
          </a:prstGeom>
          <a:solidFill>
            <a:srgbClr val="0F6FC6"/>
          </a:solidFill>
          <a:ln/>
        </p:spPr>
      </p:sp>
      <p:sp>
        <p:nvSpPr>
          <p:cNvPr id="5" name="shape-53-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Revision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53</a:t>
            </a:r>
            <a:endParaRPr lang="en-US" sz="900" dirty="0"/>
          </a:p>
        </p:txBody>
      </p:sp>
      <p:sp>
        <p:nvSpPr>
          <p:cNvPr id="9" name="shape-53-7"/>
          <p:cNvSpPr/>
          <p:nvPr/>
        </p:nvSpPr>
        <p:spPr>
          <a:xfrm>
            <a:off x="552450" y="1600200"/>
            <a:ext cx="11087100" cy="552450"/>
          </a:xfrm>
          <a:prstGeom prst="rect">
            <a:avLst/>
          </a:prstGeom>
          <a:solidFill>
            <a:srgbClr val="F1F5FA"/>
          </a:solidFill>
          <a:ln w="12700">
            <a:solidFill>
              <a:srgbClr val="D7DEE8"/>
            </a:solidFill>
            <a:prstDash val="solid"/>
          </a:ln>
        </p:spPr>
      </p:sp>
      <p:sp>
        <p:nvSpPr>
          <p:cNvPr id="10" name="text"/>
          <p:cNvSpPr/>
          <p:nvPr/>
        </p:nvSpPr>
        <p:spPr>
          <a:xfrm>
            <a:off x="762000" y="17145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Linearity is not a convenience assumption — it is the single hypothesis that makes superposition, Thévenin and reciprocity true at all.</a:t>
            </a:r>
            <a:endParaRPr lang="en-US" sz="1100" dirty="0"/>
          </a:p>
        </p:txBody>
      </p:sp>
      <p:sp>
        <p:nvSpPr>
          <p:cNvPr id="11" name="shape-53-9"/>
          <p:cNvSpPr/>
          <p:nvPr/>
        </p:nvSpPr>
        <p:spPr>
          <a:xfrm>
            <a:off x="552450" y="2228850"/>
            <a:ext cx="11087100" cy="552450"/>
          </a:xfrm>
          <a:prstGeom prst="rect">
            <a:avLst/>
          </a:prstGeom>
          <a:solidFill>
            <a:srgbClr val="FFFFFF"/>
          </a:solidFill>
          <a:ln w="12700">
            <a:solidFill>
              <a:srgbClr val="D7DEE8"/>
            </a:solidFill>
            <a:prstDash val="solid"/>
          </a:ln>
        </p:spPr>
      </p:sp>
      <p:sp>
        <p:nvSpPr>
          <p:cNvPr id="12" name="text"/>
          <p:cNvSpPr/>
          <p:nvPr/>
        </p:nvSpPr>
        <p:spPr>
          <a:xfrm>
            <a:off x="762000" y="23431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Superposition is a diagnostic tool first and a solving method second — use it when you need to know which source caused what.</a:t>
            </a:r>
            <a:endParaRPr lang="en-US" sz="1100" dirty="0"/>
          </a:p>
        </p:txBody>
      </p:sp>
      <p:sp>
        <p:nvSpPr>
          <p:cNvPr id="13" name="shape-53-11"/>
          <p:cNvSpPr/>
          <p:nvPr/>
        </p:nvSpPr>
        <p:spPr>
          <a:xfrm>
            <a:off x="552450" y="2857500"/>
            <a:ext cx="11087100" cy="552450"/>
          </a:xfrm>
          <a:prstGeom prst="rect">
            <a:avLst/>
          </a:prstGeom>
          <a:solidFill>
            <a:srgbClr val="F1F5FA"/>
          </a:solidFill>
          <a:ln w="12700">
            <a:solidFill>
              <a:srgbClr val="D7DEE8"/>
            </a:solidFill>
            <a:prstDash val="solid"/>
          </a:ln>
        </p:spPr>
      </p:sp>
      <p:sp>
        <p:nvSpPr>
          <p:cNvPr id="14" name="text"/>
          <p:cNvSpPr/>
          <p:nvPr/>
        </p:nvSpPr>
        <p:spPr>
          <a:xfrm>
            <a:off x="762000" y="29718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Zeroing a source removes its excitation, never its resistance, and never applies to a dependent source.</a:t>
            </a:r>
            <a:endParaRPr lang="en-US" sz="1100" dirty="0"/>
          </a:p>
        </p:txBody>
      </p:sp>
      <p:sp>
        <p:nvSpPr>
          <p:cNvPr id="15" name="shape-53-13"/>
          <p:cNvSpPr/>
          <p:nvPr/>
        </p:nvSpPr>
        <p:spPr>
          <a:xfrm>
            <a:off x="552450" y="3486150"/>
            <a:ext cx="11087100" cy="552450"/>
          </a:xfrm>
          <a:prstGeom prst="rect">
            <a:avLst/>
          </a:prstGeom>
          <a:solidFill>
            <a:srgbClr val="FFFFFF"/>
          </a:solidFill>
          <a:ln w="12700">
            <a:solidFill>
              <a:srgbClr val="D7DEE8"/>
            </a:solidFill>
            <a:prstDash val="solid"/>
          </a:ln>
        </p:spPr>
      </p:sp>
      <p:sp>
        <p:nvSpPr>
          <p:cNvPr id="16" name="text"/>
          <p:cNvSpPr/>
          <p:nvPr/>
        </p:nvSpPr>
        <p:spPr>
          <a:xfrm>
            <a:off x="762000" y="36004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Different frequencies may only be combined in the time domain — phasors from different ω values are not addable at all.</a:t>
            </a:r>
            <a:endParaRPr lang="en-US" sz="1100" dirty="0"/>
          </a:p>
        </p:txBody>
      </p:sp>
      <p:sp>
        <p:nvSpPr>
          <p:cNvPr id="17" name="shape-53-15"/>
          <p:cNvSpPr/>
          <p:nvPr/>
        </p:nvSpPr>
        <p:spPr>
          <a:xfrm>
            <a:off x="552450" y="4114800"/>
            <a:ext cx="11087100" cy="552450"/>
          </a:xfrm>
          <a:prstGeom prst="rect">
            <a:avLst/>
          </a:prstGeom>
          <a:solidFill>
            <a:srgbClr val="F1F5FA"/>
          </a:solidFill>
          <a:ln w="12700">
            <a:solidFill>
              <a:srgbClr val="D7DEE8"/>
            </a:solidFill>
            <a:prstDash val="solid"/>
          </a:ln>
        </p:spPr>
      </p:sp>
      <p:sp>
        <p:nvSpPr>
          <p:cNvPr id="18" name="text"/>
          <p:cNvSpPr/>
          <p:nvPr/>
        </p:nvSpPr>
        <p:spPr>
          <a:xfrm>
            <a:off x="762000" y="42291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Superpose the response, then square; never square, then superpose.</a:t>
            </a:r>
            <a:endParaRPr lang="en-US" sz="1100" dirty="0"/>
          </a:p>
        </p:txBody>
      </p:sp>
      <p:sp>
        <p:nvSpPr>
          <p:cNvPr id="19" name="shape-53-17"/>
          <p:cNvSpPr/>
          <p:nvPr/>
        </p:nvSpPr>
        <p:spPr>
          <a:xfrm>
            <a:off x="552450" y="4743450"/>
            <a:ext cx="11087100" cy="552450"/>
          </a:xfrm>
          <a:prstGeom prst="rect">
            <a:avLst/>
          </a:prstGeom>
          <a:solidFill>
            <a:srgbClr val="FFFFFF"/>
          </a:solidFill>
          <a:ln w="12700">
            <a:solidFill>
              <a:srgbClr val="D7DEE8"/>
            </a:solidFill>
            <a:prstDash val="solid"/>
          </a:ln>
        </p:spPr>
      </p:sp>
      <p:sp>
        <p:nvSpPr>
          <p:cNvPr id="20" name="text"/>
          <p:cNvSpPr/>
          <p:nvPr/>
        </p:nvSpPr>
        <p:spPr>
          <a:xfrm>
            <a:off x="762000" y="48577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Reciprocity says a passive bilateral network cannot tell which of two ports you are pushing on.</a:t>
            </a:r>
            <a:endParaRPr lang="en-US" sz="1100" dirty="0"/>
          </a:p>
        </p:txBody>
      </p:sp>
      <p:sp>
        <p:nvSpPr>
          <p:cNvPr id="21" name="shape-53-19"/>
          <p:cNvSpPr/>
          <p:nvPr/>
        </p:nvSpPr>
        <p:spPr>
          <a:xfrm>
            <a:off x="552450" y="5372100"/>
            <a:ext cx="11087100" cy="552450"/>
          </a:xfrm>
          <a:prstGeom prst="rect">
            <a:avLst/>
          </a:prstGeom>
          <a:solidFill>
            <a:srgbClr val="F1F5FA"/>
          </a:solidFill>
          <a:ln w="12700">
            <a:solidFill>
              <a:srgbClr val="D7DEE8"/>
            </a:solidFill>
            <a:prstDash val="solid"/>
          </a:ln>
        </p:spPr>
      </p:sp>
      <p:sp>
        <p:nvSpPr>
          <p:cNvPr id="22" name="text"/>
          <p:cNvSpPr/>
          <p:nvPr/>
        </p:nvSpPr>
        <p:spPr>
          <a:xfrm>
            <a:off x="762000" y="54864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07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Four conditions, all required — and the one students forget is that dependent sources destroy bilaterality.</a:t>
            </a:r>
            <a:endParaRPr lang="en-US"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Revision, continued</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Units 8-14: what survives after the detail has gone.</a:t>
            </a:r>
            <a:endParaRPr lang="en-US" sz="1100" dirty="0"/>
          </a:p>
        </p:txBody>
      </p:sp>
      <p:sp>
        <p:nvSpPr>
          <p:cNvPr id="4" name="shape-54-2"/>
          <p:cNvSpPr/>
          <p:nvPr/>
        </p:nvSpPr>
        <p:spPr>
          <a:xfrm>
            <a:off x="552450" y="1266825"/>
            <a:ext cx="990600" cy="47625"/>
          </a:xfrm>
          <a:prstGeom prst="rect">
            <a:avLst/>
          </a:prstGeom>
          <a:solidFill>
            <a:srgbClr val="0F6FC6"/>
          </a:solidFill>
          <a:ln/>
        </p:spPr>
      </p:sp>
      <p:sp>
        <p:nvSpPr>
          <p:cNvPr id="5" name="shape-54-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Revision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54</a:t>
            </a:r>
            <a:endParaRPr lang="en-US" sz="900" dirty="0"/>
          </a:p>
        </p:txBody>
      </p:sp>
      <p:sp>
        <p:nvSpPr>
          <p:cNvPr id="9" name="shape-54-7"/>
          <p:cNvSpPr/>
          <p:nvPr/>
        </p:nvSpPr>
        <p:spPr>
          <a:xfrm>
            <a:off x="552450" y="1600200"/>
            <a:ext cx="11087100" cy="552450"/>
          </a:xfrm>
          <a:prstGeom prst="rect">
            <a:avLst/>
          </a:prstGeom>
          <a:solidFill>
            <a:srgbClr val="F1F5FA"/>
          </a:solidFill>
          <a:ln w="12700">
            <a:solidFill>
              <a:srgbClr val="D7DEE8"/>
            </a:solidFill>
            <a:prstDash val="solid"/>
          </a:ln>
        </p:spPr>
      </p:sp>
      <p:sp>
        <p:nvSpPr>
          <p:cNvPr id="10" name="text"/>
          <p:cNvSpPr/>
          <p:nvPr/>
        </p:nvSpPr>
        <p:spPr>
          <a:xfrm>
            <a:off x="762000" y="17145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08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Reciprocity is a feature of passive networks and a bug in anything meant to have an input and an output.</a:t>
            </a:r>
            <a:endParaRPr lang="en-US" sz="1100" dirty="0"/>
          </a:p>
        </p:txBody>
      </p:sp>
      <p:sp>
        <p:nvSpPr>
          <p:cNvPr id="11" name="shape-54-9"/>
          <p:cNvSpPr/>
          <p:nvPr/>
        </p:nvSpPr>
        <p:spPr>
          <a:xfrm>
            <a:off x="552450" y="2228850"/>
            <a:ext cx="11087100" cy="552450"/>
          </a:xfrm>
          <a:prstGeom prst="rect">
            <a:avLst/>
          </a:prstGeom>
          <a:solidFill>
            <a:srgbClr val="FFFFFF"/>
          </a:solidFill>
          <a:ln w="12700">
            <a:solidFill>
              <a:srgbClr val="D7DEE8"/>
            </a:solidFill>
            <a:prstDash val="solid"/>
          </a:ln>
        </p:spPr>
      </p:sp>
      <p:sp>
        <p:nvSpPr>
          <p:cNvPr id="12" name="text"/>
          <p:cNvSpPr/>
          <p:nvPr/>
        </p:nvSpPr>
        <p:spPr>
          <a:xfrm>
            <a:off x="762000" y="23431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09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Thévenin collapses everything behind a port into two numbers, and those two numbers are valid for any load you care to attach.</a:t>
            </a:r>
            <a:endParaRPr lang="en-US" sz="1100" dirty="0"/>
          </a:p>
        </p:txBody>
      </p:sp>
      <p:sp>
        <p:nvSpPr>
          <p:cNvPr id="13" name="shape-54-11"/>
          <p:cNvSpPr/>
          <p:nvPr/>
        </p:nvSpPr>
        <p:spPr>
          <a:xfrm>
            <a:off x="552450" y="2857500"/>
            <a:ext cx="11087100" cy="552450"/>
          </a:xfrm>
          <a:prstGeom prst="rect">
            <a:avLst/>
          </a:prstGeom>
          <a:solidFill>
            <a:srgbClr val="F1F5FA"/>
          </a:solidFill>
          <a:ln w="12700">
            <a:solidFill>
              <a:srgbClr val="D7DEE8"/>
            </a:solidFill>
            <a:prstDash val="solid"/>
          </a:ln>
        </p:spPr>
      </p:sp>
      <p:sp>
        <p:nvSpPr>
          <p:cNvPr id="14" name="text"/>
          <p:cNvSpPr/>
          <p:nvPr/>
        </p:nvSpPr>
        <p:spPr>
          <a:xfrm>
            <a:off x="762000" y="29718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10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No dependent sources means look back and reduce; dependent sources means apply a test source — there is no third option that is always safe.</a:t>
            </a:r>
            <a:endParaRPr lang="en-US" sz="1100" dirty="0"/>
          </a:p>
        </p:txBody>
      </p:sp>
      <p:sp>
        <p:nvSpPr>
          <p:cNvPr id="15" name="shape-54-13"/>
          <p:cNvSpPr/>
          <p:nvPr/>
        </p:nvSpPr>
        <p:spPr>
          <a:xfrm>
            <a:off x="552450" y="3486150"/>
            <a:ext cx="11087100" cy="552450"/>
          </a:xfrm>
          <a:prstGeom prst="rect">
            <a:avLst/>
          </a:prstGeom>
          <a:solidFill>
            <a:srgbClr val="FFFFFF"/>
          </a:solidFill>
          <a:ln w="12700">
            <a:solidFill>
              <a:srgbClr val="D7DEE8"/>
            </a:solidFill>
            <a:prstDash val="solid"/>
          </a:ln>
        </p:spPr>
      </p:sp>
      <p:sp>
        <p:nvSpPr>
          <p:cNvPr id="16" name="text"/>
          <p:cNvSpPr/>
          <p:nvPr/>
        </p:nvSpPr>
        <p:spPr>
          <a:xfrm>
            <a:off x="762000" y="36004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Thévenin and Norton are the same two facts about a port written in two different notations; choose the one that matches the load.</a:t>
            </a:r>
            <a:endParaRPr lang="en-US" sz="1100" dirty="0"/>
          </a:p>
        </p:txBody>
      </p:sp>
      <p:sp>
        <p:nvSpPr>
          <p:cNvPr id="17" name="shape-54-15"/>
          <p:cNvSpPr/>
          <p:nvPr/>
        </p:nvSpPr>
        <p:spPr>
          <a:xfrm>
            <a:off x="552450" y="4114800"/>
            <a:ext cx="11087100" cy="552450"/>
          </a:xfrm>
          <a:prstGeom prst="rect">
            <a:avLst/>
          </a:prstGeom>
          <a:solidFill>
            <a:srgbClr val="F1F5FA"/>
          </a:solidFill>
          <a:ln w="12700">
            <a:solidFill>
              <a:srgbClr val="D7DEE8"/>
            </a:solidFill>
            <a:prstDash val="solid"/>
          </a:ln>
        </p:spPr>
      </p:sp>
      <p:sp>
        <p:nvSpPr>
          <p:cNvPr id="18" name="text"/>
          <p:cNvSpPr/>
          <p:nvPr/>
        </p:nvSpPr>
        <p:spPr>
          <a:xfrm>
            <a:off x="762000" y="42291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Matching maximises delivered power and caps efficiency at 50 % — those are two different design goals and you may only have one.</a:t>
            </a:r>
            <a:endParaRPr lang="en-US" sz="1100" dirty="0"/>
          </a:p>
        </p:txBody>
      </p:sp>
      <p:sp>
        <p:nvSpPr>
          <p:cNvPr id="19" name="shape-54-17"/>
          <p:cNvSpPr/>
          <p:nvPr/>
        </p:nvSpPr>
        <p:spPr>
          <a:xfrm>
            <a:off x="552450" y="4743450"/>
            <a:ext cx="11087100" cy="552450"/>
          </a:xfrm>
          <a:prstGeom prst="rect">
            <a:avLst/>
          </a:prstGeom>
          <a:solidFill>
            <a:srgbClr val="FFFFFF"/>
          </a:solidFill>
          <a:ln w="12700">
            <a:solidFill>
              <a:srgbClr val="D7DEE8"/>
            </a:solidFill>
            <a:prstDash val="solid"/>
          </a:ln>
        </p:spPr>
      </p:sp>
      <p:sp>
        <p:nvSpPr>
          <p:cNvPr id="20" name="text"/>
          <p:cNvSpPr/>
          <p:nvPr/>
        </p:nvSpPr>
        <p:spPr>
          <a:xfrm>
            <a:off x="762000" y="48577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Match for power when signal power is scarce, match for reflection when the line is long, and mismatch deliberately everywhere else.</a:t>
            </a:r>
            <a:endParaRPr lang="en-US" sz="1100" dirty="0"/>
          </a:p>
        </p:txBody>
      </p:sp>
      <p:sp>
        <p:nvSpPr>
          <p:cNvPr id="21" name="shape-54-19"/>
          <p:cNvSpPr/>
          <p:nvPr/>
        </p:nvSpPr>
        <p:spPr>
          <a:xfrm>
            <a:off x="552450" y="5372100"/>
            <a:ext cx="11087100" cy="552450"/>
          </a:xfrm>
          <a:prstGeom prst="rect">
            <a:avLst/>
          </a:prstGeom>
          <a:solidFill>
            <a:srgbClr val="F1F5FA"/>
          </a:solidFill>
          <a:ln w="12700">
            <a:solidFill>
              <a:srgbClr val="D7DEE8"/>
            </a:solidFill>
            <a:prstDash val="solid"/>
          </a:ln>
        </p:spPr>
      </p:sp>
      <p:sp>
        <p:nvSpPr>
          <p:cNvPr id="22" name="text"/>
          <p:cNvSpPr/>
          <p:nvPr/>
        </p:nvSpPr>
        <p:spPr>
          <a:xfrm>
            <a:off x="762000" y="54864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All the DC theorems survive into AC unchanged except maximum power transfer, which becomes a conjugate match.</a:t>
            </a:r>
            <a:endParaRPr lang="en-US" sz="11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Revision, continued</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Units 15-16: what survives after the detail has gone.</a:t>
            </a:r>
            <a:endParaRPr lang="en-US" sz="1100" dirty="0"/>
          </a:p>
        </p:txBody>
      </p:sp>
      <p:sp>
        <p:nvSpPr>
          <p:cNvPr id="4" name="shape-55-2"/>
          <p:cNvSpPr/>
          <p:nvPr/>
        </p:nvSpPr>
        <p:spPr>
          <a:xfrm>
            <a:off x="552450" y="1266825"/>
            <a:ext cx="990600" cy="47625"/>
          </a:xfrm>
          <a:prstGeom prst="rect">
            <a:avLst/>
          </a:prstGeom>
          <a:solidFill>
            <a:srgbClr val="0F6FC6"/>
          </a:solidFill>
          <a:ln/>
        </p:spPr>
      </p:sp>
      <p:sp>
        <p:nvSpPr>
          <p:cNvPr id="5" name="shape-55-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Revision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55</a:t>
            </a:r>
            <a:endParaRPr lang="en-US" sz="900" dirty="0"/>
          </a:p>
        </p:txBody>
      </p:sp>
      <p:sp>
        <p:nvSpPr>
          <p:cNvPr id="9" name="shape-55-7"/>
          <p:cNvSpPr/>
          <p:nvPr/>
        </p:nvSpPr>
        <p:spPr>
          <a:xfrm>
            <a:off x="552450" y="1600200"/>
            <a:ext cx="11087100" cy="552450"/>
          </a:xfrm>
          <a:prstGeom prst="rect">
            <a:avLst/>
          </a:prstGeom>
          <a:solidFill>
            <a:srgbClr val="F1F5FA"/>
          </a:solidFill>
          <a:ln w="12700">
            <a:solidFill>
              <a:srgbClr val="D7DEE8"/>
            </a:solidFill>
            <a:prstDash val="solid"/>
          </a:ln>
        </p:spPr>
      </p:sp>
      <p:sp>
        <p:nvSpPr>
          <p:cNvPr id="10" name="text"/>
          <p:cNvSpPr/>
          <p:nvPr/>
        </p:nvSpPr>
        <p:spPr>
          <a:xfrm>
            <a:off x="762000" y="17145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Pick the theorem by what the question asks for, not by what is easiest to recall.</a:t>
            </a:r>
            <a:endParaRPr lang="en-US" sz="1100" dirty="0"/>
          </a:p>
        </p:txBody>
      </p:sp>
      <p:sp>
        <p:nvSpPr>
          <p:cNvPr id="11" name="shape-55-9"/>
          <p:cNvSpPr/>
          <p:nvPr/>
        </p:nvSpPr>
        <p:spPr>
          <a:xfrm>
            <a:off x="552450" y="2228850"/>
            <a:ext cx="11087100" cy="552450"/>
          </a:xfrm>
          <a:prstGeom prst="rect">
            <a:avLst/>
          </a:prstGeom>
          <a:solidFill>
            <a:srgbClr val="FFFFFF"/>
          </a:solidFill>
          <a:ln w="12700">
            <a:solidFill>
              <a:srgbClr val="D7DEE8"/>
            </a:solidFill>
            <a:prstDash val="solid"/>
          </a:ln>
        </p:spPr>
      </p:sp>
      <p:sp>
        <p:nvSpPr>
          <p:cNvPr id="12" name="text"/>
          <p:cNvSpPr/>
          <p:nvPr/>
        </p:nvSpPr>
        <p:spPr>
          <a:xfrm>
            <a:off x="762000" y="23431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theorem result that has not been checked against a limiting case is a guess with arithmetic attached.</a:t>
            </a:r>
            <a:endParaRPr lang="en-US" sz="11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How this module is assessed</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Where the quiz and the assignment live, and what they test.</a:t>
            </a:r>
            <a:endParaRPr lang="en-US" sz="1100" dirty="0"/>
          </a:p>
        </p:txBody>
      </p:sp>
      <p:sp>
        <p:nvSpPr>
          <p:cNvPr id="4" name="shape-56-2"/>
          <p:cNvSpPr/>
          <p:nvPr/>
        </p:nvSpPr>
        <p:spPr>
          <a:xfrm>
            <a:off x="552450" y="1266825"/>
            <a:ext cx="990600" cy="47625"/>
          </a:xfrm>
          <a:prstGeom prst="rect">
            <a:avLst/>
          </a:prstGeom>
          <a:solidFill>
            <a:srgbClr val="0F6FC6"/>
          </a:solidFill>
          <a:ln/>
        </p:spPr>
      </p:sp>
      <p:sp>
        <p:nvSpPr>
          <p:cNvPr id="5" name="shape-56-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2</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Assessment</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56</a:t>
            </a:r>
            <a:endParaRPr lang="en-US" sz="900" dirty="0"/>
          </a:p>
        </p:txBody>
      </p:sp>
      <p:sp>
        <p:nvSpPr>
          <p:cNvPr id="9" name="shape-56-7"/>
          <p:cNvSpPr/>
          <p:nvPr/>
        </p:nvSpPr>
        <p:spPr>
          <a:xfrm>
            <a:off x="552450" y="1543050"/>
            <a:ext cx="5429250" cy="2438400"/>
          </a:xfrm>
          <a:prstGeom prst="rect">
            <a:avLst/>
          </a:prstGeom>
          <a:solidFill>
            <a:srgbClr val="F1F5FA"/>
          </a:solidFill>
          <a:ln w="12700">
            <a:solidFill>
              <a:srgbClr val="D7DEE8"/>
            </a:solidFill>
            <a:prstDash val="solid"/>
          </a:ln>
        </p:spPr>
      </p:sp>
      <p:sp>
        <p:nvSpPr>
          <p:cNvPr id="10" name="text"/>
          <p:cNvSpPr/>
          <p:nvPr/>
        </p:nvSpPr>
        <p:spPr>
          <a:xfrm>
            <a:off x="742950" y="1695450"/>
            <a:ext cx="5048250" cy="10287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MODULE 2 QUIZ</a:t>
            </a:r>
            <a:endParaRPr lang="en-US" sz="1100" dirty="0"/>
          </a:p>
          <a:p>
            <a:pPr algn="l" indent="0" marL="0">
              <a:lnSpc>
                <a:spcPct val="105000"/>
              </a:lnSpc>
              <a:buNone/>
            </a:pPr>
            <a:r>
              <a:rPr lang="en-US" sz="1100" dirty="0">
                <a:solidFill>
                  <a:srgbClr val="12203A"/>
                </a:solidFill>
                <a:latin typeface="Consolas" pitchFamily="34" charset="0"/>
                <a:ea typeface="Consolas" pitchFamily="34" charset="-122"/>
                <a:cs typeface="Consolas" pitchFamily="34" charset="-120"/>
              </a:rPr>
              <a:t>quizzes/Module_2_Quiz.pdf</a:t>
            </a:r>
            <a:endParaRPr lang="en-US" sz="1100" dirty="0"/>
          </a:p>
          <a:p>
            <a:pPr algn="l" indent="0" marL="0">
              <a:lnSpc>
                <a:spcPct val="105000"/>
              </a:lnSpc>
              <a:buNone/>
            </a:pPr>
            <a:r>
              <a:rPr lang="en-US" sz="1100" dirty="0">
                <a:solidFill>
                  <a:srgbClr val="12203A"/>
                </a:solidFill>
                <a:latin typeface="Consolas" pitchFamily="34" charset="0"/>
                <a:ea typeface="Consolas" pitchFamily="34" charset="-122"/>
                <a:cs typeface="Consolas" pitchFamily="34" charset="-120"/>
              </a:rPr>
              <a:t>quizzes/Module_2_Quiz.gift</a:t>
            </a:r>
            <a:endParaRPr lang="en-US" sz="1100" dirty="0"/>
          </a:p>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45 minutes  |  50 marks  |  pass 20  |  1 attempt</a:t>
            </a:r>
            <a:endParaRPr lang="en-US" sz="1100" dirty="0"/>
          </a:p>
        </p:txBody>
      </p:sp>
      <p:sp>
        <p:nvSpPr>
          <p:cNvPr id="11" name="text"/>
          <p:cNvSpPr/>
          <p:nvPr/>
        </p:nvSpPr>
        <p:spPr>
          <a:xfrm>
            <a:off x="742950" y="2781300"/>
            <a:ext cx="5048250" cy="43815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Part A: 20 MCQs, 1 mark each.</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Part B: 13 descriptive questions, 30 marks.</a:t>
            </a:r>
            <a:endParaRPr lang="en-US" sz="1100" dirty="0"/>
          </a:p>
        </p:txBody>
      </p:sp>
      <p:sp>
        <p:nvSpPr>
          <p:cNvPr id="12" name="text"/>
          <p:cNvSpPr/>
          <p:nvPr/>
        </p:nvSpPr>
        <p:spPr>
          <a:xfrm>
            <a:off x="742950" y="3276600"/>
            <a:ext cx="5048250" cy="20955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C2410C"/>
                </a:solidFill>
                <a:latin typeface="Segoe UI" pitchFamily="34" charset="0"/>
                <a:ea typeface="Segoe UI" pitchFamily="34" charset="-122"/>
                <a:cs typeface="Segoe UI" pitchFamily="34" charset="-120"/>
              </a:rPr>
              <a:t>Bloom spread: L1-L2 24%, L3-L4 61%, L5-L6 15%</a:t>
            </a:r>
            <a:endParaRPr lang="en-US" sz="1100" dirty="0"/>
          </a:p>
        </p:txBody>
      </p:sp>
      <p:sp>
        <p:nvSpPr>
          <p:cNvPr id="13" name="text"/>
          <p:cNvSpPr/>
          <p:nvPr/>
        </p:nvSpPr>
        <p:spPr>
          <a:xfrm>
            <a:off x="742950" y="3524250"/>
            <a:ext cx="5048250" cy="381000"/>
          </a:xfrm>
          <a:prstGeom prst="rect">
            <a:avLst/>
          </a:prstGeom>
          <a:noFill/>
          <a:ln/>
        </p:spPr>
        <p:txBody>
          <a:bodyPr wrap="square" lIns="0" tIns="0" rIns="0" bIns="0" rtlCol="0" anchor="t">
            <a:normAutofit/>
          </a:bodyPr>
          <a:lstStyle/>
          <a:p>
            <a:pPr algn="l" indent="0" marL="0">
              <a:lnSpc>
                <a:spcPct val="105000"/>
              </a:lnSpc>
              <a:buNone/>
            </a:pPr>
            <a:r>
              <a:rPr lang="en-US" sz="1000" dirty="0">
                <a:solidFill>
                  <a:srgbClr val="5A6478"/>
                </a:solidFill>
                <a:latin typeface="Segoe UI" pitchFamily="34" charset="0"/>
                <a:ea typeface="Segoe UI" pitchFamily="34" charset="-122"/>
                <a:cs typeface="Segoe UI" pitchFamily="34" charset="-120"/>
              </a:rPr>
              <a:t>Every question carries a CO tag, a Bloom level and a chapter reference; distractor feedback names the misconception.</a:t>
            </a:r>
            <a:endParaRPr lang="en-US" sz="1000" dirty="0"/>
          </a:p>
        </p:txBody>
      </p:sp>
      <p:sp>
        <p:nvSpPr>
          <p:cNvPr id="14" name="shape-56-12"/>
          <p:cNvSpPr/>
          <p:nvPr/>
        </p:nvSpPr>
        <p:spPr>
          <a:xfrm>
            <a:off x="6210300" y="1543050"/>
            <a:ext cx="5429250" cy="2438400"/>
          </a:xfrm>
          <a:prstGeom prst="rect">
            <a:avLst/>
          </a:prstGeom>
          <a:solidFill>
            <a:srgbClr val="FDF3EC"/>
          </a:solidFill>
          <a:ln w="12700">
            <a:solidFill>
              <a:srgbClr val="D7DEE8"/>
            </a:solidFill>
            <a:prstDash val="solid"/>
          </a:ln>
        </p:spPr>
      </p:sp>
      <p:sp>
        <p:nvSpPr>
          <p:cNvPr id="15" name="text"/>
          <p:cNvSpPr/>
          <p:nvPr/>
        </p:nvSpPr>
        <p:spPr>
          <a:xfrm>
            <a:off x="6400800" y="1695450"/>
            <a:ext cx="5048250" cy="11620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MODULE 2 ASSIGNMENT</a:t>
            </a:r>
            <a:endParaRPr lang="en-US" sz="1100" dirty="0"/>
          </a:p>
          <a:p>
            <a:pPr algn="l" indent="0" marL="0">
              <a:lnSpc>
                <a:spcPct val="105000"/>
              </a:lnSpc>
              <a:buNone/>
            </a:pPr>
            <a:r>
              <a:rPr lang="en-US" sz="1100" dirty="0">
                <a:solidFill>
                  <a:srgbClr val="12203A"/>
                </a:solidFill>
                <a:latin typeface="Consolas" pitchFamily="34" charset="0"/>
                <a:ea typeface="Consolas" pitchFamily="34" charset="-122"/>
                <a:cs typeface="Consolas" pitchFamily="34" charset="-120"/>
              </a:rPr>
              <a:t>assignments/Module_2_Assignment.pdf</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Assignment 2 — Applying and bounding the network theorems</a:t>
            </a:r>
            <a:endParaRPr lang="en-US" sz="1100" dirty="0"/>
          </a:p>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20 marks  |  10% of CIE  |  10 problems + 3 theory items</a:t>
            </a:r>
            <a:endParaRPr lang="en-US" sz="1100" dirty="0"/>
          </a:p>
        </p:txBody>
      </p:sp>
      <p:sp>
        <p:nvSpPr>
          <p:cNvPr id="16" name="text"/>
          <p:cNvSpPr/>
          <p:nvPr/>
        </p:nvSpPr>
        <p:spPr>
          <a:xfrm>
            <a:off x="6400800" y="2914650"/>
            <a:ext cx="5048250" cy="457200"/>
          </a:xfrm>
          <a:prstGeom prst="rect">
            <a:avLst/>
          </a:prstGeom>
          <a:noFill/>
          <a:ln/>
        </p:spPr>
        <p:txBody>
          <a:bodyPr wrap="square" lIns="0" tIns="0" rIns="0" bIns="0" rtlCol="0" anchor="t">
            <a:normAutofit/>
          </a:bodyPr>
          <a:lstStyle/>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Submit as PDF, single file, named &lt;USN&gt;_BEC303_Assignment2.pdf, via LMS upload. 10% per day, nothing after 5 days.</a:t>
            </a:r>
            <a:endParaRPr lang="en-US" sz="1000" dirty="0"/>
          </a:p>
        </p:txBody>
      </p:sp>
      <p:sp>
        <p:nvSpPr>
          <p:cNvPr id="17" name="text"/>
          <p:cNvSpPr/>
          <p:nvPr/>
        </p:nvSpPr>
        <p:spPr>
          <a:xfrm>
            <a:off x="6400800" y="3390900"/>
            <a:ext cx="5048250" cy="51435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Rubric: Correct application of theorems (7); Treatment of validity limits (5); Verification and cross-checking (4); Engineering judgement in the design question (4). Attainment: CO2 = 20.</a:t>
            </a:r>
            <a:endParaRPr lang="en-US" sz="900" dirty="0"/>
          </a:p>
        </p:txBody>
      </p:sp>
      <p:sp>
        <p:nvSpPr>
          <p:cNvPr id="18" name="text"/>
          <p:cNvSpPr/>
          <p:nvPr/>
        </p:nvSpPr>
        <p:spPr>
          <a:xfrm>
            <a:off x="552450" y="4133850"/>
            <a:ext cx="11087100" cy="43815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Previous years' question papers for EC are indexed in pyq/PYQ_Index.pdf; the syllabus extract and the topic-to-slide mapping are in syllabus/Syllabus_Mapping.pdf.</a:t>
            </a:r>
            <a:endParaRPr lang="en-US" sz="1100" dirty="0"/>
          </a:p>
        </p:txBody>
      </p:sp>
      <p:sp>
        <p:nvSpPr>
          <p:cNvPr id="19" name="text"/>
          <p:cNvSpPr/>
          <p:nvPr/>
        </p:nvSpPr>
        <p:spPr>
          <a:xfrm>
            <a:off x="552450" y="4667250"/>
            <a:ext cx="11087100" cy="285750"/>
          </a:xfrm>
          <a:prstGeom prst="rect">
            <a:avLst/>
          </a:prstGeom>
          <a:noFill/>
          <a:ln/>
        </p:spPr>
        <p:txBody>
          <a:bodyPr wrap="square" lIns="0" tIns="0" rIns="0" bIns="0" rtlCol="0" anchor="t">
            <a:normAutofit/>
          </a:bodyPr>
          <a:lstStyle/>
          <a:p>
            <a:pPr algn="l" indent="0" marL="0">
              <a:lnSpc>
                <a:spcPct val="105000"/>
              </a:lnSpc>
              <a:buNone/>
            </a:pPr>
            <a:r>
              <a:rPr lang="en-US" sz="1000" dirty="0">
                <a:solidFill>
                  <a:srgbClr val="C2410C"/>
                </a:solidFill>
                <a:latin typeface="Segoe UI" pitchFamily="34" charset="0"/>
                <a:ea typeface="Segoe UI" pitchFamily="34" charset="-122"/>
                <a:cs typeface="Segoe UI" pitchFamily="34" charset="-120"/>
              </a:rPr>
              <a:t>Individual submission. Identical submissions score zero for both parties.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56</Slides>
  <Notes>56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56</vt:i4>
      </vt:variant>
    </vt:vector>
  </HeadingPairs>
  <TitlesOfParts>
    <vt:vector size="5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2026-09-11T19:47:51Z</dcterms:created>
  <dcterms:modified xsi:type="dcterms:W3CDTF">2026-09-11T19:47:51Z</dcterms:modified>
</cp:coreProperties>
</file>