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b0d5b09b9914643" /><Relationship Type="http://schemas.openxmlformats.org/officeDocument/2006/relationships/extended-properties" Target="/docProps/app.xml" Id="R53a1a0c61ff54bcb" /><Relationship Type="http://schemas.openxmlformats.org/officeDocument/2006/relationships/officeDocument" Target="/ppt/presentation.xml" Id="R7cf5563c65784b8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c73a577b07441ef"/>
  </p:sldMasterIdLst>
  <p:notesMasterIdLst>
    <p:notesMasterId xmlns:r="http://schemas.openxmlformats.org/officeDocument/2006/relationships" r:id="R11e20c5fcab44c65"/>
  </p:notesMasterIdLst>
  <p:sldIdLst>
    <p:sldId xmlns:r="http://schemas.openxmlformats.org/officeDocument/2006/relationships" id="256" r:id="R412d8c72cd634073"/>
    <p:sldId xmlns:r="http://schemas.openxmlformats.org/officeDocument/2006/relationships" id="257" r:id="Rb44ad676dc2b4d11"/>
    <p:sldId xmlns:r="http://schemas.openxmlformats.org/officeDocument/2006/relationships" id="258" r:id="Raa7a77571c3f4b52"/>
    <p:sldId xmlns:r="http://schemas.openxmlformats.org/officeDocument/2006/relationships" id="259" r:id="R04e3a8c9474546fb"/>
    <p:sldId xmlns:r="http://schemas.openxmlformats.org/officeDocument/2006/relationships" id="260" r:id="R0ad2ef4c59724444"/>
    <p:sldId xmlns:r="http://schemas.openxmlformats.org/officeDocument/2006/relationships" id="261" r:id="R20d83c85165d4bc1"/>
    <p:sldId xmlns:r="http://schemas.openxmlformats.org/officeDocument/2006/relationships" id="262" r:id="R6c53985a06e94820"/>
    <p:sldId xmlns:r="http://schemas.openxmlformats.org/officeDocument/2006/relationships" id="263" r:id="R6ec8385159b74ee2"/>
    <p:sldId xmlns:r="http://schemas.openxmlformats.org/officeDocument/2006/relationships" id="264" r:id="R5dcd9a8f3d3f47c7"/>
    <p:sldId xmlns:r="http://schemas.openxmlformats.org/officeDocument/2006/relationships" id="265" r:id="R976f95e52d7e47c0"/>
    <p:sldId xmlns:r="http://schemas.openxmlformats.org/officeDocument/2006/relationships" id="266" r:id="Rfcae363755494e54"/>
    <p:sldId xmlns:r="http://schemas.openxmlformats.org/officeDocument/2006/relationships" id="267" r:id="R83940fbf9a504259"/>
    <p:sldId xmlns:r="http://schemas.openxmlformats.org/officeDocument/2006/relationships" id="268" r:id="Rb96bdeb1f72f4dcb"/>
    <p:sldId xmlns:r="http://schemas.openxmlformats.org/officeDocument/2006/relationships" id="269" r:id="Ra6c40b21d398415e"/>
    <p:sldId xmlns:r="http://schemas.openxmlformats.org/officeDocument/2006/relationships" id="270" r:id="R29cd468057c741c4"/>
    <p:sldId xmlns:r="http://schemas.openxmlformats.org/officeDocument/2006/relationships" id="271" r:id="R452457b857e0473d"/>
    <p:sldId xmlns:r="http://schemas.openxmlformats.org/officeDocument/2006/relationships" id="272" r:id="R29fd1a6868634c62"/>
    <p:sldId xmlns:r="http://schemas.openxmlformats.org/officeDocument/2006/relationships" id="273" r:id="R8480e0c17cfa45ce"/>
    <p:sldId xmlns:r="http://schemas.openxmlformats.org/officeDocument/2006/relationships" id="274" r:id="R862ef6eda9d14275"/>
    <p:sldId xmlns:r="http://schemas.openxmlformats.org/officeDocument/2006/relationships" id="275" r:id="R45f4e44d78944d38"/>
    <p:sldId xmlns:r="http://schemas.openxmlformats.org/officeDocument/2006/relationships" id="276" r:id="R4bc2bbca0d2e4abb"/>
    <p:sldId xmlns:r="http://schemas.openxmlformats.org/officeDocument/2006/relationships" id="277" r:id="R100a6fa560f74cae"/>
    <p:sldId xmlns:r="http://schemas.openxmlformats.org/officeDocument/2006/relationships" id="278" r:id="R8c519c6932594ed0"/>
    <p:sldId xmlns:r="http://schemas.openxmlformats.org/officeDocument/2006/relationships" id="279" r:id="R73c6bb5999cd4821"/>
    <p:sldId xmlns:r="http://schemas.openxmlformats.org/officeDocument/2006/relationships" id="280" r:id="R294a43dcd5554c4c"/>
    <p:sldId xmlns:r="http://schemas.openxmlformats.org/officeDocument/2006/relationships" id="281" r:id="R132f1729e0504046"/>
    <p:sldId xmlns:r="http://schemas.openxmlformats.org/officeDocument/2006/relationships" id="282" r:id="R76b310ef8ec34e5f"/>
    <p:sldId xmlns:r="http://schemas.openxmlformats.org/officeDocument/2006/relationships" id="283" r:id="R831d2352d05e4baa"/>
    <p:sldId xmlns:r="http://schemas.openxmlformats.org/officeDocument/2006/relationships" id="284" r:id="R49820f3b80124143"/>
    <p:sldId xmlns:r="http://schemas.openxmlformats.org/officeDocument/2006/relationships" id="285" r:id="R517c3820e75e4219"/>
    <p:sldId xmlns:r="http://schemas.openxmlformats.org/officeDocument/2006/relationships" id="286" r:id="R4595e7628a6b430d"/>
    <p:sldId xmlns:r="http://schemas.openxmlformats.org/officeDocument/2006/relationships" id="287" r:id="R331a54fdf1ff48c2"/>
    <p:sldId xmlns:r="http://schemas.openxmlformats.org/officeDocument/2006/relationships" id="288" r:id="Rf9246794a0d544b1"/>
    <p:sldId xmlns:r="http://schemas.openxmlformats.org/officeDocument/2006/relationships" id="289" r:id="R24b76a01786a41c8"/>
    <p:sldId xmlns:r="http://schemas.openxmlformats.org/officeDocument/2006/relationships" id="290" r:id="Rcbbe1d2c2f6f4c55"/>
    <p:sldId xmlns:r="http://schemas.openxmlformats.org/officeDocument/2006/relationships" id="291" r:id="R07594e3eced648ad"/>
    <p:sldId xmlns:r="http://schemas.openxmlformats.org/officeDocument/2006/relationships" id="292" r:id="R38dd18d1f6a2409a"/>
    <p:sldId xmlns:r="http://schemas.openxmlformats.org/officeDocument/2006/relationships" id="293" r:id="R3f0b6df72b0848b7"/>
    <p:sldId xmlns:r="http://schemas.openxmlformats.org/officeDocument/2006/relationships" id="294" r:id="Rba06d78a7ef742d6"/>
    <p:sldId xmlns:r="http://schemas.openxmlformats.org/officeDocument/2006/relationships" id="295" r:id="Rfe4a6ca5bdbc449b"/>
    <p:sldId xmlns:r="http://schemas.openxmlformats.org/officeDocument/2006/relationships" id="296" r:id="R3b0780fd5a7f465f"/>
    <p:sldId xmlns:r="http://schemas.openxmlformats.org/officeDocument/2006/relationships" id="297" r:id="R355afeeefca74855"/>
    <p:sldId xmlns:r="http://schemas.openxmlformats.org/officeDocument/2006/relationships" id="298" r:id="Rfd5ce14b660649be"/>
    <p:sldId xmlns:r="http://schemas.openxmlformats.org/officeDocument/2006/relationships" id="299" r:id="R8a11f508c4504fe8"/>
    <p:sldId xmlns:r="http://schemas.openxmlformats.org/officeDocument/2006/relationships" id="300" r:id="R843b8c942a84464a"/>
    <p:sldId xmlns:r="http://schemas.openxmlformats.org/officeDocument/2006/relationships" id="301" r:id="Ree7786bb374e46db"/>
    <p:sldId xmlns:r="http://schemas.openxmlformats.org/officeDocument/2006/relationships" id="302" r:id="R932d2942a4fb4863"/>
    <p:sldId xmlns:r="http://schemas.openxmlformats.org/officeDocument/2006/relationships" id="303" r:id="R131deaf8d4344ec5"/>
    <p:sldId xmlns:r="http://schemas.openxmlformats.org/officeDocument/2006/relationships" id="304" r:id="R9db04dce404a4ff1"/>
    <p:sldId xmlns:r="http://schemas.openxmlformats.org/officeDocument/2006/relationships" id="305" r:id="R404b2c6f314f48b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aad6d78a0114219" /><Relationship Type="http://schemas.openxmlformats.org/officeDocument/2006/relationships/slideMaster" Target="/ppt/slideMasters/slideMaster1.xml" Id="Rec73a577b07441ef" /><Relationship Type="http://schemas.openxmlformats.org/officeDocument/2006/relationships/notesMaster" Target="/ppt/notesMasters/notesMaster1.xml" Id="R11e20c5fcab44c65" /><Relationship Type="http://schemas.openxmlformats.org/officeDocument/2006/relationships/presProps" Target="/ppt/presProps.xml" Id="R0af3d4cfc56b4942" /><Relationship Type="http://schemas.openxmlformats.org/officeDocument/2006/relationships/tableStyles" Target="/ppt/tableStyles.xml" Id="Rf527369331184c79" /><Relationship Type="http://schemas.openxmlformats.org/officeDocument/2006/relationships/slide" Target="/ppt/slides/slide1.xml" Id="R412d8c72cd634073" /><Relationship Type="http://schemas.openxmlformats.org/officeDocument/2006/relationships/slide" Target="/ppt/slides/slide2.xml" Id="Rb44ad676dc2b4d11" /><Relationship Type="http://schemas.openxmlformats.org/officeDocument/2006/relationships/slide" Target="/ppt/slides/slide3.xml" Id="Raa7a77571c3f4b52" /><Relationship Type="http://schemas.openxmlformats.org/officeDocument/2006/relationships/slide" Target="/ppt/slides/slide4.xml" Id="R04e3a8c9474546fb" /><Relationship Type="http://schemas.openxmlformats.org/officeDocument/2006/relationships/slide" Target="/ppt/slides/slide5.xml" Id="R0ad2ef4c59724444" /><Relationship Type="http://schemas.openxmlformats.org/officeDocument/2006/relationships/slide" Target="/ppt/slides/slide6.xml" Id="R20d83c85165d4bc1" /><Relationship Type="http://schemas.openxmlformats.org/officeDocument/2006/relationships/slide" Target="/ppt/slides/slide7.xml" Id="R6c53985a06e94820" /><Relationship Type="http://schemas.openxmlformats.org/officeDocument/2006/relationships/slide" Target="/ppt/slides/slide8.xml" Id="R6ec8385159b74ee2" /><Relationship Type="http://schemas.openxmlformats.org/officeDocument/2006/relationships/slide" Target="/ppt/slides/slide9.xml" Id="R5dcd9a8f3d3f47c7" /><Relationship Type="http://schemas.openxmlformats.org/officeDocument/2006/relationships/slide" Target="/ppt/slides/slide10.xml" Id="R976f95e52d7e47c0" /><Relationship Type="http://schemas.openxmlformats.org/officeDocument/2006/relationships/slide" Target="/ppt/slides/slide11.xml" Id="Rfcae363755494e54" /><Relationship Type="http://schemas.openxmlformats.org/officeDocument/2006/relationships/slide" Target="/ppt/slides/slide12.xml" Id="R83940fbf9a504259" /><Relationship Type="http://schemas.openxmlformats.org/officeDocument/2006/relationships/slide" Target="/ppt/slides/slide13.xml" Id="Rb96bdeb1f72f4dcb" /><Relationship Type="http://schemas.openxmlformats.org/officeDocument/2006/relationships/slide" Target="/ppt/slides/slide14.xml" Id="Ra6c40b21d398415e" /><Relationship Type="http://schemas.openxmlformats.org/officeDocument/2006/relationships/slide" Target="/ppt/slides/slide15.xml" Id="R29cd468057c741c4" /><Relationship Type="http://schemas.openxmlformats.org/officeDocument/2006/relationships/slide" Target="/ppt/slides/slide16.xml" Id="R452457b857e0473d" /><Relationship Type="http://schemas.openxmlformats.org/officeDocument/2006/relationships/slide" Target="/ppt/slides/slide17.xml" Id="R29fd1a6868634c62" /><Relationship Type="http://schemas.openxmlformats.org/officeDocument/2006/relationships/slide" Target="/ppt/slides/slide18.xml" Id="R8480e0c17cfa45ce" /><Relationship Type="http://schemas.openxmlformats.org/officeDocument/2006/relationships/slide" Target="/ppt/slides/slide19.xml" Id="R862ef6eda9d14275" /><Relationship Type="http://schemas.openxmlformats.org/officeDocument/2006/relationships/slide" Target="/ppt/slides/slide20.xml" Id="R45f4e44d78944d38" /><Relationship Type="http://schemas.openxmlformats.org/officeDocument/2006/relationships/slide" Target="/ppt/slides/slide21.xml" Id="R4bc2bbca0d2e4abb" /><Relationship Type="http://schemas.openxmlformats.org/officeDocument/2006/relationships/slide" Target="/ppt/slides/slide22.xml" Id="R100a6fa560f74cae" /><Relationship Type="http://schemas.openxmlformats.org/officeDocument/2006/relationships/slide" Target="/ppt/slides/slide23.xml" Id="R8c519c6932594ed0" /><Relationship Type="http://schemas.openxmlformats.org/officeDocument/2006/relationships/slide" Target="/ppt/slides/slide24.xml" Id="R73c6bb5999cd4821" /><Relationship Type="http://schemas.openxmlformats.org/officeDocument/2006/relationships/slide" Target="/ppt/slides/slide25.xml" Id="R294a43dcd5554c4c" /><Relationship Type="http://schemas.openxmlformats.org/officeDocument/2006/relationships/slide" Target="/ppt/slides/slide26.xml" Id="R132f1729e0504046" /><Relationship Type="http://schemas.openxmlformats.org/officeDocument/2006/relationships/slide" Target="/ppt/slides/slide27.xml" Id="R76b310ef8ec34e5f" /><Relationship Type="http://schemas.openxmlformats.org/officeDocument/2006/relationships/slide" Target="/ppt/slides/slide28.xml" Id="R831d2352d05e4baa" /><Relationship Type="http://schemas.openxmlformats.org/officeDocument/2006/relationships/slide" Target="/ppt/slides/slide29.xml" Id="R49820f3b80124143" /><Relationship Type="http://schemas.openxmlformats.org/officeDocument/2006/relationships/slide" Target="/ppt/slides/slide30.xml" Id="R517c3820e75e4219" /><Relationship Type="http://schemas.openxmlformats.org/officeDocument/2006/relationships/slide" Target="/ppt/slides/slide31.xml" Id="R4595e7628a6b430d" /><Relationship Type="http://schemas.openxmlformats.org/officeDocument/2006/relationships/slide" Target="/ppt/slides/slide32.xml" Id="R331a54fdf1ff48c2" /><Relationship Type="http://schemas.openxmlformats.org/officeDocument/2006/relationships/slide" Target="/ppt/slides/slide33.xml" Id="Rf9246794a0d544b1" /><Relationship Type="http://schemas.openxmlformats.org/officeDocument/2006/relationships/slide" Target="/ppt/slides/slide34.xml" Id="R24b76a01786a41c8" /><Relationship Type="http://schemas.openxmlformats.org/officeDocument/2006/relationships/slide" Target="/ppt/slides/slide35.xml" Id="Rcbbe1d2c2f6f4c55" /><Relationship Type="http://schemas.openxmlformats.org/officeDocument/2006/relationships/slide" Target="/ppt/slides/slide36.xml" Id="R07594e3eced648ad" /><Relationship Type="http://schemas.openxmlformats.org/officeDocument/2006/relationships/slide" Target="/ppt/slides/slide37.xml" Id="R38dd18d1f6a2409a" /><Relationship Type="http://schemas.openxmlformats.org/officeDocument/2006/relationships/slide" Target="/ppt/slides/slide38.xml" Id="R3f0b6df72b0848b7" /><Relationship Type="http://schemas.openxmlformats.org/officeDocument/2006/relationships/slide" Target="/ppt/slides/slide39.xml" Id="Rba06d78a7ef742d6" /><Relationship Type="http://schemas.openxmlformats.org/officeDocument/2006/relationships/slide" Target="/ppt/slides/slide40.xml" Id="Rfe4a6ca5bdbc449b" /><Relationship Type="http://schemas.openxmlformats.org/officeDocument/2006/relationships/slide" Target="/ppt/slides/slide41.xml" Id="R3b0780fd5a7f465f" /><Relationship Type="http://schemas.openxmlformats.org/officeDocument/2006/relationships/slide" Target="/ppt/slides/slide42.xml" Id="R355afeeefca74855" /><Relationship Type="http://schemas.openxmlformats.org/officeDocument/2006/relationships/slide" Target="/ppt/slides/slide43.xml" Id="Rfd5ce14b660649be" /><Relationship Type="http://schemas.openxmlformats.org/officeDocument/2006/relationships/slide" Target="/ppt/slides/slide44.xml" Id="R8a11f508c4504fe8" /><Relationship Type="http://schemas.openxmlformats.org/officeDocument/2006/relationships/slide" Target="/ppt/slides/slide45.xml" Id="R843b8c942a84464a" /><Relationship Type="http://schemas.openxmlformats.org/officeDocument/2006/relationships/slide" Target="/ppt/slides/slide46.xml" Id="Ree7786bb374e46db" /><Relationship Type="http://schemas.openxmlformats.org/officeDocument/2006/relationships/slide" Target="/ppt/slides/slide47.xml" Id="R932d2942a4fb4863" /><Relationship Type="http://schemas.openxmlformats.org/officeDocument/2006/relationships/slide" Target="/ppt/slides/slide48.xml" Id="R131deaf8d4344ec5" /><Relationship Type="http://schemas.openxmlformats.org/officeDocument/2006/relationships/slide" Target="/ppt/slides/slide49.xml" Id="R9db04dce404a4ff1" /><Relationship Type="http://schemas.openxmlformats.org/officeDocument/2006/relationships/slide" Target="/ppt/slides/slide50.xml" Id="R404b2c6f314f48b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dd8201fcae2478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647eb2ea08a437b" /><Relationship Type="http://schemas.openxmlformats.org/officeDocument/2006/relationships/notesMaster" Target="/ppt/notesMasters/notesMaster1.xml" Id="R3b2daff9e13d44f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7ceb06151f84c24" /><Relationship Type="http://schemas.openxmlformats.org/officeDocument/2006/relationships/notesMaster" Target="/ppt/notesMasters/notesMaster1.xml" Id="R36e7a32c07ba40c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24998b5883948df" /><Relationship Type="http://schemas.openxmlformats.org/officeDocument/2006/relationships/notesMaster" Target="/ppt/notesMasters/notesMaster1.xml" Id="R7eb82e03b48942a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279590d0e914e71" /><Relationship Type="http://schemas.openxmlformats.org/officeDocument/2006/relationships/notesMaster" Target="/ppt/notesMasters/notesMaster1.xml" Id="R9cf243df84b04e1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df6eda592d74de4" /><Relationship Type="http://schemas.openxmlformats.org/officeDocument/2006/relationships/notesMaster" Target="/ppt/notesMasters/notesMaster1.xml" Id="R4304904ed3e649d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29c9906b7514f66" /><Relationship Type="http://schemas.openxmlformats.org/officeDocument/2006/relationships/notesMaster" Target="/ppt/notesMasters/notesMaster1.xml" Id="R0a1105177581467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46b44d6df134f7f" /><Relationship Type="http://schemas.openxmlformats.org/officeDocument/2006/relationships/notesMaster" Target="/ppt/notesMasters/notesMaster1.xml" Id="R241bf4c885d5427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dd8ac1e0b854948" /><Relationship Type="http://schemas.openxmlformats.org/officeDocument/2006/relationships/notesMaster" Target="/ppt/notesMasters/notesMaster1.xml" Id="R42b8ab6ace3f428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24a5bb5887140c4" /><Relationship Type="http://schemas.openxmlformats.org/officeDocument/2006/relationships/notesMaster" Target="/ppt/notesMasters/notesMaster1.xml" Id="R26827e207fd5497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6957e9563974135" /><Relationship Type="http://schemas.openxmlformats.org/officeDocument/2006/relationships/notesMaster" Target="/ppt/notesMasters/notesMaster1.xml" Id="R5915e7db36084b6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8be9452a2d746a5" /><Relationship Type="http://schemas.openxmlformats.org/officeDocument/2006/relationships/notesMaster" Target="/ppt/notesMasters/notesMaster1.xml" Id="Rf0002cc2e739432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cbf591ac6544078" /><Relationship Type="http://schemas.openxmlformats.org/officeDocument/2006/relationships/notesMaster" Target="/ppt/notesMasters/notesMaster1.xml" Id="R4becbc5fefdd471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1c892f36ccd4576" /><Relationship Type="http://schemas.openxmlformats.org/officeDocument/2006/relationships/notesMaster" Target="/ppt/notesMasters/notesMaster1.xml" Id="R0ca140c4a03a457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080323c66c546fd" /><Relationship Type="http://schemas.openxmlformats.org/officeDocument/2006/relationships/notesMaster" Target="/ppt/notesMasters/notesMaster1.xml" Id="R72cc31edd76540e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29a0c624cf34b4c" /><Relationship Type="http://schemas.openxmlformats.org/officeDocument/2006/relationships/notesMaster" Target="/ppt/notesMasters/notesMaster1.xml" Id="Rcccb157e3d0b485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4f48e1882e0489d" /><Relationship Type="http://schemas.openxmlformats.org/officeDocument/2006/relationships/notesMaster" Target="/ppt/notesMasters/notesMaster1.xml" Id="Raf05596f49dd473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f25f943325f4be1" /><Relationship Type="http://schemas.openxmlformats.org/officeDocument/2006/relationships/notesMaster" Target="/ppt/notesMasters/notesMaster1.xml" Id="R0125c92571114c9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8851b15e0de41a5" /><Relationship Type="http://schemas.openxmlformats.org/officeDocument/2006/relationships/notesMaster" Target="/ppt/notesMasters/notesMaster1.xml" Id="R82e3572fffa34a2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a973dec6f71488d" /><Relationship Type="http://schemas.openxmlformats.org/officeDocument/2006/relationships/notesMaster" Target="/ppt/notesMasters/notesMaster1.xml" Id="Rb3db44aee00548c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85783b664fa4743" /><Relationship Type="http://schemas.openxmlformats.org/officeDocument/2006/relationships/notesMaster" Target="/ppt/notesMasters/notesMaster1.xml" Id="R94c9ace3e06f471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019ce4810c54d0d" /><Relationship Type="http://schemas.openxmlformats.org/officeDocument/2006/relationships/notesMaster" Target="/ppt/notesMasters/notesMaster1.xml" Id="Rf6061672ed434815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5e1675e3727a43c8" /><Relationship Type="http://schemas.openxmlformats.org/officeDocument/2006/relationships/notesMaster" Target="/ppt/notesMasters/notesMaster1.xml" Id="Rad68865a291d4721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c0739633ce4442df" /><Relationship Type="http://schemas.openxmlformats.org/officeDocument/2006/relationships/notesMaster" Target="/ppt/notesMasters/notesMaster1.xml" Id="Raa4140f0e2c145d8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f055a5480f58476f" /><Relationship Type="http://schemas.openxmlformats.org/officeDocument/2006/relationships/notesMaster" Target="/ppt/notesMasters/notesMaster1.xml" Id="Rbf9997c9baa14ea5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08ae439662624fd5" /><Relationship Type="http://schemas.openxmlformats.org/officeDocument/2006/relationships/notesMaster" Target="/ppt/notesMasters/notesMaster1.xml" Id="R0ccb20c5a67d423b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84deea6e924f4ee6" /><Relationship Type="http://schemas.openxmlformats.org/officeDocument/2006/relationships/notesMaster" Target="/ppt/notesMasters/notesMaster1.xml" Id="Rf3b4ed703b244ddd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c150710398bc4d73" /><Relationship Type="http://schemas.openxmlformats.org/officeDocument/2006/relationships/notesMaster" Target="/ppt/notesMasters/notesMaster1.xml" Id="R1b6e264bcdea45b4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f22915d92aea4a08" /><Relationship Type="http://schemas.openxmlformats.org/officeDocument/2006/relationships/notesMaster" Target="/ppt/notesMasters/notesMaster1.xml" Id="Rfbca88ed20964453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14b24dd8923a48b1" /><Relationship Type="http://schemas.openxmlformats.org/officeDocument/2006/relationships/notesMaster" Target="/ppt/notesMasters/notesMaster1.xml" Id="Rd43fcbf4891a4cde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5d549c6d97a64d0f" /><Relationship Type="http://schemas.openxmlformats.org/officeDocument/2006/relationships/notesMaster" Target="/ppt/notesMasters/notesMaster1.xml" Id="Rba6bef4b5f834636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c8ebf9e5c1aa4424" /><Relationship Type="http://schemas.openxmlformats.org/officeDocument/2006/relationships/notesMaster" Target="/ppt/notesMasters/notesMaster1.xml" Id="R8429801b1bce40ae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0a1438a1366f4684" /><Relationship Type="http://schemas.openxmlformats.org/officeDocument/2006/relationships/notesMaster" Target="/ppt/notesMasters/notesMaster1.xml" Id="Raa91cbadb1334f13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1a72343e73044b19" /><Relationship Type="http://schemas.openxmlformats.org/officeDocument/2006/relationships/notesMaster" Target="/ppt/notesMasters/notesMaster1.xml" Id="Rcb35591f9d3c4eaa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3a763e98f66c4677" /><Relationship Type="http://schemas.openxmlformats.org/officeDocument/2006/relationships/notesMaster" Target="/ppt/notesMasters/notesMaster1.xml" Id="R4a051715516c4f76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efbe2e2f24634a3c" /><Relationship Type="http://schemas.openxmlformats.org/officeDocument/2006/relationships/notesMaster" Target="/ppt/notesMasters/notesMaster1.xml" Id="R7d46928803cd4cb5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e51ca843c1c14606" /><Relationship Type="http://schemas.openxmlformats.org/officeDocument/2006/relationships/notesMaster" Target="/ppt/notesMasters/notesMaster1.xml" Id="R6a8dcae66699435e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27174ac0df7b46e6" /><Relationship Type="http://schemas.openxmlformats.org/officeDocument/2006/relationships/notesMaster" Target="/ppt/notesMasters/notesMaster1.xml" Id="Rd2836888eab241d0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25f3570366764adc" /><Relationship Type="http://schemas.openxmlformats.org/officeDocument/2006/relationships/notesMaster" Target="/ppt/notesMasters/notesMaster1.xml" Id="R7d73b6259bfb4eda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c47e702fb244448b" /><Relationship Type="http://schemas.openxmlformats.org/officeDocument/2006/relationships/notesMaster" Target="/ppt/notesMasters/notesMaster1.xml" Id="Rfb90c67329974d54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7a078e0ce6cf4503" /><Relationship Type="http://schemas.openxmlformats.org/officeDocument/2006/relationships/notesMaster" Target="/ppt/notesMasters/notesMaster1.xml" Id="R39022220f71f4655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0243e611dba34b4f" /><Relationship Type="http://schemas.openxmlformats.org/officeDocument/2006/relationships/notesMaster" Target="/ppt/notesMasters/notesMaster1.xml" Id="R942d34ba03bc48a8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8a00d62118084a54" /><Relationship Type="http://schemas.openxmlformats.org/officeDocument/2006/relationships/notesMaster" Target="/ppt/notesMasters/notesMaster1.xml" Id="Ra6cea76359df4962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bb588db459bd45b7" /><Relationship Type="http://schemas.openxmlformats.org/officeDocument/2006/relationships/notesMaster" Target="/ppt/notesMasters/notesMaster1.xml" Id="R7a331e6eb83d41d3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b3592eacec7a4838" /><Relationship Type="http://schemas.openxmlformats.org/officeDocument/2006/relationships/notesMaster" Target="/ppt/notesMasters/notesMaster1.xml" Id="R0e0d1d32e58349ae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6ae20b816bd94643" /><Relationship Type="http://schemas.openxmlformats.org/officeDocument/2006/relationships/notesMaster" Target="/ppt/notesMasters/notesMaster1.xml" Id="R08278fb4984c46c1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5b6c9d5f4bef449c" /><Relationship Type="http://schemas.openxmlformats.org/officeDocument/2006/relationships/notesMaster" Target="/ppt/notesMasters/notesMaster1.xml" Id="Rad7c13f92d444a3c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75c3739856f24744" /><Relationship Type="http://schemas.openxmlformats.org/officeDocument/2006/relationships/notesMaster" Target="/ppt/notesMasters/notesMaster1.xml" Id="R5745d8aa53234129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d7abcf45e6344069" /><Relationship Type="http://schemas.openxmlformats.org/officeDocument/2006/relationships/notesMaster" Target="/ppt/notesMasters/notesMaster1.xml" Id="Ra5488cef82bb4a30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c491e9644b134d4e" /><Relationship Type="http://schemas.openxmlformats.org/officeDocument/2006/relationships/notesMaster" Target="/ppt/notesMasters/notesMaster1.xml" Id="Re04c18c44d2c4ee9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283795bfa47047ec" /><Relationship Type="http://schemas.openxmlformats.org/officeDocument/2006/relationships/notesMaster" Target="/ppt/notesMasters/notesMaster1.xml" Id="R064beb4d49f5485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Use this slide as a section reset. Reveal syllabus bullets one by 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rows quickly and end on MISSING = 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roadmap by row and connect each unit to implementation.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one row at a time; ask students to justify the complexity from representation.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definition first, then label the visual.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Animate the operation sequence one step at a time.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precondition, update, and result separately.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Build the trace from left to right.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definition first, then label the visual.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Animate the operation sequence one step at a time.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precondition, update, and result separately.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Build the trace from left to right.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definition first, then label the visual.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Animate the operation sequence one step at a time.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precondition, update, and result separately.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Build the trace from left to right.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definition first, then label the visual.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Animate the operation sequence one step at a time.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precondition, update, and result separately.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Build the trace from left to right.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definition first, then label the visual.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Animate the operation sequence one step at a time.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precondition, update, and result separately.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Build the trace from left to right.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definition first, then label the visual.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Animate the operation sequence one step at a time.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precondition, update, and result separately.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Build the trace from left to right.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definition first, then label the visual.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Animate the operation sequence one step at a time.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precondition, update, and result separately.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Build the trace from left to right.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definition first, then label the visual.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Animate the operation sequence one step at a time.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precondition, update, and result separately.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Build the trace from left to right.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definition first, then label the visual.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Animate the operation sequence one step at a time.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precondition, update, and result separately.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Build the trace from left to right.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definition first, then label the visual.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Animate the operation sequence one step at a time.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precondition, update, and result separately.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Build the trace from left to right.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outer topics and ask students for one operation and one boundary case.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questions one by one. Ask students to sketch before answering.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one row at a time; ask students to justify the complexity from representation.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outer topics and ask students for one operation and one boundary case.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questions one by one. Ask students to sketch before answering.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Build the trace from left to right.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8912a49594407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1f72d249cce4092" /><Relationship Type="http://schemas.openxmlformats.org/officeDocument/2006/relationships/slideLayout" Target="/ppt/slideLayouts/slideLayout1.xml" Id="R2892ef146d274c5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892ef146d274c5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2ceb7f77774391" /><Relationship Type="http://schemas.openxmlformats.org/officeDocument/2006/relationships/notesSlide" Target="/ppt/notesSlides/notesSlide1.xml" Id="R4bf843e2b46f4dd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9da088b1524b63" /><Relationship Type="http://schemas.openxmlformats.org/officeDocument/2006/relationships/notesSlide" Target="/ppt/notesSlides/notesSlide2.xml" Id="Rfe8b0f6f070d409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b96b55e2334153" /><Relationship Type="http://schemas.openxmlformats.org/officeDocument/2006/relationships/notesSlide" Target="/ppt/notesSlides/notesSlide3.xml" Id="R29e83f54fac94b4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0ffedcd9584681" /><Relationship Type="http://schemas.openxmlformats.org/officeDocument/2006/relationships/notesSlide" Target="/ppt/notesSlides/notesSlide4.xml" Id="Re3ace2c9157142c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d323defd6c46dc" /><Relationship Type="http://schemas.openxmlformats.org/officeDocument/2006/relationships/notesSlide" Target="/ppt/notesSlides/notesSlide5.xml" Id="Rf817149053ac45c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b8f480d9c54986" /><Relationship Type="http://schemas.openxmlformats.org/officeDocument/2006/relationships/notesSlide" Target="/ppt/notesSlides/notesSlide6.xml" Id="Rf28e7ba8927a460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ae7c8f05e447af" /><Relationship Type="http://schemas.openxmlformats.org/officeDocument/2006/relationships/notesSlide" Target="/ppt/notesSlides/notesSlide7.xml" Id="Reef302b2411c4a5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05cdff8b724252" /><Relationship Type="http://schemas.openxmlformats.org/officeDocument/2006/relationships/notesSlide" Target="/ppt/notesSlides/notesSlide8.xml" Id="Rf01dc621ba0047c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bd5ea15b584759" /><Relationship Type="http://schemas.openxmlformats.org/officeDocument/2006/relationships/notesSlide" Target="/ppt/notesSlides/notesSlide9.xml" Id="R35b03b03d30d419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a564db0f7140a1" /><Relationship Type="http://schemas.openxmlformats.org/officeDocument/2006/relationships/notesSlide" Target="/ppt/notesSlides/notesSlide10.xml" Id="Rf85e7f2b67a94f2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4ac06c4ebd4101" /><Relationship Type="http://schemas.openxmlformats.org/officeDocument/2006/relationships/notesSlide" Target="/ppt/notesSlides/notesSlide11.xml" Id="Rd7f9cbd42bcd47e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305140fbad4f58" /><Relationship Type="http://schemas.openxmlformats.org/officeDocument/2006/relationships/notesSlide" Target="/ppt/notesSlides/notesSlide12.xml" Id="Rb0b9ae458b42439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d825fa7c2c47ea" /><Relationship Type="http://schemas.openxmlformats.org/officeDocument/2006/relationships/notesSlide" Target="/ppt/notesSlides/notesSlide13.xml" Id="Rbdc092b2fb6746a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ed3dd3f055447f" /><Relationship Type="http://schemas.openxmlformats.org/officeDocument/2006/relationships/notesSlide" Target="/ppt/notesSlides/notesSlide14.xml" Id="Rd4e5d051ff264ed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81d0e5ad1b44ba" /><Relationship Type="http://schemas.openxmlformats.org/officeDocument/2006/relationships/notesSlide" Target="/ppt/notesSlides/notesSlide15.xml" Id="R220c94479af24fe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0598e146d34df9" /><Relationship Type="http://schemas.openxmlformats.org/officeDocument/2006/relationships/notesSlide" Target="/ppt/notesSlides/notesSlide16.xml" Id="Rfc56519adfe1438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64d7ab00c0472f" /><Relationship Type="http://schemas.openxmlformats.org/officeDocument/2006/relationships/notesSlide" Target="/ppt/notesSlides/notesSlide17.xml" Id="R48113a68996c405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da22ff324543a4" /><Relationship Type="http://schemas.openxmlformats.org/officeDocument/2006/relationships/notesSlide" Target="/ppt/notesSlides/notesSlide18.xml" Id="R173c640080ad424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5822fa67e24af3" /><Relationship Type="http://schemas.openxmlformats.org/officeDocument/2006/relationships/notesSlide" Target="/ppt/notesSlides/notesSlide19.xml" Id="R6588fcaab04e405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21617e853f4d80" /><Relationship Type="http://schemas.openxmlformats.org/officeDocument/2006/relationships/notesSlide" Target="/ppt/notesSlides/notesSlide20.xml" Id="Rcbf55ec89acd4234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4838ff83f24aec" /><Relationship Type="http://schemas.openxmlformats.org/officeDocument/2006/relationships/notesSlide" Target="/ppt/notesSlides/notesSlide21.xml" Id="R041d6ffd12874cac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d18fe1a111488a" /><Relationship Type="http://schemas.openxmlformats.org/officeDocument/2006/relationships/notesSlide" Target="/ppt/notesSlides/notesSlide22.xml" Id="R6a9b39dc1bae4b6f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1bbe32fba74e4a" /><Relationship Type="http://schemas.openxmlformats.org/officeDocument/2006/relationships/notesSlide" Target="/ppt/notesSlides/notesSlide23.xml" Id="Rd326907c63d44a5e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c8499df2134f68" /><Relationship Type="http://schemas.openxmlformats.org/officeDocument/2006/relationships/notesSlide" Target="/ppt/notesSlides/notesSlide24.xml" Id="R54343bf61b3e41d5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cccafac41141ec" /><Relationship Type="http://schemas.openxmlformats.org/officeDocument/2006/relationships/notesSlide" Target="/ppt/notesSlides/notesSlide25.xml" Id="R99c7ea77967c4e52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3c0deffaea499d" /><Relationship Type="http://schemas.openxmlformats.org/officeDocument/2006/relationships/notesSlide" Target="/ppt/notesSlides/notesSlide26.xml" Id="R300603ed665b45d6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b42c2087c74f5a" /><Relationship Type="http://schemas.openxmlformats.org/officeDocument/2006/relationships/notesSlide" Target="/ppt/notesSlides/notesSlide27.xml" Id="R7198d2f97528418c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c0f805cb1b480a" /><Relationship Type="http://schemas.openxmlformats.org/officeDocument/2006/relationships/notesSlide" Target="/ppt/notesSlides/notesSlide28.xml" Id="R60ed84b552624e62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8ee10138204883" /><Relationship Type="http://schemas.openxmlformats.org/officeDocument/2006/relationships/notesSlide" Target="/ppt/notesSlides/notesSlide29.xml" Id="R2ce6dabfb6494072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743692a57b4bc9" /><Relationship Type="http://schemas.openxmlformats.org/officeDocument/2006/relationships/notesSlide" Target="/ppt/notesSlides/notesSlide30.xml" Id="Rb6529871cb424d57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ffa25965034125" /><Relationship Type="http://schemas.openxmlformats.org/officeDocument/2006/relationships/notesSlide" Target="/ppt/notesSlides/notesSlide31.xml" Id="R081d6ff6bec14009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0af4db39204389" /><Relationship Type="http://schemas.openxmlformats.org/officeDocument/2006/relationships/notesSlide" Target="/ppt/notesSlides/notesSlide32.xml" Id="Rb44cd924cb6447e4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a53864b3824845" /><Relationship Type="http://schemas.openxmlformats.org/officeDocument/2006/relationships/notesSlide" Target="/ppt/notesSlides/notesSlide33.xml" Id="R82f5706a5a654db2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e8a1ad375d47ea" /><Relationship Type="http://schemas.openxmlformats.org/officeDocument/2006/relationships/notesSlide" Target="/ppt/notesSlides/notesSlide34.xml" Id="Rbdbfb0e4040942fd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504c76fe4545fd" /><Relationship Type="http://schemas.openxmlformats.org/officeDocument/2006/relationships/notesSlide" Target="/ppt/notesSlides/notesSlide35.xml" Id="R368a7c096d6d4d5b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c0a156d90e4553" /><Relationship Type="http://schemas.openxmlformats.org/officeDocument/2006/relationships/notesSlide" Target="/ppt/notesSlides/notesSlide36.xml" Id="R3ee28c1b6b24406d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c551bd774345ec" /><Relationship Type="http://schemas.openxmlformats.org/officeDocument/2006/relationships/notesSlide" Target="/ppt/notesSlides/notesSlide37.xml" Id="Rbcd891ecc5a943b2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0084b5d13d44c7" /><Relationship Type="http://schemas.openxmlformats.org/officeDocument/2006/relationships/notesSlide" Target="/ppt/notesSlides/notesSlide38.xml" Id="R2033bf7b54ab44e5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5f35a9770c4a57" /><Relationship Type="http://schemas.openxmlformats.org/officeDocument/2006/relationships/notesSlide" Target="/ppt/notesSlides/notesSlide39.xml" Id="R0c53a23fb4a8459e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595158093a40ee" /><Relationship Type="http://schemas.openxmlformats.org/officeDocument/2006/relationships/notesSlide" Target="/ppt/notesSlides/notesSlide40.xml" Id="R8fdba5bda32e439e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cdd9f1694b497a" /><Relationship Type="http://schemas.openxmlformats.org/officeDocument/2006/relationships/notesSlide" Target="/ppt/notesSlides/notesSlide41.xml" Id="R1404186b531f4b41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419f3772c949cb" /><Relationship Type="http://schemas.openxmlformats.org/officeDocument/2006/relationships/notesSlide" Target="/ppt/notesSlides/notesSlide42.xml" Id="R020c96b11b9c4fb2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cf34338f10420e" /><Relationship Type="http://schemas.openxmlformats.org/officeDocument/2006/relationships/notesSlide" Target="/ppt/notesSlides/notesSlide43.xml" Id="Re212bcb035524e88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c64007e2c34929" /><Relationship Type="http://schemas.openxmlformats.org/officeDocument/2006/relationships/notesSlide" Target="/ppt/notesSlides/notesSlide44.xml" Id="R9a92f36e0bca4e7c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29bca42c454211" /><Relationship Type="http://schemas.openxmlformats.org/officeDocument/2006/relationships/notesSlide" Target="/ppt/notesSlides/notesSlide45.xml" Id="R62ebb1cde14d4d9f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28a932d4764f82" /><Relationship Type="http://schemas.openxmlformats.org/officeDocument/2006/relationships/notesSlide" Target="/ppt/notesSlides/notesSlide46.xml" Id="R350291ead0fb4e11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410b2920704c42" /><Relationship Type="http://schemas.openxmlformats.org/officeDocument/2006/relationships/notesSlide" Target="/ppt/notesSlides/notesSlide47.xml" Id="Rf167138d46274985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394d0eaf1b46e7" /><Relationship Type="http://schemas.openxmlformats.org/officeDocument/2006/relationships/notesSlide" Target="/ppt/notesSlides/notesSlide48.xml" Id="Ra1720aacb9f044ac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e715bf294d4126" /><Relationship Type="http://schemas.openxmlformats.org/officeDocument/2006/relationships/notesSlide" Target="/ppt/notesSlides/notesSlide49.xml" Id="Rf6d65967354c40bc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09492b596c46b9" /><Relationship Type="http://schemas.openxmlformats.org/officeDocument/2006/relationships/notesSlide" Target="/ppt/notesSlides/notesSlide50.xml" Id="R21667704efee4fa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B98643-5436-43EC-B0B5-5EDDEFE4F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19150"/>
            <a:ext cx="314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7C3AED"/>
                </a:solidFill>
              </a:defRPr>
            </a:pPr>
            <a:r>
              <a:rPr sz="3750" b="1">
                <a:solidFill>
                  <a:srgbClr val="7C3AED"/>
                </a:solidFill>
              </a:rPr>
              <a:t>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C734F0-8828-435B-8F8E-5CC1600B6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43050"/>
            <a:ext cx="7620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033"/>
                </a:solidFill>
              </a:defRPr>
            </a:pPr>
            <a:r>
              <a:rPr sz="2850" b="1">
                <a:solidFill>
                  <a:srgbClr val="102033"/>
                </a:solidFill>
              </a:rPr>
              <a:t>Circular Queues, Multiple Stacks and Queues, and Linked Lists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EE312D-8DB8-4DB1-A13A-2AA536BD8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9 teaching hours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69BE0F-C34D-42B7-8567-7FF7DB58E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00450"/>
            <a:ext cx="5143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033"/>
                </a:solidFill>
              </a:defRPr>
            </a:pPr>
            <a:r>
              <a:rPr sz="1500" b="0">
                <a:solidFill>
                  <a:srgbClr val="102033"/>
                </a:solidFill>
              </a:rPr>
              <a:t>• Circular queues</a:t>
            </a:r>
          </a:p>
          <a:p xmlns:a="http://schemas.openxmlformats.org/drawingml/2006/main">
            <a:pPr algn="l">
              <a:defRPr sz="1500" b="0">
                <a:solidFill>
                  <a:srgbClr val="102033"/>
                </a:solidFill>
              </a:defRPr>
            </a:pPr>
            <a:r>
              <a:rPr sz="1500" b="0">
                <a:solidFill>
                  <a:srgbClr val="102033"/>
                </a:solidFill>
              </a:rPr>
              <a:t>• Circular queues using dynamic arrays</a:t>
            </a:r>
          </a:p>
          <a:p xmlns:a="http://schemas.openxmlformats.org/drawingml/2006/main">
            <a:pPr algn="l">
              <a:defRPr sz="1500" b="0">
                <a:solidFill>
                  <a:srgbClr val="102033"/>
                </a:solidFill>
              </a:defRPr>
            </a:pPr>
            <a:r>
              <a:rPr sz="1500" b="0">
                <a:solidFill>
                  <a:srgbClr val="102033"/>
                </a:solidFill>
              </a:rPr>
              <a:t>• Multiple stacks and queues</a:t>
            </a:r>
          </a:p>
          <a:p xmlns:a="http://schemas.openxmlformats.org/drawingml/2006/main">
            <a:pPr algn="l">
              <a:defRPr sz="1500" b="0">
                <a:solidFill>
                  <a:srgbClr val="102033"/>
                </a:solidFill>
              </a:defRPr>
            </a:pPr>
            <a:r>
              <a:rPr sz="1500" b="0">
                <a:solidFill>
                  <a:srgbClr val="102033"/>
                </a:solidFill>
              </a:rPr>
              <a:t>• Singly linked lists and chains</a:t>
            </a:r>
          </a:p>
          <a:p xmlns:a="http://schemas.openxmlformats.org/drawingml/2006/main">
            <a:pPr algn="l">
              <a:defRPr sz="1500" b="0">
                <a:solidFill>
                  <a:srgbClr val="102033"/>
                </a:solidFill>
              </a:defRPr>
            </a:pPr>
            <a:r>
              <a:rPr sz="1500" b="0">
                <a:solidFill>
                  <a:srgbClr val="102033"/>
                </a:solidFill>
              </a:rPr>
              <a:t>• Representing chains in C</a:t>
            </a:r>
          </a:p>
          <a:p xmlns:a="http://schemas.openxmlformats.org/drawingml/2006/main">
            <a:pPr algn="l">
              <a:defRPr sz="1500" b="0">
                <a:solidFill>
                  <a:srgbClr val="102033"/>
                </a:solidFill>
              </a:defRPr>
            </a:pPr>
            <a:r>
              <a:rPr sz="1500" b="0">
                <a:solidFill>
                  <a:srgbClr val="102033"/>
                </a:solidFill>
              </a:rPr>
              <a:t>• Linked stacks and queues</a:t>
            </a:r>
          </a:p>
          <a:p xmlns:a="http://schemas.openxmlformats.org/drawingml/2006/main">
            <a:pPr algn="l">
              <a:defRPr sz="1500" b="0">
                <a:solidFill>
                  <a:srgbClr val="102033"/>
                </a:solidFill>
              </a:defRPr>
            </a:pPr>
            <a:r>
              <a:rPr sz="1500" b="0">
                <a:solidFill>
                  <a:srgbClr val="102033"/>
                </a:solidFill>
              </a:rPr>
              <a:t>• Additional list operations</a:t>
            </a:r>
          </a:p>
          <a:p xmlns:a="http://schemas.openxmlformats.org/drawingml/2006/main">
            <a:pPr algn="l">
              <a:defRPr sz="1500" b="0">
                <a:solidFill>
                  <a:srgbClr val="102033"/>
                </a:solidFill>
              </a:defRPr>
            </a:pPr>
            <a:r>
              <a:rPr sz="1500" b="0">
                <a:solidFill>
                  <a:srgbClr val="102033"/>
                </a:solidFill>
              </a:rPr>
              <a:t>• Sparse matrix representation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6A6BB5-5B54-4A03-A915-AAE6130BC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152650"/>
            <a:ext cx="1333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834D03-8CEB-4A3A-A500-DC5E64EAB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743200"/>
            <a:ext cx="1333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F2D3AA-09CC-4BF8-8FE1-04C5A2658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333750"/>
            <a:ext cx="1333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318406-ACB4-4860-A762-D53A712BD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924300"/>
            <a:ext cx="1333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377AE7-2DAB-4F3F-A2E6-1AF3859E5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8196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Push and pop happen only at top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D44FFE-171D-4120-BA40-62B360296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3 • 01/50</a:t>
            </a:r>
          </a:p>
        </p:txBody>
      </p:sp>
    </p:spTree>
    <p:extLst>
      <p:ext uri="{BB962C8B-B14F-4D97-AF65-F5344CB8AC3E}">
        <p14:creationId xmlns:p14="http://schemas.microsoft.com/office/powerpoint/2010/main" val="12342555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65AD380-A515-4622-95F9-FA7A1C3D3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COVERED / MISSING = 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EFA920-A99B-449F-AAC1-2DD9F9CBE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Module 3 syllabus audit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AD6931-C9B9-4FC1-A743-394F7B536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9625B4-B071-4685-845E-C2E03C2D5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47800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C3AED"/>
                </a:solidFill>
              </a:defRPr>
            </a:pPr>
            <a:r>
              <a:rPr sz="1125" b="1">
                <a:solidFill>
                  <a:srgbClr val="7C3AED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890AA9-E60E-4223-9FE6-8E5AE6E85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4478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C3AED"/>
                </a:solidFill>
              </a:defRPr>
            </a:pPr>
            <a:r>
              <a:rPr sz="1125" b="1">
                <a:solidFill>
                  <a:srgbClr val="7C3AED"/>
                </a:solidFill>
              </a:rPr>
              <a:t>Source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20F17E-5606-4619-BF6B-A1873EBEC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4478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C3AED"/>
                </a:solidFill>
              </a:defRPr>
            </a:pPr>
            <a:r>
              <a:rPr sz="1125" b="1">
                <a:solidFill>
                  <a:srgbClr val="7C3AED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2BACFD-BD84-4910-9A40-A7AB06AB4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561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033"/>
                </a:solidFill>
              </a:defRPr>
            </a:pPr>
            <a:r>
              <a:rPr sz="1050" b="0">
                <a:solidFill>
                  <a:srgbClr val="102033"/>
                </a:solidFill>
              </a:rPr>
              <a:t>1. Circular queues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A2C932-45F9-47CB-97D2-98234B6AC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8097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71"/>
                </a:solidFill>
              </a:defRPr>
            </a:pPr>
            <a:r>
              <a:rPr sz="900" b="0">
                <a:solidFill>
                  <a:srgbClr val="526071"/>
                </a:solidFill>
              </a:rPr>
              <a:t>Syllabus + textbook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2AE14E-CDB5-4A01-82C2-52C68BFC3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8097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A34A"/>
                </a:solidFill>
              </a:defRPr>
            </a:pPr>
            <a:r>
              <a:rPr sz="900" b="1">
                <a:solidFill>
                  <a:srgbClr val="16A34A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B50A1B-AA34-4300-9378-3A7DBAFE8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71700"/>
            <a:ext cx="561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033"/>
                </a:solidFill>
              </a:defRPr>
            </a:pPr>
            <a:r>
              <a:rPr sz="1050" b="0">
                <a:solidFill>
                  <a:srgbClr val="102033"/>
                </a:solidFill>
              </a:rPr>
              <a:t>2. Circular queues using dynamic arrays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A6B04B-D10B-4545-9734-1F4659876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1717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71"/>
                </a:solidFill>
              </a:defRPr>
            </a:pPr>
            <a:r>
              <a:rPr sz="900" b="0">
                <a:solidFill>
                  <a:srgbClr val="526071"/>
                </a:solidFill>
              </a:rPr>
              <a:t>Syllabus + textbook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D9C5E1-C81F-4833-A0DA-185A84FDD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1717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A34A"/>
                </a:solidFill>
              </a:defRPr>
            </a:pPr>
            <a:r>
              <a:rPr sz="900" b="1">
                <a:solidFill>
                  <a:srgbClr val="16A34A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33762C-0CFC-4324-AB9A-D266D2138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33650"/>
            <a:ext cx="561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033"/>
                </a:solidFill>
              </a:defRPr>
            </a:pPr>
            <a:r>
              <a:rPr sz="1050" b="0">
                <a:solidFill>
                  <a:srgbClr val="102033"/>
                </a:solidFill>
              </a:rPr>
              <a:t>3. Multiple stacks and queues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52D716-F545-41B4-898F-034B4D918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5336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71"/>
                </a:solidFill>
              </a:defRPr>
            </a:pPr>
            <a:r>
              <a:rPr sz="900" b="0">
                <a:solidFill>
                  <a:srgbClr val="526071"/>
                </a:solidFill>
              </a:rPr>
              <a:t>Syllabus + textbook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FF4916-D769-4754-9473-3BB4DF315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533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A34A"/>
                </a:solidFill>
              </a:defRPr>
            </a:pPr>
            <a:r>
              <a:rPr sz="900" b="1">
                <a:solidFill>
                  <a:srgbClr val="16A34A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965EFA-1ED7-4221-9048-8024C0861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95600"/>
            <a:ext cx="561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033"/>
                </a:solidFill>
              </a:defRPr>
            </a:pPr>
            <a:r>
              <a:rPr sz="1050" b="0">
                <a:solidFill>
                  <a:srgbClr val="102033"/>
                </a:solidFill>
              </a:rPr>
              <a:t>4. Singly linked lists and chains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88E361-0068-45C5-8B76-A8CCDA032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8956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71"/>
                </a:solidFill>
              </a:defRPr>
            </a:pPr>
            <a:r>
              <a:rPr sz="900" b="0">
                <a:solidFill>
                  <a:srgbClr val="526071"/>
                </a:solidFill>
              </a:rPr>
              <a:t>Syllabus + textbook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726B8C-2F2B-47DA-B8B0-2C02F531B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8956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A34A"/>
                </a:solidFill>
              </a:defRPr>
            </a:pPr>
            <a:r>
              <a:rPr sz="900" b="1">
                <a:solidFill>
                  <a:srgbClr val="16A34A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CC6796-4E8E-4029-8435-8FE5BD174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57550"/>
            <a:ext cx="561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033"/>
                </a:solidFill>
              </a:defRPr>
            </a:pPr>
            <a:r>
              <a:rPr sz="1050" b="0">
                <a:solidFill>
                  <a:srgbClr val="102033"/>
                </a:solidFill>
              </a:rPr>
              <a:t>5. Representing chains in C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7A9B4C-7C08-449F-B593-523DFDEA8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2575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71"/>
                </a:solidFill>
              </a:defRPr>
            </a:pPr>
            <a:r>
              <a:rPr sz="900" b="0">
                <a:solidFill>
                  <a:srgbClr val="526071"/>
                </a:solidFill>
              </a:rPr>
              <a:t>Syllabus + textbook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A7F39B-86A8-4F4B-AEEB-75EAB55F0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2575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A34A"/>
                </a:solidFill>
              </a:defRPr>
            </a:pPr>
            <a:r>
              <a:rPr sz="900" b="1">
                <a:solidFill>
                  <a:srgbClr val="16A34A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DF6609-DBE3-469E-8814-0F9AF5AF9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19500"/>
            <a:ext cx="561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033"/>
                </a:solidFill>
              </a:defRPr>
            </a:pPr>
            <a:r>
              <a:rPr sz="1050" b="0">
                <a:solidFill>
                  <a:srgbClr val="102033"/>
                </a:solidFill>
              </a:rPr>
              <a:t>6. Linked stacks and queues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1C4B53-5F6A-411A-ACA3-F1154B809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6195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71"/>
                </a:solidFill>
              </a:defRPr>
            </a:pPr>
            <a:r>
              <a:rPr sz="900" b="0">
                <a:solidFill>
                  <a:srgbClr val="526071"/>
                </a:solidFill>
              </a:rPr>
              <a:t>Syllabus + textbook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C4CEB8-9023-4323-8543-51580C4C6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6195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A34A"/>
                </a:solidFill>
              </a:defRPr>
            </a:pPr>
            <a:r>
              <a:rPr sz="900" b="1">
                <a:solidFill>
                  <a:srgbClr val="16A34A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C360B3-E7E2-4449-8604-66C0BE4CF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81450"/>
            <a:ext cx="561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033"/>
                </a:solidFill>
              </a:defRPr>
            </a:pPr>
            <a:r>
              <a:rPr sz="1050" b="0">
                <a:solidFill>
                  <a:srgbClr val="102033"/>
                </a:solidFill>
              </a:rPr>
              <a:t>7. Additional list operations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F3DB61-29EE-43FC-AEC3-99F6AB23A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9814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71"/>
                </a:solidFill>
              </a:defRPr>
            </a:pPr>
            <a:r>
              <a:rPr sz="900" b="0">
                <a:solidFill>
                  <a:srgbClr val="526071"/>
                </a:solidFill>
              </a:rPr>
              <a:t>Syllabus + textbook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6700674-6CEC-4C63-9294-1885FD4FC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981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A34A"/>
                </a:solidFill>
              </a:defRPr>
            </a:pPr>
            <a:r>
              <a:rPr sz="900" b="1">
                <a:solidFill>
                  <a:srgbClr val="16A34A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F25E78A-7325-4806-B87F-471C8DCE2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43400"/>
            <a:ext cx="561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033"/>
                </a:solidFill>
              </a:defRPr>
            </a:pPr>
            <a:r>
              <a:rPr sz="1050" b="0">
                <a:solidFill>
                  <a:srgbClr val="102033"/>
                </a:solidFill>
              </a:rPr>
              <a:t>8. Sparse matrix representation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2112277-689F-499A-94DD-628EE3E04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3434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71"/>
                </a:solidFill>
              </a:defRPr>
            </a:pPr>
            <a:r>
              <a:rPr sz="900" b="0">
                <a:solidFill>
                  <a:srgbClr val="526071"/>
                </a:solidFill>
              </a:rPr>
              <a:t>Syllabus + textbook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57502A5-94EA-4AC5-BEF8-D5D7231EB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3434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A34A"/>
                </a:solidFill>
              </a:defRPr>
            </a:pPr>
            <a:r>
              <a:rPr sz="900" b="1">
                <a:solidFill>
                  <a:srgbClr val="16A34A"/>
                </a:solidFill>
              </a:rPr>
              <a:t>COVERED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60BAE43-EAF9-4A80-BFEA-BA4D54473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05350"/>
            <a:ext cx="561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033"/>
                </a:solidFill>
              </a:defRPr>
            </a:pPr>
            <a:r>
              <a:rPr sz="1050" b="0">
                <a:solidFill>
                  <a:srgbClr val="102033"/>
                </a:solidFill>
              </a:rPr>
              <a:t>9. Doubly linked list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83AE177-BF3B-4174-BB81-36F2117C0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7053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71"/>
                </a:solidFill>
              </a:defRPr>
            </a:pPr>
            <a:r>
              <a:rPr sz="900" b="0">
                <a:solidFill>
                  <a:srgbClr val="526071"/>
                </a:solidFill>
              </a:rPr>
              <a:t>Syllabus + textbook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A057723-F475-44FD-8170-BF1DB6378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7053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A34A"/>
                </a:solidFill>
              </a:defRPr>
            </a:pPr>
            <a:r>
              <a:rPr sz="900" b="1">
                <a:solidFill>
                  <a:srgbClr val="16A34A"/>
                </a:solidFill>
              </a:rPr>
              <a:t>COVERED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9730BBC-E572-4DA0-95E3-8AEA26C26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5953125"/>
            <a:ext cx="4762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Final status: no missing topics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3AC9FE4-E19D-45C2-B198-9CB745DD4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3 • 02/50</a:t>
            </a:r>
          </a:p>
        </p:txBody>
      </p:sp>
    </p:spTree>
    <p:extLst>
      <p:ext uri="{BB962C8B-B14F-4D97-AF65-F5344CB8AC3E}">
        <p14:creationId xmlns:p14="http://schemas.microsoft.com/office/powerpoint/2010/main" val="187685075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58B4B8-55CE-4203-9ABA-EEF0758AC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Teaching sequence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AFF144-42EF-4028-BF35-8FC18B4E1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Roadmap for Module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CB7412-7B38-4F92-91A2-9859A686F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2C997C-F8C5-4655-ADEA-D594BB1A0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1809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1. Circular queue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00829D-9415-4F1B-8BF4-502537EF8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095500"/>
            <a:ext cx="1809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2. Dynamic circular queue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493E97-649C-4411-B62E-A615CB440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095500"/>
            <a:ext cx="1809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3. Multiple stacks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EEB7EC-C030-4EF1-A186-57B2326AE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095500"/>
            <a:ext cx="1809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4. Multiple queues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CD96C3-8CA0-43D2-96C7-6FFC4CA04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095500"/>
            <a:ext cx="1809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5. Singly linked list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217731-7092-4F91-898F-EA4396769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1809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6. Chains in 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236718-286D-4DDE-8E32-73DEF4364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390900"/>
            <a:ext cx="1809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7. Linked stack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8C49B3-5101-40AB-9769-446642A63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390900"/>
            <a:ext cx="1809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8. Linked queue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FEDE29-4729-41AD-A485-F662269B3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390900"/>
            <a:ext cx="1809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9. Additional list operations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95939F-E01E-48F3-8350-4F0220EC3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390900"/>
            <a:ext cx="1809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10. Doubly linked list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81D1F7-1230-4B9F-A600-316B134FB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353050"/>
            <a:ext cx="7858125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Each topic becomes: concept -&gt; operations -&gt; algorithm -&gt; example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330BAE-E913-4166-8C3A-B0A719604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3 • 03/50</a:t>
            </a:r>
          </a:p>
        </p:txBody>
      </p:sp>
    </p:spTree>
    <p:extLst>
      <p:ext uri="{BB962C8B-B14F-4D97-AF65-F5344CB8AC3E}">
        <p14:creationId xmlns:p14="http://schemas.microsoft.com/office/powerpoint/2010/main" val="98503864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4E33EB-FF3B-4CCF-9FFA-D47C2666E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Exam quick reference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6EBC40-7C59-4FCF-8C71-04F5B650A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Module 3 complexity checkpoints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5CC05F-5CB2-441C-B630-08C58DFE8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2EC2A6-F308-4F88-A1A2-7D822B368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3143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Circular queue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49BBE0-E837-4DCB-8B9E-68DB87270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7640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</a:defRPr>
            </a:pPr>
            <a:r>
              <a:rPr sz="1500" b="1">
                <a:solidFill>
                  <a:srgbClr val="102033"/>
                </a:solidFill>
              </a:rPr>
              <a:t>O(1) core access or pointer update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A50B4F-9180-47EC-95F1-DF2C730D6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6764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033"/>
                </a:solidFill>
              </a:defRPr>
            </a:pPr>
            <a:r>
              <a:rPr sz="1425" b="0">
                <a:solidFill>
                  <a:srgbClr val="102033"/>
                </a:solidFill>
              </a:rPr>
              <a:t>Representation decides cost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2D4FE8-5B37-4832-8693-568045DFD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24100"/>
            <a:ext cx="3143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Dynamic circular queue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873112-64C6-4A1D-898C-4883C0DD1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6220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</a:defRPr>
            </a:pPr>
            <a:r>
              <a:rPr sz="1500" b="1">
                <a:solidFill>
                  <a:srgbClr val="102033"/>
                </a:solidFill>
              </a:rPr>
              <a:t>O(n) scan/update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AECDDF-45F3-4D3A-9841-A4FCE3E9B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622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033"/>
                </a:solidFill>
              </a:defRPr>
            </a:pPr>
            <a:r>
              <a:rPr sz="1425" b="0">
                <a:solidFill>
                  <a:srgbClr val="102033"/>
                </a:solidFill>
              </a:rPr>
              <a:t>Watch boundary cases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6E459D-7BAE-4DB7-B118-333B7ACAB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9900"/>
            <a:ext cx="3143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Multiple stacks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0A5F74-5097-4F32-A0E6-CEF22B3A5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4800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</a:defRPr>
            </a:pPr>
            <a:r>
              <a:rPr sz="1500" b="1">
                <a:solidFill>
                  <a:srgbClr val="102033"/>
                </a:solidFill>
              </a:rPr>
              <a:t>O(1) core access or pointer update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296E29-AD00-48D7-93BD-48E8A05E5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033"/>
                </a:solidFill>
              </a:defRPr>
            </a:pPr>
            <a:r>
              <a:rPr sz="1425" b="0">
                <a:solidFill>
                  <a:srgbClr val="102033"/>
                </a:solidFill>
              </a:rPr>
              <a:t>Watch boundary cases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175E5D-8438-4992-B9DA-660AECA3D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95700"/>
            <a:ext cx="3143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Multiple queues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CF0780-BFF4-46C6-B3CB-3C556466E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3380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</a:defRPr>
            </a:pPr>
            <a:r>
              <a:rPr sz="1500" b="1">
                <a:solidFill>
                  <a:srgbClr val="102033"/>
                </a:solidFill>
              </a:rPr>
              <a:t>O(n) scan/update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E77656-C5E6-4B35-82BC-7EA2F5279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7338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033"/>
                </a:solidFill>
              </a:defRPr>
            </a:pPr>
            <a:r>
              <a:rPr sz="1425" b="0">
                <a:solidFill>
                  <a:srgbClr val="102033"/>
                </a:solidFill>
              </a:rPr>
              <a:t>Representation decides cost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31A180-B208-4C11-BB51-D1A7383F9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81500"/>
            <a:ext cx="3143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Singly linked list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47E2A9-45CA-4719-A4C6-76858A233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41960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</a:defRPr>
            </a:pPr>
            <a:r>
              <a:rPr sz="1500" b="1">
                <a:solidFill>
                  <a:srgbClr val="102033"/>
                </a:solidFill>
              </a:rPr>
              <a:t>O(1) core access or pointer update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1C662E-4384-463C-863A-C5476295F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4196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033"/>
                </a:solidFill>
              </a:defRPr>
            </a:pPr>
            <a:r>
              <a:rPr sz="1425" b="0">
                <a:solidFill>
                  <a:srgbClr val="102033"/>
                </a:solidFill>
              </a:rPr>
              <a:t>Watch boundary cases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186E72-BBB6-4F9E-A6C4-4C358C5CB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67300"/>
            <a:ext cx="3143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Chains in C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F32777-6D08-47EC-A056-99372D02E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10540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</a:defRPr>
            </a:pPr>
            <a:r>
              <a:rPr sz="1500" b="1">
                <a:solidFill>
                  <a:srgbClr val="102033"/>
                </a:solidFill>
              </a:rPr>
              <a:t>O(n) scan/update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8961E6-6FA6-4742-8325-001F8B870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1054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033"/>
                </a:solidFill>
              </a:defRPr>
            </a:pPr>
            <a:r>
              <a:rPr sz="1425" b="0">
                <a:solidFill>
                  <a:srgbClr val="102033"/>
                </a:solidFill>
              </a:rPr>
              <a:t>Watch boundary cases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CE9C08-A862-4599-91D1-CA9DEC27A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3 • 04/50</a:t>
            </a:r>
          </a:p>
        </p:txBody>
      </p:sp>
    </p:spTree>
    <p:extLst>
      <p:ext uri="{BB962C8B-B14F-4D97-AF65-F5344CB8AC3E}">
        <p14:creationId xmlns:p14="http://schemas.microsoft.com/office/powerpoint/2010/main" val="205076386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3F043A-DA37-4E8E-90E7-EF8C20E06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3 / Circular Queues, Multiple Stacks and Queues, and Linked Lists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3989BD-E9C2-43FE-AE76-AE645148C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Circular queue: core idea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1A57D3-46FF-4D2B-8A18-E0980792F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958252-1B2F-41C6-BBE9-39F2977D9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A circular queue reuses freed array positions by wrapping indices.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8B7A48-40D8-48C3-801B-CEFC847F4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wrap around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front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rear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modulo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72C4DD-AC18-497A-AAD8-364D4ED85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277F9C-9C54-48D3-A3BD-90F5AE051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Modulo arithmetic removes linear queue wastage.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5C5CB0-E9F0-4C15-9E07-5C7440F1C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057525"/>
            <a:ext cx="7810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front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96374A-690F-499E-AE66-E24AA8BD1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3057525"/>
            <a:ext cx="7810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job1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CEAAC3-BA8D-4871-9877-5535E4033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057525"/>
            <a:ext cx="7810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job2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828371-BD97-4045-A855-02C61B8B2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3057525"/>
            <a:ext cx="7810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job3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9D44A0-4EB8-4341-911B-FD9010F88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3057525"/>
            <a:ext cx="7810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rear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ED9FE3-D160-44C7-BCB9-81A2EC245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438650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FIFO: first inserted, first deleted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B9E0FF-95BE-40C5-B31E-8A482119B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3 • 05/50</a:t>
            </a:r>
          </a:p>
        </p:txBody>
      </p:sp>
    </p:spTree>
    <p:extLst>
      <p:ext uri="{BB962C8B-B14F-4D97-AF65-F5344CB8AC3E}">
        <p14:creationId xmlns:p14="http://schemas.microsoft.com/office/powerpoint/2010/main" val="898316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CDCD6E-8F55-4B52-8383-B858877AA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3 / Circular Queues, Multiple Stacks and Queues, and Linked Lists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AB9CBA-02BE-4942-B925-B33F781C1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Circular queue: operations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45B7CA-CC3E-4958-8F57-E318DCFF4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D04C77-E7FA-4314-BE32-333EC2143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Understand circular queue by tracing the operations it supports.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850F59-7B18-40DC-91F9-5C1596AA6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Name the ADT state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Identify valid operations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Update pointers, indices, or links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Check boundary cases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4F4D7C-2068-41DD-8AC2-8370E0868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B08C6C-D280-4D08-8487-16C9315A1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Modulo arithmetic removes linear queue wastage.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180479-A32F-4DA9-94C2-35533F558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057525"/>
            <a:ext cx="7810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front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E4EF91-2284-4F44-B7AA-791A1DF00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3057525"/>
            <a:ext cx="7810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job1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B749CE-939D-4780-ABAD-E6F255A18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057525"/>
            <a:ext cx="7810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job2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BC57E8-088F-403A-895B-84837F686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3057525"/>
            <a:ext cx="7810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job3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B06225-37F1-4FC3-B645-53E04B329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3057525"/>
            <a:ext cx="7810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rear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74B88F-EBB6-49A6-B861-CAA9B5A6D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438650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FIFO: first inserted, first deleted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9547FF-BEE3-4795-9DB6-06460CECE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3 • 06/50</a:t>
            </a:r>
          </a:p>
        </p:txBody>
      </p:sp>
    </p:spTree>
    <p:extLst>
      <p:ext uri="{BB962C8B-B14F-4D97-AF65-F5344CB8AC3E}">
        <p14:creationId xmlns:p14="http://schemas.microsoft.com/office/powerpoint/2010/main" val="171245300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C140C2-A2D4-4395-90AA-7255EB951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3 / Circular Queues, Multiple Stacks and Queues, and Linked Lists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0C4C8C-23B7-4245-A7BC-B86663E82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Circular queue: algorithm pattern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656802-0C85-4447-8BBD-EDCE187A4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E1D886-3FC6-4105-A25C-69EC6C9C3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Most textbook procedures are state updates with careful boundary checks.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2D672A-7C40-4B1D-8865-661F9D379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Input and preconditions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Core update step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Failure or empty/full case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Result: Modulo arithmetic removes linear queue wastage.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A68D2B-B6F7-4903-8B7A-D2273EE5A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032948-A680-4D92-A4BD-E7D3CDF4A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Modulo arithmetic removes linear queue wastage.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E2E825-5FD0-46B2-99C8-4D501D2BE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057525"/>
            <a:ext cx="7810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front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7FFFD6-AAB5-4A43-869D-A51A13507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3057525"/>
            <a:ext cx="7810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job1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1F5792-4596-4A2E-8C25-09B512DEE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057525"/>
            <a:ext cx="7810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job2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F6D48D-A963-43DC-B263-7422C58C8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3057525"/>
            <a:ext cx="7810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job3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B77494-68B7-4E0C-B406-79463AE60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3057525"/>
            <a:ext cx="7810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rear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10EC3C-B71B-4DA5-B552-65156DC5F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438650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FIFO: first inserted, first deleted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DC073F-E1A8-4DE9-AFDA-890BBD74A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3 • 07/50</a:t>
            </a:r>
          </a:p>
        </p:txBody>
      </p:sp>
    </p:spTree>
    <p:extLst>
      <p:ext uri="{BB962C8B-B14F-4D97-AF65-F5344CB8AC3E}">
        <p14:creationId xmlns:p14="http://schemas.microsoft.com/office/powerpoint/2010/main" val="79409902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2FD55E-B82B-4066-91C9-CF6C5D735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3 / Circular Queues, Multiple Stacks and Queues, and Linked Lists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C554C6-ECA5-4B18-B8AB-8F07D2C96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Circular queue: 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E73628-2B3D-4B89-AAF0-079FA7823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920D3F-4480-423A-A6BF-6D23853C2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A small trace makes circular queue exam-ready.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4D4C03-4A3D-411C-821B-135D76BD7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Use terms: wrap around, front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Trace at least three operations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Show final structure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State time and space idea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602C2E-65C6-4B39-ACAF-CDE85BE7A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726817-4311-4460-B9C0-EC4B5260D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Modulo arithmetic removes linear queue wastage.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7C4798-DD76-4C6F-8F0D-092A90391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057525"/>
            <a:ext cx="7810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front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FF1A55-8232-4311-9584-62ACED5CB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3057525"/>
            <a:ext cx="7810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job1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85EBF2-AD58-4C39-A3E5-0C602A04E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057525"/>
            <a:ext cx="7810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job2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0DAEF6-1763-4A18-832B-F386EC7C4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3057525"/>
            <a:ext cx="7810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job3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1CFDC6-4DC8-4EC8-8AE0-C18BA9E9F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3057525"/>
            <a:ext cx="7810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rear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446360-0425-493C-BF0D-555EEE558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438650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FIFO: first inserted, first deleted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FE3FB2-610F-4734-9BE1-80EAE2283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3 • 08/50</a:t>
            </a:r>
          </a:p>
        </p:txBody>
      </p:sp>
    </p:spTree>
    <p:extLst>
      <p:ext uri="{BB962C8B-B14F-4D97-AF65-F5344CB8AC3E}">
        <p14:creationId xmlns:p14="http://schemas.microsoft.com/office/powerpoint/2010/main" val="58365231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44A0A7-33B7-4EDA-BEC0-816727939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3 / Circular Queues, Multiple Stacks and Queues, and Linked Lists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903AC7-108D-4CAD-AE75-B4871D6B1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Dynamic circular queue: core idea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213EEF-2726-4280-8016-57EF5BD00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0D91B3-EA74-4824-AFE8-B1C9064BE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Dynamic circular queues grow while maintaining logical order.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D2F144-BA02-4DAF-BE9C-1DCD1ACE9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capacity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resize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preserve order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copying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017816-88EA-49CC-8AB7-B686C5F57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6B9B4E-9F01-447E-BB2C-C91302027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Resize carefully because physical order may wrap.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991F4E-CF8E-4F8A-B41E-6BB5C2581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057525"/>
            <a:ext cx="7810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front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0A75B1-52CC-48BB-BD2E-9AA7145D1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3057525"/>
            <a:ext cx="7810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job1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A4E8DD-2393-421B-82DB-90196C55D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057525"/>
            <a:ext cx="7810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job2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FCB437-9489-49A0-859A-C139EE88F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3057525"/>
            <a:ext cx="7810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job3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BAE1BD-BB8B-4482-A7B8-44344E224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3057525"/>
            <a:ext cx="7810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rear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47C5D5-C946-484C-ACA8-234F5C51A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438650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FIFO: first inserted, first deleted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4D602D-1F06-43C9-BFC3-59FADF47F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3 • 09/50</a:t>
            </a:r>
          </a:p>
        </p:txBody>
      </p:sp>
    </p:spTree>
    <p:extLst>
      <p:ext uri="{BB962C8B-B14F-4D97-AF65-F5344CB8AC3E}">
        <p14:creationId xmlns:p14="http://schemas.microsoft.com/office/powerpoint/2010/main" val="124865345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0A45E6-ED49-4513-86CE-66D884E1C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3 / Circular Queues, Multiple Stacks and Queues, and Linked Lists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421463-F7C7-44D7-9838-F60A64450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Dynamic circular queue: operations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126648-E907-4117-AEF2-2320593E4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7D5A2F-69BC-4BB6-AFCF-5CC9DC71F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Understand dynamic circular queue by tracing the operations it supports.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63B6EF-AF4A-4AB6-9457-D12A76B6D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Name the ADT state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Identify valid operations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Update pointers, indices, or links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Check boundary cases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F97FB1-E4B0-4BE6-908A-FA0A301BC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2E2617-E60F-4685-83F2-E840A0365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Resize carefully because physical order may wrap.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D57B4D-7AEE-47E1-A917-24B97BFA7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057525"/>
            <a:ext cx="7810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front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CB84F6-9068-4505-A43D-B3B5D8C09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3057525"/>
            <a:ext cx="7810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job1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F1A5C1-8F14-4BD3-9446-D70449D13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057525"/>
            <a:ext cx="7810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job2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28378B-E897-408F-BB42-4460BAC3B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3057525"/>
            <a:ext cx="7810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job3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F99149-CB0D-49A5-A861-6652ED25D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3057525"/>
            <a:ext cx="7810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rear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5C7D31-E7BE-4A0A-8B90-80FA7FB98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438650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FIFO: first inserted, first deleted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C6A70B-4619-40CB-A7D7-5E7E3BE60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3 • 10/50</a:t>
            </a:r>
          </a:p>
        </p:txBody>
      </p:sp>
    </p:spTree>
    <p:extLst>
      <p:ext uri="{BB962C8B-B14F-4D97-AF65-F5344CB8AC3E}">
        <p14:creationId xmlns:p14="http://schemas.microsoft.com/office/powerpoint/2010/main" val="119098786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BEF458-42D1-42FF-85F7-281147943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3 / Circular Queues, Multiple Stacks and Queues, and Linked Lists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5594A0-9D93-4CAA-AB98-50052415A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Dynamic circular queue: algorithm pattern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DAFA88-D68B-4EB8-8C4B-1DA43F30E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9C18B5-E34A-4AB9-AD38-A5BDD7BE7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Most textbook procedures are state updates with careful boundary checks.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42AD95-E728-431C-9D5E-56A69E612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Input and preconditions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Core update step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Failure or empty/full case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Result: Resize carefully because physical order may wrap.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487CE8-BBC2-4C89-BB0C-02CA5CBF9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750E3C-AF7E-477D-84CE-D67FFBC27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Resize carefully because physical order may wrap.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BE5F76-9FA4-452B-9F2C-12C95B9C0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057525"/>
            <a:ext cx="7810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front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4B27C1-467E-4255-8E83-7E38C2BDC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3057525"/>
            <a:ext cx="7810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job1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E696B2-81F3-4FF4-9891-6C5FA0DA3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057525"/>
            <a:ext cx="7810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job2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A1116D-F2B1-4961-A2EA-259364E82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3057525"/>
            <a:ext cx="7810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job3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762A46-414B-4925-8CFC-1FF253131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3057525"/>
            <a:ext cx="7810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rear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66B93F-6882-4F78-AD3A-FCA829A69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438650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FIFO: first inserted, first deleted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B99EA1-0E8C-4B27-891C-80EE668A2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3 • 11/50</a:t>
            </a:r>
          </a:p>
        </p:txBody>
      </p:sp>
    </p:spTree>
    <p:extLst>
      <p:ext uri="{BB962C8B-B14F-4D97-AF65-F5344CB8AC3E}">
        <p14:creationId xmlns:p14="http://schemas.microsoft.com/office/powerpoint/2010/main" val="127238823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39D260-6699-47DA-B9CE-FE4D85442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3 / Circular Queues, Multiple Stacks and Queues, and Linked Lists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F9C65A-AE8C-4035-B247-D0CB8098C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Dynamic circular queue: 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F3C5D2-D4A2-4A84-B52F-64590E1C8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B6A0E7-3F62-427E-8C73-2B9AF099E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A small trace makes dynamic circular queue exam-ready.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CB1C5C-94BE-47AE-8D30-1CDCE84A2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Use terms: capacity, resize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Trace at least three operations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Show final structure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State time and space idea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654A4B-0ACD-4D96-A1E0-F00C892F0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4D8ED5-E3AC-4DD6-95AB-F2A76EC19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Resize carefully because physical order may wrap.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AFBD35-D9C1-4A06-AE1F-9CEF9496A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057525"/>
            <a:ext cx="7810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front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D76A38-CE45-430C-AADC-A8D268B1E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3057525"/>
            <a:ext cx="7810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job1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34C130-7203-4DF8-98A4-0E5C16E94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057525"/>
            <a:ext cx="7810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job2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F30E59-2B3E-4973-9D13-130BDFFD9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3057525"/>
            <a:ext cx="7810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job3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BB4057-9D73-4DCF-BA65-5B9C0C430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3057525"/>
            <a:ext cx="7810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rear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92A2FC-867A-4EDD-8642-691372D9F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438650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FIFO: first inserted, first deleted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88C485-A863-4122-B5AC-A11260EA4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3 • 12/50</a:t>
            </a:r>
          </a:p>
        </p:txBody>
      </p:sp>
    </p:spTree>
    <p:extLst>
      <p:ext uri="{BB962C8B-B14F-4D97-AF65-F5344CB8AC3E}">
        <p14:creationId xmlns:p14="http://schemas.microsoft.com/office/powerpoint/2010/main" val="38606264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AD937F-3B63-40B2-B6A3-E6D4BB3F0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3 / Circular Queues, Multiple Stacks and Queues, and Linked Lists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51626C-3BB1-4A1A-A2E5-12B52F5A1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Multiple stacks: core idea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B16971-0691-437C-91FF-775ABADE8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6F2DC1-A0B2-4566-AA9B-947ADACCA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Multiple stacks can share one memory block.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0C03F8-C08D-41BF-8A0C-007126DC9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shared array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top pointers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space sharing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overflow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D77201-BD8A-49B2-AF30-E16471C0C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85D2BD-5C7C-4248-9667-6A20D560D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Shared storage improves utilization but complicates overflow handling.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6EE815-2234-4DC4-91A8-1330FEB6A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152650"/>
            <a:ext cx="1333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top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168902-6F69-4FAF-9C95-25EE5F998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743200"/>
            <a:ext cx="1333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6B04E5-7D8D-48CF-AE0A-539E935F6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333750"/>
            <a:ext cx="1333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3D67BF-8D8E-42AD-B932-2000C36FD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924300"/>
            <a:ext cx="1333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EB3708-3937-469B-B3C6-BA1DA2F08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8196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Push and pop happen only at top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A0DFC2-5B7F-46EF-8E57-DC82A119D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3 • 13/50</a:t>
            </a:r>
          </a:p>
        </p:txBody>
      </p:sp>
    </p:spTree>
    <p:extLst>
      <p:ext uri="{BB962C8B-B14F-4D97-AF65-F5344CB8AC3E}">
        <p14:creationId xmlns:p14="http://schemas.microsoft.com/office/powerpoint/2010/main" val="71531185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EBAE43-600A-4CB4-966F-E84CA7351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3 / Circular Queues, Multiple Stacks and Queues, and Linked Lists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D0240A-E166-4CBF-8DAB-A9B73A89A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Multiple stacks: operations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13CC2B-AB61-4954-9115-DEA09CB3B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927E18-8B3A-4F61-B68E-E3C6F5D54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Understand multiple stacks by tracing the operations it supports.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6A2A41-83D9-4DB3-BF4A-F882847DA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Name the ADT state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Identify valid operations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Update pointers, indices, or links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Check boundary cases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ECBCCF-0D08-40C7-AD41-0D5C41084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C44656-5470-4F9D-BD26-7803F19B3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Shared storage improves utilization but complicates overflow handling.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9314B0-DAE0-4F5B-B365-BB3114F8A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152650"/>
            <a:ext cx="1333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top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485AA5-F9FF-439E-8C77-B02ED4042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743200"/>
            <a:ext cx="1333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D1DFC6-556F-4274-90E8-EB821CCD2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333750"/>
            <a:ext cx="1333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495A0D-58C1-4D65-A68E-5C1166DED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924300"/>
            <a:ext cx="1333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BD1B15-F440-47D6-8E22-FD094A6AE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8196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Push and pop happen only at top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0640A3-A263-4DDD-BFBA-DDF633B33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3 • 14/50</a:t>
            </a:r>
          </a:p>
        </p:txBody>
      </p:sp>
    </p:spTree>
    <p:extLst>
      <p:ext uri="{BB962C8B-B14F-4D97-AF65-F5344CB8AC3E}">
        <p14:creationId xmlns:p14="http://schemas.microsoft.com/office/powerpoint/2010/main" val="208149670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6D3FBA-F428-45DC-803E-08D7D27CC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3 / Circular Queues, Multiple Stacks and Queues, and Linked Lists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3B9B20-E85D-4ADD-9963-DF12EE759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Multiple stacks: algorithm pattern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B3E044-FD4C-4BAE-A73A-DF8EBCD3F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2D1CF5-4544-410F-8811-2183E4FB2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Most textbook procedures are state updates with careful boundary checks.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A21CE8-CFDA-4B1C-961B-3666F2A6F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Input and preconditions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Core update step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Failure or empty/full case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Result: Shared storage improves utilization but complicates overflow handling.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4AFF65-2B2F-4A26-91CD-8BF9EF636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320B47-8196-4B68-87D1-7C874D100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Shared storage improves utilization but complicates overflow handling.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79B4E5-A74F-4706-85D4-65381E8E9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152650"/>
            <a:ext cx="1333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top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D6808B-27E3-4289-9B43-2BDD0CA39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743200"/>
            <a:ext cx="1333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AA198B-1516-4BBB-A1F4-7C063EDAB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333750"/>
            <a:ext cx="1333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1A0011-3988-4988-9978-7DB320F12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924300"/>
            <a:ext cx="1333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18104B-6AA2-4A7C-B22E-FD84D57DE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8196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Push and pop happen only at top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F6B785-9B85-4742-B574-5C4F7B342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3 • 15/50</a:t>
            </a:r>
          </a:p>
        </p:txBody>
      </p:sp>
    </p:spTree>
    <p:extLst>
      <p:ext uri="{BB962C8B-B14F-4D97-AF65-F5344CB8AC3E}">
        <p14:creationId xmlns:p14="http://schemas.microsoft.com/office/powerpoint/2010/main" val="149228802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D50E27-A2A5-4D21-93A0-ED3A30841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3 / Circular Queues, Multiple Stacks and Queues, and Linked Lists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573B21-4C16-42D1-A882-E78EC58A2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Multiple stacks: 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858785-F2C1-4994-A4F5-F02B648B6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49CF7A-7AFC-4B07-84B3-8F925FC93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A small trace makes multiple stacks exam-ready.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3DD4F8-CD49-486C-8077-3FE404316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Use terms: shared array, top pointers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Trace at least three operations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Show final structure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State time and space idea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9FA9A5-846D-4541-82CA-1FF9CE6DE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C401D7-91A6-4482-8979-D2B66BE1C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Shared storage improves utilization but complicates overflow handling.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C66DCF-2074-45F6-821E-A47179D17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152650"/>
            <a:ext cx="1333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top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C16807-108B-4E55-9AB8-98097FC81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743200"/>
            <a:ext cx="1333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02E51A-608E-4AC4-AE9B-7E5E36695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333750"/>
            <a:ext cx="1333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18ECD5-1A3D-48BC-86DE-164E7BC71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924300"/>
            <a:ext cx="1333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D0F3D8-BF28-4438-B457-46B869E06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8196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Push and pop happen only at top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14AB20-7AFE-4D30-BAE0-C172F980A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3 • 16/50</a:t>
            </a:r>
          </a:p>
        </p:txBody>
      </p:sp>
    </p:spTree>
    <p:extLst>
      <p:ext uri="{BB962C8B-B14F-4D97-AF65-F5344CB8AC3E}">
        <p14:creationId xmlns:p14="http://schemas.microsoft.com/office/powerpoint/2010/main" val="53721856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C3A698-36CA-445D-A460-DF5D79410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3 / Circular Queues, Multiple Stacks and Queues, and Linked Lists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C90F78-C741-4D66-A488-5422B43B8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Multiple queues: core idea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B83EDD-A9E5-4F51-956F-B4183DC69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15ECA9-456B-4673-BA6B-F01E354E2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Multiple queues manage several FIFO structures at once.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46561C-F0F9-4780-937A-6CD8E9E38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front/rear arrays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free list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partitioning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linked storage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39DB15-1A03-4F0F-93D2-554BAECE3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EC70B0-9D80-4F9B-B1DC-92618F16A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Representation choice depends on expected queue sizes.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671A88-5D27-4658-BBAE-262C47EA7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057525"/>
            <a:ext cx="7810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front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7CC027-6F7E-415F-9BAA-FC5A4C6C4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3057525"/>
            <a:ext cx="7810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job1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879427-C7DC-4CF6-8BC8-6BD74D159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057525"/>
            <a:ext cx="7810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job2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F4F0CF-8582-4943-A39C-829FE6D4D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3057525"/>
            <a:ext cx="7810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job3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BF9A54-28F8-4780-B879-64C47CCA4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3057525"/>
            <a:ext cx="7810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rear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B4DE4C-1B44-4A4D-BC66-0065335D6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438650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FIFO: first inserted, first deleted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1B7DBC-A2D1-4BBA-9DB4-AB550277E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3 • 17/50</a:t>
            </a:r>
          </a:p>
        </p:txBody>
      </p:sp>
    </p:spTree>
    <p:extLst>
      <p:ext uri="{BB962C8B-B14F-4D97-AF65-F5344CB8AC3E}">
        <p14:creationId xmlns:p14="http://schemas.microsoft.com/office/powerpoint/2010/main" val="53495342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6BD677-0E1F-4ED6-B3B5-32C27E80B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3 / Circular Queues, Multiple Stacks and Queues, and Linked Lists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4C9BDD-769C-4352-A5CA-AC2AE3CEA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Multiple queues: operations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388B0B-BFD6-4465-AEFD-2B3219BA0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288B37-F8D3-4DBB-8B71-C2CE20E57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Understand multiple queues by tracing the operations it supports.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F8A861-B52D-428E-B413-292A504E6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Name the ADT state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Identify valid operations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Update pointers, indices, or links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Check boundary cases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90D7B9-2B32-4481-9DB0-93BD104AF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DD3748-D6B8-4F62-8D2C-DB41891F8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Representation choice depends on expected queue sizes.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4D8E12-E131-4A29-BFC2-D0488AF2D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057525"/>
            <a:ext cx="7810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front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16CE25-B8D3-4989-BFED-D5BAE0FCE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3057525"/>
            <a:ext cx="7810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job1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EFB411-1751-40A9-9953-71A293C5A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057525"/>
            <a:ext cx="7810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job2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C0554E-09C6-4538-81C4-79F4A4233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3057525"/>
            <a:ext cx="7810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job3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A1E783-61DE-4019-9FC0-547E2FA4D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3057525"/>
            <a:ext cx="7810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rear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11CB8B-8BBF-44CC-B357-49BE12E78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438650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FIFO: first inserted, first deleted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5D83E1-88B3-4C5C-8BA9-D8726AF0C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3 • 18/50</a:t>
            </a:r>
          </a:p>
        </p:txBody>
      </p:sp>
    </p:spTree>
    <p:extLst>
      <p:ext uri="{BB962C8B-B14F-4D97-AF65-F5344CB8AC3E}">
        <p14:creationId xmlns:p14="http://schemas.microsoft.com/office/powerpoint/2010/main" val="72778397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0F0CEC-696B-4EE1-B824-1CBE728F2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3 / Circular Queues, Multiple Stacks and Queues, and Linked Lists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D9C4F4-0DB6-4E69-BD64-E89501F76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Multiple queues: algorithm pattern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7E4CE8-C216-432F-8945-11850E5C7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630B79-0478-4230-A191-900C1C37E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Most textbook procedures are state updates with careful boundary checks.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407E83-28E0-4908-BEF1-070D9A636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Input and preconditions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Core update step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Failure or empty/full case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Result: Representation choice depends on expected queue sizes.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58A7D9-D3CC-4459-9E31-28C6F1E0C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296A4A-9823-4D07-9518-EDAAD85B2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Representation choice depends on expected queue sizes.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A6DE50-C367-46F2-8F5E-96435CF28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057525"/>
            <a:ext cx="7810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front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628546-D8E0-476D-8F06-BC89366ED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3057525"/>
            <a:ext cx="7810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job1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5E6574-F81B-4AF9-AB7D-197AE06E8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057525"/>
            <a:ext cx="7810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job2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F4915E-E6F4-450E-95C7-DE031811F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3057525"/>
            <a:ext cx="7810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job3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E1BA32-DC49-4354-9671-EB97B6DD7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3057525"/>
            <a:ext cx="7810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rear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143F3B-0623-472D-B08F-D858A85AA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438650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FIFO: first inserted, first deleted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F7DEEC-EB20-46C2-BE04-0D2AE6D27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3 • 19/50</a:t>
            </a:r>
          </a:p>
        </p:txBody>
      </p:sp>
    </p:spTree>
    <p:extLst>
      <p:ext uri="{BB962C8B-B14F-4D97-AF65-F5344CB8AC3E}">
        <p14:creationId xmlns:p14="http://schemas.microsoft.com/office/powerpoint/2010/main" val="48673953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6DECFE-DB8F-4327-9EDF-2241E25D8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3 / Circular Queues, Multiple Stacks and Queues, and Linked Lists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F0F7B1-F25E-4D0B-8933-EB7FEE567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Multiple queues: 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67DD7B-5471-4EEF-AC6A-E23F6EF9B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E2B891-4AEC-435A-BA28-5141FD49A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A small trace makes multiple queues exam-ready.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FA8968-8494-4509-8B60-4AB644F9A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Use terms: front/rear arrays, free list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Trace at least three operations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Show final structure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State time and space idea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05319B-FDAF-4FC2-BD95-2EA53C84C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614422-795C-47C7-A428-D7CB3730C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Representation choice depends on expected queue sizes.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671956-D282-4E9C-AE2C-5DA29A8E1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057525"/>
            <a:ext cx="7810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front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5651D3-BF8D-49A1-8837-481656D58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3057525"/>
            <a:ext cx="7810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job1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D17E14-BB7C-4222-A6E4-EDC2FC3F7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057525"/>
            <a:ext cx="7810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job2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184BC1-D24A-4547-9563-43DF47470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3057525"/>
            <a:ext cx="7810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job3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5B5F03-4004-4888-80D5-B0E688193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3057525"/>
            <a:ext cx="7810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rear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308CE1-C3B3-452E-A0B1-3F0BB3A3F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438650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FIFO: first inserted, first deleted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A06B15-FBCE-409E-A62B-BB38919B9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3 • 20/50</a:t>
            </a:r>
          </a:p>
        </p:txBody>
      </p:sp>
    </p:spTree>
    <p:extLst>
      <p:ext uri="{BB962C8B-B14F-4D97-AF65-F5344CB8AC3E}">
        <p14:creationId xmlns:p14="http://schemas.microsoft.com/office/powerpoint/2010/main" val="25010801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B8F622-DFCF-4A9B-87F2-1404EE808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3 / Circular Queues, Multiple Stacks and Queues, and Linked Lists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EAB93C-8B09-4809-B6CF-83A57E938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Singly linked list: core idea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83951B-A4D0-45EF-B66A-2B9804A4B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85A04B-E7F5-4AF0-9BDF-920C8C3FA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A singly linked list stores elements in nodes connected by links.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A9BB70-5F79-4DDB-843F-A3EE55A3C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node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link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head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NULL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AA4950-EE60-49E8-9D82-CA9F62592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3F13F6-635A-4F2E-AF23-66A976C8C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Insertion and deletion do not require shifting elements.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91F628-FE60-481A-981F-9E22EE28C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05150"/>
            <a:ext cx="9906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head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309897-2959-4C60-930D-C2BDE0E6F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105150"/>
            <a:ext cx="9906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data|link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A5406C-A482-438C-AFB2-D9A7D672F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105150"/>
            <a:ext cx="9906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data|link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784E16-36F4-4D6E-806D-8F049DA25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105150"/>
            <a:ext cx="9906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data|null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1A78CF-3FDF-4139-BB19-45F86F227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486275"/>
            <a:ext cx="3667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Nodes move by rewiring links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1E794E-6C29-49B7-AAAE-CEFDC3B92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3 • 21/50</a:t>
            </a:r>
          </a:p>
        </p:txBody>
      </p:sp>
    </p:spTree>
    <p:extLst>
      <p:ext uri="{BB962C8B-B14F-4D97-AF65-F5344CB8AC3E}">
        <p14:creationId xmlns:p14="http://schemas.microsoft.com/office/powerpoint/2010/main" val="53289090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993C19-CC8F-40E0-951C-BD81A1E72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3 / Circular Queues, Multiple Stacks and Queues, and Linked Lists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550935-3E51-4EA1-9210-72883DEAF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Singly linked list: operations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F56542-D1FD-426E-B273-8253C79E9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008511-EE7F-4B6A-A14E-E67E0C45F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Understand singly linked list by tracing the operations it supports.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E989E0-4401-4192-87A9-D5049D56F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Name the ADT state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Identify valid operations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Update pointers, indices, or links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Check boundary cases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0BD927-DDE5-4333-B9EA-7E882DD1F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0A758D-14CF-4D48-8569-02CF117E6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Insertion and deletion do not require shifting elements.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1C614C-548F-4912-94CF-684BB40DD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05150"/>
            <a:ext cx="9906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head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94AA28-743C-44E9-9986-6AA2E8FB0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105150"/>
            <a:ext cx="9906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data|link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36F814-E47C-4802-AEA8-F0D1B89B6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105150"/>
            <a:ext cx="9906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data|link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EE5880-4D98-4D1C-BD5B-48735F278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105150"/>
            <a:ext cx="9906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data|null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E6DB3B-9009-4EE8-8659-5A8D92C15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486275"/>
            <a:ext cx="3667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Nodes move by rewiring links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6B2BE0-BD05-49BC-8144-F538F178E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3 • 22/50</a:t>
            </a:r>
          </a:p>
        </p:txBody>
      </p:sp>
    </p:spTree>
    <p:extLst>
      <p:ext uri="{BB962C8B-B14F-4D97-AF65-F5344CB8AC3E}">
        <p14:creationId xmlns:p14="http://schemas.microsoft.com/office/powerpoint/2010/main" val="57672048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D0034C-A208-4591-A0F9-9190CB9D6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3 / Circular Queues, Multiple Stacks and Queues, and Linked Lists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324BBF-B49C-49AD-ADD3-A9371AEA6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Singly linked list: algorithm pattern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8763B8-8A72-4950-B1B1-862B0A606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70884B-E37E-4515-85F5-B893E129F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Most textbook procedures are state updates with careful boundary checks.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30B495-CC0B-4CAA-BE1E-C4EA4F5E7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Input and preconditions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Core update step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Failure or empty/full case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Result: Insertion and deletion do not require shifting elements.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B38E44-AF70-4107-83C6-0C24FBBCD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9ABE62-9B04-4175-A30D-3F0F141B9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Insertion and deletion do not require shifting elements.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787F15-0816-4EE6-86D9-A5698C2B9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05150"/>
            <a:ext cx="9906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head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A51D75-41EC-4654-9C7F-6DE154833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105150"/>
            <a:ext cx="9906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data|link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135C2D-7BD3-4F6A-B5F1-0FC57BD5B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105150"/>
            <a:ext cx="9906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data|link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4AE492-CA16-439B-8498-8AA42F868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105150"/>
            <a:ext cx="9906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data|null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7C0030-8796-41C6-A87A-9550002D5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486275"/>
            <a:ext cx="3667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Nodes move by rewiring links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715763-2A60-4A53-B245-BC28BEA4F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3 • 23/50</a:t>
            </a:r>
          </a:p>
        </p:txBody>
      </p:sp>
    </p:spTree>
    <p:extLst>
      <p:ext uri="{BB962C8B-B14F-4D97-AF65-F5344CB8AC3E}">
        <p14:creationId xmlns:p14="http://schemas.microsoft.com/office/powerpoint/2010/main" val="158271815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958874-AE80-4040-928D-2C88427E0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3 / Circular Queues, Multiple Stacks and Queues, and Linked Lists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FCD035-C949-4145-B12D-434274DF6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Singly linked list: 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344BC8-5BBB-430B-BDAA-EA8A22671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5CCB40-FA91-44DC-9D61-29AAC1156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A small trace makes singly linked list exam-ready.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83A707-FAD7-490C-B5BF-D4BDB3593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Use terms: node, link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Trace at least three operations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Show final structure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State time and space idea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A5C3F6-8336-4BEF-BF0C-F742E0FA3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313B21-67A3-4B76-BE68-5F9E1654E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Insertion and deletion do not require shifting elements.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4BF65E-C0A0-4543-947B-86640CE37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05150"/>
            <a:ext cx="9906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head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F0DE09-FFD8-42B5-A7F8-F7998CF47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105150"/>
            <a:ext cx="9906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data|link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C2EC02-0682-427D-A9C2-D72B7CD1F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105150"/>
            <a:ext cx="9906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data|link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D52AB7-8FE7-4690-A06B-FFC5B0572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105150"/>
            <a:ext cx="9906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data|null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0F1DD9-E10B-44E0-BBE7-900C47FB7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486275"/>
            <a:ext cx="3667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Nodes move by rewiring links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C30770-0B5F-4C52-8D9A-E4D468DFB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3 • 24/50</a:t>
            </a:r>
          </a:p>
        </p:txBody>
      </p:sp>
    </p:spTree>
    <p:extLst>
      <p:ext uri="{BB962C8B-B14F-4D97-AF65-F5344CB8AC3E}">
        <p14:creationId xmlns:p14="http://schemas.microsoft.com/office/powerpoint/2010/main" val="59563180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2EA1FD-08E8-472D-9579-010C5067D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3 / Circular Queues, Multiple Stacks and Queues, and Linked Lists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E034C5-5D5D-4D7B-A656-8756E8598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Chains in C: core idea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5A2CFA-94E7-4632-B7D8-2F33A507A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D41712-5E59-4E6D-A36E-1BA7A74A9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C represents chains using structures with pointer fields.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91A510-FDD5-4519-819C-81C80BF4D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struct node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self-referential pointer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allocation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traversal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2153CD-E2D6-4724-9E88-51DCFAD73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91C70E-1E52-4A81-A079-033B1466E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Every traversal must test for NULL.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E6AFC1-881A-4692-A2CE-58A11C077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05150"/>
            <a:ext cx="9906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head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9F8A8B-F8C0-4764-AFEE-5C166F7B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105150"/>
            <a:ext cx="9906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data|link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8D8F72-1432-4316-A676-6A915E3F5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105150"/>
            <a:ext cx="9906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data|link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A8264D-B034-49F5-BBA5-7592F3988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105150"/>
            <a:ext cx="9906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data|null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8067D3-EC98-4B4A-B776-D8DF966AC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486275"/>
            <a:ext cx="3667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Nodes move by rewiring links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3D4014-BD14-4FE7-8CBC-88DECAAC4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3 • 25/50</a:t>
            </a:r>
          </a:p>
        </p:txBody>
      </p:sp>
    </p:spTree>
    <p:extLst>
      <p:ext uri="{BB962C8B-B14F-4D97-AF65-F5344CB8AC3E}">
        <p14:creationId xmlns:p14="http://schemas.microsoft.com/office/powerpoint/2010/main" val="29954808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23D8E8-0343-4158-BFE6-08DB43BE2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3 / Circular Queues, Multiple Stacks and Queues, and Linked Lists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9B1EB7-CA0B-4E06-8D41-30E45DA9E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Chains in C: operations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FD3DE0-C141-48DE-91C7-EBF03756D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35A116-7CF1-4C89-82BD-C1084C65A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Understand chains in c by tracing the operations it supports.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9388E3-A85C-4A70-9E94-4D6D5CEE8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Name the ADT state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Identify valid operations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Update pointers, indices, or links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Check boundary cases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D2EF1D-E4CF-4223-9EA0-9CD12C2F4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8F1CF8-B2B0-49D4-95B7-2EC2DDE86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Every traversal must test for NULL.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034F89-2E16-431B-8970-794104FF5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05150"/>
            <a:ext cx="9906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head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1EC233-98E6-43A3-8240-9412A8162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105150"/>
            <a:ext cx="9906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data|link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F7D2FB-53A5-45AB-A11D-EAEC15AE6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105150"/>
            <a:ext cx="9906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data|link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2CB085-97C7-4239-9B48-F94E9F477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105150"/>
            <a:ext cx="9906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data|null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4044C6-4C8C-4402-84E0-8A27F35F7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486275"/>
            <a:ext cx="3667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Nodes move by rewiring links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F1A4E7-749F-4692-B8A5-81EEBC20B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3 • 26/50</a:t>
            </a:r>
          </a:p>
        </p:txBody>
      </p:sp>
    </p:spTree>
    <p:extLst>
      <p:ext uri="{BB962C8B-B14F-4D97-AF65-F5344CB8AC3E}">
        <p14:creationId xmlns:p14="http://schemas.microsoft.com/office/powerpoint/2010/main" val="2033097653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70724F-FFBA-47DA-A9B0-3045ADBC9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3 / Circular Queues, Multiple Stacks and Queues, and Linked Lists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CEF46C-222E-4520-A4D3-23E01912C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Chains in C: algorithm pattern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5B8A1D-C7CE-48B2-BF28-1E46AA88E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842D74-12E0-4010-8AA3-8C50EA329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Most textbook procedures are state updates with careful boundary checks.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AF914B-96DB-459A-8E49-01922FE1A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Input and preconditions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Core update step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Failure or empty/full case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Result: Every traversal must test for NULL.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05DF08-2B46-4788-9CC8-C20C53D44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BF8D74-F3BE-42D3-A94F-FF37BD325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Every traversal must test for NULL.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478E81-EED6-4792-9895-31CF22B90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05150"/>
            <a:ext cx="9906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head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518B15-8351-4829-B5ED-8BA70CD38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105150"/>
            <a:ext cx="9906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data|link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28D069-DDF5-4C85-AF0E-817AE2D92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105150"/>
            <a:ext cx="9906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data|link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360550-C1BF-4DDA-B4A5-012876AA9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105150"/>
            <a:ext cx="9906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data|null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40BCE6-11CA-44AF-8AC4-37B2ED1ED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486275"/>
            <a:ext cx="3667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Nodes move by rewiring links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2A8CC9-F27C-43C2-B5AA-E541D7418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3 • 27/50</a:t>
            </a:r>
          </a:p>
        </p:txBody>
      </p:sp>
    </p:spTree>
    <p:extLst>
      <p:ext uri="{BB962C8B-B14F-4D97-AF65-F5344CB8AC3E}">
        <p14:creationId xmlns:p14="http://schemas.microsoft.com/office/powerpoint/2010/main" val="1696900666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735A13-7626-4964-8B13-A333AE91C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3 / Circular Queues, Multiple Stacks and Queues, and Linked Lists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81D0A0-823F-4F8E-8119-3EE855598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Chains in C: 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62B57F-EA20-47AE-983D-A3D57B447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13855C-5E2E-4ACB-AB65-54AAD4DC5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A small trace makes chains in c exam-ready.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737AB6-E575-40BC-AAA0-7EAF18F32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Use terms: struct node, self-referential pointer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Trace at least three operations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Show final structure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State time and space idea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FD5999-4E96-4FD4-9B76-E51912416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CFB0D4-5356-4621-9961-7A0E53AA8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Every traversal must test for NULL.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636A24-6FF0-4A31-965C-1678FCDEC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05150"/>
            <a:ext cx="9906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head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E5BF9A-3E97-4AFC-955D-D05615959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105150"/>
            <a:ext cx="9906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data|link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8BCB6D-A132-43CE-A4B7-45E79A220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105150"/>
            <a:ext cx="9906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data|link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EFF72E-5506-4460-85EE-BC7444479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105150"/>
            <a:ext cx="9906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data|null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65C318-9112-4704-8276-85E5A07A7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486275"/>
            <a:ext cx="3667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Nodes move by rewiring links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46F068-FDC5-463B-A9FA-04FC556BD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3 • 28/50</a:t>
            </a:r>
          </a:p>
        </p:txBody>
      </p:sp>
    </p:spTree>
    <p:extLst>
      <p:ext uri="{BB962C8B-B14F-4D97-AF65-F5344CB8AC3E}">
        <p14:creationId xmlns:p14="http://schemas.microsoft.com/office/powerpoint/2010/main" val="1925478108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DEDEA8-3AA5-4C7A-9D4A-419DE7496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3 / Circular Queues, Multiple Stacks and Queues, and Linked Lists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33AE75-9170-4B88-94A9-0167CF1FC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Linked stack: core idea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8C0E5A-0DD8-4C7A-A6B6-DE7533FA4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0E0046-3CAD-40A4-B032-B6D7FC622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A linked stack stores each pushed item in a new node.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72D522-E0AB-4DB8-8F63-43AC9AA23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top pointer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push front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pop front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dynamic size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0178BA-96A6-407C-A7C3-50E3C8664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F955A0-DB19-4D11-B75E-3C2F01FF3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No fixed MAX is needed, but memory allocation can fail.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C01383-B7BD-4D54-9CA1-695EB5D07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152650"/>
            <a:ext cx="1333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top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58F2AB-9923-4E6B-AD26-EAF35B360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743200"/>
            <a:ext cx="1333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5F3F81-D21F-4AA8-95CF-CD94B7A0B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333750"/>
            <a:ext cx="1333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0FC831-4112-4BE8-99C5-666653A12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924300"/>
            <a:ext cx="1333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4BD1C4-0A28-4B4C-9B79-256DFE6D4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8196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Push and pop happen only at top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FC89E6-0F0C-4DF0-B4BD-647D6D7D4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3 • 29/50</a:t>
            </a:r>
          </a:p>
        </p:txBody>
      </p:sp>
    </p:spTree>
    <p:extLst>
      <p:ext uri="{BB962C8B-B14F-4D97-AF65-F5344CB8AC3E}">
        <p14:creationId xmlns:p14="http://schemas.microsoft.com/office/powerpoint/2010/main" val="229490996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46E860-965C-41C0-A8D9-1DEC9631E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3 / Circular Queues, Multiple Stacks and Queues, and Linked Lists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DACBEC-479E-49AE-B109-E76B4AD2A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Linked stack: operations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DD7436-6366-4C7B-9AF8-D61EA83E2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7418EE-D5D8-455D-A1E5-C3FA26DDB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Understand linked stack by tracing the operations it supports.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12B24E-3F31-4E79-AC7B-858345A56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Name the ADT state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Identify valid operations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Update pointers, indices, or links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Check boundary cases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A5E2F3-DDEC-499D-862F-23777FECA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190F77-3AB1-4B41-B4F3-76E562013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No fixed MAX is needed, but memory allocation can fail.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6C5D8C-1463-4857-972C-FC28A853E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152650"/>
            <a:ext cx="1333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top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93296E-AB7F-4EF4-A1A9-3AC45B815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743200"/>
            <a:ext cx="1333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4930F6-4EFF-47BE-9921-C9F4E90D5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333750"/>
            <a:ext cx="1333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0F976D-0E1E-4331-8DAB-89D3F32CD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924300"/>
            <a:ext cx="1333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5612EB-3B66-48F9-A1FE-9ED3C3747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8196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Push and pop happen only at top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38D176-5962-49AF-9E0D-D36DC1145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3 • 30/50</a:t>
            </a:r>
          </a:p>
        </p:txBody>
      </p:sp>
    </p:spTree>
    <p:extLst>
      <p:ext uri="{BB962C8B-B14F-4D97-AF65-F5344CB8AC3E}">
        <p14:creationId xmlns:p14="http://schemas.microsoft.com/office/powerpoint/2010/main" val="790943904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32E707-0551-4889-B403-B3CB17C93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3 / Circular Queues, Multiple Stacks and Queues, and Linked Lists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603E82-CE3E-4156-A3F3-6E9E8727B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Linked stack: algorithm pattern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CBF706-0C03-49CC-9D85-D70F7AA22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FE9D8E-CAC3-4C1A-94ED-7D4F3DD70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Most textbook procedures are state updates with careful boundary checks.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A7DF99-28B4-44D9-B224-4A77DB280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Input and preconditions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Core update step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Failure or empty/full case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Result: No fixed MAX is needed, but memory allocation can fail.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AFC8E9-BB3D-44EF-B7B5-1BF405952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1BFB13-B82D-452D-8079-22E3D204D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No fixed MAX is needed, but memory allocation can fail.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00A836-03D6-4575-AE8A-5EB016774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152650"/>
            <a:ext cx="1333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top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2E85CB-A8CF-4BD1-9DA8-1AB04974E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743200"/>
            <a:ext cx="1333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128073-9B9A-41A9-8BB8-684349E44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333750"/>
            <a:ext cx="1333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AE63A7-DC1A-4A32-BA88-F43C53A07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924300"/>
            <a:ext cx="1333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8762F3-73FA-4E2D-9476-18A60BDC9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8196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Push and pop happen only at top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8FB083-CED6-4387-B9BD-420803D28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3 • 31/50</a:t>
            </a:r>
          </a:p>
        </p:txBody>
      </p:sp>
    </p:spTree>
    <p:extLst>
      <p:ext uri="{BB962C8B-B14F-4D97-AF65-F5344CB8AC3E}">
        <p14:creationId xmlns:p14="http://schemas.microsoft.com/office/powerpoint/2010/main" val="1286090715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DEFEAD-E3B7-483F-8E8D-B976B9CA8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3 / Circular Queues, Multiple Stacks and Queues, and Linked Lists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72605E-F269-45F1-AD10-C29A3F2C0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Linked stack: 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AF1095-1C35-444B-9B91-CCDB7085A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74D1E0-1128-4063-BFA4-28B25CE45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A small trace makes linked stack exam-ready.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97FB8F-897B-417A-8A5C-945DB0404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Use terms: top pointer, push front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Trace at least three operations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Show final structure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State time and space idea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3AE8DF-69CC-4F66-848E-5164DAA2D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074827-80B9-4DF0-8F95-E449A6DBA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No fixed MAX is needed, but memory allocation can fail.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C1EBA6-09D3-4D5F-9628-9638A0325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152650"/>
            <a:ext cx="1333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top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970E61-38F3-41A0-AA28-ADA4F3FD5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743200"/>
            <a:ext cx="1333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872214-F7CC-49C5-981B-D001A151E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333750"/>
            <a:ext cx="1333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F5D679-92A1-40C4-B513-AD4382763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924300"/>
            <a:ext cx="1333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DFEC07-89E5-4728-85DA-4CDF42896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8196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Push and pop happen only at top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8C5F31-C575-431D-A298-3988E9262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3 • 32/50</a:t>
            </a:r>
          </a:p>
        </p:txBody>
      </p:sp>
    </p:spTree>
    <p:extLst>
      <p:ext uri="{BB962C8B-B14F-4D97-AF65-F5344CB8AC3E}">
        <p14:creationId xmlns:p14="http://schemas.microsoft.com/office/powerpoint/2010/main" val="69754575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2B70A1-3470-465A-B2B7-2512A099F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3 / Circular Queues, Multiple Stacks and Queues, and Linked Lists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958A85-5D88-462E-AD81-CD0800E9A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Linked queue: core idea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43AE51-AC1A-4AE6-BCBB-0F0B87060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FD4192-7406-4DE5-93E2-2D1171F27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A linked queue uses two pointers for efficient insertion and deletion.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C6AB35-EC11-4F30-8CF6-31A8441CF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front pointer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rear pointer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enqueue rear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dequeue front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952A21-6256-4498-8C1E-E0050CA67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23188E-D1A1-43D5-8ECE-D097C7AF7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Both pointers must be updated when queue becomes empty.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0DBA3B-C4FC-487C-B9D3-5B53BFF1B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057525"/>
            <a:ext cx="7810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front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121171-91AA-40F8-88A2-F40BA9C96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3057525"/>
            <a:ext cx="7810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job1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39A8BF-A66D-4E1A-8B73-537E8233B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057525"/>
            <a:ext cx="7810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job2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EF5D55-B84F-401C-8CD0-50F9F3EF4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3057525"/>
            <a:ext cx="7810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job3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E9E346-EF3A-439B-974E-72570D2CF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3057525"/>
            <a:ext cx="7810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rear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4481A2-1E4D-43C1-A627-0873A03C5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438650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FIFO: first inserted, first deleted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0C569F-B52F-4437-956B-4A19A041C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3 • 33/50</a:t>
            </a:r>
          </a:p>
        </p:txBody>
      </p:sp>
    </p:spTree>
    <p:extLst>
      <p:ext uri="{BB962C8B-B14F-4D97-AF65-F5344CB8AC3E}">
        <p14:creationId xmlns:p14="http://schemas.microsoft.com/office/powerpoint/2010/main" val="2029172063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68E924-67CD-43C1-B18B-98EFAD89B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3 / Circular Queues, Multiple Stacks and Queues, and Linked Lists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603A15-A3DF-47A5-9DEC-611E9E8B8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Linked queue: operations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B8196B-7094-44AA-9EA4-99FDC3354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5E21B3-F8EB-4168-A8CE-E0ECA0C46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Understand linked queue by tracing the operations it supports.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AF6E7B-0B71-4A99-B7A9-9809EE792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Name the ADT state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Identify valid operations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Update pointers, indices, or links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Check boundary cases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58D926-3E26-4B28-BF90-212E1AA2F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5F30DD-41D1-42D8-B34D-F46D48431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Both pointers must be updated when queue becomes empty.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A3A284-03B4-4E6B-9EFE-AC6202B92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057525"/>
            <a:ext cx="7810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front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73A358-5FC2-49EE-B92B-F4CFD1623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3057525"/>
            <a:ext cx="7810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job1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26DF3C-8E0E-4CCC-B9B3-6DC2AB8BD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057525"/>
            <a:ext cx="7810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job2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4C8B57-0C56-4E20-93FD-64E5D4EC9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3057525"/>
            <a:ext cx="7810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job3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F71B32-65E9-4309-9B3B-9E9F3A3C8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3057525"/>
            <a:ext cx="7810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rear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7246E9-D80E-4AB6-90AD-32AE98B6E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438650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FIFO: first inserted, first deleted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7A61AD-9799-4795-A816-E9103F705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3 • 34/50</a:t>
            </a:r>
          </a:p>
        </p:txBody>
      </p:sp>
    </p:spTree>
    <p:extLst>
      <p:ext uri="{BB962C8B-B14F-4D97-AF65-F5344CB8AC3E}">
        <p14:creationId xmlns:p14="http://schemas.microsoft.com/office/powerpoint/2010/main" val="1911876633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5D6194-6F0C-4576-B89C-E2DA3DAC7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3 / Circular Queues, Multiple Stacks and Queues, and Linked Lists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0FB376-FBC5-476D-A1C0-2CB7FD7BA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Linked queue: algorithm pattern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0F40D5-43BB-4926-89E1-29E2AE263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68602F-A663-42F2-B362-14B66BDDD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Most textbook procedures are state updates with careful boundary checks.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8D2BA1-D3D7-4B4E-B47B-49BDF6B13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Input and preconditions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Core update step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Failure or empty/full case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Result: Both pointers must be updated when queue becomes empty.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C9EF37-910F-4831-B32C-0411EC43F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E9BBC8-F4F3-40BB-AF41-6726A6649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Both pointers must be updated when queue becomes empty.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4105BA-842D-432E-BADB-1B7D895B7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057525"/>
            <a:ext cx="7810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front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531C6F-B88E-4FD2-A0B2-72D88FA37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3057525"/>
            <a:ext cx="7810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job1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C80F08-0C84-46AA-8EF8-0CBDE53A0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057525"/>
            <a:ext cx="7810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job2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E1DDFB-0D19-4C82-AD06-29940EADA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3057525"/>
            <a:ext cx="7810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job3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F8ACEB-8F0B-43FA-8BBA-2B1D9E6B0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3057525"/>
            <a:ext cx="7810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rear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0403F0-9192-4449-9359-234432F97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438650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FIFO: first inserted, first deleted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B500D6-7F3A-4BD3-A3BE-01B269D5B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3 • 35/50</a:t>
            </a:r>
          </a:p>
        </p:txBody>
      </p:sp>
    </p:spTree>
    <p:extLst>
      <p:ext uri="{BB962C8B-B14F-4D97-AF65-F5344CB8AC3E}">
        <p14:creationId xmlns:p14="http://schemas.microsoft.com/office/powerpoint/2010/main" val="2100134119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DCC43D-246D-4165-AAA2-0D008A322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3 / Circular Queues, Multiple Stacks and Queues, and Linked Lists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8CE2A0-F20D-4139-A94D-90C358D57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Linked queue: 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46266E-B293-47E0-B760-200F8B060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FF1FC2-13A9-410D-8437-19B39CF17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A small trace makes linked queue exam-ready.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EA349D-D118-449E-9D69-D14A542A3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Use terms: front pointer, rear pointer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Trace at least three operations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Show final structure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State time and space idea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49E269-5855-4C88-B453-B173A865B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05D955-6B94-432B-A534-55A18755B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Both pointers must be updated when queue becomes empty.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590121-7A46-4E3F-8D62-0BAF22847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057525"/>
            <a:ext cx="7810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front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3D27FD-3D91-474E-BD34-C6E55B8EE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3057525"/>
            <a:ext cx="7810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job1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7E0035-EF6B-49D7-A6CE-8F26E0DDE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057525"/>
            <a:ext cx="7810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job2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6AC866-2055-4BF8-8BB0-3D1440E28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3057525"/>
            <a:ext cx="7810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job3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609340-9F02-4910-88A8-C7EEED751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3057525"/>
            <a:ext cx="7810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rear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1CA516-884E-48EA-B680-78130C9E4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438650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FIFO: first inserted, first deleted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88AFB8-7ECB-4B63-9053-7B536E4F3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3 • 36/50</a:t>
            </a:r>
          </a:p>
        </p:txBody>
      </p:sp>
    </p:spTree>
    <p:extLst>
      <p:ext uri="{BB962C8B-B14F-4D97-AF65-F5344CB8AC3E}">
        <p14:creationId xmlns:p14="http://schemas.microsoft.com/office/powerpoint/2010/main" val="429284906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46BD2D-94E7-414A-954A-F053D02CD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3 / Circular Queues, Multiple Stacks and Queues, and Linked Lists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2BECF6-0A91-4BBC-8E6B-7466CB5F7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Additional list operations: core idea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B6599C-1826-4522-B7D4-AC7C5B877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A2736E-F190-4C27-91A4-EDFEF6B61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List operations are pointer rewiring algorithms.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21E2F6-6AA3-4CBF-9A27-39A80E4BB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insert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delete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search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count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799F02-A4B2-4CDC-9D03-3A1E3BFC6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A685EE-C42E-4C65-A6EC-72A551B3C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Draw links before changing them in code.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793023-975B-40D9-B51F-C2BC7AC2E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05150"/>
            <a:ext cx="9906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head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F9E717-BEA4-4900-A93A-4D968BC53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105150"/>
            <a:ext cx="9906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data|link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8F9B03-D7B5-4F8E-8E67-74EDD5284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105150"/>
            <a:ext cx="9906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data|link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1320AC-AF3E-4675-94DB-8F6412FE6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105150"/>
            <a:ext cx="9906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data|null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6CB63C-4968-4352-ABA4-F279802B3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486275"/>
            <a:ext cx="3667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Nodes move by rewiring links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5A585C-7201-4A04-96FE-3446CC11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3 • 37/50</a:t>
            </a:r>
          </a:p>
        </p:txBody>
      </p:sp>
    </p:spTree>
    <p:extLst>
      <p:ext uri="{BB962C8B-B14F-4D97-AF65-F5344CB8AC3E}">
        <p14:creationId xmlns:p14="http://schemas.microsoft.com/office/powerpoint/2010/main" val="848636075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E0CD2E-5423-4F5F-8B16-78DE09581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3 / Circular Queues, Multiple Stacks and Queues, and Linked Lists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941FB8-9493-4BED-82C5-090995FC4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Additional list operations: operations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D1F24C-FE47-4FEE-857D-C5FB65A00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EA0E12-D8FF-4AE0-900B-4A1E16CBF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Understand additional list operations by tracing the operations it supports.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8AAA00-CC1A-45CF-9311-D5B6628A2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Name the ADT state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Identify valid operations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Update pointers, indices, or links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Check boundary cases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67B734-D92E-4A65-A467-FC5D2BD7A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A4FCFC-75BD-4B1F-BFEF-030DEE29C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Draw links before changing them in code.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49B5FE-ABFD-4114-A8FF-14E4DD20E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05150"/>
            <a:ext cx="9906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head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71E701-B2AA-4A43-A484-29228F1EF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105150"/>
            <a:ext cx="9906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data|link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5E1427-E119-4500-A5F7-ECEB7CCAF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105150"/>
            <a:ext cx="9906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data|link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66F8B7-5A2B-4110-A690-07836B331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105150"/>
            <a:ext cx="9906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data|null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5938B9-7422-42DC-B766-517BF3182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486275"/>
            <a:ext cx="3667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Nodes move by rewiring links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96E72A-CBD8-4FFF-BD91-3445386E9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3 • 38/50</a:t>
            </a:r>
          </a:p>
        </p:txBody>
      </p:sp>
    </p:spTree>
    <p:extLst>
      <p:ext uri="{BB962C8B-B14F-4D97-AF65-F5344CB8AC3E}">
        <p14:creationId xmlns:p14="http://schemas.microsoft.com/office/powerpoint/2010/main" val="301921397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C4B750-C8B3-48F7-B3C6-7A88CDFDF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3 / Circular Queues, Multiple Stacks and Queues, and Linked Lists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D3AC8C-25CA-46BF-9A6A-479150BE3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Additional list operations: algorithm pattern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1222D1-D013-42B7-9166-78CCB62A0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F0E025-A8D3-4F2C-A3E5-0EC0AB849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Most textbook procedures are state updates with careful boundary checks.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59B085-9D73-41AE-9AE1-D484734BD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Input and preconditions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Core update step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Failure or empty/full case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Result: Draw links before changing them in code.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A5FC95-332B-4821-B306-D58BA32FE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16555A-1D8B-4E82-A605-0A5E0C8A1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Draw links before changing them in code.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819385-CF4F-4E8E-AD10-5FC828ADD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05150"/>
            <a:ext cx="9906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head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FD666A-3BB9-4379-BA8A-9D5D61D32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105150"/>
            <a:ext cx="9906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data|link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84FEF6-4869-429B-9310-F4EB98E89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105150"/>
            <a:ext cx="9906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data|link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83B804-FE4D-4B26-8B9B-EF5886DB6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105150"/>
            <a:ext cx="9906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data|null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419E97-9FD1-4B56-AF7B-A0C4574C6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486275"/>
            <a:ext cx="3667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Nodes move by rewiring links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C56EA0-5158-4706-97B5-E08418A51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3 • 39/50</a:t>
            </a:r>
          </a:p>
        </p:txBody>
      </p:sp>
    </p:spTree>
    <p:extLst>
      <p:ext uri="{BB962C8B-B14F-4D97-AF65-F5344CB8AC3E}">
        <p14:creationId xmlns:p14="http://schemas.microsoft.com/office/powerpoint/2010/main" val="1917557409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2EC214-C4E8-42D7-BE68-32FCC2FAA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3 / Circular Queues, Multiple Stacks and Queues, and Linked Lists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BCD7DB-999F-458C-9BE8-A4D44E660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Additional list operations: 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BDE609-CC1C-4816-9748-AFEB64BB7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CB97F9-175B-42A1-A107-09C966608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A small trace makes additional list operations exam-ready.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849BC6-E5ED-48B3-86DD-6637ED14D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Use terms: insert, delete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Trace at least three operations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Show final structure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State time and space idea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20CBEF-5887-416F-AFED-A9CE1518A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9DE760-6122-42F6-937B-5309D72BD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Draw links before changing them in code.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D30EEC-F4B4-40BA-B302-AA53C40D0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05150"/>
            <a:ext cx="9906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head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E69AEC-A7F5-4ED0-AE3E-2B4092A36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105150"/>
            <a:ext cx="9906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data|link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663816-07EC-4911-B25D-4B50BD0DC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105150"/>
            <a:ext cx="9906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data|link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B5F6FA-338E-4BC1-BDD5-E1C6B1A09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105150"/>
            <a:ext cx="9906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data|null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AEF7EF-A08A-487A-8C05-BDFB1B37A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486275"/>
            <a:ext cx="3667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Nodes move by rewiring links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C0BF2F-AEB9-4CD4-9F86-7FE825F5E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3 • 40/50</a:t>
            </a:r>
          </a:p>
        </p:txBody>
      </p:sp>
    </p:spTree>
    <p:extLst>
      <p:ext uri="{BB962C8B-B14F-4D97-AF65-F5344CB8AC3E}">
        <p14:creationId xmlns:p14="http://schemas.microsoft.com/office/powerpoint/2010/main" val="732317839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BF47C4-2010-4C90-93A8-DDC09F9E9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3 / Circular Queues, Multiple Stacks and Queues, and Linked Lists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9AA6F7-C5A6-4C69-94FA-3BAF36F91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Doubly linked list: core idea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B40384-B9DA-47AD-90E7-6DC73F077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95A719-3C8E-44DA-9615-FB21BB207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A doubly linked list supports traversal and deletion in both directions.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ADF3FE-7FAE-4916-8FDF-0289E4696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prev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next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bidirectional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deque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0DEF19-37C7-4232-9C96-E83C2481B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DAA427-B60E-44EA-B000-91D8344C6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Extra links improve flexibility but require more updates.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29BD14-D3F8-411E-BDAC-2290ED9C9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05150"/>
            <a:ext cx="9906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head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CEE55F-1FF9-4100-A0D7-4E175B79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105150"/>
            <a:ext cx="9906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data|link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5B69EF-1A92-41EA-A477-810DA4511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105150"/>
            <a:ext cx="9906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data|link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319736-7FC8-4D7F-A1E3-79D3CC972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105150"/>
            <a:ext cx="9906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data|null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A93AB2-D8EB-424C-8791-2BFB5385C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486275"/>
            <a:ext cx="3667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Nodes move by rewiring links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4F9F14-8B3C-45F3-9FB0-CC87232E6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3 • 41/50</a:t>
            </a:r>
          </a:p>
        </p:txBody>
      </p:sp>
    </p:spTree>
    <p:extLst>
      <p:ext uri="{BB962C8B-B14F-4D97-AF65-F5344CB8AC3E}">
        <p14:creationId xmlns:p14="http://schemas.microsoft.com/office/powerpoint/2010/main" val="1547101194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77E1CA-5A23-4B99-B453-D950E29F6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3 / Circular Queues, Multiple Stacks and Queues, and Linked Lists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F16197-1BDA-4687-98DA-7EEC7869D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Doubly linked list: operations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445C0A-999B-4F00-972D-81B8385CE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1764F6-B52F-44E0-8278-161373425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Understand doubly linked list by tracing the operations it supports.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A08D4F-B9B1-485E-B7AA-D93966F11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Name the ADT state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Identify valid operations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Update pointers, indices, or links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Check boundary cases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B7C02C-702A-4369-A332-C2AA5C69E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3A5420-4B56-4F99-8315-506160D64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Extra links improve flexibility but require more updates.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32852B-3B4E-48AA-8C71-EDFE64875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05150"/>
            <a:ext cx="9906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head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65666C-979F-43DB-B181-B94850899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105150"/>
            <a:ext cx="9906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data|link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0B2F31-FD32-45B8-9F5E-B22C78EA1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105150"/>
            <a:ext cx="9906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data|link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0D5E8F-3D0E-4B1C-9495-9C3030C38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105150"/>
            <a:ext cx="9906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data|null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5D7568-48A0-470D-9061-2DF7E9B62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486275"/>
            <a:ext cx="3667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Nodes move by rewiring links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3FA7B6-C204-4DCE-A81F-BBC96D58D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3 • 42/50</a:t>
            </a:r>
          </a:p>
        </p:txBody>
      </p:sp>
    </p:spTree>
    <p:extLst>
      <p:ext uri="{BB962C8B-B14F-4D97-AF65-F5344CB8AC3E}">
        <p14:creationId xmlns:p14="http://schemas.microsoft.com/office/powerpoint/2010/main" val="766744499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4183C2-8755-403D-8C1A-6B26CA196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3 / Circular Queues, Multiple Stacks and Queues, and Linked Lists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78BF79-E0BE-4CC8-A4A1-97065DDBE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Doubly linked list: algorithm pattern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82F8BD-44A8-4DFA-874F-10B6ACF7B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BBCA79-0947-418F-A8ED-35F881679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Most textbook procedures are state updates with careful boundary checks.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E8D458-0428-4815-82CB-40684A7F2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Input and preconditions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Core update step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Failure or empty/full case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Result: Extra links improve flexibility but require more updates.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2DA7AB-3906-4802-99D6-946B1F262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7D81D6-5F09-4499-9FEB-0DE325C3F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Extra links improve flexibility but require more updates.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E4DAD0-4ECE-4038-9901-46815847D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05150"/>
            <a:ext cx="9906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head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55F129-191D-4D04-9601-8D65BDE7B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105150"/>
            <a:ext cx="9906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data|link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939503-BC46-4F4B-8808-2231B0E0C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105150"/>
            <a:ext cx="9906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data|link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D4EA20-8720-4229-9D1A-77743CBCF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105150"/>
            <a:ext cx="9906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data|null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FE74A0-3847-4E97-9FDD-0158B9BA1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486275"/>
            <a:ext cx="3667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Nodes move by rewiring links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E8F635-97C3-4432-B6ED-561E05FCF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3 • 43/50</a:t>
            </a:r>
          </a:p>
        </p:txBody>
      </p:sp>
    </p:spTree>
    <p:extLst>
      <p:ext uri="{BB962C8B-B14F-4D97-AF65-F5344CB8AC3E}">
        <p14:creationId xmlns:p14="http://schemas.microsoft.com/office/powerpoint/2010/main" val="1817968186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7F4DCE-45FE-4FB9-A4D3-D8E54628F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3 / Circular Queues, Multiple Stacks and Queues, and Linked Lists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70C3C8-6669-436A-AF01-C9E3E6D38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Doubly linked list: 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6F3308-0398-4AD8-8F33-13DF0689A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942E39-1302-4B96-937D-048E87C64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A small trace makes doubly linked list exam-ready.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F2DD35-FE98-468D-94EA-ECB8BC0A8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Use terms: prev, next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Trace at least three operations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Show final structure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State time and space idea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4CEA41-EE18-4D2E-9267-A340FE204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A4B5BC-043E-4F92-9C13-477A81B55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Extra links improve flexibility but require more updates.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C3ABA2-5EF7-4EA3-BE68-CFCE64F10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05150"/>
            <a:ext cx="9906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head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6307EA-CBE6-4310-884D-DE0CED735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105150"/>
            <a:ext cx="9906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data|link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D9E5DD-F67F-4823-9A4E-ECA219628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105150"/>
            <a:ext cx="9906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data|link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AE5140-A2F3-41D4-9F8C-93A99C6C8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105150"/>
            <a:ext cx="9906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data|null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D59570-A0BA-4AE9-A0CA-02F7818C8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486275"/>
            <a:ext cx="3667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Nodes move by rewiring links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AA7C77-124B-45C2-89A2-E0A4FFDA0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3 • 44/50</a:t>
            </a:r>
          </a:p>
        </p:txBody>
      </p:sp>
    </p:spTree>
    <p:extLst>
      <p:ext uri="{BB962C8B-B14F-4D97-AF65-F5344CB8AC3E}">
        <p14:creationId xmlns:p14="http://schemas.microsoft.com/office/powerpoint/2010/main" val="1436130088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FD82E6-B9DD-4FC8-923C-0CBF33BF1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478D2B-A839-4312-9D33-8F9E5E3DE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Module 3 summary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68C51C-7572-4327-9BC8-1D51BA4D5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539EF9-4F9B-4B5D-8F14-864C38C58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857500"/>
            <a:ext cx="3429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Circular Queues, Multiple Stacks and Queues, and Linked Lists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7ADE7C-97EA-4D06-B2D4-16452D828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62125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Circular queue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D0F7E9-7451-42F2-AF40-538FB6275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762125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Dynamic circular queue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9378B2-3857-4615-893D-B730C0E72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62125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Multiple stacks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49897F-2025-4A09-ADAF-F7D327297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762125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Multiple queues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F8EFFC-75B6-4433-AD64-24FA51A92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95750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Singly linked list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5F4F87-18EC-4CA1-9E99-974FD0CD7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095750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Chains in 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B081CA-F7FC-458B-8CBA-0348B2A85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95750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Linked stack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A0D132-70CF-44F3-B14B-A74196363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095750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Linked queue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79ABF0-8467-4F9C-AE96-E8F708712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79120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Use the map to revise definitions, operations, and one example per structure.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2A66C7-6860-4581-B807-E71F53931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3 • 45/50</a:t>
            </a:r>
          </a:p>
        </p:txBody>
      </p:sp>
    </p:spTree>
    <p:extLst>
      <p:ext uri="{BB962C8B-B14F-4D97-AF65-F5344CB8AC3E}">
        <p14:creationId xmlns:p14="http://schemas.microsoft.com/office/powerpoint/2010/main" val="445797446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697E28-5BAA-4161-A80A-F32F7FF1A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Practice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675AD5-4E3A-4E59-B2EB-CA009DE01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Module 3 exam-focused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019619-51FB-4077-A855-6E0D45D31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9D6DC9-5AF3-4A67-BA23-9BD4B11AE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049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FD4C8D-1598-42D4-A2D9-730BCDCA0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4287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Define circular queue and explain its representation.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F7374D-314E-4A57-A7B2-9BCDB3026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524000"/>
            <a:ext cx="1047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033"/>
                </a:solidFill>
              </a:defRPr>
            </a:pPr>
            <a:r>
              <a:rPr sz="975" b="1">
                <a:solidFill>
                  <a:srgbClr val="102033"/>
                </a:solidFill>
              </a:rPr>
              <a:t>10 marks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40FD9B-7EE6-47C0-A90D-F89F03EBC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28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DCCCB1-9BDC-4FA4-880C-08912A9E7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1526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Write an algorithm for dynamic circular queue with boundary cases.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B9F96D-A7D8-425F-BA41-CB45D4B38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247900"/>
            <a:ext cx="1047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033"/>
                </a:solidFill>
              </a:defRPr>
            </a:pPr>
            <a:r>
              <a:rPr sz="975" b="1">
                <a:solidFill>
                  <a:srgbClr val="102033"/>
                </a:solidFill>
              </a:rPr>
              <a:t>10 marks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319E0E-AFBF-45F2-8D51-2A292126A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527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ECFC92-BA25-45ED-B0B5-67D3E8FAC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8765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Trace multiple stacks using a small example.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6E9975-109A-4585-94D2-2C8583C61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971800"/>
            <a:ext cx="1047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033"/>
                </a:solidFill>
              </a:defRPr>
            </a:pPr>
            <a:r>
              <a:rPr sz="975" b="1">
                <a:solidFill>
                  <a:srgbClr val="102033"/>
                </a:solidFill>
              </a:rPr>
              <a:t>10 marks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A51809-A658-447D-A3DD-19563DE80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766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E9A21B-26E1-4A00-8D35-C12D00771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6004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Compare two representations used in this module.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1A01EA-13F6-493A-9EBC-7E5020ABC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695700"/>
            <a:ext cx="1047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033"/>
                </a:solidFill>
              </a:defRPr>
            </a:pPr>
            <a:r>
              <a:rPr sz="975" b="1">
                <a:solidFill>
                  <a:srgbClr val="102033"/>
                </a:solidFill>
              </a:rPr>
              <a:t>short note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8F0853-302F-4251-80C3-58444B2DA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005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A0D595-EA90-472A-A7BA-2381A948E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3243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Explain the time complexity of a key operation.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E6C68E-BF33-4683-BB76-59DA4A60B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419600"/>
            <a:ext cx="1047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033"/>
                </a:solidFill>
              </a:defRPr>
            </a:pPr>
            <a:r>
              <a:rPr sz="975" b="1">
                <a:solidFill>
                  <a:srgbClr val="102033"/>
                </a:solidFill>
              </a:rPr>
              <a:t>short note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E0DAF3-7DEC-454C-9BE2-09D90BA40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244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E04E75-AC0A-47A0-BDC5-3E38F16C8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0482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Write short notes on doubly linked list.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1B01FB-A1E1-4073-8C1B-BB29B8F0E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5143500"/>
            <a:ext cx="1047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033"/>
                </a:solidFill>
              </a:defRPr>
            </a:pPr>
            <a:r>
              <a:rPr sz="975" b="1">
                <a:solidFill>
                  <a:srgbClr val="102033"/>
                </a:solidFill>
              </a:rPr>
              <a:t>short note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60E87C-5D89-488F-8C90-55F09D195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3 • 46/50</a:t>
            </a:r>
          </a:p>
        </p:txBody>
      </p:sp>
    </p:spTree>
    <p:extLst>
      <p:ext uri="{BB962C8B-B14F-4D97-AF65-F5344CB8AC3E}">
        <p14:creationId xmlns:p14="http://schemas.microsoft.com/office/powerpoint/2010/main" val="726443720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EEE743-B464-46C9-9CFE-CE798A12A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Exam quick reference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C60FEF-943E-413F-A165-C2879674E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Module 3 complexity checkpoints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2E858A-A267-4B8A-9E8B-03ECBC787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CDD794-E34E-4153-B047-89AF7928B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3143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Circular queue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83A8FE-1F93-4948-A9EC-229F13B32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7640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</a:defRPr>
            </a:pPr>
            <a:r>
              <a:rPr sz="1500" b="1">
                <a:solidFill>
                  <a:srgbClr val="102033"/>
                </a:solidFill>
              </a:rPr>
              <a:t>O(1) core access or pointer update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E9549C-8B18-4A2E-9CC0-1FDAA8CE3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6764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033"/>
                </a:solidFill>
              </a:defRPr>
            </a:pPr>
            <a:r>
              <a:rPr sz="1425" b="0">
                <a:solidFill>
                  <a:srgbClr val="102033"/>
                </a:solidFill>
              </a:rPr>
              <a:t>Representation decides cost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0A528C-E8AA-4D5B-98BD-45C708D6D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24100"/>
            <a:ext cx="3143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Dynamic circular queue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6136EE-C8F0-4512-8F4A-712352D8D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6220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</a:defRPr>
            </a:pPr>
            <a:r>
              <a:rPr sz="1500" b="1">
                <a:solidFill>
                  <a:srgbClr val="102033"/>
                </a:solidFill>
              </a:rPr>
              <a:t>O(n) scan/update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BD8EBD-3CAF-4BA4-9BC1-752A09032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622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033"/>
                </a:solidFill>
              </a:defRPr>
            </a:pPr>
            <a:r>
              <a:rPr sz="1425" b="0">
                <a:solidFill>
                  <a:srgbClr val="102033"/>
                </a:solidFill>
              </a:rPr>
              <a:t>Watch boundary cases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2B55B9-FF25-4369-997F-A8047DFDB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9900"/>
            <a:ext cx="3143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Multiple stacks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8B74CE-E474-4DE0-9D83-7D5B05F00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4800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</a:defRPr>
            </a:pPr>
            <a:r>
              <a:rPr sz="1500" b="1">
                <a:solidFill>
                  <a:srgbClr val="102033"/>
                </a:solidFill>
              </a:rPr>
              <a:t>O(1) core access or pointer update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82B431-BC91-4178-B35D-F19B336D4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033"/>
                </a:solidFill>
              </a:defRPr>
            </a:pPr>
            <a:r>
              <a:rPr sz="1425" b="0">
                <a:solidFill>
                  <a:srgbClr val="102033"/>
                </a:solidFill>
              </a:rPr>
              <a:t>Watch boundary cases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46C204-DD66-4F00-A23B-8E53B678F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95700"/>
            <a:ext cx="3143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Multiple queues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0FC702-E9A3-41DC-ADF9-BCDA897C7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3380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</a:defRPr>
            </a:pPr>
            <a:r>
              <a:rPr sz="1500" b="1">
                <a:solidFill>
                  <a:srgbClr val="102033"/>
                </a:solidFill>
              </a:rPr>
              <a:t>O(n) scan/update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8156BA-C341-4C5E-9072-51D29A41B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7338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033"/>
                </a:solidFill>
              </a:defRPr>
            </a:pPr>
            <a:r>
              <a:rPr sz="1425" b="0">
                <a:solidFill>
                  <a:srgbClr val="102033"/>
                </a:solidFill>
              </a:rPr>
              <a:t>Representation decides cost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F69F63-120C-4C3D-A71F-DD48C6EDA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81500"/>
            <a:ext cx="3143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Singly linked list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323019-8FA6-423A-8BBC-C216B367A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41960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</a:defRPr>
            </a:pPr>
            <a:r>
              <a:rPr sz="1500" b="1">
                <a:solidFill>
                  <a:srgbClr val="102033"/>
                </a:solidFill>
              </a:rPr>
              <a:t>O(1) core access or pointer update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DB019A-C75D-4430-8047-92BCB0141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4196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033"/>
                </a:solidFill>
              </a:defRPr>
            </a:pPr>
            <a:r>
              <a:rPr sz="1425" b="0">
                <a:solidFill>
                  <a:srgbClr val="102033"/>
                </a:solidFill>
              </a:rPr>
              <a:t>Watch boundary cases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E9A91B-0BB5-46A6-8A50-4E440CEED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67300"/>
            <a:ext cx="3143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Chains in C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B98EAC-E0D2-4AAE-A158-BFFD8A0A9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10540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</a:defRPr>
            </a:pPr>
            <a:r>
              <a:rPr sz="1500" b="1">
                <a:solidFill>
                  <a:srgbClr val="102033"/>
                </a:solidFill>
              </a:rPr>
              <a:t>O(n) scan/update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A60DC9-A2B8-4155-BCC7-2D3E2D8FB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1054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033"/>
                </a:solidFill>
              </a:defRPr>
            </a:pPr>
            <a:r>
              <a:rPr sz="1425" b="0">
                <a:solidFill>
                  <a:srgbClr val="102033"/>
                </a:solidFill>
              </a:rPr>
              <a:t>Watch boundary cases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6EF623-55E1-4949-8327-F76C59BFD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3 • 47/50</a:t>
            </a:r>
          </a:p>
        </p:txBody>
      </p:sp>
    </p:spTree>
    <p:extLst>
      <p:ext uri="{BB962C8B-B14F-4D97-AF65-F5344CB8AC3E}">
        <p14:creationId xmlns:p14="http://schemas.microsoft.com/office/powerpoint/2010/main" val="1536542675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BC17AF-B5F6-4A50-A574-1788E1311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FD7B22-927C-485F-8605-9CD905C46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Module 3 summary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17CCC4-8F5F-4B42-9938-FE801D9B7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6350BD-678A-454C-B916-9B2EC3A80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857500"/>
            <a:ext cx="3429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Circular Queues, Multiple Stacks and Queues, and Linked Lists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D30D09-C12B-42E7-9A38-65DE39419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62125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Circular queue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2289C2-957F-46C8-ACD6-9E75D8756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762125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Dynamic circular queue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430B98-DC92-44B0-86E2-A867AA3BB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62125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Multiple stacks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614CC3-3A1B-4FA3-A8CB-F9C6E13FF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762125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Multiple queues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16C85C-9FFD-4436-BB1D-C83FE6421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95750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Singly linked list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0945DF-8B4D-47F8-9DBA-67F252D29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095750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Chains in 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FD9F95-6B2B-4D7E-8E9C-B9125036B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95750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Linked stack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6CA501-CDFC-44F5-999B-D2864A456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095750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Linked queue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FDAA1B-3816-4C38-9091-02692CA7D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79120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Use the map to revise definitions, operations, and one example per structure.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D2864E-750D-4A71-A356-13C2B1F5C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3 • 48/50</a:t>
            </a:r>
          </a:p>
        </p:txBody>
      </p:sp>
    </p:spTree>
    <p:extLst>
      <p:ext uri="{BB962C8B-B14F-4D97-AF65-F5344CB8AC3E}">
        <p14:creationId xmlns:p14="http://schemas.microsoft.com/office/powerpoint/2010/main" val="970562449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617A66-1422-4DFE-BF7C-37F402C44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Practice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9DC03E-7A54-463E-9331-844950C88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Module 3 exam-focused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9D6706-EA3F-4307-8657-719B2FB16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3BE2E1-31BD-4326-99A5-D0E52CAF3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049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80F37E-3350-41C1-A789-C67838580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4287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Define circular queue and explain its representation.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A59C32-F94D-41F5-8D46-3EBF28E59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524000"/>
            <a:ext cx="1047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033"/>
                </a:solidFill>
              </a:defRPr>
            </a:pPr>
            <a:r>
              <a:rPr sz="975" b="1">
                <a:solidFill>
                  <a:srgbClr val="102033"/>
                </a:solidFill>
              </a:rPr>
              <a:t>10 marks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9BB327-2BE2-44C1-98AC-794202928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28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A859F1-722C-495E-90E6-D4AB52077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1526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Write an algorithm for dynamic circular queue with boundary cases.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6B7539-0724-4C3F-AD78-486E2E3A1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247900"/>
            <a:ext cx="1047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033"/>
                </a:solidFill>
              </a:defRPr>
            </a:pPr>
            <a:r>
              <a:rPr sz="975" b="1">
                <a:solidFill>
                  <a:srgbClr val="102033"/>
                </a:solidFill>
              </a:rPr>
              <a:t>10 marks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D5F843-97D5-4A44-9506-C0CF1CCEC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527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3C4FBD-DFB5-43B6-9270-E220D031C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8765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Trace multiple stacks using a small example.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BD27D1-DD83-40F3-8A31-3502121EA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971800"/>
            <a:ext cx="1047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033"/>
                </a:solidFill>
              </a:defRPr>
            </a:pPr>
            <a:r>
              <a:rPr sz="975" b="1">
                <a:solidFill>
                  <a:srgbClr val="102033"/>
                </a:solidFill>
              </a:rPr>
              <a:t>10 marks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FD3C32-38C9-4FB7-8D9E-B215ED682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766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5CDA75-1FDE-4B3F-A141-9DF7D2282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6004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Compare two representations used in this module.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F7F49E-7795-49DA-B25C-F584590B8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695700"/>
            <a:ext cx="1047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033"/>
                </a:solidFill>
              </a:defRPr>
            </a:pPr>
            <a:r>
              <a:rPr sz="975" b="1">
                <a:solidFill>
                  <a:srgbClr val="102033"/>
                </a:solidFill>
              </a:rPr>
              <a:t>short note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3436DF-586E-4C85-908A-D49E5D3F7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005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5860B2-5C68-4E9B-AAF9-B2C07EA6D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3243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Explain the time complexity of a key operation.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DDDE6C-7705-45D9-A829-1B00D1924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419600"/>
            <a:ext cx="1047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033"/>
                </a:solidFill>
              </a:defRPr>
            </a:pPr>
            <a:r>
              <a:rPr sz="975" b="1">
                <a:solidFill>
                  <a:srgbClr val="102033"/>
                </a:solidFill>
              </a:rPr>
              <a:t>short note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168CAF-88A7-4B01-BB7E-DDFEAACF3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244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4E3069-C94F-4E3E-AEAF-6EF7F6693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0482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Write short notes on doubly linked list.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4FB658-C45F-4D81-B5BD-6A4CB5579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5143500"/>
            <a:ext cx="1047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033"/>
                </a:solidFill>
              </a:defRPr>
            </a:pPr>
            <a:r>
              <a:rPr sz="975" b="1">
                <a:solidFill>
                  <a:srgbClr val="102033"/>
                </a:solidFill>
              </a:rPr>
              <a:t>short note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E9F7BA-0B06-49CC-8EFC-B8E4B1DD7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3 • 49/50</a:t>
            </a:r>
          </a:p>
        </p:txBody>
      </p:sp>
    </p:spTree>
    <p:extLst>
      <p:ext uri="{BB962C8B-B14F-4D97-AF65-F5344CB8AC3E}">
        <p14:creationId xmlns:p14="http://schemas.microsoft.com/office/powerpoint/2010/main" val="323029729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D2071F-E65E-4533-A97A-8BFABBDCE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3 / Circular Queues, Multiple Stacks and Queues, and Linked Lists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62C520-8631-4A5D-9150-644A1E714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Singly linked list: 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2875BC-8E25-44B3-BA17-D9C334165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F028BA-35B1-451A-8237-7162810BA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A small trace makes singly linked list exam-ready.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231DD5-1A2E-4582-8959-694763621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Use terms: node, link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Trace at least three operations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Show final structure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State time and space idea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49DBCE-E273-4C30-BE12-60244889D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E7E3E3-04C9-4F23-B8A9-164E375B4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Insertion and deletion do not require shifting elements.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631836-79F5-4C89-A64A-F284D8507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05150"/>
            <a:ext cx="9906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head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F199D8-9830-43AA-85CD-702327F45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105150"/>
            <a:ext cx="9906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data|link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27F836-1A3B-4C05-B6CC-BAB93F437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105150"/>
            <a:ext cx="9906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data|link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2C367C-96B1-4060-B4AA-4F40452FC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105150"/>
            <a:ext cx="9906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data|null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200CC2-CB0D-4AA9-889B-8A5D2DF02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486275"/>
            <a:ext cx="3667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Nodes move by rewiring links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B3B125-FCFF-4796-8288-58F758A20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3 • 50/50</a:t>
            </a:r>
          </a:p>
        </p:txBody>
      </p:sp>
    </p:spTree>
    <p:extLst>
      <p:ext uri="{BB962C8B-B14F-4D97-AF65-F5344CB8AC3E}">
        <p14:creationId xmlns:p14="http://schemas.microsoft.com/office/powerpoint/2010/main" val="8987315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2026-08-21T10:45:31.2900000Z</dcterms:created>
  <dcterms:modified xsi:type="dcterms:W3CDTF">2026-08-21T10:45:31.2900000Z</dcterms:modified>
</coreProperties>
</file>