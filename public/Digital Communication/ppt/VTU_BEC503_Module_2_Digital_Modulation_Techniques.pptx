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10 contact hours and 16 teaching units, and that all of it exists to answer one question: Given a fixed power budget and a fixed band, how many bits per second can I push through, and what does each extra bit cost in reliability?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"Given a fixed power budget and a fixed band, how many bits per second can I push through,…" to look like?
Animation instructions: Module title block fades in first, then the textbook panel slides in from the right, then the five arc beats appear left to right one at a time.
Transition style: Fade
[Sources] VTU BEC503 Digital Communication syllabus, 2025 scheme, Module 2: Digital Modulation Techniques, 10 hours, TB1 (Haykin 2014) Ch. 7.5-7.8 pp. 344-398 and Ch. 7.10-7.14 pp. 400-418.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BEC503 Digital Communication syllabus, 2025 scheme, Module 2: Digital Modulation Techniques, 10 hours, TB1 (Haykin 2014) Ch. 7.5-7.8 pp. 344-398 and Ch. 7.10-7.14 pp. 400-418.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2: Digital Modulation Techniques, 10 hours, TB1 (Haykin 2014) Ch. 7.5-7.8 pp. 344-398 and Ch. 7.10-7.14 pp. 400-418.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2: Digital Modulation Techniques, 10 hours, TB1 (Haykin 2014) Ch. 7.5-7.8 pp. 344-398 and Ch. 7.10-7.14 pp. 400-418.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Q function Q(x) is the probability that a standard normal random variable exceeds x, and it is the single object every error probability in this modul… Then add the part they are examined on - Every error probability here is Q(distance / noise spread); comparing schemes means comparing one number inside a Q.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"Q function" constrain here, and what would break if it did not hold?
Animation instructions: the bell curve draws, then the first vertical line drops and its tail area fills, then the second line drops and its smaller tail fills in a contrasting tint, then the double-headed arrow spans them, then the side panel axis draws and the two markers drop onto the curve in order.
Transition style: Fade
[Sources] VTU BEC503 Digital Communication syllabus, 2025 scheme, Module 2: Digital Modulation Techniques. TB1 as listed by the syllabus: Simon Haykin, Digital Communication Systems, John Wiley &amp; Sons, 1st ed., 2014; Ch. 7, pp. 344-352.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decision boundary and the distance d between the two competing signal points - and check everyone has written it before moving on. At the cost panel, translate it: The union bound is tight at high SNR and loose at low SNR, which is where simulation is needed.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344-352.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BPSK at Eb/N0 = 7 dB. Work at the pace of the slowest note-taker and land hard on the result: One decibel of extra energy cuts the error rate by a factor of four. That steepness is the reason link budgets are fought over in…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344-352.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Binary phase-shift keying transmits one of two carriers 180 degrees apart, s1(t) = sqrt(2Eb/Tb) cos(2 pi fc t) and s2(t) the same with a minus sign. Then add the part they are examined on - BPSK is the largest possible separation for two signals of energy Eb, at the cost of only one bit per symbol.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"BPSK" constrain here, and what would break if it did not hold?
Animation instructions: the axis draws and the two dots appear together, then the distance arrow snaps between them, then the dashed boundary drops at the origin, then the block diagram builds left to right, then the time strip draws and the phase reversal circle pulses.
Transition style: Fade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Map each bit to a level: 1 to +1, 0 to -1 - and check everyone has written it before moving on. At the cost panel, translate it: The ambiguity is resolved either by differential encoding or by a known preamble.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Bit sequence 1 0 1 1, Eb = 1, Tb = 1. Work at the pace of the slowest note-taker and land hard on the result: The correct sequence is recovered only if the phase reference is right; a 180-degree lock error inverts every single bit, which 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coherent BPSK receiver correlates the received waveform with a locally generated carrier of exactly the right frequency and phase, then compares the res… Then add the part they are examined on - Pb = Q(sqrt(2Eb/N0)) is the floor for binary signalling; nothing binary does better, and everything else is measured against…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"coherent detection" constrain here, and what would break if it did not hold?
Animation instructions: the axis and the two points draw, then the two bells grow simultaneously from the axis, then the threshold line drops, then the overlapping tail shades and pulses, then the distance arrow and sigma caption appear, then the results card slides in and its table rows fill top to bottom.
Transition style: Fade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Correlate the received waveform with phi1(t) over the bit interval - and check everyone has written it before moving on. At the cost panel, translate it: A 30-degree phase error costs about 1.25 dB, which is why phase-locked loop quality matters.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Eb/N0 = 9 dB. A phase error of 20 degrees is present. Work at the pace of the slowest note-taker and land hard on the result: A 20-degree phase error nearly triples the error rate, equivalent to losing about 0.5 dB of transmit power.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352-357.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Quadrature phase-shift keying carries two bits per symbol by placing four points on a circle of radius sqrt(E) at 45, 135, 225 and 315 degrees, which is t… Then add the part they are examined on - QPSK is two BPSK streams in quadrature; Gray mapping is free and turns each likely symbol error into a single bit error.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"QPSK" constrain here, and what would break if it did not hold?
Animation instructions: the axes draw, then the dashed circle appears, then the four points land one at a time anticlockwise with their labels, then the adjacent-pair arcs light in sequence with their annotations, then the diagonal dashed lines fade in dimmer, then the decision boundaries sweep along the axes, then the side card slides in.
Transition style: Fade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Group the bit stream into dibits - and check everyone has written it before moving on. At the cost panel, translate it: The apparent loss per symbol is exactly cancelled by carrying two bits, which is the elegant part.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Bit stream 0 1 1 1 1 0 0 0 with Gray mapping 00, 01, 11, 10 anticlockwise from 45 degrees. Work at the pace of the slowest note-taker and land hard on the result: Gray mapping guarantees one bit error per nearest-neighbour symbol error; natural binary allows two, which costs about 1.5 times…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QPSK modulator splits the bit stream into odd and even bits, level-encodes each to ±sqrt(E/2), and modulates them onto cos and -sin carriers before summ… Then add the part they are examined on - QPSK gives twice the bit rate of BPSK in the same band at exactly the same bit error rate — the decisive result of the modul…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"serial-to-parallel" constrain here, and what would break if it did not hold?
Animation instructions: the modulator builds left to right stage by stage, then the mirror line drops, then the demodulator builds right to left as a mirror image, then the two slicers flash simultaneously to emphasise the decisions are independent.
Transition style: Fade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Split the bit stream into odd-indexed and even-indexed bits - and check everyone has written it before moving on. At the cost panel, translate it: The four-fold ambiguity is worse than BPSK's two-fold and is usually resolved differentially.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Eb/N0 = 10 dB, symbol rate 1 Msymbol/s. Work at the pace of the slowest note-taker and land hard on the result: Same bit error rate as BPSK, double the throughput, same bandwidth. The only real cost is the more complex phase reference.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357-364.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M-ary PSK places M points uniformly on a circle of radius sqrt(E), so the phases are separated by 2 pi/M and the constellation keeps a constant envelope r… Then add the part they are examined on - M-ary PSK buys bits per symbol with angular spacing; d_min = 2 sqrt(E) sin(pi/M) is the whole story.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"M-ary PSK" constrain here, and what would break if it did not hold?
Animation instructions: the circle draws, then the eight points appear together, then the radial boundaries sweep out from the centre one at a time and the wedge tints fill alternately, then the bold chord snaps between two adjacent points and its label lands, then the M = 4 inset fades in beside it with its longer chord highlighted.
Transition style: Fade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M as a power of two so each symbol carries log2(M) bits - and check everyone has written it before moving on. At the cost panel, translate it: Past M = 8, QAM beats PSK because it uses the interior of the circle as well as its edge.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Compare d_min for M = 4, 8 and 16 at the same symbol energy E. Work at the pace of the slowest note-taker and land hard on the result: Each doubling of M beyond 4 costs roughly 6 dB of SNR for one extra bit per symbol — an increasingly bad bargain.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symbol error probability of M-ary PSK is well approximated by 2Q(sqrt(2E/N0) sin(pi/M)), the union bound counting the two nearest neighbours, which is… Then add the part they are examined on - Bits per hertz and joules per bit trade against each other, and past QPSK the exchange rate turns sharply unfavourable.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"symbol error probability" constrain here, and what would break if it did not hold?
Animation instructions: the axes draw, then the Shannon bound line drops with the forbidden region shading, then the five points land left to right in order, then the connecting curve draws through them, then the three incremental-cost arrows appear in sequence with their labels.
Transition style: Fade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Fix a target symbol or bit error probability - and check everyone has written it before moving on. At the cost panel, translate it: The free doubling from BPSK to QPSK is available because the two quadrature channels are genuinely independent.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Target Pb = 10^-5. Required Eb/N0 for BPSK, QPSK and 8-PSK. Work at the pace of the slowest note-taker and land hard on the result: The first extra bit per symbol is nearly free; the second costs about 3.5 dB and the third about 4.5 dB more.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364-370.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Quadrature amplitude modulation independently modulates the amplitude of the in-phase and quadrature carriers, producing a rectangular lattice of points r… Then add the part they are examined on - QAM uses the whole plane instead of only the rim, which beats PSK for M above 8 — provided the amplifier can tolerate a vary…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"QAM" constrain here, and what would break if it did not hold?
Animation instructions: both planes draw their axes together, then the 16 PSK points appear on the circle, then the 16 QAM points appear as a lattice, then both bold distance markers snap in simultaneously, then the comparison bars grow from the baseline, then the warning card slides in beside the QAM plane.
Transition style: Fade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M = L^2 so the constellation is a square lattice - and check everyone has written it before moving on. At the cost panel, translate it: The back-off partially eats the theoretical gain in power-limited links.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16-QAM with points at (±1, ±1), (±1, ±3), (±3, ±1), (±3, ±3) scaled by a. Work at the pace of the slowest note-taker and land hard on the result: 16-QAM has 1.62 times the minimum distance of 16-PSK at equal average energy — about 4.2 dB, and the reason no one uses 16-PSK.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Because the two axes of a square QAM constellation are independently sliced, the symbol error probability follows from a one-dimensional L-level PAM resul… Then add the part they are examined on - QAM wins on paper from M = 8 upward, and the win is real only if the power amplifier has the headroom for a varying envelope.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"per-axis error" constrain here, and what would break if it did not hold?
Animation instructions: the axes draw, then the PSK curve draws left to right, then the QAM curve draws left to right beneath it, then the meeting point at M = 4 pulses with its annotation, then the two gap brackets appear in order, then the back-off band shades along the QAM curve last.
Transition style: Fade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per-axis L-level PAM error probability - and check everyone has written it before moving on. At the cost panel, translate it: This is why satellite links historically preferred PSK and cable links preferred QAM.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16-QAM at Eb/N0 = 14 dB. Work at the pace of the slowest note-taker and land hard on the result: About 3 bit errors per million at 14 dB. 16-PSK would need roughly 18 dB for the same figure.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370-375.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Binary frequency-shift keying transmits one of two carriers at different frequencies, and when the frequency separation is chosen so that the two waveform… Then add the part they are examined on - Orthogonal costs 3 dB against antipodal, and that 3 dB buys the option of noncoherent detection.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"BFSK" constrain here, and what would break if it did not hold?
Animation instructions: the two axes draw with the right-angle square, then the two BFSK points land and their connecting line draws with its label, then the faint BPSK points and their longer line fade in beneath, then the comparison card slides in, then the time strip draws with the frequency change highlighted at each boundary.
Transition style: Fade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two frequencies f1 and f2 separated by an integer multiple of 1/(2Tb) for orthogonality - and check everyone has written it before moving on. At the cost panel, translate it: Sunde's FSK, with separation exactly 1/Tb, is the classic minimum-separation orthogonal case.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Tb = 1 ms. Find the minimum frequency separation for orthogonality with coherent detection. Work at the pace of the slowest note-taker and land hard on the result: Coherent BFSK can use 500 Hz separation; noncoherent needs 1000 Hz, so choosing noncoherent detection also costs bandwidth.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coherent BFSK receiver uses two correlators, one for each frequency, and subtracts their outputs before comparing against zero. Then add the part they are examined on - Pb = Q(sqrt(Eb/N0)) for coherent BFSK — the same formula as BPSK with the two removed, which is the 3 dB.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"coherent FSK" constrain here, and what would break if it did not hold?
Animation instructions: the input fans to both branches, then each branch lights in sequence through multiplier, integrator and sampler, then the subtractor circle fills and pulses, then the comparator and decision arrow appear, then the right-hand plot draws its two bells, then the threshold drops and the tail shades with the variance annotation landing last.
Transition style: Fade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Correlate the received waveform against phi1 and against phi2 over the bit interval - and check everyone has written it before moving on. At the cost panel, translate it: Requiring coherence at two frequencies is harder than at one, which is why coherent BFSK is rare in practice.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Eb/N0 = 12 dB, comparing coherent BFSK against BPSK. Work at the pace of the slowest note-taker and land hard on the result: BFSK at 12 dB is nearly four thousand times worse than BPSK at the same energy, and needs 3 dB more to match it.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375-382.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Plotting bit error rate against Eb/N0 on logarithmic axes produces the familiar waterfall curves, and the whole module can be read off one chart. Then add the part they are examined on - One chart decides the scheme: BPSK and QPSK share the best curve, and every simplification of the receiver costs a known num…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"BER curve" constrain here, and what would break if it did not hold?
Animation instructions: the axes draw with the logarithmic gridlines, then the BPSK/QPSK curve draws left to right, then the other three curves draw in sequence, then the 1e-5 dashed line sweeps across, then the crossing markers drop onto each curve in order, then the offset brackets appear with their dB labels, then the legend card slides in.
Transition style: Fade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Fix the target bit error rate, typically 1e-5 or 1e-6 - and check everyone has written it before moving on. At the cost panel, translate it: The curves are all for uncoded transmission; coding in Modules 4 and 5 shifts every one of them left.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Required Eb/N0 at Pb = 1e-5 for the four schemes. Work at the pace of the slowest note-taker and land hard on the result: The full spread is under 4 dB. Receiver simplicity is often worth more than 4 dB, which is why noncoherent schemes remain in wide…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the carrier phase is unknown and modelled as uniformly distributed over 0 to 2 pi, the likelihood must be averaged over that phase, and the result de… Then add the part they are examined on - Averaging over an unknown phase turns the optimum receiver into an envelope comparison — the phase is discarded because it c…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"unknown phase" constrain here, and what would break if it did not hold?
Animation instructions: the input splits to both correlators, then both branches light simultaneously, then the envelope block fills and its output arrow extends, then the phasor circle draws, then five ghost vectors fan out around it one at a time at random angles, then the solid vector settles and its length is bracketed and labelled.
Transition style: Fade
[Sources] VTU BEC503 Digital Communication syllabus, 2025 scheme, Module 2: Digital Modulation Techniques. TB1 as listed by the syllabus: Simon Haykin, Digital Communication Systems, John Wiley &amp; Sons, 1st ed., 2014; Ch. 7, pp. 400-410.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Model the carrier phase as uniform over 0 to 2 pi - and check everyone has written it before moving on. At the cost panel, translate it: The loss shrinks at low error rates and grows at high ones.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400-410.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Quadrature outputs xI = 0.6, xQ = 0.8 for frequency f1, and xI = 0.3, xQ = 0.2 for f2. Work at the pace of the slowest note-taker and land hard on the result: The decision uses only magnitudes. Rotating both quadrature pairs by any angle leaves the envelopes and therefore the decision un…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400-410.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Noncoherent BFSK detection replaces each correlator with a bandpass filter centred on one of the two signalling frequencies, followed by an envelope detec… Then add the part they are examined on - Noncoherent BFSK trades about 1 dB and some bandwidth for the complete removal of carrier recovery — often the right trade.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"noncoherent FSK" constrain here, and what would break if it did not hold?
Animation instructions: the input splits to both branches, then the two bandpass filters light together, then the two envelope detectors fill, then the samplers click, then the comparator fills and the decision arrow extends, then the comparison strip rows appear one at a time from the top.
Transition style: Fade
[Sources] VTU BEC503 Digital Communication syllabus, 2025 scheme, Module 2: Digital Modulation Techniques. TB1 as listed by the syllabus: Simon Haykin, Digital Communication Systems, John Wiley &amp; Sons, 1st ed., 2014; Ch. 7, pp. 410-411.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Pass the received signal through two bandpass filters centred on f1 and f2 - and check everyone has written it before moving on. At the cost panel, translate it: This is the classic choice for low-cost telemetry and for links where phase cannot be tracked.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410-411.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Eb/N0 = 13 dB. Work at the pace of the slowest note-taker and land hard on the result: About 2 errors per hundred thousand bits at 13 dB. Coherent BFSK at the same energy gives about 8 x 10^-6, so the noncoherent pen…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410-411.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Differential phase-shift keying encodes each bit as a change of phase relative to the previous symbol rather than as an absolute phase, so the receiver ca… Then add the part they are examined on - DPSK uses the previous symbol as its phase reference — costing about 1 dB because that reference is noisy, and doubling each…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"DPSK" constrain here, and what would break if it did not hold?
Animation instructions: the table draws row by row with the phase column filling last, then the two reversal rows highlight, then the receiver diagram builds with the direct path first, then the delay path draws and the red callout snaps in, then the integrator and comparator fill, then the side note appears.
Transition style: Fade
[Sources] VTU BEC503 Digital Communication syllabus, 2025 scheme, Module 2: Digital Modulation Techniques. TB1 as listed by the syllabus: Simon Haykin, Digital Communication Systems, John Wiley &amp; Sons, 1st ed., 2014; Ch. 7, pp. 411-415.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Differentially encode: keep the phase for a 1, reverse it for a 0 - and check everyone has written it before moving on. At the cost panel, translate it: Pairing means the effective bit error rate is close to twice the symbol error rate.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411-415.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Bits 1 0 1 1 0, initial reference phase 0 degrees. Work at the pace of the slowest note-taker and land hard on the result: Phases 0, 180, 180, 180, 0. Comparing consecutive phases recovers 1 0 1 1 0 with no absolute reference; one corrupted symbol wrec…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411-415.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Scheme selection is the joint answer to four questions: how much bandwidth is available, how much power, how stable is the phase reference, and how linear… Then add the part they are examined on - Four constraints decide the scheme — bandwidth, power, phase stability, amplifier linearity — and the theory only ranks opti…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"link budget" constrain here, and what would break if it did not hold?
Animation instructions: the root box appears, then each decision diamond drops in with its two branches drawing in turn, level by level down the tree, then all leaf boxes fill together, then the badges pop onto each leaf in sequence, then the footer strip slides up.
Transition style: Fade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available bandwidth and the required bit rate to get the needed spectral efficiency - and check everyone has written it before moving on. At the cost panel, translate it: Coding buys several dB and is almost always cheaper than more transmit power.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Link with 1 MHz of bandwidth, 2 Mbit/s required, received Eb/N0 of 12 dB, saturated amplifier. Work at the pace of the slowest note-taker and land hard on the result: QPSK, with 2.4 dB of margin covering implementation loss. The saturated amplifier, not the noise, is what removes the higher-orde…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2: Digital Modulation Techniques. TB1 as listed by the syllabus: Simon Haykin, Digital Communication Systems, John Wiley &amp; Sons, 1st ed., 2014; Ch. 7, pp. 415-418.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2: Digital Modulation Techniques, 10 hours, TB1 (Haykin 2014) Ch. 7.5-7.8 pp. 344-398 and Ch. 7.10-7.14 pp. 400-418.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2: Digital Modulation Techniques, 10 hours, TB1 (Haykin 2014) Ch. 7.5-7.8 pp. 344-398 and Ch. 7.10-7.14 pp. 400-418.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2: Digital Modulation Techniques, 10 hours, TB1 (Haykin 2014) Ch. 7.5-7.8 pp. 344-398 and Ch. 7.10-7.14 pp. 400-418.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BEC503 Digital Communication syllabus, 2025 scheme, Module 2: Digital Modulation Techniques, 10 hours, TB1 (Haykin 2014) Ch. 7.5-7.8 pp. 344-398 and Ch. 7.10-7.14 pp. 400-418. TB1: Simon Haykin, Digital Communication Systems, John Wiley &amp; Sons, 1st ed., 2014. Assessment counts: 20 MCQs, 13 descriptive questions, 11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Digital Communication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2 asks: Given a fixed power budget and a fixed band, how many bits per second can I push through, and what does eac…</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Digital Modulation Techniques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10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Digital Communication Systems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Simon Haykin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John Wiley &amp; Sons, 1st edition, 2014</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(Haykin 2014) Ch. 7.5-7.8 pp. 344-398 and Ch. 7.10-7.14 pp. 400-418</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Signal Space &amp; AWGN   •   Digital Modulation   •   Information Theory   •   Block &amp; Cyclic Codes   •   Convolutional Codes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Q function measures the risk   →   Phase carries the bits   →   More points, less spacing   →   Frequency separates instead   →   Phase reference is expensive</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5 · BEC503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Given a fixed power budget and a fixed band, how many bits per second can I push through, and what does each extra bit cost in reliability?</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Q function measures the risk</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Phase carries the bits</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More points, less spacing</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Frequency separates instead</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Phase reference is expensive</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Sections 7.5-7.8 and 7.10-7.14, which the syllabus names. Every scheme in this module is the same three questions asked again: where are the constellation points, what is the minimum distance in terms of energy per bit, and what does the receiver need to know about the carrier. The unifying result is that error probability always takes the form Q of a distance divided by the noise spread, so once a constellation is drawn its performance follows without further integration. Noncoherent detection is introduced at the end as the price paid when phase is unavailable, which sets up the trade-off between receiver simplicity and about 1 dB of energy.</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CO2</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+ 11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Q function and the shape of every error probability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344-352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CO2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constellation, generation and bandwidth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352-357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CO2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coherent detection and bit error probability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352-357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CO2 / L4</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constellation and Gray mapping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357-364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CO2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generation, detection and error probability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357-364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CO2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PSK: constellation and decision regions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364-370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CO2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PSK: error probability and the power-bandwidth trade-off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364-370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CO2 / L5</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QAM: using the interior of the plane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370-375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CO2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QAM: error probability and comparison with PSK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370-375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CO2 / L5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BFSK: orthogonal signalling in two dimensions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375-382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CO2 / L3</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BFSK: coherent detection and error probability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375-382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CO2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Comparing BPSK, QPSK and BFSK on one chart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415-418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CO2 / L5</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Detection of signals with unknown phase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400-410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CO2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BFSK using noncoherent detection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410-411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CO2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Differential phase-shift keying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411-415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CO2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Choosing a modulation scheme for a given link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415-418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CO2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Q function and the shape of every error probability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Q function and the shape of every…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Q function Q(x) is the probability that a standard normal random variable exceeds x, and it is the single object every error probability in this module is written in. Because the noise on each signal-space axis is Gaussian with variance N0/2, the probability that noise carries an observation across a decision boundary at distance d/2 is Q(d/(sqrt(2*N0))). Every modulation comparison therefore reduces to comparing the argument of a Q function, and since Q falls off roughly as exp(-x^2/2), a small change in the argument produces a large change in error rate. This is why a 1 dB difference in required Eb/N0 is treated as significant rather than negligible.</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complementary error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tail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Eb/N0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bit error rate</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error probability here is Q(distance / noise spread); comparing schemes means comparing one number inside a Q.</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standard normal bell curve on a horizontal axis. A vertical line stands at x, and the area under the curve to the right of it is shaded solid, labelled "Q(x)". A second, fainter vertical line at a slightly 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344-352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q-function-tail-area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Q function and the shape of every error probability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Q function and the shape of every…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decision boundary and the distance d between the two competing signal points</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Halve that distance to get the distance from a signal point to the boundary</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by the noise standard deviation per axis, sqrt(N0/2)</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error probability as Q of that ratio</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the number of nearest neighbours if more than one boundary is adjacent</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binary antipodal gives the largest argument for a given Eb/N0</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Q has no closed form; use tables or erfc</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union bound over-counts when several neighbours are close</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union bound is tight at high SNR and loose at low SNR, which is where simulation is needed.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344-352   |   CO2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Q function and the shape of every error probability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Q function and the shape of every…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at Eb/N0 = 7 dB.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Eb/N0 = 10^(7/10) = 5.01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Argument: sqrt(2 x 5.01) = sqrt(10.02) = 3.17</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Q(3.17) is about 7.6 x 10^-4</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8 dB the argument rises to 3.55 and Q falls to about 1.9 x 10^-4</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decibel of extra energy cuts the error rate by a factor of four. That steepness is the reason link budgets are fought over in tenths of a dB.</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Q(x) = (1/sqrt(2*pi)) * integral_x^inf exp(-u^2/2) du</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Q(x) = 0.5 * erfc( x / sqrt(2)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Generic error probability: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Pe = Q( d / sqrt(2*N0) )      d = distance between the two points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BPSK:  Pb = Q( sqrt(2*Eb/N0) )</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confuse Q(x) with erfc(x). They differ by both a scale and an argument: Q(x) = 0.5 erfc(x/sqrt(2)). Substituting one for the other shifts every result by several decibels.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344-352   |   CO2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constellation, generation and bandwidth</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constellation, generation and 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Binary phase-shift keying transmits one of two carriers 180 degrees apart, s1(t) = sqrt(2Eb/Tb) cos(2 pi fc t) and s2(t) the same with a minus sign. In signal space this is one dimension with points at +sqrt(Eb) and -sqrt(Eb), the antipodal arrangement that maximises separation for a given energy. Generation is a single balanced modulator: map the bit stream to a non-return-to-zero level of +1 or -1 and multiply by the carrier. The null-to-null bandwidth is 2/Tb, twice the bit rate, and the envelope is constant, which lets the power amplifier run near saturation.</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BPSK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antipodal signalling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reversal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balanced modulator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null-to-null bandwidth</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is the largest possible separation for two signals of energy Eb, at the cost of only one bit per symbol.</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single horizontal axis labelled "phi1" with two filled dots at -sqrt(Eb) and +sqrt(Eb), a double-headed arrow between them labelled "d = 2 sqrt(Eb)", and a vertical dashed decision boundary at the orig…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bpsk-constellation-and-modulator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constellation, generation and bandwidth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constellation, generation and 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Map each bit to a level: 1 to +1, 0 to -1</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 level by the carrier sqrt(2/Tb) cos(2 pi fc t)</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for one bit duration Tb</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correlate with the same carrier over Tb</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1 if the correlator output is positive, 0 otherwise</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bit per symbol, one dimension, constant envelope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null-to-null bandwidth 2/Tb; spectral efficiency about 0.5 bit/s/Hz</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180-degree phase ambiguity at the receiver inverts every bit</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ambiguity is resolved either by differential encoding or by a known preamble.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   |   CO2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constellation, generation and bandwidth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constellation, generation and 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sequence 1 0 1 1, Eb = 1, Tb = 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Levels: +1, -1, +1,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Transmitted phases: 0, 180, 0, 0 degrees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Signal vectors: +1, -1, +1,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phase-ambiguous receiver locked 180 degrees out would read 0 1 0 0</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correct sequence is recovered only if the phase reference is right; a 180-degree lock error inverts every single bit, which is why the ambiguity must be resolved explicitly.</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sqrt(2*Eb/Tb) * cos(2*pi*fc*t + pi*(1 - i))    i = 0,1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Basis:  phi1(t) = sqrt(2/Tb) * cos(2*pi*fc*t)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Vectors: s1 = +sqrt(Eb),  s2 = -sqrt(Eb)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d_min  = 2*sqrt(Eb)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BW(null-to-null) = 2/Tb</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place the BPSK points at +sqrt(Eb) and 0 rather than +sqrt(Eb) and -sqrt(Eb). That is on-off keying, which for the same average energy has half the distance and needs 3 dB more power.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   |   CO2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coherent detection and bit error probability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coherent detection and bit erro…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coherent BPSK receiver correlates the received waveform with a locally generated carrier of exactly the right frequency and phase, then compares the result against a threshold at zero. An error occurs when the noise projection exceeds sqrt(Eb) in the wrong direction, which has probability Q(sqrt(2Eb/N0)). This is the best any binary scheme can achieve on an AWGN channel, and it is the benchmark against which every other modulation in this module is measured. The requirement that makes it possible is also its weakness: the receiver must know the carrier phase, which costs a carrier-recovery loop and degrades when the loop slips.</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coherent detection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decision threshold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bit error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antipodal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Eb/N0</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Q(sqrt(2Eb/N0)) is the floor for binary signalling; nothing binary does better, and everything else is measured against it.</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one-dimensional axis with signal points at -sqrt(Eb) and +sqrt(Eb) and a dashed threshold at zero. Two identical Gaussian bells are drawn centred on each point. The left tail of the right-hand bell that cros…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bpsk-error-integration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coherent detection and bit error probability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coherent detection and bit erro…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Correlate the received waveform with phi1(t) over the bit interval</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scalar observation x = ±sqrt(Eb) + w with w of variance N0/2</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x against the threshold at zero</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1 if x &gt; 0, 0 otherwise</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Error probability is Q of sqrt(Eb) divided by sqrt(N0/2), which simplifies to Q(sqrt(2Eb/N0))</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optimum for binary signalling in AWGN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correlator, one comparator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requires carrier phase recovery; a phase error theta costs a factor cos(theta) in the argument</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30-degree phase error costs about 1.25 dB, which is why phase-locked loop quality matters.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   |   CO2  |  Bloom L4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BPSK: coherent detection and bit error probability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BPSK: coherent detection and bit erro…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9 dB. A phase error of 20 degrees is present.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Ideal argument: sqrt(2 x 7.94) = 3.99, giving Pb about 3.3 x 10^-5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phase error, the effective amplitude scales by cos(20 deg) = 0.940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New argument: 3.99 x 0.940 = 3.75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Q(3.75) is about 8.8 x 10^-5</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20-degree phase error nearly triples the error rate, equivalent to losing about 0.5 dB of transmit power.</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 = integral_0^Tb r(t) * phi1(t) dt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Decide 1 if x &gt; 0, else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Q( sqrt(Eb) / sqrt(N0/2) ) = Q( sqrt(2*Eb/N0)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With carrier phase error theta: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Pb = Q( sqrt(2*Eb/N0) * cos(theta) )</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Pb = Q(sqrt(Eb/N0)), dropping the factor of two. The two comes from the antipodal distance 2 sqrt(Eb) being halved to sqrt(Eb) and then divided by sqrt(N0/2); losing it overstates the required SNR by 3 dB.</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352-357   |   CO2  |  Bloom L4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constellation and Gray mapping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constellation and Gray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Quadrature phase-shift keying carries two bits per symbol by placing four points on a circle of radius sqrt(E) at 45, 135, 225 and 315 degrees, which is two orthogonal BPSK streams sharing a band. Gray mapping assigns the dibits so that adjacent constellation points differ in exactly one bit, which matters because almost every symbol error at usable SNR is a slip to a nearest neighbour. With Gray mapping, one symbol error produces one bit error rather than two, so the bit error rate is the symbol error rate divided by the two bits per symbol. Without it, the bit error rate would be roughly 1.5 times worse for no gain anywhere.</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QPSK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dibit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Gray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carriers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energy</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is two BPSK streams in quadrature; Gray mapping is free and turns each likely symbol error into a single bit error.</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constellation plane with I horizontal and Q vertical, showing four points on a dashed circle of radius sqrt(E) at 45, 135, 225 and 315 degrees, labelled 00, 01, 11 and 10 anticlockwise. Each adjacent pair is…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qpsk-gray-constellation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constellation and Gray mapping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constellation and Gray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Group the bit stream into dibits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dibits to the four phases using a Gray code so neighbours differ in one bit</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Map the first bit to the in-phase amplitude and the second to the quadrature amplitude</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sqrt(E) cos(2 pi fc t + theta_i) for symbol duration T = 2Tb</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slice the I and Q correlator outputs independently by sign</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bits per symbol at the same Eb/N0 as BPSK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twice the spectral efficiency of BPSK for the same bit error rate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four points share the same average energy, so d_min is sqrt(2) smaller per symbol</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apparent loss per symbol is exactly cancelled by carrying two bits, which is the elegant part.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   |   CO2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constellation and Gray mapping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constellation and Gray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stream 0 1 1 1 1 0 0 0 with Gray mapping 00, 01, 11, 10 anticlockwise from 45 degrees.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Dibits: 01, 11, 10, 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Phases: 135, 225, 315, 45 degrees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noise slip from 135 to 45 degrees changes 01 to 00 — one bit wrong</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same slip under natural binary labelling 00, 01, 10, 11 would change 01 to 00, but a slip from 10 to 01 would flip two bits</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Gray mapping guarantees one bit error per nearest-neighbour symbol error; natural binary allows two, which costs about 1.5 times the bit error rate for nothing.</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sqrt(2E/T) * cos(2*pi*fc*t + (2i-1)*pi/4)   i = 1..4</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Equivalently:  s_i = ( sqrt(E)*cos(theta_i), sqrt(E)*sin(theta_i)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 = 2*Eb          two bits per symbol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d_min = sqrt(2E) = 2*sqrt(Eb)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Gray:  00 -&gt; 45,  01 -&gt; 135,  11 -&gt; 225,  10 -&gt; 315 degrees</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compare QPSK with BPSK using symbol energy E on both sides. The fair comparison is at equal energy per bit: QPSK has E = 2Eb, so its d_min of sqrt(2E) equals 2 sqrt(Eb), exactly BPSK. Comparing at equal E makes QPSK look 3 dB worse than it 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   |   CO2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generation, detection and error probability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generation, detection and error…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QPSK modulator splits the bit stream into odd and even bits, level-encodes each to ±sqrt(E/2), and modulates them onto cos and -sin carriers before summing. The receiver reverses this exactly: two correlators, two independent sign decisions, then parallel-to-serial. Because the I and Q noise components are independent and each channel is exactly BPSK with energy E/2 = Eb per bit, the bit error probability is Q(sqrt(2Eb/N0)) — identical to BPSK. The symbol error probability is the probability that at least one of the two channels errs, approximately 2Q(sqrt(2Eb/N0)) at usable SNR.</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serial-to-parallel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modulator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independent slicing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error rate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bit error rate</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gives twice the bit rate of BPSK in the same band at exactly the same bit error rate — the decisive result of the module.</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symmetric two-halves diagram. Left half, the modulator: "binary data" into a "serial to parallel" block splitting into two branches, each into a level encoder, each into a multiplier fed by "cos" and "-sin"…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qpsk-modulator-demodulator-pair</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generation, detection and error probability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generation, detection and error…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the bit stream into odd-indexed and even-indexed bits</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Level-encode each stream to ±sqrt(E/2)</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Modulate the I stream onto cos and the Q stream onto -sin, then sum</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correlate against both carriers over the symbol duration T</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Slice each output by sign independently and interleave the two bits</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independent binary decisions, no M-way search needed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Pb = Q(sqrt(2Eb/N0)), Ps approximately 2Pb</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requires both carrier phase and symbol timing; a four-fold phase ambiguity exists</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four-fold ambiguity is worse than BPSK's two-fold and is usually resolved differentially.</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   |   CO2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QPSK: generation, detection and error probability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QPSK: generation, detection and error…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10 dB, symbol rate 1 Msymbol/s.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10, argument sqrt(20) = 4.47</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Q(4.47) = 3.9 x 10^-6</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Ps is about 2 x 3.9 x 10^-6 = 7.8 x 10^-6</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rate is 2 Mbit/s in the same bandwidth BPSK would use for 1 Mbit/s</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Same bit error rate as BPSK, double the throughput, same bandwidth. The only real cost is the more complex phase reference.</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branch: a_I = ±sqrt(E/2),  Q branch: a_Q = ±sqrt(E/2)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 = a_I*sqrt(2/T)*cos(2*pi*fc*t) - a_Q*sqrt(2/T)*sin(2*pi*fc*t)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Q( sqrt(2*Eb/N0) )            same as BPSK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1 - (1 - Pb)^2 ~= 2*Pb        at high SNR</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the QPSK symbol error rate as 4Q(...) by counting all four points. Only the two nearest neighbours matter at usable SNR, and the exact expression 1-(1-Pb)^2 gives approximately 2Q, not 4Q.</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357-364   |   CO2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constellation and decision regions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constellation and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M-ary PSK places M points uniformly on a circle of radius sqrt(E), so the phases are separated by 2 pi/M and the constellation keeps a constant envelope regardless of M. Each symbol carries log2(M) bits, so doubling M adds one bit per symbol without widening the band. The decision regions are wedges bounded by radial lines bisecting the angular gaps, and the minimum distance is the chord 2 sqrt(E) sin(pi/M), which shrinks steadily as M grows. Constant envelope is the practical attraction: the amplifier can be driven into compression without distorting the constellation, which matters for satellite and mobile transmitters.</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M-ary PSK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spacing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wedge decision region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constant envelope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rate</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PSK buys bits per symbol with angular spacing; d_min = 2 sqrt(E) sin(pi/M) is the whole story.</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circle of radius sqrt(E) carrying eight equally spaced points, each with a small label. Radial dashed lines bisect each angular gap, cutting the disc into eight wedge-shaped decision regions, alternately tin…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mpsk-wedge-regions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constellation and decision regions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constellation and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M as a power of two so each symbol carries log2(M) bits</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Place points at angles 2 pi i/M on a circle of radius sqrt(E)</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Gray mapping around the circle</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decision regions as wedges bounded by the angular bisectors</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d_min as the chord between adjacent points</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constant envelope at every M, so amplifier efficiency is preserved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log2(M) bits per symbol at the same bandwidth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d_min falls roughly as 1/M for large M, costing about 6 dB per doubling beyond M = 4</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Past M = 8, QAM beats PSK because it uses the interior of the circle as well as its edge.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   |   CO2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constellation and decision regions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constellation and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d_min for M = 4, 8 and 16 at the same symbol energy 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 = 4: 2 sqrt(E) sin(45 deg) = 1.414 sqrt(E)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 = 8: 2 sqrt(E) sin(22.5 deg) = 0.765 sqrt(E)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 = 16: 2 sqrt(E) sin(11.25 deg) = 0.390 sqrt(E)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Ratios: 8-PSK is 5.3 dB worse than QPSK, 16-PSK a further 5.9 dB worse</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Each doubling of M beyond 4 costs roughly 6 dB of SNR for one extra bit per symbol — an increasingly bad bargain.</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sqrt(2E/T) * cos(2*pi*fc*t + 2*pi*i/M)     i = 0..M-1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d_min = 2*sqrt(E)*sin(pi/M)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2*Q( sqrt(2*E/N0) * sin(pi/M)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With Gray mapping:  Pb ~= Ps / log2(M)</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arc length between adjacent points instead of the chord. Euclidean distance in signal space is the straight-line chord; the arc overestimates it and makes high-order PSK look better than it 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   |   CO2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error probability and the power-bandwidth trade-off</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error probability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symbol error probability of M-ary PSK is well approximated by 2Q(sqrt(2E/N0) sin(pi/M)), the union bound counting the two nearest neighbours, which is tight at usable error rates. Written per bit with Gray mapping it becomes Pb approximately equal to that quantity divided by log2(M). Raising M increases spectral efficiency, measured in bits per second per hertz, and decreases power efficiency, measured by the Eb/N0 needed for a target error rate. The trade-off is not symmetric: past M = 4 the power cost per extra bit grows steeply, which is why QPSK is so widely used and 16-PSK almost never is.</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error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union bound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spectral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trade-off curve</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Bits per hertz and joules per bit trade against each other, and past QPSK the exchange rate turns sharply unfavourable.</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two-axis plot with "Eb/N0 required for Pb = 10^-5, dB" on the horizontal axis and "spectral efficiency, bit/s/Hz" on the vertical. Plotted points for BPSK, QPSK, 8-PSK, 16-PSK and 32-PSK form a curve rising…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mpsk-power-bandwidth-plane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error probability and the power-bandwidth tr…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error probability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Fix a target symbol or bit error probability</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M, solve 2Q(sqrt(2E/N0) sin(pi/M)) for the required E/N0</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to Eb/N0 by dividing E by log2(M)</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spectral efficiency as log2(M) divided by the bandwidth-time product</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Plot the pairs and read the marginal cost of each extra bit per symbol</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BPSK and QPSK need the same Eb/N0 — the one free doubling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about 4 to 6 dB extra per doubling of M beyond 4</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union bound loosens at low SNR where multiple neighbours contribute</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free doubling from BPSK to QPSK is available because the two quadrature channels are genuinely independent.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   |   CO2  |  Bloom L5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PSK: error probability and the power-bandwidth tr…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PSK: error probability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Target Pb = 10^-5. Required Eb/N0 for BPSK, QPSK and 8-PSK.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Q(sqrt(2 Eb/N0)) = 1e-5 gives argument 4.27, so Eb/N0 = 9.1 dB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identical bit error expression, so also 9.6 dB approximately including the symbol-to-bit factor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8-PSK: sin(22.5 deg) = 0.383 in the argument, requiring about 13 dB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16-PSK: sin(11.25 deg) = 0.195, requiring about 17.5 dB</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first extra bit per symbol is nearly free; the second costs about 3.5 dB and the third about 4.5 dB more.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2*Q( sqrt(2*E/N0) * sin(pi/M)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 = Eb * log2(M)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2*Q( sqrt(2*log2(M)*Eb/N0) * sin(pi/M)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Ps / log2(M)          with Gray mapping</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Spectral efficiency:  r = log2(M) bit/s/Hz (Nyquist, ideal)</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convert between symbol and bit error rate by dividing by M instead of log2(M). The divisor is the number of bits per symbol, not the number of symbols; for 16-PSK the error is a factor of four.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364-370   |   CO2  |  Bloom L5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using the interior of the plane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using the interior of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Quadrature amplitude modulation independently modulates the amplitude of the in-phase and quadrature carriers, producing a rectangular lattice of points rather than a ring. For square constellations with M = L^2, each axis carries an L-level pulse-amplitude modulated signal, so the receiver slices each axis independently exactly as in QPSK. The advantage over PSK is geometric: packing points into the interior of the plane rather than only on its rim gives a larger minimum distance for the same average energy once M exceeds about 8. The cost is a varying envelope, so the amplifier must be backed off from saturation.</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QAM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square constellation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amplitude and phase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independent I and Q levels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peak-to-average ratio</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QAM uses the whole plane instead of only the rim, which beats PSK for M above 8 — provided the amplifier can tolerate a varying envelope.</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constellation planes side by side at identical scale, both annotated "16 points, same average energy". Left: 16-PSK, sixteen points crowded on a single circle, with the tiny chord between two adjacent poin…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qam-versus-psk-packing</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using the interior of the plane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using the interior of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M = L^2 so the constellation is a square lattice</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Map log2(L) bits to an L-level amplitude on the I axis and the same on Q</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Gray-code each axis independently</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the sum of the two amplitude-modulated quadrature carriers</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slice each axis independently against L-1 thresholds</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per-axis slicing, so decoding cost grows as sqrt(M) not 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about 1.6 dB better than PSK at M = 16, more at higher 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peak-to-average power ratio grows with M, forcing amplifier back-off</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back-off partially eats the theoretical gain in power-limited links.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   |   CO2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using the interior of the plane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using the interior of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16-QAM with points at (±1, ±1), (±1, ±3), (±3, ±1), (±3, ±3) scaled by a.</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Average energy: a^2 times the mean of (1+1, 1+9, 9+1, 9+9) over the 16 points = 10 a^2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Minimum distance is the grid spacing: 2a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Normalise to E = 10 a^2, so a = sqrt(E/10) and d_min = 2 sqrt(E/10) = 0.632 sqrt(E)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16-PSK at the same E has d_min = 0.390 sqrt(E)</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16-QAM has 1.62 times the minimum distance of 16-PSK at equal average energy — about 4.2 dB, and the reason no one uses 16-PSK.</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a_i*sqrt(2/T)*cos(2*pi*fc*t) - b_i*sqrt(2/T)*sin(2*pi*fc*t)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Square M-QAM, L = sqrt(M):  a_i, b_i in {±1, ±3, ..., ±(L-1)} * d/2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4*(1 - 1/L)*Q( sqrt(3*E_av/((M-1)*N0))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Ps / log2(M)          with Gray mapping per axis</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QAM average energy from the corner points only. The average must be taken over all M points with their probabilities; using the corners overstates the energy and makes QAM look worse than it 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   |   CO2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error probability and comparison with PSK</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error probability and comp…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Because the two axes of a square QAM constellation are independently sliced, the symbol error probability follows from a one-dimensional L-level PAM result applied twice: Ps is approximately 4(1 - 1/L) Q(sqrt(3 E_av/((M-1) N0))). The factor 4(1 - 1/L) counts nearest neighbours, fewer for edge and corner points than for interior ones. Comparing against M-ary PSK at equal average energy, QAM and PSK are essentially equal at M = 4 — they are the same constellation — and QAM pulls ahead by about 1.6 dB at M = 8 and 4.2 dB at M = 16, with the gap widening. The practical caveat is the peak-to-average power ratio, which rises with M and forces amplifier back-off.</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per-axis error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inner and outer points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error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crossover point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amplifier back-off</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QAM wins on paper from M = 8 upward, and the win is real only if the power amplifier has the headroom for a varying envelope.</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line chart with "M" on a logarithmic horizontal axis at 4, 8, 16, 32, 64 and "required Eb/N0 for Pb = 10^-5, dB" on the vertical. Two curves are plotted: PSK rising steeply, QAM rising gently, meeting at M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qam-psk-crossover-chart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error probability and comparison with PSK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error probability and comp…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per-axis L-level PAM error probability</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Account for edge points having fewer neighbours via the factor (1 - 1/L)</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the two axes: Ps = 1 - (1 - P_axis)^2, approximately 2 P_axis</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to bit error rate by dividing by log2(M) under Gray mapping</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the amplifier back-off from the theoretical advantage before comparing schemes</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slicing cost is O(sqrt(M)) rather than O(M)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advantage over PSK grows with M beyond 8</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PAPR of 16-QAM is 2.55 and rises further for 64-QAM and beyond</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is why satellite links historically preferred PSK and cable links preferred QAM.</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   |   CO2  |  Bloom L5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M-ary QAM: error probability and comparison with PSK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M-ary QAM: error probability and comp…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16-QAM at Eb/N0 = 14 dB.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E_av = 4 Eb, so E_av/N0 = 4 x 25.1 = 100.4</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Argument: sqrt(3 x 100.4 / 15) = sqrt(20.1) = 4.48</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Ps = 4 x (1 - 1/4) x Q(4.48) = 3 x 3.7e-6 = 1.1e-5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Ps/4 = 2.8e-6</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About 3 bit errors per million at 14 dB. 16-PSK would need roughly 18 dB for the same figure.</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 = sqrt(M)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P_axis = 2*(1 - 1/L) * Q( sqrt( 3*E_av / ((M-1)*N0) )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Ps = 1 - (1 - P_axis)^2 ~= 2*P_axis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PAPR(16-QAM) = 2.55       PAPR(QPSK) = 1.0</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the square-QAM formula to non-square constellations such as 8-QAM or 32-QAM. Those are not products of two PAM axes, so the per-axis decomposition does not hold and the nearest-neighbour count is different.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370-375   |   CO2  |  Bloom L5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orthogonal signalling in two dimensions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orthogonal signalling in two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Binary frequency-shift keying transmits one of two carriers at different frequencies, and when the frequency separation is chosen so that the two waveforms are orthogonal over a bit interval, the constellation is two-dimensional with points on the two axes at distance sqrt(Eb) from the origin. Unlike BPSK, the two points are perpendicular rather than antipodal, so the distance between them is sqrt(2 Eb) rather than 2 sqrt(Eb) — a factor of sqrt(2) less, or 3 dB. The compensation is that BFSK has a constant envelope and, crucially, can be detected without a phase reference, which BPSK cannot.</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BFSK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orthogonal signals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frequency separation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Sunde FSK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two-dimensional constellation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Orthogonal costs 3 dB against antipodal, and that 3 dB buys the option of noncoherent detection.</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two-dimensional plane with axes labelled "phi1 (f1)" and "phi2 (f2)". Two points sit at (sqrt(Eb), 0) and (0, sqrt(Eb)), joined by a bold line labelled "d = sqrt(2 Eb)". A right-angle square marks the origin…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bfsk-orthogonal-geometry</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orthogonal signalling in two dimensions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orthogonal signalling in two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two frequencies f1 and f2 separated by an integer multiple of 1/(2Tb) for orthogonality</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the carrier at f1 for a 1 and at f2 for a 0</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correlate against both frequencies over Tb</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difference of the two correlator outputs</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by the sign of the difference</a:t>
            </a:r>
            <a:endParaRPr lang="en-US" sz="1100" dirty="0"/>
          </a:p>
        </p:txBody>
      </p:sp>
      <p:sp>
        <p:nvSpPr>
          <p:cNvPr id="19" name="shape-33-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constant envelope, and noncoherent detection is possible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needs two dimensions, so bandwidth is wider than BPSK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3 dB worse than BPSK for coherent detection at the same Eb/N0</a:t>
            </a:r>
            <a:endParaRPr lang="en-US" sz="1100" dirty="0"/>
          </a:p>
        </p:txBody>
      </p:sp>
      <p:sp>
        <p:nvSpPr>
          <p:cNvPr id="21" name="shape-33-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Sunde's FSK, with separation exactly 1/Tb, is the classic minimum-separation orthogonal case.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   |   CO2  |  Bloom L3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orthogonal signalling in two dimensions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orthogonal signalling in two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Tb = 1 ms. Find the minimum frequency separation for orthogonality with coherent detection.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Orthogonality over Tb requires the separation to be a multiple of 1/(2Tb) for coherent detection</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1/(2 x 0.001) = 500 Hz</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noncoherent detection the requirement tightens to a multiple of 1/Tb = 1000 Hz</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Sunde's FSK uses exactly 1/Tb = 1000 Hz, which works for both</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Coherent BFSK can use 500 Hz separation; noncoherent needs 1000 Hz, so choosing noncoherent detection also costs bandwidth.</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sqrt(2*Eb/Tb) * cos(2*pi*f_i*t)      i = 1,2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Orthogonal (coherent):    f1 - f2 = n/(2*Tb)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Orthogonal (noncoherent): f1 - f2 = n/Tb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Vectors: s1 = (sqrt(Eb), 0),  s2 = (0, sqrt(Eb))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d_min  = sqrt(2*Eb)</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draw BFSK as two points on one axis like BPSK. Orthogonal signals require two dimensions; drawing them on one axis produces the wrong distance and hides the 3 dB penalty entirely.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   |   CO2  |  Bloom L3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coherent detection and error probability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coherent detection and error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coherent BFSK receiver uses two correlators, one for each frequency, and subtracts their outputs before comparing against zero. The difference of the two Gaussian variables has variance N0 rather than N0/2 because two independent noise projections are combined, while the mean difference is sqrt(Eb). The bit error probability is therefore Q(sqrt(Eb/N0)), exactly 3 dB worse than BPSK. This penalty is the direct arithmetic consequence of the geometry: orthogonal points are sqrt(2) closer together than antipodal ones at the same energy, and Q of an argument sqrt(2) smaller is what a 3 dB loss looks like.</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coherent FSK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difference detector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two correlators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3 dB penalty</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Q(sqrt(Eb/N0)) for coherent BFSK — the same formula as BPSK with the two removed, which is the 3 dB.</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receiver diagram: input "r(t)" fans to two branches, upper multiplied by "phi1 = cos(2 pi f1 t)" and lower by "phi2 = cos(2 pi f2 t)", each into an integrator over Tb, each into a sampler at Tb. The two outp…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bfsk-difference-detector</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coherent detection and error probability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coherent detection and error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Correlate the received waveform against phi1 and against phi2 over the bit interval</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Sample both correlator outputs at t = Tb</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difference x1 - x2</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the difference against zero</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difference has variance N0 because two independent noise terms combine</a:t>
            </a:r>
            <a:endParaRPr lang="en-US" sz="1100" dirty="0"/>
          </a:p>
        </p:txBody>
      </p:sp>
      <p:sp>
        <p:nvSpPr>
          <p:cNvPr id="19" name="shape-3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constant envelope preserved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correlators instead of one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3 dB worse than BPSK, and requires phase reference at both frequencies</a:t>
            </a:r>
            <a:endParaRPr lang="en-US" sz="1100" dirty="0"/>
          </a:p>
        </p:txBody>
      </p:sp>
      <p:sp>
        <p:nvSpPr>
          <p:cNvPr id="21" name="shape-3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Requiring coherence at two frequencies is harder than at one, which is why coherent BFSK is rare in practice.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   |   CO2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coherent detection and error probability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coherent detection and error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12 dB, comparing coherent BFSK against BPSK.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15.85 in linear terms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Q(sqrt(2 x 15.85)) = Q(5.63) = 9.0 x 10^-9</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BFSK: Q(sqrt(15.85)) = Q(3.98) = 3.4 x 10^-5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match BPSK, BFSK would need 15 dB</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BFSK at 12 dB is nearly four thousand times worse than BPSK at the same energy, and needs 3 dB more to match it.</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x1 = integral r(t)*phi1(t) dt,   x2 = integral r(t)*phi2(t) dt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 = x1 - x2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 | 1 sent] = +sqrt(Eb),   Var[l] = N0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Q( sqrt(Eb) / sqrt(N0) ) = Q( sqrt(Eb/N0) )</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variance N0/2 for the difference variable. Subtracting two independent Gaussians of variance N0/2 each gives a variance of N0, and using N0/2 makes BFSK appear as good as BPSK, erasing the 3 dB penalty.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375-382   |   CO2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Comparing BPSK, QPSK and BFSK on one chart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Comparing BPSK, QPSK and BFSK on one…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Plotting bit error rate against Eb/N0 on logarithmic axes produces the familiar waterfall curves, and the whole module can be read off one chart. BPSK and QPSK sit on the same curve, Pb = Q(sqrt(2Eb/N0)), with QPSK delivering twice the bits per hertz. Coherent BFSK sits 3 dB to the right, noncoherent BFSK about 4 dB, and DPSK roughly 1 dB to the right of BPSK. Selecting a scheme is a matter of asking which axis is scarce: if bandwidth is scarce, move up in M; if power is scarce, stay at QPSK; if receiver complexity or phase stability is the problem, pay the decibel or two for a noncoherent scheme.</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BER curve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waterfall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Eb/N0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spectral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scheme selection</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chart decides the scheme: BPSK and QPSK share the best curve, and every simplification of the receiver costs a known number of decibels.</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semi-logarithmic plot with Eb/N0 in dB from 0 to 15 on the horizontal axis and bit error rate from 1e-1 down to 1e-8 on the vertical logarithmic axis. Four labelled waterfall curves descend left to right: "B…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ber-waterfall-comparison</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Comparing BPSK, QPSK and BFSK on one chart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Comparing BPSK, QPSK and BFSK on one…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Fix the target bit error rate, typically 1e-5 or 1e-6</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scheme, invert its Pb expression to find the required Eb/N0</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Tabulate the required values and their differences in decibels</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spectral efficiency of each scheme alongside</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by whichever resource — power, bandwidth or receiver complexity — is scarcest</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QPSK is usually the right default: best curve and twice the efficiency of BPSK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differences between schemes are 1 to 4 dB</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high-order schemes diverge rapidly at low SNR</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curves are all for uncoded transmission; coding in Modules 4 and 5 shifts every one of them left.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   |   CO2  |  Bloom L5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Comparing BPSK, QPSK and BFSK on one chart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Comparing BPSK, QPSK and BFSK on one…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Required Eb/N0 at Pb = 1e-5 for the four schemes.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and QPSK: argument must be 4.27, so Eb/N0 = 9.6 dB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DPSK: Pb = 0.5 exp(-Eb/N0) gives Eb/N0 = 10.3 dB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Coherent BFSK: 3 dB worse than BPSK, 12.6 dB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Noncoherent BFSK: Pb = 0.5 exp(-Eb/(2N0)) gives about 13.3 dB</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full spread is under 4 dB. Receiver simplicity is often worth more than 4 dB, which is why noncoherent schemes remain in wide use.</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BPSK, QPSK:          Pb = Q( sqrt(2*Eb/N0)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Coherent BFSK:       Pb = Q( sqrt(Eb/N0)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Noncoherent BFSK:    Pb = 0.5 * exp( -Eb/(2*N0)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DPSK:                Pb = 0.5 * exp( -Eb/N0 )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Pb = 1e-5:  9.6 / 12.6 / 13.3 / 10.3 dB respectively</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read the horizontal axis as signal-to-noise ratio rather than energy per bit to noise density. The two differ by the bandwidth-time product, so comparing schemes of different spectral efficiency on an SNR axis mixes two effects and produces the wrong ranking.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   |   CO2  |  Bloom L5</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Detection of signals with unknown phase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Detection of signals with unknown pha…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the carrier phase is unknown and modelled as uniformly distributed over 0 to 2 pi, the likelihood must be averaged over that phase, and the result depends on the received energy only through the envelope of the correlator outputs. Formally, the average produces a modified Bessel function of the first kind, I0, which is monotonically increasing, so the optimum receiver compares envelopes rather than signed correlator outputs. Practically this means computing sqrt(xI^2 + xQ^2) from a quadrature pair of correlators and comparing those magnitudes. The phase information is discarded because there is nothing reliable in it, and that discarding is exactly what costs about 1 dB.</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unknown phase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uniform prior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envelope detector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Bessel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pair</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Averaging over an unknown phase turns the optimum receiver into an envelope comparison — the phase is discarded because it carries nothing usable.</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receiver diagram for one frequency branch: input "r(t)" splits to two correlators, upper fed by "cos(2 pi f1 t)" and lower by "sin(2 pi f1 t)", each into an integrator and sampler, giving "xI" and "xQ". Both…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400-410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noncoherent-envelope-detector</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Detection of signals with unknown phase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Detection of signals with unknown pha…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Model the carrier phase as uniform over 0 to 2 pi</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Correlate against both a cosine and a sine at the signalling frequency</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envelope sqrt(xI^2 + xQ^2) for each candidate signal</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envelopes and choose the largest</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decision is invariant to any phase rotation of the received signal</a:t>
            </a:r>
            <a:endParaRPr lang="en-US" sz="1100" dirty="0"/>
          </a:p>
        </p:txBody>
      </p:sp>
      <p:sp>
        <p:nvSpPr>
          <p:cNvPr id="19" name="shape-4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carrier recovery loop needed at 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correlators per candidate frequency instead of one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costs roughly 1 dB relative to coherent detection at usable error rates</a:t>
            </a:r>
            <a:endParaRPr lang="en-US" sz="1100" dirty="0"/>
          </a:p>
        </p:txBody>
      </p:sp>
      <p:sp>
        <p:nvSpPr>
          <p:cNvPr id="21" name="shape-4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loss shrinks at low error rates and grows at high ones.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400-410   |   CO2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Detection of signals with unknown phase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Detection of signals with unknown pha…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Quadrature outputs xI = 0.6, xQ = 0.8 for frequency f1, and xI = 0.3, xQ = 0.2 for f2.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Envelope at f1: sqrt(0.36 + 0.64) = sqrt(1.0) = 1.0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Envelope at f2: sqrt(0.09 + 0.04) = sqrt(0.13) = 0.36</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1.0 &gt; 0.36</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f1 was transmitted, with no reference to either phase</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decision uses only magnitudes. Rotating both quadrature pairs by any angle leaves the envelopes and therefore the decision unchanged.</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 | s_i) averaged over phase ~ I0( 2*sqrt(E)*|x_i| / 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I0 monotonically increasing  =&gt;  compare |x_i|</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|x_i| = sqrt( xI_i^2 + xQ_i^2 )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Decide i maximising the envelope |x_i|.</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square the envelope and compare, then also apply the -E/2 bias from the coherent rule. With equal-energy signals the bias term is common to all candidates and must not be added twice; with unequal energies the noncoherent rule needs a different correction entirely.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400-410   |   CO2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using noncoherent detection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using noncoherent detection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Noncoherent BFSK detection replaces each correlator with a bandpass filter centred on one of the two signalling frequencies, followed by an envelope detector, and decides in favour of whichever branch shows the larger envelope. No carrier phase reference is required anywhere in the receiver, which removes the phase-locked loop, the acquisition time and the cycle-slip failure mode. The bit error probability has the remarkably clean closed form 0.5 exp(-Eb/(2 N0)), about 1 dB worse than coherent BFSK at usable error rates. The frequency separation must now be a multiple of 1/Tb rather than 1/(2Tb), so the bandwidth penalty is real as well.</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noncoherent FSK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envelope detector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bandpass filter pair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exponential error expression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phase-free receiver</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Noncoherent BFSK trades about 1 dB and some bandwidth for the complete removal of carrier recovery — often the right trade.</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two-branch receiver: input "r(t)" splits to an upper "BPF at f1" and a lower "BPF at f2", each followed by an "envelope detector" block, each followed by a sampler at Tb. The two envelopes meet at a comparat…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410-411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noncoherent-bfsk-receiver</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using noncoherent detection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using noncoherent detection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the received signal through two bandpass filters centred on f1 and f2</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an envelope detector to each filter output</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Sample both envelopes at the end of the bit interval</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branch with the larger envelope</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frequency separation to a multiple of 1/Tb so the two branches remain orthogonal without phase alignment</a:t>
            </a:r>
            <a:endParaRPr lang="en-US" sz="1100" dirty="0"/>
          </a:p>
        </p:txBody>
      </p:sp>
      <p:sp>
        <p:nvSpPr>
          <p:cNvPr id="19" name="shape-4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carrier recovery, no acquisition delay, no cycle slips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about 1 dB worse than coherent BFSK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needs double the frequency separation, so more bandwidth</a:t>
            </a:r>
            <a:endParaRPr lang="en-US" sz="1100" dirty="0"/>
          </a:p>
        </p:txBody>
      </p:sp>
      <p:sp>
        <p:nvSpPr>
          <p:cNvPr id="21" name="shape-4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is the classic choice for low-cost telemetry and for links where phase cannot be tracked.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410-411   |   CO2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BFSK using noncoherent detection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BFSK using noncoherent detection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Eb/N0 = 13 dB.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 Eb/N0 = 19.95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0.5 exp(-19.95/2) = 0.5 exp(-9.98)</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exp(-9.98) = 4.63 x 10^-5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2.3 x 10^-5</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About 2 errors per hundred thousand bits at 13 dB. Coherent BFSK at the same energy gives about 8 x 10^-6, so the noncoherent penalty here is under 1 dB.</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Branch i:  BPF at f_i  -&gt;  envelope detector  -&gt;  sample at Tb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Decide 1 if envelope_1 &gt; envelope_2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0.5 * exp( -Eb / (2*N0)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Separation:  |f1 - f2| = n/Tb      (integer n)</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quote Pb = 0.5 exp(-Eb/N0) for noncoherent BFSK. That is the DPSK expression; noncoherent BFSK carries the extra factor of two in the denominator, and confusing them understates the required energy by 3 dB.</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410-411   |   CO2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Differential phase-shift keying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Differential phase-shift keying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Differential phase-shift keying encodes each bit as a change of phase relative to the previous symbol rather than as an absolute phase, so the receiver can compare consecutive symbols and never needs an absolute reference. The transmitter differentially encodes the bit stream — typically leaving the phase unchanged for a 1 and reversing it for a 0 — and the receiver multiplies the received signal by a one-symbol-delayed copy of itself and integrates. The error probability is 0.5 exp(-Eb/N0), roughly 1 dB worse than coherent BPSK, and the mechanism of the loss is clear: the reference is itself noisy, so noise enters the decision twice. A single symbol error corrupts two decoded bits.</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DPSK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differential encoding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delay-and-multiply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ambiguity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propagation</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DPSK uses the previous symbol as its phase reference — costing about 1 dB because that reference is noisy, and doubling each error.</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an encoding table with four columns — input bit, rule, previous phase, transmitted phase — and five populated rows showing a worked sequence, with the two rows where the phase reverses highlighted.…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411-415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dpsk-encode-and-detect</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Differential phase-shift keying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Differential phase-shift keying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Differentially encode: keep the phase for a 1, reverse it for a 0</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 the encoded phase sequence as ordinary BPSK</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multiply the incoming signal by a copy delayed by one symbol</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the product over the symbol interval</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1 for a positive result and 0 for a negative one</a:t>
            </a:r>
            <a:endParaRPr lang="en-US" sz="1100" dirty="0"/>
          </a:p>
        </p:txBody>
      </p:sp>
      <p:sp>
        <p:nvSpPr>
          <p:cNvPr id="19" name="shape-4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carrier phase recovery and no phase ambiguity to resolve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about 1 dB worse than coherent BPSK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errors come in pairs, since each received symbol is used in two decisions</a:t>
            </a:r>
            <a:endParaRPr lang="en-US" sz="1100" dirty="0"/>
          </a:p>
        </p:txBody>
      </p:sp>
      <p:sp>
        <p:nvSpPr>
          <p:cNvPr id="21" name="shape-4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Pairing means the effective bit error rate is close to twice the symbol error rate.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411-415   |   CO2  |  Bloom L4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Differential phase-shift keying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Differential phase-shift keying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Bits 1 0 1 1 0, initial reference phase 0 degrees.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1: keep phase, transmit 0 degrees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0: reverse, transmit 180 degrees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1: keep, transmit 180 degrees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 1: keep, transmit 180; bit 0: reverse, transmit 0 degrees</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Phases 0, 180, 180, 180, 0. Comparing consecutive phases recovers 1 0 1 1 0 with no absolute reference; one corrupted symbol wrecks two bits.</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Encoding:  d_k = d_{k-1} XNOR b_k      (keep on 1, reverse on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Detection: l = integral_0^Tb r(t)*r(t - Tb) dt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decide 1 if l &gt;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Pb = 0.5 * exp( -Eb/N0 )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Roughly 1 dB worse than coherent BPSK at Pb = 1e-5.</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DPSK as noncoherent BPSK and expect the noncoherent BFSK formula. DPSK is a differentially coherent scheme: it still exploits phase, just relatively, which is why its penalty is 1 dB rather than 3 or 4.</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411-415   |   CO2  |  Bloom L4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 modulation scheme for a given link</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 modulation scheme for a gi…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Scheme selection is the joint answer to four questions: how much bandwidth is available, how much power, how stable is the phase reference, and how linear is the power amplifier. A bandwidth-limited link with plenty of power and a linear amplifier points at high-order QAM. A power-limited link with a saturated amplifier points at QPSK or a constant-envelope scheme. A link with an unstable phase reference, such as a fast-fading mobile channel or a cheap oscillator, points at DPSK or noncoherent FSK despite the decibel or two. Implementation loss of 1 to 2 dB should be budgeted on top of any theoretical figure.</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link budget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spectral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implementation loss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amplifier back-off</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design trade-off</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constraints decide the scheme — bandwidth, power, phase stability, amplifier linearity — and the theory only ranks options within them.</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decision tree flowing downward from a root box "choose modulation". First branch on "bandwidth limited?" splitting yes and no. The yes path asks "amplifier linear?" and leads to "high-order QAM" or "high-ord…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scheme-selection-decision-tree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 modulation scheme for a given link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 modulation scheme for a gi…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available bandwidth and the required bit rate to get the needed spectral efficiency</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received Eb/N0 from the link budget</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Eliminate schemes whose required Eb/N0 exceeds what is available</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Eliminate varying-envelope schemes if the amplifier must run saturated</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Among survivors, prefer the simplest receiver, then add 1 to 2 dB implementation margin</a:t>
            </a:r>
            <a:endParaRPr lang="en-US" sz="1100" dirty="0"/>
          </a:p>
        </p:txBody>
      </p:sp>
      <p:sp>
        <p:nvSpPr>
          <p:cNvPr id="19" name="shape-5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the constraints usually eliminate all but one or two candidates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table of four columns settles most cases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when no scheme fits, coding from Modules 4 and 5 is the remaining lever</a:t>
            </a:r>
            <a:endParaRPr lang="en-US" sz="1100" dirty="0"/>
          </a:p>
        </p:txBody>
      </p:sp>
      <p:sp>
        <p:nvSpPr>
          <p:cNvPr id="21" name="shape-5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Coding buys several dB and is almost always cheaper than more transmit power.</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   |   CO2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 modulation scheme for a given link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 modulation scheme for a gi…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Link with 1 MHz of bandwidth, 2 Mbit/s required, received Eb/N0 of 12 dB, saturated amplifier.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Required spectral efficiency: 2 bit/s/Hz, so at least 4 points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gives exactly 2 bit/s/Hz and needs 9.6 dB — 12 dB available, so 2.4 dB of margin</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16-QAM would give 4 bit/s/Hz but needs 13.4 dB and a linear amplifier — fails on both counts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Saturated amplifier rules out QAM regardless</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QPSK, with 2.4 dB of margin covering implementation loss. The saturated amplifier, not the noise, is what removes the higher-order options.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Required efficiency:  r = R_b / B        bit/s/Hz</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Available margin:     M = (Eb/N0)_rx - (Eb/N0)_required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Feasible if:  r &lt;= log2(M_ary)  AND  M &gt;= implementation loss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Constant envelope required?  =&gt;  PSK or FSK only, no QAM</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choose the scheme with the lowest required Eb/N0 without checking spectral efficiency. BPSK has the best curve but only half the efficiency of QPSK, so on a bandwidth-limited link it fails the requirement no matter how much power is available.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415-418   |   CO2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error probability here is Q(distance / noise spread); comparing schemes means comparing one number inside a Q.</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is the largest possible separation for two signals of energy Eb, at the cost of only one bit per symbol.</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Q(sqrt(2Eb/N0)) is the floor for binary signalling; nothing binary does better, and everything else is measured against it.</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is two BPSK streams in quadrature; Gray mapping is free and turns each likely symbol error into a single bit error.</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gives twice the bit rate of BPSK in the same band at exactly the same bit error rate — the decisive result of the module.</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M-ary PSK buys bits per symbol with angular spacing; d_min = 2 sqrt(E) sin(pi/M) is the whole story.</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Bits per hertz and joules per bit trade against each other, and past QPSK the exchange rate turns sharply unfavourable.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QAM uses the whole plane instead of only the rim, which beats PSK for M above 8 — provided the amplifier can tolerate a varying envelope.</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QAM wins on paper from M = 8 upward, and the win is real only if the power amplifier has the headroom for a varying envelope.</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Orthogonal costs 3 dB against antipodal, and that 3 dB buys the option of noncoherent detection.</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Pb = Q(sqrt(Eb/N0)) for coherent BFSK — the same formula as BPSK with the two removed, which is the 3 dB.</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chart decides the scheme: BPSK and QPSK share the best curve, and every simplification of the receiver costs a known number of decibels.</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Averaging over an unknown phase turns the optimum receiver into an envelope comparison — the phase is discarded because it carries nothing usable.</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Noncoherent BFSK trades about 1 dB and some bandwidth for the complete removal of carrier recovery — often the right trade.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DPSK uses the previous symbol as its phase reference — costing about 1 dB because that reference is noisy, and doubling each error.</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constraints decide the scheme — bandwidth, power, phase stability, amplifier linearity — and the theory only ranks options within them.</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24%, L3-L4 61%, L5-L6 15%</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2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assignments/Module_2_Assignment.pdf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2 — Modulation schemes and their error performance</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8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&lt;USN&gt;_BEC503_Assignment2.pdf,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derivations (8); Numerical accuracy and dB handling (5); Constellation and BER diagrams (4); Engineering judgement in scheme selection (3). Attainment: CO2 = 18, CO1 = 2.</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2026-09-13T09:33:32Z</dcterms:created>
  <dcterms:modified xsi:type="dcterms:W3CDTF">2026-09-13T09:33:32Z</dcterms:modified>
</cp:coreProperties>
</file>