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45748e18a949bb" /><Relationship Type="http://schemas.openxmlformats.org/officeDocument/2006/relationships/extended-properties" Target="/docProps/app.xml" Id="Rb43a42cd0add4003" /><Relationship Type="http://schemas.openxmlformats.org/officeDocument/2006/relationships/officeDocument" Target="/ppt/presentation.xml" Id="R44a14717071041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96b32912444a96"/>
  </p:sldMasterIdLst>
  <p:notesMasterIdLst>
    <p:notesMasterId xmlns:r="http://schemas.openxmlformats.org/officeDocument/2006/relationships" r:id="Rab289bdfa67746a9"/>
  </p:notesMasterIdLst>
  <p:sldIdLst>
    <p:sldId xmlns:r="http://schemas.openxmlformats.org/officeDocument/2006/relationships" id="256" r:id="Rdb4b9845201d471b"/>
    <p:sldId xmlns:r="http://schemas.openxmlformats.org/officeDocument/2006/relationships" id="257" r:id="R0d8e869be5194990"/>
    <p:sldId xmlns:r="http://schemas.openxmlformats.org/officeDocument/2006/relationships" id="258" r:id="Rff6b28287c96406d"/>
    <p:sldId xmlns:r="http://schemas.openxmlformats.org/officeDocument/2006/relationships" id="259" r:id="R5f2c5141535e43d4"/>
    <p:sldId xmlns:r="http://schemas.openxmlformats.org/officeDocument/2006/relationships" id="260" r:id="R2868dfacda7a4b40"/>
    <p:sldId xmlns:r="http://schemas.openxmlformats.org/officeDocument/2006/relationships" id="261" r:id="Rf242c5ae17eb4b80"/>
    <p:sldId xmlns:r="http://schemas.openxmlformats.org/officeDocument/2006/relationships" id="262" r:id="R8c2e5e522d6f49d9"/>
    <p:sldId xmlns:r="http://schemas.openxmlformats.org/officeDocument/2006/relationships" id="263" r:id="R7c60e2f4ab08492c"/>
    <p:sldId xmlns:r="http://schemas.openxmlformats.org/officeDocument/2006/relationships" id="264" r:id="R9f25399bd77b4da7"/>
    <p:sldId xmlns:r="http://schemas.openxmlformats.org/officeDocument/2006/relationships" id="265" r:id="R60d3fbfcc7a2433e"/>
    <p:sldId xmlns:r="http://schemas.openxmlformats.org/officeDocument/2006/relationships" id="266" r:id="Rd1969e60b32b4f9e"/>
    <p:sldId xmlns:r="http://schemas.openxmlformats.org/officeDocument/2006/relationships" id="267" r:id="Refdd3bff6f104414"/>
    <p:sldId xmlns:r="http://schemas.openxmlformats.org/officeDocument/2006/relationships" id="268" r:id="R5d9ed5ed857249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4d70a1f4e94379" /><Relationship Type="http://schemas.openxmlformats.org/officeDocument/2006/relationships/slideMaster" Target="/ppt/slideMasters/slideMaster1.xml" Id="Rb196b32912444a96" /><Relationship Type="http://schemas.openxmlformats.org/officeDocument/2006/relationships/notesMaster" Target="/ppt/notesMasters/notesMaster1.xml" Id="Rab289bdfa67746a9" /><Relationship Type="http://schemas.openxmlformats.org/officeDocument/2006/relationships/presProps" Target="/ppt/presProps.xml" Id="R1c27c9646df24f84" /><Relationship Type="http://schemas.openxmlformats.org/officeDocument/2006/relationships/tableStyles" Target="/ppt/tableStyles.xml" Id="R998b737b356f4fda" /><Relationship Type="http://schemas.openxmlformats.org/officeDocument/2006/relationships/slide" Target="/ppt/slides/slide1.xml" Id="Rdb4b9845201d471b" /><Relationship Type="http://schemas.openxmlformats.org/officeDocument/2006/relationships/slide" Target="/ppt/slides/slide2.xml" Id="R0d8e869be5194990" /><Relationship Type="http://schemas.openxmlformats.org/officeDocument/2006/relationships/slide" Target="/ppt/slides/slide3.xml" Id="Rff6b28287c96406d" /><Relationship Type="http://schemas.openxmlformats.org/officeDocument/2006/relationships/slide" Target="/ppt/slides/slide4.xml" Id="R5f2c5141535e43d4" /><Relationship Type="http://schemas.openxmlformats.org/officeDocument/2006/relationships/slide" Target="/ppt/slides/slide5.xml" Id="R2868dfacda7a4b40" /><Relationship Type="http://schemas.openxmlformats.org/officeDocument/2006/relationships/slide" Target="/ppt/slides/slide6.xml" Id="Rf242c5ae17eb4b80" /><Relationship Type="http://schemas.openxmlformats.org/officeDocument/2006/relationships/slide" Target="/ppt/slides/slide7.xml" Id="R8c2e5e522d6f49d9" /><Relationship Type="http://schemas.openxmlformats.org/officeDocument/2006/relationships/slide" Target="/ppt/slides/slide8.xml" Id="R7c60e2f4ab08492c" /><Relationship Type="http://schemas.openxmlformats.org/officeDocument/2006/relationships/slide" Target="/ppt/slides/slide9.xml" Id="R9f25399bd77b4da7" /><Relationship Type="http://schemas.openxmlformats.org/officeDocument/2006/relationships/slide" Target="/ppt/slides/slide10.xml" Id="R60d3fbfcc7a2433e" /><Relationship Type="http://schemas.openxmlformats.org/officeDocument/2006/relationships/slide" Target="/ppt/slides/slide11.xml" Id="Rd1969e60b32b4f9e" /><Relationship Type="http://schemas.openxmlformats.org/officeDocument/2006/relationships/slide" Target="/ppt/slides/slide12.xml" Id="Refdd3bff6f104414" /><Relationship Type="http://schemas.openxmlformats.org/officeDocument/2006/relationships/slide" Target="/ppt/slides/slide13.xml" Id="R5d9ed5ed857249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6ec55092ec4b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a8937266aa4f61" /><Relationship Type="http://schemas.openxmlformats.org/officeDocument/2006/relationships/notesMaster" Target="/ppt/notesMasters/notesMaster1.xml" Id="R0d22bb1f03114e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57e2f6ec2040a1" /><Relationship Type="http://schemas.openxmlformats.org/officeDocument/2006/relationships/notesMaster" Target="/ppt/notesMasters/notesMaster1.xml" Id="R6878991b626244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1cde2c907d4325" /><Relationship Type="http://schemas.openxmlformats.org/officeDocument/2006/relationships/notesMaster" Target="/ppt/notesMasters/notesMaster1.xml" Id="Rbc7921c75b8f4f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262d1c3c1f48f2" /><Relationship Type="http://schemas.openxmlformats.org/officeDocument/2006/relationships/notesMaster" Target="/ppt/notesMasters/notesMaster1.xml" Id="R8c0d93a786594b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454e8661034741" /><Relationship Type="http://schemas.openxmlformats.org/officeDocument/2006/relationships/notesMaster" Target="/ppt/notesMasters/notesMaster1.xml" Id="R6b81642caa5343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d19d41390d4359" /><Relationship Type="http://schemas.openxmlformats.org/officeDocument/2006/relationships/notesMaster" Target="/ppt/notesMasters/notesMaster1.xml" Id="R8f2bcae1cbf34b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42c67cca824810" /><Relationship Type="http://schemas.openxmlformats.org/officeDocument/2006/relationships/notesMaster" Target="/ppt/notesMasters/notesMaster1.xml" Id="R481ef0afdefc44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8e9ec48e084341" /><Relationship Type="http://schemas.openxmlformats.org/officeDocument/2006/relationships/notesMaster" Target="/ppt/notesMasters/notesMaster1.xml" Id="R6f9137aa3e1a40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b5fef5e52a4d72" /><Relationship Type="http://schemas.openxmlformats.org/officeDocument/2006/relationships/notesMaster" Target="/ppt/notesMasters/notesMaster1.xml" Id="R7405c01ff1a94d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47e9713dee437a" /><Relationship Type="http://schemas.openxmlformats.org/officeDocument/2006/relationships/notesMaster" Target="/ppt/notesMasters/notesMaster1.xml" Id="Rfbaebddb924f4b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eb8145c5164e8c" /><Relationship Type="http://schemas.openxmlformats.org/officeDocument/2006/relationships/notesMaster" Target="/ppt/notesMasters/notesMaster1.xml" Id="R39dd8b92b4b142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bf1c6feae64ff5" /><Relationship Type="http://schemas.openxmlformats.org/officeDocument/2006/relationships/notesMaster" Target="/ppt/notesMasters/notesMaster1.xml" Id="R94119cf1bb2f43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705523787645cd" /><Relationship Type="http://schemas.openxmlformats.org/officeDocument/2006/relationships/notesMaster" Target="/ppt/notesMasters/notesMaster1.xml" Id="R63f88be9d80145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slide for the BCA701 Deep Learning syllabus.</a:t>
            </a:r>
          </a:p>
          <a:p xmlns:a="http://schemas.openxmlformats.org/drawingml/2006/main">
            <a:r>
              <a:t>Course metadata is taken from the local VTU syllabus 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Agenda reflects the five theory modules, lab component, and outcomes specified in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theory and lab distribution follows the syllabus: 40 hours theory plus 8-10 lab slots.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sequencing is inferred from Modules 1-5.</a:t>
            </a:r>
          </a:p>
          <a:p xmlns:a="http://schemas.openxmlformats.org/drawingml/2006/main">
            <a:r>
              <a:t>Haykin supports the neuron/perceptron framing; Goodfellow supports regularization, optimization, CNN, and RNN topics.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Objectives are condensed from the syllabus wording.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Haykin is the key prescribed source for neural-network foundations and perceptrons.</a:t>
            </a:r>
          </a:p>
          <a:p xmlns:a="http://schemas.openxmlformats.org/drawingml/2006/main">
            <a:r>
              <a:t>The module topics are taken directly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Regularization and optimization framing follows the Module 3 syllabus and Goodfellow et 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CNN content is derived from Module 4 and the convolutional networks treatment in Goodfellow et 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Sequence-model topics are taken from Module 5 and aligned with Goodfellow et al.'s sequence modeling chapters.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practical component list is condensed from the syllabus lab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percentages and question-paper structure are taken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Course outcomes are paraphrased from the syllabus course skill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synthesis ties the five modules and practical component into a single learning journey.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3b546238d34f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3e4d8d7b8d4575" /><Relationship Type="http://schemas.openxmlformats.org/officeDocument/2006/relationships/slideLayout" Target="/ppt/slideLayouts/slideLayout1.xml" Id="Ra7370a18a03f4e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370a18a03f4e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4b64be2674e38" /><Relationship Type="http://schemas.openxmlformats.org/officeDocument/2006/relationships/notesSlide" Target="/ppt/notesSlides/notesSlide1.xml" Id="Red1c0ec260bd49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89f0413544bbe" /><Relationship Type="http://schemas.openxmlformats.org/officeDocument/2006/relationships/notesSlide" Target="/ppt/notesSlides/notesSlide2.xml" Id="R7b6cde99e6e047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11f027cca4976" /><Relationship Type="http://schemas.openxmlformats.org/officeDocument/2006/relationships/notesSlide" Target="/ppt/notesSlides/notesSlide3.xml" Id="R6050a0e5624943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54602c65749fc" /><Relationship Type="http://schemas.openxmlformats.org/officeDocument/2006/relationships/notesSlide" Target="/ppt/notesSlides/notesSlide4.xml" Id="Ra158997b644947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9d85a38d34bce" /><Relationship Type="http://schemas.openxmlformats.org/officeDocument/2006/relationships/notesSlide" Target="/ppt/notesSlides/notesSlide5.xml" Id="R2f98e2884c5143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5360fbd8447bf" /><Relationship Type="http://schemas.openxmlformats.org/officeDocument/2006/relationships/notesSlide" Target="/ppt/notesSlides/notesSlide6.xml" Id="Rc9b1c490941145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da3b43e064d57" /><Relationship Type="http://schemas.openxmlformats.org/officeDocument/2006/relationships/notesSlide" Target="/ppt/notesSlides/notesSlide7.xml" Id="R7fd90dfde3cf4d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4b02248b14531" /><Relationship Type="http://schemas.openxmlformats.org/officeDocument/2006/relationships/notesSlide" Target="/ppt/notesSlides/notesSlide8.xml" Id="Rda350289bc0542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8155e2f6446c9" /><Relationship Type="http://schemas.openxmlformats.org/officeDocument/2006/relationships/notesSlide" Target="/ppt/notesSlides/notesSlide9.xml" Id="Rdb785e422e0f46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c28209ae34673" /><Relationship Type="http://schemas.openxmlformats.org/officeDocument/2006/relationships/notesSlide" Target="/ppt/notesSlides/notesSlide10.xml" Id="Rdaafb3fb406746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4bbf4d6114119" /><Relationship Type="http://schemas.openxmlformats.org/officeDocument/2006/relationships/notesSlide" Target="/ppt/notesSlides/notesSlide11.xml" Id="R4c6ab26c9b8a44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6aa0b462947c6" /><Relationship Type="http://schemas.openxmlformats.org/officeDocument/2006/relationships/notesSlide" Target="/ppt/notesSlides/notesSlide12.xml" Id="R0d3abf1fbeb844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1ebcb08c74f7c" /><Relationship Type="http://schemas.openxmlformats.org/officeDocument/2006/relationships/notesSlide" Target="/ppt/notesSlides/notesSlide13.xml" Id="R6f660fe03c2847c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A5CE9C4-DF5C-4F0A-8C28-D723B54B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BF1AD0A-C0ED-4322-AECB-57C329F2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BCA701 Deep Learning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77BB4D6F-D824-49C1-90D5-144B3400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8FC5D213-BB09-4E31-B454-AAAD0CE3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VTU Semester 7 | IPCC | 4 credits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syllabus-aligned course map from neural-network foundations to CNNs, sequence models, laboratory applications, and assessment.</a:t>
            </a:r>
          </a:p>
        </p:txBody>
      </p:sp>
    </p:spTree>
    <p:extLst>
      <p:ext uri="{BB962C8B-B14F-4D97-AF65-F5344CB8AC3E}">
        <p14:creationId xmlns:p14="http://schemas.microsoft.com/office/powerpoint/2010/main" val="312853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423D45A-7794-40FB-8D21-E886F555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FE48CF41-2252-455A-865D-D3080436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course moves from foundations to deployable models</a:t>
            </a:r>
          </a:p>
        </p:txBody>
      </p:sp>
      <p:graphicFrame>
        <p:nvGraphicFramePr>
          <p:cNvPr id="6" name="Table-3-4"/>
          <p:cNvGraphicFramePr/>
          <p:nvPr/>
        </p:nvGraphicFramePr>
        <p:xfrm>
          <a:off xmlns:a="http://schemas.openxmlformats.org/drawingml/2006/main" x="393668" y="2079974"/>
          <a:ext xmlns:a="http://schemas.openxmlformats.org/drawingml/2006/main" cx="11404664" cy="391439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8491"/>
                <a:gridCol w="10526078"/>
              </a:tblGrid>
              <a:tr h="652399">
                <a:tc>
                  <a:txBody>
                    <a:bodyPr/>
                    <a:lstStyle/>
                    <a:p>
                      <a:r>
                        <a:t>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Course frame: 4 credits, 40 hours theory, 8-10 lab slots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Module path: neuron models -&gt; MLPs -&gt; regularized deep models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Architecture focus: convolutional networks for spatial data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Architecture focus: recurrent and recursive sequence models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Practical work: embeddings, classification, CNNs, autoencoders, forecasting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Outcomes and assessment: CIE, SEE, and module-wise question structure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304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17B1A38-344C-40E1-AC50-09DAE160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C6FBA35-DC3F-4FAF-A74C-A558AB2A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syllabus is built around a 40-hour theory spine and applied labs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30FEC4B-47B8-4EC3-8735-949DD732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Theory component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Five modules cover neural networks, multilayer perceptrons, regularization, optimization, CNNs, and sequence modeling.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09B3D294-60A0-4562-BFD8-8CEFD2D5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Practical component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Eight lab tasks turn concepts into classification, embeddings, autoencoders, forecasting, pretrained image models, and sentiment analysis.</a:t>
            </a:r>
          </a:p>
        </p:txBody>
      </p:sp>
    </p:spTree>
    <p:extLst>
      <p:ext uri="{BB962C8B-B14F-4D97-AF65-F5344CB8AC3E}">
        <p14:creationId xmlns:p14="http://schemas.microsoft.com/office/powerpoint/2010/main" val="8496290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5735D06E-8626-42EB-A94A-B2570FFE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0649179-E297-4629-8022-69018CA7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Learning progression: representation, training, then architectures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C6B2BD0-D625-43B5-B4DC-674ECBCF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F6DE7729-B88A-41A1-A4BC-67092504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4EA19DA-57F7-4AAA-9B02-B1D20647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B3EDCD38-710B-4905-9E0E-F495D782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Foundation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B43C57B-5A1C-4C4B-8008-A3C9C925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Training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3581263-D5CA-4A31-8AF9-ECE26757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Architectures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5E34EA7-1A80-47DB-BF1D-7B51420F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Backprop and optimization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 multilayer networks, address XOR, regularize parameters, and handle difficult loss landscapes.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C9527E5-F7C8-4EE6-A2BC-F1AD48E0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Neuron and perceptron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Model a neuron, network graph, feedback, architecture, and perceptron learning.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FC466B29-37D9-4440-B879-C5C12B65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CNN and RNN families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Apply convolution, pooling, recurrent computation, encoder-decoder models, and LSTM-style gating.</a:t>
            </a:r>
          </a:p>
        </p:txBody>
      </p:sp>
    </p:spTree>
    <p:extLst>
      <p:ext uri="{BB962C8B-B14F-4D97-AF65-F5344CB8AC3E}">
        <p14:creationId xmlns:p14="http://schemas.microsoft.com/office/powerpoint/2010/main" val="1675470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6A658BF-D174-4E65-ADBE-BFD3AE09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9D05E578-69BC-49AE-8C05-1E665C1E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Course objectives emphasize understanding, comparison, and application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E49A33BF-5647-408C-A355-5432AF07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Understand fundamentals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Explain neural network models, learning behavior, and deep learning vocabulary.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421F691-B5F2-41F0-87CF-990C25AF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See CNNs and RNNs in decisions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Connect architecture choices to image, text, sequence, and forecasting tasks.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77446E2-18F5-44A8-B4FB-8D772C44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Compare approaches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Identify strengths, weaknesses, and assumptions of popular deep learning methods.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E628824-4F12-43B6-88F3-1669BFD1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Solve real problems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major algorithms in practical settings through IPCC lab exercises.</a:t>
            </a:r>
          </a:p>
        </p:txBody>
      </p:sp>
    </p:spTree>
    <p:extLst>
      <p:ext uri="{BB962C8B-B14F-4D97-AF65-F5344CB8AC3E}">
        <p14:creationId xmlns:p14="http://schemas.microsoft.com/office/powerpoint/2010/main" val="17050477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44E0F3F-E32C-44A8-8244-F87A779B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E82F755-811C-416B-B575-62A493CA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Modules 1-2 establish neural computation and supervised learning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B5B3CD24-99FC-4138-8E72-7D657AA6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DBDE3F8-5C13-4498-9256-DBB0A026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Module 1: Perceptron foundations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A7D5CBCB-4C61-4FF2-ABDC-D08BEFCB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Neuron models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Network architectures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Perceptron convergence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0D39F004-C17E-494B-8899-9633769C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244D836A-0A76-4D9C-8C9C-D46BC31A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Module 2: Multilayer training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D6D363B-AC84-4BDE-8CB1-9F6397CE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Batch vs online learning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Backpropagation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XOR and training heuristics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3BF07DA-E1D7-4258-810E-D6F81D82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These modules make deep learning concrete before adding depth.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Module 1 starts with the biological metaphor, formal neuron model, directed network graph, feedback, and perceptron.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Module 2 then generalizes to multilayer perceptrons and the back-propagation algorithm.</a:t>
            </a:r>
          </a:p>
        </p:txBody>
      </p:sp>
    </p:spTree>
    <p:extLst>
      <p:ext uri="{BB962C8B-B14F-4D97-AF65-F5344CB8AC3E}">
        <p14:creationId xmlns:p14="http://schemas.microsoft.com/office/powerpoint/2010/main" val="1336414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D73DC53-AE30-423F-AFA1-DC246CE5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0269E27-6B23-4454-8329-658D1167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Module 3 explains why training deep networks needs discipline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F73E82D8-F4CF-4DC3-987C-EFB0B761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Regularization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L2 parameter penalties, data augmentation, and semi-supervised learning reduce overfitting and improve generalization.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CBC68DF6-CA08-4A6D-B576-09C018EC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Optimization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Ill-conditioning, local minima, plateaus, saddle points, and flat regions explain why deep model training can stall.</a:t>
            </a:r>
          </a:p>
        </p:txBody>
      </p:sp>
    </p:spTree>
    <p:extLst>
      <p:ext uri="{BB962C8B-B14F-4D97-AF65-F5344CB8AC3E}">
        <p14:creationId xmlns:p14="http://schemas.microsoft.com/office/powerpoint/2010/main" val="1624775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17E1C7C-6745-41DA-9D64-6FC55593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FAEF563-F11F-4932-B844-075704EB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Module 4 turns spatial structure into learnable features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CB42A0A4-9DBC-4A1B-B28B-C816FA9E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Convolution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convolution operation reuses kernels across space, making image-like data learnable with fewer parameters.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E8ECE6F3-DD69-4E3C-BAA8-CFC23031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Pooling and variants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Pooling, structured outputs, data types, and efficient algorithms connect CNN theory to practical model design.</a:t>
            </a:r>
          </a:p>
        </p:txBody>
      </p:sp>
    </p:spTree>
    <p:extLst>
      <p:ext uri="{BB962C8B-B14F-4D97-AF65-F5344CB8AC3E}">
        <p14:creationId xmlns:p14="http://schemas.microsoft.com/office/powerpoint/2010/main" val="11624144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733FA37-3935-422C-9653-DB0BEF0E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9161445-13AE-4490-8AD6-AD963291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Module 5 models order, context, and memory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8BDEC15-8FC6-47D6-A929-1AC9DC13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Recurrent computation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Unfolded computational graphs make sequence learning trainable across time steps.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0620BCA7-60A7-463A-8F1E-C133D0C9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Modern sequence architectures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Bidirectional RNNs, encoder-decoders, deep recurrent networks, recursive nets, and LSTM-style gates support text and time-series tasks.</a:t>
            </a:r>
          </a:p>
        </p:txBody>
      </p:sp>
    </p:spTree>
    <p:extLst>
      <p:ext uri="{BB962C8B-B14F-4D97-AF65-F5344CB8AC3E}">
        <p14:creationId xmlns:p14="http://schemas.microsoft.com/office/powerpoint/2010/main" val="5707599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7F62FE-041F-4C37-979C-44CC2A72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lab component converts algorithms into visible outputs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60238-19A7-4475-9A91-BFC2C526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Eight experiments cover the main ways deep learning is used in practice: language, vision, compression, classification, and forecasting.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393668" y="2038350"/>
            <a:ext cx="1140456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17" name=""/>
          <p:cNvCxnSpPr/>
          <p:nvPr/>
        </p:nvCxnSpPr>
        <p:spPr>
          <a:xfrm xmlns:a="http://schemas.openxmlformats.org/drawingml/2006/main">
            <a:off x="6096000" y="2190750"/>
            <a:ext cx="0" cy="34099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A088F-D734-4F1A-A85F-417941AB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Language models and text analytics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E47CA-7929-44EE-87AA-9DF05FBF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Generate word embeddings from a corpus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5. Classify textual documents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8. Classify reviews as positive or negative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050FC-69D8-40DB-B109-4900DD40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Vision and transfer learning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8CB3A-C14A-4570-B58B-D35E826A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194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Build a CNN for image classification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7. Use pretrained models for image classification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6AF9D-3FAF-4EA9-81BD-D25CAA82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Representation and reconstruction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49B75-9452-4D14-9B41-48E6F336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Demonstrate a deep neural classifier</a:t>
            </a:r>
          </a:p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4. Build an autoencoder for image compression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97282-E4E7-4D99-B076-8A9BF67F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Sequential prediction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50B14-597F-4BE4-8629-EA8658FB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43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6. Forecast time-series data using a deep learning network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85AD5-2DD6-4266-BFF1-238B72F1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0362410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939E6674-A471-42D9-A394-08937EFE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72674D37-DB3C-4348-8659-AD131813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27556E24-468C-4EB9-9639-759EBEF7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35FF9D88-7E9C-4C0E-942B-D99CD080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F5854F3A-CD9A-4514-9D3F-C8D0D064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Assessment balances theory, implementation, and university examination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2D3A41C-3885-4BF3-BCD6-5509F601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353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CIE: theory and practical components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94CB384-3F19-45AE-AC7A-FA326CA8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81848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Full questions answered, one from each module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B098160B-6459-487B-B607-BB1DB2A4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SEE: theory paper scaled to 50 marks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E81CEAAA-887B-4D87-8F7F-1B386F0B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50%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CD6141D6-C5EC-4AA0-AF4C-F1FF992B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50%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A9A7B74-2564-4D23-822C-CEB905EE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B8980931-C3B4-452E-BFD5-FE9FF98E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IPCC evaluation rewards both conceptual command and working laboratory practice.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Theory and practical CIE are separated, while the SEE samples every module through one selected question from each module.</a:t>
            </a:r>
          </a:p>
        </p:txBody>
      </p:sp>
    </p:spTree>
    <p:extLst>
      <p:ext uri="{BB962C8B-B14F-4D97-AF65-F5344CB8AC3E}">
        <p14:creationId xmlns:p14="http://schemas.microsoft.com/office/powerpoint/2010/main" val="212075771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9C933C92-8DF4-4698-835D-C75AEE27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3CD7BD5A-4485-4C13-BB9A-9BD34804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Course outcomes describe what students should be able to produce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8F6622C4-39D8-4D0B-8527-3C625658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Analyze neural concepts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Interpret neural networks in relation to artificial intelligence.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7C1ACEA-2331-4615-A5CB-74F0C4A6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Explain learning behavior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Illustrate learning processes and statistical properties.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1738693-F23F-4D68-A329-0434F2E4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Design deep models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regularization and convolutional operations in model design.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E266BC9-7889-46FF-9F61-C5FAACC9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 sequence applications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Analyze sequential data and applications including autoencoders.</a:t>
            </a:r>
          </a:p>
        </p:txBody>
      </p:sp>
    </p:spTree>
    <p:extLst>
      <p:ext uri="{BB962C8B-B14F-4D97-AF65-F5344CB8AC3E}">
        <p14:creationId xmlns:p14="http://schemas.microsoft.com/office/powerpoint/2010/main" val="193612478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9372FA8D-9120-4C95-93D2-18D45F59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 the syllabus as a model-building journey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F8D7BAD-2720-475A-92DD-5E71A355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Start with neuron models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 and regularize deep networks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Apply CNNs, RNNs, and labs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7F8CEB6-C4EB-46A4-B058-CDB91DC9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BCA701</a:t>
            </a:r>
          </a:p>
        </p:txBody>
      </p:sp>
    </p:spTree>
    <p:extLst>
      <p:ext uri="{BB962C8B-B14F-4D97-AF65-F5344CB8AC3E}">
        <p14:creationId xmlns:p14="http://schemas.microsoft.com/office/powerpoint/2010/main" val="12861891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2026-08-12T04:48:21.2300000Z</dcterms:created>
  <dcterms:modified xsi:type="dcterms:W3CDTF">2026-08-12T04:48:21.2300000Z</dcterms:modified>
</coreProperties>
</file>